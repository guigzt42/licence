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381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BED3E9"/>
                </a:solidFill>
                <a:latin typeface="Calibri"/>
              </a:rPr>
              <a:t>CONDUITE DE PROJET — CAS N°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5800" b="1" i="0">
                <a:solidFill>
                  <a:srgbClr val="FFFFFF"/>
                </a:solidFill>
                <a:latin typeface="Calibri"/>
              </a:rPr>
              <a:t>Projet GREMLIN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0" i="0">
                <a:solidFill>
                  <a:srgbClr val="DDE8F3"/>
                </a:solidFill>
                <a:latin typeface="Calibri"/>
              </a:rPr>
              <a:t>Essai en soufflerie d’une maquette</a:t>
            </a:r>
          </a:p>
          <a:p>
            <a:pPr algn="l">
              <a:spcBef>
                <a:spcPts val="600"/>
              </a:spcBef>
            </a:pPr>
            <a:r>
              <a:rPr sz="1800" b="0" i="1">
                <a:solidFill>
                  <a:srgbClr val="BED3E9"/>
                </a:solidFill>
                <a:latin typeface="Calibri"/>
              </a:rPr>
              <a:t>Phase de préparation de la maquette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5778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9FBAD6"/>
                </a:solidFill>
                <a:latin typeface="Calibri"/>
              </a:rPr>
              <a:t>Chef de projet — 17 juin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BED3E9"/>
                </a:solidFill>
                <a:latin typeface="Calibri"/>
              </a:rPr>
              <a:t>DÉROULÉ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FFFFFF"/>
                </a:solidFill>
                <a:latin typeface="Calibri"/>
              </a:rPr>
              <a:t>Plan de la présentation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8A8A8A"/>
                </a:solidFill>
                <a:latin typeface="Calibri"/>
              </a:rPr>
              <a:t>Projet GREMLIN — Phase de préparation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 i="0">
                <a:solidFill>
                  <a:srgbClr val="8A8A8A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00200"/>
            <a:ext cx="685800" cy="6858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09928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61848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1" i="0">
                <a:solidFill>
                  <a:srgbClr val="1F4E79"/>
                </a:solidFill>
                <a:latin typeface="Calibri"/>
              </a:rPr>
              <a:t>Contexte et cadrage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984248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8A8A8A"/>
                </a:solidFill>
                <a:latin typeface="Calibri"/>
              </a:rPr>
              <a:t>L’affaire, les objectifs, les contraintes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359152"/>
            <a:ext cx="685800" cy="6858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468880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37744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1" i="0">
                <a:solidFill>
                  <a:srgbClr val="1F4E79"/>
                </a:solidFill>
                <a:latin typeface="Calibri"/>
              </a:rPr>
              <a:t>Scénario du projet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74320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8A8A8A"/>
                </a:solidFill>
                <a:latin typeface="Calibri"/>
              </a:rPr>
              <a:t>Les grandes étapes dans le temps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118104"/>
            <a:ext cx="685800" cy="6858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227832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136392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1" i="0">
                <a:solidFill>
                  <a:srgbClr val="1F4E79"/>
                </a:solidFill>
                <a:latin typeface="Calibri"/>
              </a:rPr>
              <a:t>Organigramme des tâches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50215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8A8A8A"/>
                </a:solidFill>
                <a:latin typeface="Calibri"/>
              </a:rPr>
              <a:t>Le découpage du travail (WBS)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877056"/>
            <a:ext cx="685800" cy="6858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986784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3895344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1" i="0">
                <a:solidFill>
                  <a:srgbClr val="1F4E79"/>
                </a:solidFill>
                <a:latin typeface="Calibri"/>
              </a:rPr>
              <a:t>Planning de réalisation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261104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8A8A8A"/>
                </a:solidFill>
                <a:latin typeface="Calibri"/>
              </a:rPr>
              <a:t>Chemin critique, Gantt, délai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636008"/>
            <a:ext cx="685800" cy="6858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745736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654296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1" i="0">
                <a:solidFill>
                  <a:srgbClr val="1F4E79"/>
                </a:solidFill>
                <a:latin typeface="Calibri"/>
              </a:rPr>
              <a:t>Budget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5020056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8A8A8A"/>
                </a:solidFill>
                <a:latin typeface="Calibri"/>
              </a:rPr>
              <a:t>Coût de la phase et courbe en 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5394960"/>
            <a:ext cx="685800" cy="6858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504688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541324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1" i="0">
                <a:solidFill>
                  <a:srgbClr val="1F4E79"/>
                </a:solidFill>
                <a:latin typeface="Calibri"/>
              </a:rPr>
              <a:t>Risques et pilotage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5779008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8A8A8A"/>
                </a:solidFill>
                <a:latin typeface="Calibri"/>
              </a:rPr>
              <a:t>Maîtrise et suivi du projet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BED3E9"/>
                </a:solidFill>
                <a:latin typeface="Calibri"/>
              </a:rPr>
              <a:t>1 · CADRAGE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FFFFFF"/>
                </a:solidFill>
                <a:latin typeface="Calibri"/>
              </a:rPr>
              <a:t>Contexte et enjeu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8A8A8A"/>
                </a:solidFill>
                <a:latin typeface="Calibri"/>
              </a:rPr>
              <a:t>Projet GREMLIN — Phase de préparation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 i="0">
                <a:solidFill>
                  <a:srgbClr val="8A8A8A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64008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404040"/>
                </a:solidFill>
                <a:latin typeface="Calibri"/>
              </a:rPr>
              <a:t>•  Un avionneur étranger de notoriété internationale nous confie l’essai en soufflerie d’une maquette (nouvel avion).</a:t>
            </a:r>
          </a:p>
          <a:p>
            <a:pPr algn="l" lvl="1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8A8A8A"/>
                </a:solidFill>
                <a:latin typeface="Calibri"/>
              </a:rPr>
              <a:t>–  Affaire modeste, mais nouveau client à fort potentiel : il faut décrocher la commande.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404040"/>
                </a:solidFill>
                <a:latin typeface="Calibri"/>
              </a:rPr>
              <a:t>•  Devis initial 297 K€, jugé élevé (concurrent à 259 K€)…</a:t>
            </a:r>
          </a:p>
          <a:p>
            <a:pPr algn="l" lvl="1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8A8A8A"/>
                </a:solidFill>
                <a:latin typeface="Calibri"/>
              </a:rPr>
              <a:t>–  … mais le client est sensible au sérieux et au respect des délais.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691640"/>
            <a:ext cx="4297680" cy="1828800"/>
          </a:xfrm>
          <a:prstGeom prst="round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82880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1" i="0">
                <a:solidFill>
                  <a:srgbClr val="1F4E79"/>
                </a:solidFill>
                <a:latin typeface="Calibri"/>
              </a:rPr>
              <a:t>LA COMMANDE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286000"/>
            <a:ext cx="3931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404040"/>
                </a:solidFill>
                <a:latin typeface="Calibri"/>
              </a:rPr>
              <a:t>272 000 € — budget</a:t>
            </a:r>
          </a:p>
          <a:p>
            <a:pPr algn="l">
              <a:spcBef>
                <a:spcPts val="0"/>
              </a:spcBef>
            </a:pPr>
            <a:r>
              <a:rPr sz="1800" b="1" i="0">
                <a:solidFill>
                  <a:srgbClr val="404040"/>
                </a:solidFill>
                <a:latin typeface="Calibri"/>
              </a:rPr>
              <a:t>85 jours ouvrables — délai ferme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3703320"/>
            <a:ext cx="4297680" cy="2103120"/>
          </a:xfrm>
          <a:prstGeom prst="roundRect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3886200"/>
            <a:ext cx="3931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0392B"/>
                </a:solidFill>
                <a:latin typeface="Calibri"/>
              </a:rPr>
              <a:t>L’enjeu</a:t>
            </a:r>
          </a:p>
          <a:p>
            <a:pPr algn="l">
              <a:spcBef>
                <a:spcPts val="0"/>
              </a:spcBef>
            </a:pPr>
            <a:r>
              <a:rPr sz="1450" b="0" i="0">
                <a:solidFill>
                  <a:srgbClr val="404040"/>
                </a:solidFill>
                <a:latin typeface="Calibri"/>
              </a:rPr>
              <a:t>Réussir ce premier essai pour ouvrir une relation durable avec un client à fort potentiel.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BED3E9"/>
                </a:solidFill>
                <a:latin typeface="Calibri"/>
              </a:rPr>
              <a:t>1 · CADRAGE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FFFFFF"/>
                </a:solidFill>
                <a:latin typeface="Calibri"/>
              </a:rPr>
              <a:t>Périmètre et contraintes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8A8A8A"/>
                </a:solidFill>
                <a:latin typeface="Calibri"/>
              </a:rPr>
              <a:t>Projet GREMLIN — Phase de préparation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 i="0">
                <a:solidFill>
                  <a:srgbClr val="8A8A8A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50" b="0" i="0">
                <a:solidFill>
                  <a:srgbClr val="404040"/>
                </a:solidFill>
                <a:latin typeface="Calibri"/>
              </a:rPr>
              <a:t>Ce dossier traite la 1re phase : préparer la maquette — la fixer sur son support et l’équiper en capteurs, jusqu’à une maquette « prête à l’expérimentation ».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3566160" cy="1234440"/>
          </a:xfrm>
          <a:prstGeom prst="round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15184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3000" b="1" i="0">
                <a:solidFill>
                  <a:srgbClr val="1F4E79"/>
                </a:solidFill>
                <a:latin typeface="Calibri"/>
              </a:rPr>
              <a:t>≤ 45 j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55264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50" b="0" i="0">
                <a:solidFill>
                  <a:srgbClr val="404040"/>
                </a:solidFill>
                <a:latin typeface="Calibri"/>
              </a:rPr>
              <a:t>Délai de la phase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468880"/>
            <a:ext cx="3566160" cy="1234440"/>
          </a:xfrm>
          <a:prstGeom prst="round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2615184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3000" b="1" i="0">
                <a:solidFill>
                  <a:srgbClr val="1F4E79"/>
                </a:solidFill>
                <a:latin typeface="Calibri"/>
              </a:rPr>
              <a:t>≤ 48 500 €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255264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50" b="0" i="0">
                <a:solidFill>
                  <a:srgbClr val="404040"/>
                </a:solidFill>
                <a:latin typeface="Calibri"/>
              </a:rPr>
              <a:t>Budget de la phase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468880"/>
            <a:ext cx="3566160" cy="1234440"/>
          </a:xfrm>
          <a:prstGeom prst="round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2615184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3000" b="1" i="0">
                <a:solidFill>
                  <a:srgbClr val="1F4E79"/>
                </a:solidFill>
                <a:latin typeface="Calibri"/>
              </a:rPr>
              <a:t>Qualité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255264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50" b="0" i="0">
                <a:solidFill>
                  <a:srgbClr val="404040"/>
                </a:solidFill>
                <a:latin typeface="Calibri"/>
              </a:rPr>
              <a:t>Essai réussi + DVD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605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1F4E79"/>
                </a:solidFill>
                <a:latin typeface="Calibri"/>
              </a:rPr>
              <a:t>Pourquoi cette phase est sensible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6177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•  C’est le point de départ : si elle dérape, l’engagement des 85 jours est menacé.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•  Pièces de fixation fabriquées en interne ; équipements de mesure achetés à l’extérieur.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•  L’équipe de préparation ne participe pas aux mesures : elle laisse un mode opératoire.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BED3E9"/>
                </a:solidFill>
                <a:latin typeface="Calibri"/>
              </a:rPr>
              <a:t>2 · SCÉNARIO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FFFFFF"/>
                </a:solidFill>
                <a:latin typeface="Calibri"/>
              </a:rPr>
              <a:t>Scénario du projet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8A8A8A"/>
                </a:solidFill>
                <a:latin typeface="Calibri"/>
              </a:rPr>
              <a:t>Projet GREMLIN — Phase de préparation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 i="0">
                <a:solidFill>
                  <a:srgbClr val="8A8A8A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0" i="0">
                <a:solidFill>
                  <a:srgbClr val="404040"/>
                </a:solidFill>
                <a:latin typeface="Calibri"/>
              </a:rPr>
              <a:t>Cinq grandes étapes ; trois peuvent avancer en parallèle — la clé pour tenir le délai.</a:t>
            </a:r>
          </a:p>
        </p:txBody>
      </p:sp>
      <p:pic>
        <p:nvPicPr>
          <p:cNvPr id="9" name="Picture 8" descr="scen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645" y="1965960"/>
            <a:ext cx="8996404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BED3E9"/>
                </a:solidFill>
                <a:latin typeface="Calibri"/>
              </a:rPr>
              <a:t>3 · ORGANIGRAMME DES TÂCHES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FFFFFF"/>
                </a:solidFill>
                <a:latin typeface="Calibri"/>
              </a:rPr>
              <a:t>Découpage du travail (WBS)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8A8A8A"/>
                </a:solidFill>
                <a:latin typeface="Calibri"/>
              </a:rPr>
              <a:t>Projet GREMLIN — Phase de préparation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 i="0">
                <a:solidFill>
                  <a:srgbClr val="8A8A8A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 i="0">
                <a:solidFill>
                  <a:srgbClr val="404040"/>
                </a:solidFill>
                <a:latin typeface="Calibri"/>
              </a:rPr>
              <a:t>Du produit final (maquette prête) vers 6 lots et 22 tâches. En rouge : les tâches qui seront critiques.</a:t>
            </a:r>
          </a:p>
        </p:txBody>
      </p:sp>
      <p:pic>
        <p:nvPicPr>
          <p:cNvPr id="9" name="Picture 8" descr="w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605" y="2011680"/>
            <a:ext cx="7628484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BED3E9"/>
                </a:solidFill>
                <a:latin typeface="Calibri"/>
              </a:rPr>
              <a:t>4 ·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FFFFFF"/>
                </a:solidFill>
                <a:latin typeface="Calibri"/>
              </a:rPr>
              <a:t>Réseau et chemin critique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8A8A8A"/>
                </a:solidFill>
                <a:latin typeface="Calibri"/>
              </a:rPr>
              <a:t>Projet GREMLIN — Phase de préparation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 i="0">
                <a:solidFill>
                  <a:srgbClr val="8A8A8A"/>
                </a:solidFill>
                <a:latin typeface="Calibri"/>
              </a:rPr>
              <a:t>6</a:t>
            </a:r>
          </a:p>
        </p:txBody>
      </p:sp>
      <p:pic>
        <p:nvPicPr>
          <p:cNvPr id="8" name="Picture 7" descr="p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181" y="1417320"/>
            <a:ext cx="6979333" cy="37033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5349240"/>
            <a:ext cx="10927080" cy="960120"/>
          </a:xfrm>
          <a:prstGeom prst="round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504688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F4E79"/>
                </a:solidFill>
                <a:latin typeface="Calibri"/>
              </a:rPr>
              <a:t>Chemin critique : A → G → H → I → J → S → T → U → V</a:t>
            </a:r>
          </a:p>
          <a:p>
            <a:pPr algn="l">
              <a:spcBef>
                <a:spcPts val="0"/>
              </a:spcBef>
            </a:pPr>
            <a:r>
              <a:rPr sz="1350" b="0" i="0">
                <a:solidFill>
                  <a:srgbClr val="404040"/>
                </a:solidFill>
                <a:latin typeface="Calibri"/>
              </a:rPr>
              <a:t>Tâche la plus risquée : H « fabrication des pièces » (14 jours, aucune marge).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BED3E9"/>
                </a:solidFill>
                <a:latin typeface="Calibri"/>
              </a:rPr>
              <a:t>4 ·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FFFFFF"/>
                </a:solidFill>
                <a:latin typeface="Calibri"/>
              </a:rPr>
              <a:t>Gantt et vérification du délai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8A8A8A"/>
                </a:solidFill>
                <a:latin typeface="Calibri"/>
              </a:rPr>
              <a:t>Projet GREMLIN — Phase de préparation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 i="0">
                <a:solidFill>
                  <a:srgbClr val="8A8A8A"/>
                </a:solidFill>
                <a:latin typeface="Calibri"/>
              </a:rPr>
              <a:t>7</a:t>
            </a:r>
          </a:p>
        </p:txBody>
      </p:sp>
      <p:pic>
        <p:nvPicPr>
          <p:cNvPr id="8" name="Picture 7" descr="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1192" y="1371600"/>
            <a:ext cx="5909310" cy="4297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732520" y="1463040"/>
            <a:ext cx="2971800" cy="201168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0" y="1627632"/>
            <a:ext cx="26974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7D32"/>
                </a:solidFill>
                <a:latin typeface="Calibri"/>
              </a:rPr>
              <a:t>DÉLAI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E7D32"/>
                </a:solidFill>
                <a:latin typeface="Calibri"/>
              </a:rPr>
              <a:t>45 / 45 j</a:t>
            </a:r>
          </a:p>
          <a:p>
            <a:pPr algn="ctr">
              <a:spcBef>
                <a:spcPts val="0"/>
              </a:spcBef>
            </a:pPr>
            <a:r>
              <a:rPr sz="1300" b="0" i="0">
                <a:solidFill>
                  <a:srgbClr val="404040"/>
                </a:solidFill>
                <a:latin typeface="Calibri"/>
              </a:rPr>
              <a:t>Contrainte respectée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3657600"/>
            <a:ext cx="2971800" cy="2377440"/>
          </a:xfrm>
          <a:prstGeom prst="roundRect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0" y="3840480"/>
            <a:ext cx="26974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0392B"/>
                </a:solidFill>
                <a:latin typeface="Calibri"/>
              </a:rPr>
              <a:t>Le point d’alerte</a:t>
            </a:r>
          </a:p>
          <a:p>
            <a:pPr algn="ctr">
              <a:spcBef>
                <a:spcPts val="0"/>
              </a:spcBef>
            </a:pPr>
            <a:r>
              <a:rPr sz="1350" b="0" i="0">
                <a:solidFill>
                  <a:srgbClr val="404040"/>
                </a:solidFill>
                <a:latin typeface="Calibri"/>
              </a:rPr>
              <a:t>Zéro marge sur le chemin critique : le moindre retard décale la fin de phase.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BED3E9"/>
                </a:solidFill>
                <a:latin typeface="Calibri"/>
              </a:rPr>
              <a:t>5 ·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FFFFFF"/>
                </a:solidFill>
                <a:latin typeface="Calibri"/>
              </a:rPr>
              <a:t>Coût de la phase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8A8A8A"/>
                </a:solidFill>
                <a:latin typeface="Calibri"/>
              </a:rPr>
              <a:t>Projet GREMLIN — Phase de préparation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 i="0">
                <a:solidFill>
                  <a:srgbClr val="8A8A8A"/>
                </a:solidFill>
                <a:latin typeface="Calibri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6766560" cy="56692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404040"/>
                </a:solidFill>
                <a:latin typeface="Calibri"/>
              </a:rPr>
              <a:t>Main-d’œuvre (Ing. + Tech. + Ach. + Ouv.)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737360"/>
            <a:ext cx="1691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400" b="0" i="0">
                <a:solidFill>
                  <a:srgbClr val="404040"/>
                </a:solidFill>
                <a:latin typeface="Calibri"/>
              </a:rPr>
              <a:t>41 796 €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12848"/>
            <a:ext cx="67665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0428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404040"/>
                </a:solidFill>
                <a:latin typeface="Calibri"/>
              </a:rPr>
              <a:t>Fabrication des pièces (atelier)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304288"/>
            <a:ext cx="1691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400" b="0" i="0">
                <a:solidFill>
                  <a:srgbClr val="404040"/>
                </a:solidFill>
                <a:latin typeface="Calibri"/>
              </a:rPr>
              <a:t>2 940 €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779776"/>
            <a:ext cx="6766560" cy="56692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71216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404040"/>
                </a:solidFill>
                <a:latin typeface="Calibri"/>
              </a:rPr>
              <a:t>Équipements achetés à l’extérieur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871216"/>
            <a:ext cx="1691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400" b="0" i="0">
                <a:solidFill>
                  <a:srgbClr val="404040"/>
                </a:solidFill>
                <a:latin typeface="Calibri"/>
              </a:rPr>
              <a:t>5 200 €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346704"/>
            <a:ext cx="6766560" cy="566928"/>
          </a:xfrm>
          <a:prstGeom prst="rect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438144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1F4E79"/>
                </a:solidFill>
                <a:latin typeface="Calibri"/>
              </a:rPr>
              <a:t>COÛT TOTAL DE LA PHASE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3438144"/>
            <a:ext cx="1691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400" b="1" i="0">
                <a:solidFill>
                  <a:srgbClr val="C0392B"/>
                </a:solidFill>
                <a:latin typeface="Calibri"/>
              </a:rPr>
              <a:t>49 936 €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913632"/>
            <a:ext cx="6766560" cy="56692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005072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404040"/>
                </a:solidFill>
                <a:latin typeface="Calibri"/>
              </a:rPr>
              <a:t>Enveloppe allouée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4005072"/>
            <a:ext cx="1691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400" b="0" i="0">
                <a:solidFill>
                  <a:srgbClr val="404040"/>
                </a:solidFill>
                <a:latin typeface="Calibri"/>
              </a:rPr>
              <a:t>48 500 €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1645920"/>
            <a:ext cx="4069080" cy="2194560"/>
          </a:xfrm>
          <a:prstGeom prst="roundRect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1828800"/>
            <a:ext cx="3703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0392B"/>
                </a:solidFill>
                <a:latin typeface="Calibri"/>
              </a:rPr>
              <a:t>ÉCART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C0392B"/>
                </a:solidFill>
                <a:latin typeface="Calibri"/>
              </a:rPr>
              <a:t>+ 1 436 €</a:t>
            </a:r>
          </a:p>
          <a:p>
            <a:pPr algn="ctr">
              <a:spcBef>
                <a:spcPts val="0"/>
              </a:spcBef>
            </a:pPr>
            <a:r>
              <a:rPr sz="1350" b="0" i="0">
                <a:solidFill>
                  <a:srgbClr val="404040"/>
                </a:solidFill>
                <a:latin typeface="Calibri"/>
              </a:rPr>
              <a:t>Dépassement ≈ 3 % : phase légèrement déficitaire.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4114800"/>
            <a:ext cx="4069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1F4E79"/>
                </a:solidFill>
                <a:latin typeface="Calibri"/>
              </a:rPr>
              <a:t>Retour à l’équilibre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4572000"/>
            <a:ext cx="4114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404040"/>
                </a:solidFill>
                <a:latin typeface="Calibri"/>
              </a:rPr>
              <a:t>•  Alléger les grosses tâches ouvrier (S, F, J).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404040"/>
                </a:solidFill>
                <a:latin typeface="Calibri"/>
              </a:rPr>
              <a:t>•  Renégocier équipements / devis atelier.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404040"/>
                </a:solidFill>
                <a:latin typeface="Calibri"/>
              </a:rPr>
              <a:t>•  Basculer des heures ingénieur vers technicien.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BED3E9"/>
                </a:solidFill>
                <a:latin typeface="Calibri"/>
              </a:rPr>
              <a:t>5 ·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FFFFFF"/>
                </a:solidFill>
                <a:latin typeface="Calibri"/>
              </a:rPr>
              <a:t>Courbe en « S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8A8A8A"/>
                </a:solidFill>
                <a:latin typeface="Calibri"/>
              </a:rPr>
              <a:t>Projet GREMLIN — Phase de préparation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 i="0">
                <a:solidFill>
                  <a:srgbClr val="8A8A8A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0" i="0">
                <a:solidFill>
                  <a:srgbClr val="404040"/>
                </a:solidFill>
                <a:latin typeface="Calibri"/>
              </a:rPr>
              <a:t>Dépenses cumulées au fil du planning : la courbe franchit l’enveloppe en fin de phase (le dépassement de 1 436 €).</a:t>
            </a:r>
          </a:p>
        </p:txBody>
      </p:sp>
      <p:pic>
        <p:nvPicPr>
          <p:cNvPr id="9" name="Picture 8" descr="courbe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447" y="1965960"/>
            <a:ext cx="716280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BED3E9"/>
                </a:solidFill>
                <a:latin typeface="Calibri"/>
              </a:rPr>
              <a:t>6 · RISQUES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FFFFFF"/>
                </a:solidFill>
                <a:latin typeface="Calibri"/>
              </a:rPr>
              <a:t>Analyse des risques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8A8A8A"/>
                </a:solidFill>
                <a:latin typeface="Calibri"/>
              </a:rPr>
              <a:t>Projet GREMLIN — Phase de préparation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 i="0">
                <a:solidFill>
                  <a:srgbClr val="8A8A8A"/>
                </a:solidFill>
                <a:latin typeface="Calibri"/>
              </a:rPr>
              <a:t>10</a:t>
            </a:r>
          </a:p>
        </p:txBody>
      </p:sp>
      <p:pic>
        <p:nvPicPr>
          <p:cNvPr id="8" name="Picture 7" descr="matrice_risq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5858168" cy="457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79" y="155448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1F4E79"/>
                </a:solidFill>
                <a:latin typeface="Calibri"/>
              </a:rPr>
              <a:t>3 risques prioritaires (criticité ≥ 9)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2148840"/>
            <a:ext cx="4206240" cy="960120"/>
          </a:xfrm>
          <a:prstGeom prst="round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79" y="2148840"/>
            <a:ext cx="146304" cy="9601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224028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C0392B"/>
                </a:solidFill>
                <a:latin typeface="Calibri"/>
              </a:rPr>
              <a:t>R1</a:t>
            </a:r>
          </a:p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404040"/>
                </a:solidFill>
                <a:latin typeface="Calibri"/>
              </a:rPr>
              <a:t>Retard de fabrication des pièces (tâche 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2350008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C0392B"/>
                </a:solidFill>
                <a:latin typeface="Calibri"/>
              </a:rPr>
              <a:t>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3246120"/>
            <a:ext cx="4206240" cy="960120"/>
          </a:xfrm>
          <a:prstGeom prst="round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98079" y="3246120"/>
            <a:ext cx="146304" cy="9601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333756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67E22"/>
                </a:solidFill>
                <a:latin typeface="Calibri"/>
              </a:rPr>
              <a:t>R2</a:t>
            </a:r>
          </a:p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404040"/>
                </a:solidFill>
                <a:latin typeface="Calibri"/>
              </a:rPr>
              <a:t>Modifs logiciels dans un délai serré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3447288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E67E22"/>
                </a:solidFill>
                <a:latin typeface="Calibri"/>
              </a:rPr>
              <a:t>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4343400"/>
            <a:ext cx="4206240" cy="960120"/>
          </a:xfrm>
          <a:prstGeom prst="round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79" y="4343400"/>
            <a:ext cx="146304" cy="9601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43484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67E22"/>
                </a:solidFill>
                <a:latin typeface="Calibri"/>
              </a:rPr>
              <a:t>R7</a:t>
            </a:r>
          </a:p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404040"/>
                </a:solidFill>
                <a:latin typeface="Calibri"/>
              </a:rPr>
              <a:t>Aucune marge sur le chemin critique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4544568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E67E2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BED3E9"/>
                </a:solidFill>
                <a:latin typeface="Calibri"/>
              </a:rPr>
              <a:t>6 · PILOTAGE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FFFFFF"/>
                </a:solidFill>
                <a:latin typeface="Calibri"/>
              </a:rPr>
              <a:t>Pilotage de la réalisation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8A8A8A"/>
                </a:solidFill>
                <a:latin typeface="Calibri"/>
              </a:rPr>
              <a:t>Projet GREMLIN — Phase de préparation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 i="0">
                <a:solidFill>
                  <a:srgbClr val="8A8A8A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1F4E79"/>
                </a:solidFill>
                <a:latin typeface="Calibri"/>
              </a:rPr>
              <a:t>Tenir le cap : suivi simple et réactif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58521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50" b="0" i="0">
                <a:solidFill>
                  <a:srgbClr val="404040"/>
                </a:solidFill>
                <a:latin typeface="Calibri"/>
              </a:rPr>
              <a:t>•  Revues régulières avec le client, calées sur les jalons.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50" b="0" i="0">
                <a:solidFill>
                  <a:srgbClr val="404040"/>
                </a:solidFill>
                <a:latin typeface="Calibri"/>
              </a:rPr>
              <a:t>•  Mise à jour hebdomadaire du Gantt.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50" b="0" i="0">
                <a:solidFill>
                  <a:srgbClr val="404040"/>
                </a:solidFill>
                <a:latin typeface="Calibri"/>
              </a:rPr>
              <a:t>•  Surveillance des tâches critiques (marge nulle).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50" b="0" i="0">
                <a:solidFill>
                  <a:srgbClr val="404040"/>
                </a:solidFill>
                <a:latin typeface="Calibri"/>
              </a:rPr>
              <a:t>•  Marges « support » (8 j) et « appro » (3 j) en amortisseur.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50" b="0" i="0">
                <a:solidFill>
                  <a:srgbClr val="404040"/>
                </a:solidFill>
                <a:latin typeface="Calibri"/>
              </a:rPr>
              <a:t>•  Suivi des dépenses vs courbe en 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46304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1F4E79"/>
                </a:solidFill>
                <a:latin typeface="Calibri"/>
              </a:rPr>
              <a:t>Jalons clés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2011680"/>
            <a:ext cx="4937760" cy="603504"/>
          </a:xfrm>
          <a:prstGeom prst="round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212140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2E6BA8"/>
                </a:solidFill>
                <a:latin typeface="Calibri"/>
              </a:rPr>
              <a:t>J1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12140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404040"/>
                </a:solidFill>
                <a:latin typeface="Calibri"/>
              </a:rPr>
              <a:t>Étude validée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212140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400" b="1" i="0">
                <a:solidFill>
                  <a:srgbClr val="1F4E79"/>
                </a:solidFill>
                <a:latin typeface="Calibri"/>
              </a:rPr>
              <a:t>j10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2724912"/>
            <a:ext cx="4937760" cy="603504"/>
          </a:xfrm>
          <a:prstGeom prst="round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283464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2E6BA8"/>
                </a:solidFill>
                <a:latin typeface="Calibri"/>
              </a:rPr>
              <a:t>J2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283464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404040"/>
                </a:solidFill>
                <a:latin typeface="Calibri"/>
              </a:rPr>
              <a:t>Pièces prêtes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283464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400" b="1" i="0">
                <a:solidFill>
                  <a:srgbClr val="1F4E79"/>
                </a:solidFill>
                <a:latin typeface="Calibri"/>
              </a:rPr>
              <a:t>j30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0" y="3438144"/>
            <a:ext cx="4937760" cy="603504"/>
          </a:xfrm>
          <a:prstGeom prst="round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354787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2E6BA8"/>
                </a:solidFill>
                <a:latin typeface="Calibri"/>
              </a:rPr>
              <a:t>J3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547872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404040"/>
                </a:solidFill>
                <a:latin typeface="Calibri"/>
              </a:rPr>
              <a:t>Maquette fixée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3547872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400" b="1" i="0">
                <a:solidFill>
                  <a:srgbClr val="1F4E79"/>
                </a:solidFill>
                <a:latin typeface="Calibri"/>
              </a:rPr>
              <a:t>j34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0" y="4151376"/>
            <a:ext cx="4937760" cy="603504"/>
          </a:xfrm>
          <a:prstGeom prst="round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4261104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2E6BA8"/>
                </a:solidFill>
                <a:latin typeface="Calibri"/>
              </a:rPr>
              <a:t>J4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4261104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404040"/>
                </a:solidFill>
                <a:latin typeface="Calibri"/>
              </a:rPr>
              <a:t>Revue client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4261104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400" b="1" i="0">
                <a:solidFill>
                  <a:srgbClr val="1F4E79"/>
                </a:solidFill>
                <a:latin typeface="Calibri"/>
              </a:rPr>
              <a:t>j39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66560" y="4864608"/>
            <a:ext cx="4937760" cy="603504"/>
          </a:xfrm>
          <a:prstGeom prst="round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4974336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2E6BA8"/>
                </a:solidFill>
                <a:latin typeface="Calibri"/>
              </a:rPr>
              <a:t>J5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4974336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404040"/>
                </a:solidFill>
                <a:latin typeface="Calibri"/>
              </a:rPr>
              <a:t>Maquette prête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4974336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400" b="1" i="0">
                <a:solidFill>
                  <a:srgbClr val="1F4E79"/>
                </a:solidFill>
                <a:latin typeface="Calibri"/>
              </a:rPr>
              <a:t>j45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BED3E9"/>
                </a:solidFill>
                <a:latin typeface="Calibri"/>
              </a:rPr>
              <a:t>SYNTHÈSE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8A8A8A"/>
                </a:solidFill>
                <a:latin typeface="Calibri"/>
              </a:rPr>
              <a:t>Projet GREMLIN — Phase de préparation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 i="0">
                <a:solidFill>
                  <a:srgbClr val="8A8A8A"/>
                </a:solidFill>
                <a:latin typeface="Calibr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3566160" cy="1234440"/>
          </a:xfrm>
          <a:prstGeom prst="round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00784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3000" b="1" i="0">
                <a:solidFill>
                  <a:srgbClr val="2E7D32"/>
                </a:solidFill>
                <a:latin typeface="Calibri"/>
              </a:rPr>
              <a:t>45 / 45 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40864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50" b="0" i="0">
                <a:solidFill>
                  <a:srgbClr val="404040"/>
                </a:solidFill>
                <a:latin typeface="Calibri"/>
              </a:rPr>
              <a:t>Délai : respecté, sans marge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554480"/>
            <a:ext cx="3566160" cy="1234440"/>
          </a:xfrm>
          <a:prstGeom prst="round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700784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3000" b="1" i="0">
                <a:solidFill>
                  <a:srgbClr val="C0392B"/>
                </a:solidFill>
                <a:latin typeface="Calibri"/>
              </a:rPr>
              <a:t>+ 1 436 €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340864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50" b="0" i="0">
                <a:solidFill>
                  <a:srgbClr val="404040"/>
                </a:solidFill>
                <a:latin typeface="Calibri"/>
              </a:rPr>
              <a:t>Budget : à corriger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566160" cy="1234440"/>
          </a:xfrm>
          <a:prstGeom prst="round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1700784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3000" b="1" i="0">
                <a:solidFill>
                  <a:srgbClr val="E67E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340864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50" b="0" i="0">
                <a:solidFill>
                  <a:srgbClr val="404040"/>
                </a:solidFill>
                <a:latin typeface="Calibri"/>
              </a:rPr>
              <a:t>Risques prioritaires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004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800" b="1" i="0">
                <a:solidFill>
                  <a:srgbClr val="1F4E79"/>
                </a:solidFill>
                <a:latin typeface="Calibri"/>
              </a:rPr>
              <a:t>Le projet est tenable, mais ne laisse aucune place à l’improvisation.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7947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0" i="0">
                <a:solidFill>
                  <a:srgbClr val="404040"/>
                </a:solidFill>
                <a:latin typeface="Calibri"/>
              </a:rPr>
              <a:t>Trois conditions pour honorer l’engagement des 85 jours 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4340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•  sécuriser la fabrication des pièces (tâche H, point dur du planning) ;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•  faire valider le plan d’économies avant le lancement ;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•  tenir les revues avec le client pour verrouiller les jalons.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126480"/>
            <a:ext cx="11094415" cy="3175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0" i="1">
                <a:solidFill>
                  <a:srgbClr val="8A8A8A"/>
                </a:solidFill>
                <a:latin typeface="Calibri"/>
              </a:rPr>
              <a:t>Au-delà de l’essai : transformer ce premier contrat en relation durable.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