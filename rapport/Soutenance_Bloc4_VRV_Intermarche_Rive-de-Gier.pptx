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 — Bonjour, je suis Guillaume Tardy, technicien CVC et chargé de maintenance chez Santerne Surfaces Commerciales, entreprise de VINCI Energies. Je vais vous présenter le projet que j'ai suivi : le remplacement d'une chaudière gaz de 1987 par une pompe à chaleur réversible sur l'Intermarché de Rive-de-Gier.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 — Je vais suivre quatre temps : l'entreprise, mes missions, le projet lui-même qui occupera l'essentiel de la présentation, puis mon analyse. Annoncer clairement le plan : c'est noté sur la clarté des explications.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 — Première partie, courte : d'où je viens.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1:10 — Une PME de 82 personnes, mais adossée à un groupe international. Insister sur le maillage : c'est ce qui rend le projet possible. La Talaudière, près de Saint-Étienne, spécialité surfaces commerciales : électricité et génie climatique.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2:10 — Mon métier, très concrètement : entretiens, dépannages, devis. Dire honnêtement que le projet dépasse mon périmètre habituel : c'est plus crédible, et le jury le vérifiera 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2:40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2:50 — Trois missions, et surtout : c'est la maintenance qui fait remonter le besoin. Le lien avec l'ingénieur est le point de bascule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4:40 — Cœur de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4:50 — Poser le décor en 4 chiffres. La chaudière de 1987 est l'élément déclencheur : ce n'est pas un projet de confort, c'est un équipement en fin de 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5:50 — Montrer que je sais lire une répartition par usage. Le froid alimentaire est le premier poste d'un supermarché, pas le chauffage. Le dire avant que le jury ne le demande : c'est de la prise de recul.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7:20 — Slide clé pour le critère « argumenter la pertinence / convaincre de passer à l'action ». Le client ignorait trois de ces quatre obligations. Prendre le temps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9:20 — Décrire l'installation puis justifier le choix. Si on me demande pourquoi le R-410A : assumer, c'est la limite du projet, j'y reviens en partie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10:20 — C'est mon meilleur argument technique : remplacer à l'identique aurait fait réinstaller six fois trop de puissance. Montre que j'ai redimensionné, pas recopié.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11:20 — Ne pas cacher les 15 ans : l'assumer et expliquer. C'est ce qui distingue une présentation honnête d'un argumentaire commercial.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12:50 — Point fort du projet. Insister sur la hiérarchie : protection collective avant protection individuelle, et sur la personne au sol formée au secours, souvent oubliée.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14:20 — Slide très noté : « proposer des modifications pour s'adapter aux aléas ». Assumer l'erreur de chiffrage et donner la correction concrète.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15:50 — Donner les indicateurs, puis montrer que je sais qu'une comparaison brute de factures ne prouve rien. Reconnaître l'absence de sous-comptage avant travaux si on me le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17:20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17:30 — Critère à coefficient 3. Être franc : le R-410A est la vraie faiblesse, et je sais la chiffrer. C'est ce qui fera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19:00 — Slide qui coche un critère entier de la grille, souvent oublié par les candidats. Ne pas le sauter même si le temps presse.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20:00 — Terminer sur la trajectoire : le projet n'est pas un coup isolé, il ouvre une feuille de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20:00 — Conclure net, ne pas déborder. Enchaîner sur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ANNEXE — à ouvrir si le jury demande le détail du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ANNEXE — à ouvrir si on me demande pourquoi cette action plutôt qu'une 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ANNEXE — la question du fluide viendra probablement. Cette slide y répond en 20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104000"/>
            <a:ext cx="12193200" cy="43200"/>
          </a:xfrm>
          <a:prstGeom prst="rect">
            <a:avLst/>
          </a:prstGeom>
          <a:solidFill>
            <a:srgbClr val="D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00000" y="1152000"/>
            <a:ext cx="104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9CC2E8"/>
                </a:solidFill>
                <a:latin typeface="Calibri"/>
              </a:rPr>
              <a:t>SOUTENANCE — BLOC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512000"/>
            <a:ext cx="104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C9DCEF"/>
                </a:solidFill>
                <a:latin typeface="Calibri"/>
              </a:rPr>
              <a:t>Initiation et coordination de projets de transition énergétique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52000"/>
            <a:ext cx="10512000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Remplacement d'une chaudière gaz de 1987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par une pompe à chaleur réversible DRV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491999"/>
            <a:ext cx="1051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C9DCEF"/>
                </a:solidFill>
                <a:latin typeface="Calibri"/>
              </a:rPr>
              <a:t>Surface de vente de l'INTERMARCHÉ de Rive-de-Gier (42)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4392000"/>
            <a:ext cx="720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Guillaume TARDY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Technicien CVC — Chargé de maintenance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SANTERNE SURFACES COMMERCIALES — VINCI Energies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0" y="4392000"/>
            <a:ext cx="360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C9DCEF"/>
                </a:solidFill>
                <a:latin typeface="Calibri"/>
              </a:rPr>
              <a:t>Licence professionnelle CPEBD</a:t>
            </a:r>
          </a:p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C9DCEF"/>
                </a:solidFill>
                <a:latin typeface="Calibri"/>
              </a:rPr>
              <a:t>IRUP — Saint-Étienne</a:t>
            </a:r>
          </a:p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C9DCEF"/>
                </a:solidFill>
                <a:latin typeface="Calibri"/>
              </a:rPr>
              <a:t>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Le déroulé de ma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9200" y="6444001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20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188000"/>
            <a:ext cx="11016000" cy="1116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6000" y="1188000"/>
            <a:ext cx="612000" cy="1116000"/>
          </a:xfrm>
          <a:prstGeom prst="roundRect">
            <a:avLst>
              <a:gd name="adj" fmla="val 6000"/>
            </a:avLst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76000" y="1494000"/>
            <a:ext cx="612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4000" y="1368000"/>
            <a:ext cx="79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003A70"/>
                </a:solidFill>
                <a:latin typeface="Calibri"/>
              </a:rPr>
              <a:t>L'ENTREPRISE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4000" y="1764000"/>
            <a:ext cx="882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55F6B"/>
                </a:solidFill>
                <a:latin typeface="Calibri"/>
              </a:rPr>
              <a:t>Le groupe VINCI Energies · Santerne Surfaces Commerciales · la cellule CVC · mon poste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96000" y="1584000"/>
            <a:ext cx="108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31B2E"/>
                </a:solidFill>
                <a:latin typeface="Calibri"/>
              </a:rPr>
              <a:t>3 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00" y="2448000"/>
            <a:ext cx="11016000" cy="1116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76000" y="2448000"/>
            <a:ext cx="612000" cy="1116000"/>
          </a:xfrm>
          <a:prstGeom prst="roundRect">
            <a:avLst>
              <a:gd name="adj" fmla="val 6000"/>
            </a:avLst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6000" y="2754000"/>
            <a:ext cx="612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4000" y="2628000"/>
            <a:ext cx="79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003A70"/>
                </a:solidFill>
                <a:latin typeface="Calibri"/>
              </a:rPr>
              <a:t>MES 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4000" y="3024000"/>
            <a:ext cx="882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55F6B"/>
                </a:solidFill>
                <a:latin typeface="Calibri"/>
              </a:rPr>
              <a:t>Entretiens · dépannages · devis · la naissance du projet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96000" y="2844000"/>
            <a:ext cx="108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31B2E"/>
                </a:solidFill>
                <a:latin typeface="Calibri"/>
              </a:rPr>
              <a:t>2 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00" y="3708000"/>
            <a:ext cx="11016000" cy="1116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76000" y="3708000"/>
            <a:ext cx="612000" cy="1116000"/>
          </a:xfrm>
          <a:prstGeom prst="roundRect">
            <a:avLst>
              <a:gd name="adj" fmla="val 6000"/>
            </a:avLst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76000" y="4014000"/>
            <a:ext cx="612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4000" y="3888000"/>
            <a:ext cx="79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003A70"/>
                </a:solidFill>
                <a:latin typeface="Calibri"/>
              </a:rPr>
              <a:t>LE PROJET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4000" y="4284000"/>
            <a:ext cx="882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55F6B"/>
                </a:solidFill>
                <a:latin typeface="Calibri"/>
              </a:rPr>
              <a:t>Le site et l'existant · l'audit énergétique · la réglementation · la solution · le budget · le chantier de nuit · les résultats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96000" y="4104000"/>
            <a:ext cx="108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31B2E"/>
                </a:solidFill>
                <a:latin typeface="Calibri"/>
              </a:rPr>
              <a:t>11 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00" y="4968000"/>
            <a:ext cx="11016000" cy="1116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76000" y="4968000"/>
            <a:ext cx="612000" cy="1116000"/>
          </a:xfrm>
          <a:prstGeom prst="roundRect">
            <a:avLst>
              <a:gd name="adj" fmla="val 6000"/>
            </a:avLst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76000" y="5274000"/>
            <a:ext cx="612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4000" y="5148000"/>
            <a:ext cx="79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003A70"/>
                </a:solidFill>
                <a:latin typeface="Calibri"/>
              </a:rPr>
              <a:t>ANALYSE ET CONCLUSION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4000" y="5544000"/>
            <a:ext cx="882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55F6B"/>
                </a:solidFill>
                <a:latin typeface="Calibri"/>
              </a:rPr>
              <a:t>Ce qui a marché · ce que je referais autrement · l'équipe · les perspectives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96000" y="5364000"/>
            <a:ext cx="108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31B2E"/>
                </a:solidFill>
                <a:latin typeface="Calibri"/>
              </a:rPr>
              <a:t>4 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0000" y="1584000"/>
            <a:ext cx="216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9CC2E8"/>
                </a:solidFill>
                <a:latin typeface="Calibri"/>
              </a:rPr>
              <a:t>PARTIE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944000"/>
            <a:ext cx="1008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L'entreprise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3096000"/>
            <a:ext cx="1800000" cy="36000"/>
          </a:xfrm>
          <a:prstGeom prst="rect">
            <a:avLst/>
          </a:prstGeom>
          <a:solidFill>
            <a:srgbClr val="D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00000" y="3456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6000" y="3456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CE7F3"/>
                </a:solidFill>
                <a:latin typeface="Calibri"/>
              </a:rPr>
              <a:t>Du groupe VINCI à mon entreprise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52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6000" y="3852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CE7F3"/>
                </a:solidFill>
                <a:latin typeface="Calibri"/>
              </a:rPr>
              <a:t>Santerne Surfaces Commerciales : qui, quoi, où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4248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6000" y="4248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CE7F3"/>
                </a:solidFill>
                <a:latin typeface="Calibri"/>
              </a:rPr>
              <a:t>La cellule Climatisation et mon poste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33200" y="1655999"/>
            <a:ext cx="21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9CC2E8"/>
                </a:solidFill>
                <a:latin typeface="Calibri"/>
              </a:rPr>
              <a:t>≈ 3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PARTIE 1 — L'ENTREPRISE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Du groupe VINCI à mon entreprise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9200" y="6444001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1 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152000"/>
            <a:ext cx="10440000" cy="720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2000" y="1267200"/>
            <a:ext cx="72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3A70"/>
                </a:solidFill>
                <a:latin typeface="Calibri"/>
              </a:rPr>
              <a:t>GROUPE VINCI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15552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Calibri"/>
              </a:rPr>
              <a:t>61,6 Md€ · 219 300 collaborateurs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2000" y="1998000"/>
            <a:ext cx="9648000" cy="720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88000" y="2113200"/>
            <a:ext cx="72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3A70"/>
                </a:solidFill>
                <a:latin typeface="Calibri"/>
              </a:rPr>
              <a:t>VINCI ENERGIES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24012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Calibri"/>
              </a:rPr>
              <a:t>16,7 Md€ · 1 800 entreprises · 57 pays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68000" y="2844000"/>
            <a:ext cx="8856000" cy="720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584000" y="2959200"/>
            <a:ext cx="72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3A70"/>
                </a:solidFill>
                <a:latin typeface="Calibri"/>
              </a:rPr>
              <a:t>POLE VEF TERTIAIRE CENTRE-EST SUD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4000" y="32472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Calibri"/>
              </a:rPr>
              <a:t>277 M€ · 1 690 collaborateurs · 38 entreprises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64000" y="3690000"/>
            <a:ext cx="8064000" cy="720000"/>
          </a:xfrm>
          <a:prstGeom prst="roundRect">
            <a:avLst>
              <a:gd name="adj" fmla="val 6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980000" y="3805200"/>
            <a:ext cx="72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SANTERNE SURFACES COMMERCIALES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0000" y="40932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Calibri"/>
              </a:rPr>
              <a:t>20 M€ · 82 collaborateurs dont 13 alternants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" y="4716000"/>
            <a:ext cx="11016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2832"/>
                </a:solidFill>
                <a:latin typeface="Calibri"/>
              </a:rPr>
              <a:t>Le modèle VINCI Energies : des entreprises autonomes, mises en réseau.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E2832"/>
                </a:solidFill>
                <a:latin typeface="Calibri"/>
              </a:rPr>
              <a:t>C'est ce « maillage » qui m'a permis de mobiliser un </a:t>
            </a:r>
            <a:r>
              <a:rPr sz="1400" b="1">
                <a:solidFill>
                  <a:srgbClr val="1E2832"/>
                </a:solidFill>
                <a:latin typeface="Calibri"/>
              </a:rPr>
              <a:t>ingénieur énergéticien du groupe</a:t>
            </a:r>
            <a:r>
              <a:rPr sz="1400" b="0">
                <a:solidFill>
                  <a:srgbClr val="1E2832"/>
                </a:solidFill>
                <a:latin typeface="Calibri"/>
              </a:rPr>
              <a:t> pour auditer le magasin 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E2832"/>
                </a:solidFill>
                <a:latin typeface="Calibri"/>
              </a:rPr>
              <a:t>une PME de 82 personnes n'aurait pas eu cette compétence en interne.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PARTIE 1 — L'ENTREPRISE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La cellule Climatisation et mon poste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9200" y="6444001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1 min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116000"/>
            <a:ext cx="5400000" cy="4176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2000" y="1260000"/>
            <a:ext cx="50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03A70"/>
                </a:solidFill>
                <a:latin typeface="Calibri"/>
              </a:rPr>
              <a:t>LA CELLULE CLIMATISATION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000" y="1692000"/>
            <a:ext cx="4968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6000" y="1843200"/>
            <a:ext cx="46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E2832"/>
                </a:solidFill>
                <a:latin typeface="Calibri"/>
              </a:rPr>
              <a:t>Jean-Michel BERJAUD</a:t>
            </a:r>
            <a:r>
              <a:rPr sz="1200" b="0">
                <a:solidFill>
                  <a:srgbClr val="1E2832"/>
                </a:solidFill>
                <a:latin typeface="Calibri"/>
              </a:rPr>
              <a:t> — Responsable d'affaires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2000" y="2322000"/>
            <a:ext cx="4608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16000" y="2473200"/>
            <a:ext cx="43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E2832"/>
                </a:solidFill>
                <a:latin typeface="Calibri"/>
              </a:rPr>
              <a:t>A. BESSARD · S. HAMDOUCHE</a:t>
            </a:r>
            <a:r>
              <a:rPr sz="1200" b="0">
                <a:solidFill>
                  <a:srgbClr val="1E2832"/>
                </a:solidFill>
                <a:latin typeface="Calibri"/>
              </a:rPr>
              <a:t> — Responsables chantiers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2000" y="2952000"/>
            <a:ext cx="4248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96000" y="3103200"/>
            <a:ext cx="39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E2832"/>
                </a:solidFill>
                <a:latin typeface="Calibri"/>
              </a:rPr>
              <a:t>M. NEGGAZ · R. PAUWELS · G. VACHER</a:t>
            </a:r>
            <a:r>
              <a:rPr sz="1200" b="0">
                <a:solidFill>
                  <a:srgbClr val="1E2832"/>
                </a:solidFill>
                <a:latin typeface="Calibri"/>
              </a:rPr>
              <a:t> — Techniciens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32000" y="3582000"/>
            <a:ext cx="3888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476000" y="3733200"/>
            <a:ext cx="36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E2832"/>
                </a:solidFill>
                <a:latin typeface="Calibri"/>
              </a:rPr>
              <a:t>Guillaume TARDY</a:t>
            </a:r>
            <a:r>
              <a:rPr sz="1200" b="0">
                <a:solidFill>
                  <a:srgbClr val="1E2832"/>
                </a:solidFill>
                <a:latin typeface="Calibri"/>
              </a:rPr>
              <a:t> + 3 alternants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4284000"/>
            <a:ext cx="504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55F6B"/>
                </a:solidFill>
                <a:latin typeface="Calibri"/>
              </a:rPr>
              <a:t>Travaux neufs · maintenance préventive et corrective ·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55F6B"/>
                </a:solidFill>
                <a:latin typeface="Calibri"/>
              </a:rPr>
              <a:t>conseil en amélioration énergétique.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55F6B"/>
                </a:solidFill>
                <a:latin typeface="Calibri"/>
              </a:rPr>
              <a:t>Clients : grande distribution, retail, tertiaire, collectivités.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000" y="1116000"/>
            <a:ext cx="5256000" cy="417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52000" y="1260000"/>
            <a:ext cx="48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31B2E"/>
                </a:solidFill>
                <a:latin typeface="Calibri"/>
              </a:rPr>
              <a:t>MON POSTE : CHARGÉ DE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2000" y="1620000"/>
            <a:ext cx="482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555F6B"/>
                </a:solidFill>
                <a:latin typeface="Calibri"/>
              </a:rPr>
              <a:t>3 ans</a:t>
            </a:r>
            <a:r>
              <a:rPr sz="1300" b="0">
                <a:solidFill>
                  <a:srgbClr val="555F6B"/>
                </a:solidFill>
                <a:latin typeface="Calibri"/>
              </a:rPr>
              <a:t> technicien CVC · </a:t>
            </a:r>
            <a:r>
              <a:rPr sz="1300" b="1">
                <a:solidFill>
                  <a:srgbClr val="555F6B"/>
                </a:solidFill>
                <a:latin typeface="Calibri"/>
              </a:rPr>
              <a:t>1 an et demi</a:t>
            </a:r>
            <a:r>
              <a:rPr sz="1300" b="0">
                <a:solidFill>
                  <a:srgbClr val="555F6B"/>
                </a:solidFill>
                <a:latin typeface="Calibri"/>
              </a:rPr>
              <a:t> chargé de maintenance</a:t>
            </a:r>
          </a:p>
        </p:txBody>
      </p:sp>
      <p:sp>
        <p:nvSpPr>
          <p:cNvPr id="22" name="Oval 21"/>
          <p:cNvSpPr/>
          <p:nvPr/>
        </p:nvSpPr>
        <p:spPr>
          <a:xfrm>
            <a:off x="6552000" y="2221200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68000" y="2160000"/>
            <a:ext cx="460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E2832"/>
                </a:solidFill>
                <a:latin typeface="Calibri"/>
              </a:rPr>
              <a:t>Les entretiens</a:t>
            </a:r>
            <a:r>
              <a:rPr sz="1300" b="0">
                <a:solidFill>
                  <a:srgbClr val="1E2832"/>
                </a:solidFill>
                <a:latin typeface="Calibri"/>
              </a:rPr>
              <a:t> — visites de maintenance préventive</a:t>
            </a:r>
          </a:p>
        </p:txBody>
      </p:sp>
      <p:sp>
        <p:nvSpPr>
          <p:cNvPr id="24" name="Oval 23"/>
          <p:cNvSpPr/>
          <p:nvPr/>
        </p:nvSpPr>
        <p:spPr>
          <a:xfrm>
            <a:off x="6552000" y="2779200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8000" y="2718000"/>
            <a:ext cx="460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E2832"/>
                </a:solidFill>
                <a:latin typeface="Calibri"/>
              </a:rPr>
              <a:t>Les dépannages</a:t>
            </a:r>
            <a:r>
              <a:rPr sz="1300" b="0">
                <a:solidFill>
                  <a:srgbClr val="1E2832"/>
                </a:solidFill>
                <a:latin typeface="Calibri"/>
              </a:rPr>
              <a:t> — maintenance corrective</a:t>
            </a:r>
          </a:p>
        </p:txBody>
      </p:sp>
      <p:sp>
        <p:nvSpPr>
          <p:cNvPr id="26" name="Oval 25"/>
          <p:cNvSpPr/>
          <p:nvPr/>
        </p:nvSpPr>
        <p:spPr>
          <a:xfrm>
            <a:off x="6552000" y="3337200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68000" y="3276000"/>
            <a:ext cx="460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E2832"/>
                </a:solidFill>
                <a:latin typeface="Calibri"/>
              </a:rPr>
              <a:t>Les devis</a:t>
            </a:r>
            <a:r>
              <a:rPr sz="1300" b="0">
                <a:solidFill>
                  <a:srgbClr val="1E2832"/>
                </a:solidFill>
                <a:latin typeface="Calibri"/>
              </a:rPr>
              <a:t> — dépannages et remplacement de petites installations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2000" y="4068000"/>
            <a:ext cx="4824000" cy="1080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732000" y="4230000"/>
            <a:ext cx="4464000" cy="82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Un projet à </a:t>
            </a:r>
            <a:r>
              <a:rPr sz="1200" b="1">
                <a:solidFill>
                  <a:srgbClr val="1E2832"/>
                </a:solidFill>
                <a:latin typeface="Calibri"/>
              </a:rPr>
              <a:t>90 000 €</a:t>
            </a:r>
            <a:r>
              <a:rPr sz="1200" b="0">
                <a:solidFill>
                  <a:srgbClr val="1E2832"/>
                </a:solidFill>
                <a:latin typeface="Calibri"/>
              </a:rPr>
              <a:t> ne relève donc </a:t>
            </a:r>
            <a:r>
              <a:rPr sz="1200" b="1">
                <a:solidFill>
                  <a:srgbClr val="1E2832"/>
                </a:solidFill>
                <a:latin typeface="Calibri"/>
              </a:rPr>
              <a:t>pas</a:t>
            </a:r>
            <a:r>
              <a:rPr sz="1200" b="0">
                <a:solidFill>
                  <a:srgbClr val="1E2832"/>
                </a:solidFill>
                <a:latin typeface="Calibri"/>
              </a:rPr>
              <a:t> de mon périmètre habituel.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J'y suis venu en cherchant un projet support pour ma licence.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0000" y="1584000"/>
            <a:ext cx="216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9CC2E8"/>
                </a:solidFill>
                <a:latin typeface="Calibri"/>
              </a:rPr>
              <a:t>PARTIE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944000"/>
            <a:ext cx="1008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Mes 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3096000"/>
            <a:ext cx="1800000" cy="36000"/>
          </a:xfrm>
          <a:prstGeom prst="rect">
            <a:avLst/>
          </a:prstGeom>
          <a:solidFill>
            <a:srgbClr val="D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00000" y="3456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6000" y="3456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CE7F3"/>
                </a:solidFill>
                <a:latin typeface="Calibri"/>
              </a:rPr>
              <a:t>Ce que je fais au quotidien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52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6000" y="3852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CE7F3"/>
                </a:solidFill>
                <a:latin typeface="Calibri"/>
              </a:rPr>
              <a:t>Comment le projet est né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33200" y="1655999"/>
            <a:ext cx="21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9CC2E8"/>
                </a:solidFill>
                <a:latin typeface="Calibri"/>
              </a:rPr>
              <a:t>≈ 2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PARTIE 2 — MES 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Du quotidien de maintenance au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9200" y="6444001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2 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152000"/>
            <a:ext cx="3456000" cy="1944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56000" y="1332000"/>
            <a:ext cx="30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3A70"/>
                </a:solidFill>
                <a:latin typeface="Calibri"/>
              </a:rPr>
              <a:t>ENTRETENIR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1764000"/>
            <a:ext cx="30960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Visites préventives, contrôles de fonctionnement, nettoyages,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2832"/>
                </a:solidFill>
                <a:latin typeface="Calibri"/>
              </a:rPr>
              <a:t>contrôles d'étanchéité</a:t>
            </a:r>
            <a:r>
              <a:rPr sz="1200" b="0">
                <a:solidFill>
                  <a:srgbClr val="1E2832"/>
                </a:solidFill>
                <a:latin typeface="Calibri"/>
              </a:rPr>
              <a:t> réglementaires des circuits frigorifiques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0" y="1152000"/>
            <a:ext cx="3456000" cy="1944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00000" y="1332000"/>
            <a:ext cx="30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3A70"/>
                </a:solidFill>
                <a:latin typeface="Calibri"/>
              </a:rPr>
              <a:t>DÉPANNER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0" y="1764000"/>
            <a:ext cx="30960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Diagnostic, recherche de la </a:t>
            </a:r>
            <a:r>
              <a:rPr sz="1200" b="1">
                <a:solidFill>
                  <a:srgbClr val="1E2832"/>
                </a:solidFill>
                <a:latin typeface="Calibri"/>
              </a:rPr>
              <a:t>cause racine</a:t>
            </a:r>
            <a:r>
              <a:rPr sz="1200" b="0">
                <a:solidFill>
                  <a:srgbClr val="1E2832"/>
                </a:solidFill>
                <a:latin typeface="Calibri"/>
              </a:rPr>
              <a:t>, réparation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ou mise en sécurité, remise en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4000" y="1152000"/>
            <a:ext cx="3456000" cy="1944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44000" y="1332000"/>
            <a:ext cx="30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3A70"/>
                </a:solidFill>
                <a:latin typeface="Calibri"/>
              </a:rPr>
              <a:t>CHIFFRER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4000" y="1764000"/>
            <a:ext cx="30960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Devis de dépannage et de </a:t>
            </a:r>
            <a:r>
              <a:rPr sz="1200" b="1">
                <a:solidFill>
                  <a:srgbClr val="1E2832"/>
                </a:solidFill>
                <a:latin typeface="Calibri"/>
              </a:rPr>
              <a:t>remplacement de petites installations</a:t>
            </a:r>
            <a:r>
              <a:rPr sz="1200" b="0">
                <a:solidFill>
                  <a:srgbClr val="1E2832"/>
                </a:solidFill>
                <a:latin typeface="Calibri"/>
              </a:rPr>
              <a:t> 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relevé, consultation fournisseurs, prix de vente, relance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3384000"/>
            <a:ext cx="11016000" cy="1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7999" y="3564000"/>
            <a:ext cx="104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COMMENT LE PROJET EST NÉ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999" y="3996000"/>
            <a:ext cx="43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D31B2E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999" y="4320000"/>
            <a:ext cx="2448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Je cherche un </a:t>
            </a:r>
            <a:r>
              <a:rPr sz="1200" b="1">
                <a:solidFill>
                  <a:srgbClr val="1E2832"/>
                </a:solidFill>
                <a:latin typeface="Calibri"/>
              </a:rPr>
              <a:t>projet support</a:t>
            </a:r>
            <a:r>
              <a:rPr sz="1200" b="0">
                <a:solidFill>
                  <a:srgbClr val="1E2832"/>
                </a:solidFill>
                <a:latin typeface="Calibri"/>
              </a:rPr>
              <a:t> pour ma licence CPEBD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3999" y="4284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55F6B"/>
                </a:solidFill>
                <a:latin typeface="Calibri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1999" y="3996000"/>
            <a:ext cx="43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D31B2E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1999" y="4320000"/>
            <a:ext cx="2448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J'en parle à </a:t>
            </a:r>
            <a:r>
              <a:rPr sz="1200" b="1">
                <a:solidFill>
                  <a:srgbClr val="1E2832"/>
                </a:solidFill>
                <a:latin typeface="Calibri"/>
              </a:rPr>
              <a:t>J.-M. BERJAUD</a:t>
            </a:r>
            <a:r>
              <a:rPr sz="1200" b="0">
                <a:solidFill>
                  <a:srgbClr val="1E2832"/>
                </a:solidFill>
                <a:latin typeface="Calibri"/>
              </a:rPr>
              <a:t>, responsable d'affaires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67999" y="4284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55F6B"/>
                </a:solidFill>
                <a:latin typeface="Calibri"/>
              </a:rP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5999" y="3996000"/>
            <a:ext cx="43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D31B2E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5999" y="4320000"/>
            <a:ext cx="2448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Il me met en relation avec l'</a:t>
            </a:r>
            <a:r>
              <a:rPr sz="1200" b="1">
                <a:solidFill>
                  <a:srgbClr val="1E2832"/>
                </a:solidFill>
                <a:latin typeface="Calibri"/>
              </a:rPr>
              <a:t>ingénieur énergéticien VINCI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999" y="4284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55F6B"/>
                </a:solidFill>
                <a:latin typeface="Calibri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9999" y="3996000"/>
            <a:ext cx="43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D31B2E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9999" y="4320000"/>
            <a:ext cx="2448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2832"/>
                </a:solidFill>
                <a:latin typeface="Calibri"/>
              </a:rPr>
              <a:t>Participation à l'audit</a:t>
            </a:r>
            <a:r>
              <a:rPr sz="1200" b="0">
                <a:solidFill>
                  <a:srgbClr val="1E2832"/>
                </a:solidFill>
                <a:latin typeface="Calibri"/>
              </a:rPr>
              <a:t>, puis </a:t>
            </a:r>
            <a:r>
              <a:rPr sz="1200" b="1">
                <a:solidFill>
                  <a:srgbClr val="1E2832"/>
                </a:solidFill>
                <a:latin typeface="Calibri"/>
              </a:rPr>
              <a:t>réalisation d'une partie du chantier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0000" y="1584000"/>
            <a:ext cx="216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9CC2E8"/>
                </a:solidFill>
                <a:latin typeface="Calibri"/>
              </a:rPr>
              <a:t>PARTIE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944000"/>
            <a:ext cx="1008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Le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3096000"/>
            <a:ext cx="1800000" cy="36000"/>
          </a:xfrm>
          <a:prstGeom prst="rect">
            <a:avLst/>
          </a:prstGeom>
          <a:solidFill>
            <a:srgbClr val="D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00000" y="3456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6000" y="3456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CE7F3"/>
                </a:solidFill>
                <a:latin typeface="Calibri"/>
              </a:rPr>
              <a:t>Le site et la situation de départ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52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6000" y="3852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CE7F3"/>
                </a:solidFill>
                <a:latin typeface="Calibri"/>
              </a:rPr>
              <a:t>L'audit énergétique et la problématique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4248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6000" y="4248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CE7F3"/>
                </a:solidFill>
                <a:latin typeface="Calibri"/>
              </a:rPr>
              <a:t>Les obligations réglementaires : l'argument décisif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644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6000" y="4644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CE7F3"/>
                </a:solidFill>
                <a:latin typeface="Calibri"/>
              </a:rPr>
              <a:t>La solution retenue et son dimensionnement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5040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6000" y="5040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CE7F3"/>
                </a:solidFill>
                <a:latin typeface="Calibri"/>
              </a:rPr>
              <a:t>Le budget, les CEE et le retour sur investissement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5436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6000" y="5436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CE7F3"/>
                </a:solidFill>
                <a:latin typeface="Calibri"/>
              </a:rPr>
              <a:t>Le chantier de nuit en ERP : sécurité et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00" y="5832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6000" y="5832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CE7F3"/>
                </a:solidFill>
                <a:latin typeface="Calibri"/>
              </a:rPr>
              <a:t>Les résultats et les indicateurs d'impact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3200" y="1655999"/>
            <a:ext cx="21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9CC2E8"/>
                </a:solidFill>
                <a:latin typeface="Calibri"/>
              </a:rPr>
              <a:t>≈ 11 minutes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3.1 — LE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La situation de départ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9200" y="6444001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1 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116000"/>
            <a:ext cx="2520000" cy="1655999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76000" y="1278000"/>
            <a:ext cx="25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003A70"/>
                </a:solidFill>
                <a:latin typeface="Calibri"/>
              </a:rPr>
              <a:t>3 690 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2231999"/>
            <a:ext cx="230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surface totale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dont 2 596 m² de vente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4000" y="1116000"/>
            <a:ext cx="2520000" cy="1655999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384000" y="1278000"/>
            <a:ext cx="25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003A70"/>
                </a:solidFill>
                <a:latin typeface="Calibri"/>
              </a:rPr>
              <a:t>452 kW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2000" y="2231999"/>
            <a:ext cx="230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chaudière gaz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FERROLI de 1987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116000"/>
            <a:ext cx="2520000" cy="1655999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92000" y="1278000"/>
            <a:ext cx="25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003A70"/>
                </a:solidFill>
                <a:latin typeface="Calibri"/>
              </a:rPr>
              <a:t>4 h 45 – 19 h 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0" y="2231999"/>
            <a:ext cx="230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amplitude d'ouverture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6,5 jours /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0" y="1116000"/>
            <a:ext cx="2520000" cy="1655999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000000" y="1278000"/>
            <a:ext cx="25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003A70"/>
                </a:solidFill>
                <a:latin typeface="Calibri"/>
              </a:rPr>
              <a:t>165 340 €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8000" y="2231999"/>
            <a:ext cx="230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facture énergétique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annuelle 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00" y="3096000"/>
            <a:ext cx="5436000" cy="21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92000" y="3240000"/>
            <a:ext cx="50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03A70"/>
                </a:solidFill>
                <a:latin typeface="Calibri"/>
              </a:rPr>
              <a:t>CE QUI POSAIT PROBLÈME</a:t>
            </a:r>
          </a:p>
        </p:txBody>
      </p:sp>
      <p:sp>
        <p:nvSpPr>
          <p:cNvPr id="22" name="Oval 21"/>
          <p:cNvSpPr/>
          <p:nvPr/>
        </p:nvSpPr>
        <p:spPr>
          <a:xfrm>
            <a:off x="792000" y="3661200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08000" y="3600000"/>
            <a:ext cx="48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Chaudière gaz de </a:t>
            </a:r>
            <a:r>
              <a:rPr sz="1250" b="1">
                <a:solidFill>
                  <a:srgbClr val="1E2832"/>
                </a:solidFill>
                <a:latin typeface="Calibri"/>
              </a:rPr>
              <a:t>1987</a:t>
            </a:r>
            <a:r>
              <a:rPr sz="1250" b="0">
                <a:solidFill>
                  <a:srgbClr val="1E2832"/>
                </a:solidFill>
                <a:latin typeface="Calibri"/>
              </a:rPr>
              <a:t>, en fin de vie</a:t>
            </a:r>
          </a:p>
        </p:txBody>
      </p:sp>
      <p:sp>
        <p:nvSpPr>
          <p:cNvPr id="24" name="Oval 23"/>
          <p:cNvSpPr/>
          <p:nvPr/>
        </p:nvSpPr>
        <p:spPr>
          <a:xfrm>
            <a:off x="792000" y="4039200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8000" y="3978000"/>
            <a:ext cx="48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Émission par </a:t>
            </a:r>
            <a:r>
              <a:rPr sz="1250" b="1">
                <a:solidFill>
                  <a:srgbClr val="1E2832"/>
                </a:solidFill>
                <a:latin typeface="Calibri"/>
              </a:rPr>
              <a:t>aérothermes</a:t>
            </a:r>
            <a:r>
              <a:rPr sz="1250" b="0">
                <a:solidFill>
                  <a:srgbClr val="1E2832"/>
                </a:solidFill>
                <a:latin typeface="Calibri"/>
              </a:rPr>
              <a:t>, régulation sommaire</a:t>
            </a:r>
          </a:p>
        </p:txBody>
      </p:sp>
      <p:sp>
        <p:nvSpPr>
          <p:cNvPr id="26" name="Oval 25"/>
          <p:cNvSpPr/>
          <p:nvPr/>
        </p:nvSpPr>
        <p:spPr>
          <a:xfrm>
            <a:off x="792000" y="4417200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08000" y="4356000"/>
            <a:ext cx="48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E2832"/>
                </a:solidFill>
                <a:latin typeface="Calibri"/>
              </a:rPr>
              <a:t>Aucune climatisation</a:t>
            </a:r>
            <a:r>
              <a:rPr sz="1250" b="0">
                <a:solidFill>
                  <a:srgbClr val="1E2832"/>
                </a:solidFill>
                <a:latin typeface="Calibri"/>
              </a:rPr>
              <a:t> hors zone frais</a:t>
            </a:r>
          </a:p>
        </p:txBody>
      </p:sp>
      <p:sp>
        <p:nvSpPr>
          <p:cNvPr id="28" name="Oval 27"/>
          <p:cNvSpPr/>
          <p:nvPr/>
        </p:nvSpPr>
        <p:spPr>
          <a:xfrm>
            <a:off x="792000" y="4795200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08000" y="4734000"/>
            <a:ext cx="48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Pas de GTB : régulation de </a:t>
            </a:r>
            <a:r>
              <a:rPr sz="1250" b="1">
                <a:solidFill>
                  <a:srgbClr val="1E2832"/>
                </a:solidFill>
                <a:latin typeface="Calibri"/>
              </a:rPr>
              <a:t>classe 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6000" y="3096000"/>
            <a:ext cx="5256000" cy="2124000"/>
          </a:xfrm>
          <a:prstGeom prst="roundRect">
            <a:avLst>
              <a:gd name="adj" fmla="val 6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52000" y="3240000"/>
            <a:ext cx="48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31B2E"/>
                </a:solidFill>
                <a:latin typeface="Calibri"/>
              </a:rPr>
              <a:t>LE RISQUE POUR LE 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2000" y="3600000"/>
            <a:ext cx="4824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E2832"/>
                </a:solidFill>
                <a:latin typeface="Calibri"/>
              </a:rPr>
              <a:t>Une panne de chaudière </a:t>
            </a:r>
            <a:r>
              <a:rPr sz="1300" b="1">
                <a:solidFill>
                  <a:srgbClr val="1E2832"/>
                </a:solidFill>
                <a:latin typeface="Calibri"/>
              </a:rPr>
              <a:t>en pleine saison</a:t>
            </a:r>
            <a:r>
              <a:rPr sz="1300" b="0">
                <a:solidFill>
                  <a:srgbClr val="1E2832"/>
                </a:solidFill>
                <a:latin typeface="Calibri"/>
              </a:rPr>
              <a:t>, un remplacement en urgence au prix fort,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E2832"/>
                </a:solidFill>
                <a:latin typeface="Calibri"/>
              </a:rPr>
              <a:t>un inconfort d'été subi par les clients et les salariés,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E2832"/>
                </a:solidFill>
                <a:latin typeface="Calibri"/>
              </a:rPr>
              <a:t>et une facture qui ne fait qu'augmenter.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3.2 — L'AUDIT ÉNERGÉTIQUE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Méthode et état des lieux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9200" y="6444001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1 min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116000"/>
            <a:ext cx="5436000" cy="1872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2000" y="1260000"/>
            <a:ext cx="50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03A70"/>
                </a:solidFill>
                <a:latin typeface="Calibri"/>
              </a:rPr>
              <a:t>LA MÉTHODE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1620000"/>
            <a:ext cx="504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E2832"/>
                </a:solidFill>
                <a:latin typeface="Calibri"/>
              </a:rPr>
              <a:t>Visite du site le </a:t>
            </a:r>
            <a:r>
              <a:rPr sz="1300" b="1">
                <a:solidFill>
                  <a:srgbClr val="1E2832"/>
                </a:solidFill>
                <a:latin typeface="Calibri"/>
              </a:rPr>
              <a:t>17/04/2025</a:t>
            </a:r>
            <a:r>
              <a:rPr sz="1300" b="0">
                <a:solidFill>
                  <a:srgbClr val="1E2832"/>
                </a:solidFill>
                <a:latin typeface="Calibri"/>
              </a:rPr>
              <a:t>, rapport du </a:t>
            </a:r>
            <a:r>
              <a:rPr sz="1300" b="1">
                <a:solidFill>
                  <a:srgbClr val="1E2832"/>
                </a:solidFill>
                <a:latin typeface="Calibri"/>
              </a:rPr>
              <a:t>30/07/2025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E2832"/>
                </a:solidFill>
                <a:latin typeface="Calibri"/>
              </a:rPr>
              <a:t>Données </a:t>
            </a:r>
            <a:r>
              <a:rPr sz="1300" b="1">
                <a:solidFill>
                  <a:srgbClr val="1E2832"/>
                </a:solidFill>
                <a:latin typeface="Calibri"/>
              </a:rPr>
              <a:t>ENEDIS / GRDF</a:t>
            </a:r>
            <a:r>
              <a:rPr sz="1300" b="0">
                <a:solidFill>
                  <a:srgbClr val="1E2832"/>
                </a:solidFill>
                <a:latin typeface="Calibri"/>
              </a:rPr>
              <a:t> et factures sur 3 ans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E2832"/>
                </a:solidFill>
                <a:latin typeface="Calibri"/>
              </a:rPr>
              <a:t>Modélisation </a:t>
            </a:r>
            <a:r>
              <a:rPr sz="1300" b="1">
                <a:solidFill>
                  <a:srgbClr val="1E2832"/>
                </a:solidFill>
                <a:latin typeface="Calibri"/>
              </a:rPr>
              <a:t>IPMVP</a:t>
            </a:r>
            <a:r>
              <a:rPr sz="1300" b="0">
                <a:solidFill>
                  <a:srgbClr val="1E2832"/>
                </a:solidFill>
                <a:latin typeface="Calibri"/>
              </a:rPr>
              <a:t> (outil Flash Energy)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E2832"/>
                </a:solidFill>
                <a:latin typeface="Calibri"/>
              </a:rPr>
              <a:t>Suivi via la plateforme </a:t>
            </a:r>
            <a:r>
              <a:rPr sz="1300" b="1">
                <a:solidFill>
                  <a:srgbClr val="1E2832"/>
                </a:solidFill>
                <a:latin typeface="Calibri"/>
              </a:rPr>
              <a:t>ENERGISME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000" y="1116000"/>
            <a:ext cx="5256000" cy="18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52000" y="1260000"/>
            <a:ext cx="48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31B2E"/>
                </a:solidFill>
                <a:latin typeface="Calibri"/>
              </a:rPr>
              <a:t>MA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000" y="1620000"/>
            <a:ext cx="4824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E2832"/>
                </a:solidFill>
                <a:latin typeface="Calibri"/>
              </a:rPr>
              <a:t>Visite et </a:t>
            </a:r>
            <a:r>
              <a:rPr sz="1300" b="1">
                <a:solidFill>
                  <a:srgbClr val="1E2832"/>
                </a:solidFill>
                <a:latin typeface="Calibri"/>
              </a:rPr>
              <a:t>relevé de l'existant CVC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E2832"/>
                </a:solidFill>
                <a:latin typeface="Calibri"/>
              </a:rPr>
              <a:t>Historique d'exploitation et des pannes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E2832"/>
                </a:solidFill>
                <a:latin typeface="Calibri"/>
              </a:rPr>
              <a:t>Échanges sur les scénarios CVC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E2832"/>
                </a:solidFill>
                <a:latin typeface="Calibri"/>
              </a:rPr>
              <a:t>→ l'ingénieur modélise, chiffre et rédige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3204000"/>
            <a:ext cx="1101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3A70"/>
                </a:solidFill>
                <a:latin typeface="Calibri"/>
              </a:rPr>
              <a:t>LA RÉPARTITION DES CONSOMMATIONS — 1 219 000 kWh/an, soit 330,6 kWh/m²/an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" y="3600000"/>
            <a:ext cx="4075920" cy="540000"/>
          </a:xfrm>
          <a:prstGeom prst="rect">
            <a:avLst/>
          </a:prstGeom>
          <a:solidFill>
            <a:srgbClr val="D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6000" y="3726000"/>
            <a:ext cx="407592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37 %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4248000"/>
            <a:ext cx="407592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2832"/>
                </a:solidFill>
                <a:latin typeface="Calibri"/>
              </a:rPr>
              <a:t>Froid alimentaire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51920" y="3600000"/>
            <a:ext cx="2974320" cy="540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51920" y="3726000"/>
            <a:ext cx="297432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27 %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1920" y="4248000"/>
            <a:ext cx="297432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2832"/>
                </a:solidFill>
                <a:latin typeface="Calibri"/>
              </a:rPr>
              <a:t>Éclairage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6240" y="3600000"/>
            <a:ext cx="1982880" cy="540000"/>
          </a:xfrm>
          <a:prstGeom prst="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26240" y="3726000"/>
            <a:ext cx="198288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18 %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240" y="4248000"/>
            <a:ext cx="198288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2832"/>
                </a:solidFill>
                <a:latin typeface="Calibri"/>
              </a:rPr>
              <a:t>Autres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9120" y="3600000"/>
            <a:ext cx="1432080" cy="540000"/>
          </a:xfrm>
          <a:prstGeom prst="rect">
            <a:avLst/>
          </a:prstGeom>
          <a:solidFill>
            <a:srgbClr val="0B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09120" y="3726000"/>
            <a:ext cx="143208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13 %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9120" y="4248000"/>
            <a:ext cx="143208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E2832"/>
                </a:solidFill>
                <a:latin typeface="Calibri"/>
              </a:rPr>
              <a:t>Chauffage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41200" y="3600000"/>
            <a:ext cx="440640" cy="540000"/>
          </a:xfrm>
          <a:prstGeom prst="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1481840" y="3600000"/>
            <a:ext cx="110160" cy="540000"/>
          </a:xfrm>
          <a:prstGeom prst="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80000" y="4482000"/>
            <a:ext cx="241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55F6B"/>
                </a:solidFill>
                <a:latin typeface="Calibri"/>
              </a:rPr>
              <a:t>Climatisation 4 % · ECS 1 %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4752000"/>
            <a:ext cx="11016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1E2832"/>
                </a:solidFill>
                <a:latin typeface="Calibri"/>
              </a:rPr>
              <a:t>Le chauffage ne pèse que 13 %</a:t>
            </a:r>
            <a:r>
              <a:rPr sz="1350" b="0">
                <a:solidFill>
                  <a:srgbClr val="1E2832"/>
                </a:solidFill>
                <a:latin typeface="Calibri"/>
              </a:rPr>
              <a:t> des consommations du site. Ce n'est donc pas le plus gros gisement —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1E2832"/>
                </a:solidFill>
                <a:latin typeface="Calibri"/>
              </a:rPr>
              <a:t>mais c'est celui qui cumule un équipement en fin de vie, un besoin de confort et une contribution réglementaire.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3.3 — LA RÉGLEMENTATION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L'argument qui a déclenché la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9200" y="6444001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2 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00" y="1116000"/>
          <a:ext cx="11016000" cy="26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200"/>
                <a:gridCol w="2974320"/>
                <a:gridCol w="2203200"/>
                <a:gridCol w="3635280"/>
              </a:tblGrid>
              <a:tr h="52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Obligation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Pourquoi le site est concerné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Échéance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Ce que cela impose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Décret tertiaire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Surface &gt; 1 000 m²
</a:t>
                      </a:r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3 690 m²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− 40 % en </a:t>
                      </a:r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2030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369,2 → 221,5 kWh/m²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Décret BACS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Puissance &gt; 70 kW
</a:t>
                      </a:r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chaudière de 452 kW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1ᵉʳ janvier 2025</a:t>
                      </a:r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
(déjà dépassé)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GTB de classe C minimum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Loi APER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Parking &gt; 1 500 m²
</a:t>
                      </a:r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3 179 m²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2028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≈ 1 480 m² d'ombrières PV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Loi LOM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&gt; 20 places
</a:t>
                      </a:r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120 places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1ᵉʳ janvier 2025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6 bornes dont 1 PMR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76000" y="3960000"/>
            <a:ext cx="11016000" cy="1296000"/>
          </a:xfrm>
          <a:prstGeom prst="roundRect">
            <a:avLst>
              <a:gd name="adj" fmla="val 6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7999" y="4104000"/>
            <a:ext cx="1044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E2832"/>
                </a:solidFill>
                <a:latin typeface="Calibri"/>
              </a:rPr>
              <a:t>En cas de manquement au décret tertiaire :</a:t>
            </a:r>
            <a:r>
              <a:rPr sz="1350" b="0">
                <a:solidFill>
                  <a:srgbClr val="1E2832"/>
                </a:solidFill>
                <a:latin typeface="Calibri"/>
              </a:rPr>
              <a:t> mise en demeure du préfet, puis </a:t>
            </a:r>
            <a:r>
              <a:rPr sz="1350" b="1">
                <a:solidFill>
                  <a:srgbClr val="1E2832"/>
                </a:solidFill>
                <a:latin typeface="Calibri"/>
              </a:rPr>
              <a:t>publication du manquement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1E2832"/>
                </a:solidFill>
                <a:latin typeface="Calibri"/>
              </a:rPr>
              <a:t>sur un site public de l'État — le « name and shame » — et amende administrative jusqu'à </a:t>
            </a:r>
            <a:r>
              <a:rPr sz="1350" b="1">
                <a:solidFill>
                  <a:srgbClr val="1E2832"/>
                </a:solidFill>
                <a:latin typeface="Calibri"/>
              </a:rPr>
              <a:t>7 500 €</a:t>
            </a:r>
            <a:r>
              <a:rPr sz="1350" b="0">
                <a:solidFill>
                  <a:srgbClr val="1E2832"/>
                </a:solidFill>
                <a:latin typeface="Calibr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E2832"/>
                </a:solidFill>
                <a:latin typeface="Calibri"/>
              </a:rPr>
              <a:t>L'argument qui porte n'est pas l'amende, c'est l'image et le report de la facture :</a:t>
            </a:r>
            <a:r>
              <a:rPr sz="1350" b="0">
                <a:solidFill>
                  <a:srgbClr val="1E2832"/>
                </a:solidFill>
                <a:latin typeface="Calibri"/>
              </a:rPr>
              <a:t> ne rien faire aujourd'hui,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1E2832"/>
                </a:solidFill>
                <a:latin typeface="Calibri"/>
              </a:rPr>
              <a:t>c'est devoir faire deux fois plus, deux fois plus vite, en 2029.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3.4 — 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Ce qui a été installé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9200" y="6444001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1 min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116000"/>
            <a:ext cx="5436000" cy="2520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2000" y="1260000"/>
            <a:ext cx="50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03A70"/>
                </a:solidFill>
                <a:latin typeface="Calibri"/>
              </a:rPr>
              <a:t>UNITÉS EXTÉRIEURES — cour arrière, sur dalle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1655999"/>
            <a:ext cx="5040000" cy="17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1E2832"/>
                </a:solidFill>
                <a:latin typeface="Calibri"/>
              </a:rPr>
              <a:t>DAIKIN VRV IV — RXYQ36U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(RXYQ20U 20 CV + RXYQ16U 16 CV)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1E2832"/>
                </a:solidFill>
                <a:latin typeface="Calibri"/>
              </a:rPr>
              <a:t>70,4 kW</a:t>
            </a:r>
            <a:r>
              <a:rPr sz="1250" b="0">
                <a:solidFill>
                  <a:srgbClr val="1E2832"/>
                </a:solidFill>
                <a:latin typeface="Calibri"/>
              </a:rPr>
              <a:t> en chaud à − 10 °C · </a:t>
            </a:r>
            <a:r>
              <a:rPr sz="1250" b="1">
                <a:solidFill>
                  <a:srgbClr val="1E2832"/>
                </a:solidFill>
                <a:latin typeface="Calibri"/>
              </a:rPr>
              <a:t>89,5 kW</a:t>
            </a:r>
            <a:r>
              <a:rPr sz="1250" b="0">
                <a:solidFill>
                  <a:srgbClr val="1E2832"/>
                </a:solidFill>
                <a:latin typeface="Calibri"/>
              </a:rPr>
              <a:t> en froid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ETAS </a:t>
            </a:r>
            <a:r>
              <a:rPr sz="1250" b="1">
                <a:solidFill>
                  <a:srgbClr val="1E2832"/>
                </a:solidFill>
                <a:latin typeface="Calibri"/>
              </a:rPr>
              <a:t>162,4 %</a:t>
            </a:r>
            <a:r>
              <a:rPr sz="1250" b="0">
                <a:solidFill>
                  <a:srgbClr val="1E2832"/>
                </a:solidFill>
                <a:latin typeface="Calibri"/>
              </a:rPr>
              <a:t> chaud · </a:t>
            </a:r>
            <a:r>
              <a:rPr sz="1250" b="1">
                <a:solidFill>
                  <a:srgbClr val="1E2832"/>
                </a:solidFill>
                <a:latin typeface="Calibri"/>
              </a:rPr>
              <a:t>250,8 %</a:t>
            </a:r>
            <a:r>
              <a:rPr sz="1250" b="0">
                <a:solidFill>
                  <a:srgbClr val="1E2832"/>
                </a:solidFill>
                <a:latin typeface="Calibri"/>
              </a:rPr>
              <a:t> froid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Fluide </a:t>
            </a:r>
            <a:r>
              <a:rPr sz="1250" b="1">
                <a:solidFill>
                  <a:srgbClr val="1E2832"/>
                </a:solidFill>
                <a:latin typeface="Calibri"/>
              </a:rPr>
              <a:t>R-410A — 38 kg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000" y="1116000"/>
            <a:ext cx="5256000" cy="2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52000" y="1260000"/>
            <a:ext cx="48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03A70"/>
                </a:solidFill>
                <a:latin typeface="Calibri"/>
              </a:rPr>
              <a:t>UNITÉS INTÉRIEURES — surface de vente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000" y="1655999"/>
            <a:ext cx="4824000" cy="17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1E2832"/>
                </a:solidFill>
                <a:latin typeface="Calibri"/>
              </a:rPr>
              <a:t>1 gainable FXMQ-250A</a:t>
            </a:r>
            <a:r>
              <a:rPr sz="1250" b="0">
                <a:solidFill>
                  <a:srgbClr val="1E2832"/>
                </a:solidFill>
                <a:latin typeface="Calibri"/>
              </a:rPr>
              <a:t> — 28 kW, 4 440 m³/h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→ </a:t>
            </a:r>
            <a:r>
              <a:rPr sz="1250" b="1">
                <a:solidFill>
                  <a:srgbClr val="1E2832"/>
                </a:solidFill>
                <a:latin typeface="Calibri"/>
              </a:rPr>
              <a:t>59 ml de gaine perforée Ø 550</a:t>
            </a:r>
            <a:r>
              <a:rPr sz="1250" b="0">
                <a:solidFill>
                  <a:srgbClr val="1E2832"/>
                </a:solidFill>
                <a:latin typeface="Calibri"/>
              </a:rPr>
              <a:t> sur la ligne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    de caisses et le fond de magasin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1E2832"/>
                </a:solidFill>
                <a:latin typeface="Calibri"/>
              </a:rPr>
              <a:t>4 cassettes 900 × 900</a:t>
            </a:r>
            <a:r>
              <a:rPr sz="1250" b="0">
                <a:solidFill>
                  <a:srgbClr val="1E2832"/>
                </a:solidFill>
                <a:latin typeface="Calibri"/>
              </a:rPr>
              <a:t> Roundflow — 16 kW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5 télécommandes MADOKA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00" y="3780000"/>
            <a:ext cx="11016000" cy="1440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7999" y="3888000"/>
            <a:ext cx="104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03A70"/>
                </a:solidFill>
                <a:latin typeface="Calibri"/>
              </a:rPr>
              <a:t>POURQUOI UN DRV PLUTÔT QU'AUTRE CHOSE 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999" y="4248000"/>
            <a:ext cx="244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D31B2E"/>
                </a:solidFill>
                <a:latin typeface="Calibri"/>
              </a:rPr>
              <a:t>Chaudière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D31B2E"/>
                </a:solidFill>
                <a:latin typeface="Calibri"/>
              </a:rPr>
              <a:t>à condensation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999" y="4662000"/>
            <a:ext cx="2448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555F6B"/>
                </a:solidFill>
                <a:latin typeface="Calibri"/>
              </a:rPr>
              <a:t>47 800 € pour 2 250 €/an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555F6B"/>
                </a:solidFill>
                <a:latin typeface="Calibri"/>
              </a:rPr>
              <a:t>et aucune climatisation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1999" y="4248000"/>
            <a:ext cx="244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D31B2E"/>
                </a:solidFill>
                <a:latin typeface="Calibri"/>
              </a:rPr>
              <a:t>Rooftops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1999" y="4662000"/>
            <a:ext cx="2448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555F6B"/>
                </a:solidFill>
                <a:latin typeface="Calibri"/>
              </a:rPr>
              <a:t>Rendement inférieur en charge partielle,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555F6B"/>
                </a:solidFill>
                <a:latin typeface="Calibri"/>
              </a:rPr>
              <a:t>charge en toiture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5999" y="4248000"/>
            <a:ext cx="244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D31B2E"/>
                </a:solidFill>
                <a:latin typeface="Calibri"/>
              </a:rPr>
              <a:t>PAC air/eau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5999" y="4662000"/>
            <a:ext cx="2448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555F6B"/>
                </a:solidFill>
                <a:latin typeface="Calibri"/>
              </a:rPr>
              <a:t>Aérothermes conservés,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555F6B"/>
                </a:solidFill>
                <a:latin typeface="Calibri"/>
              </a:rPr>
              <a:t>pas de climatisation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9999" y="4248000"/>
            <a:ext cx="244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0B8A5B"/>
                </a:solidFill>
                <a:latin typeface="Calibri"/>
              </a:rPr>
              <a:t>DRV réversible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9999" y="4662000"/>
            <a:ext cx="2448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555F6B"/>
                </a:solidFill>
                <a:latin typeface="Calibri"/>
              </a:rPr>
              <a:t>Chauffage </a:t>
            </a:r>
            <a:r>
              <a:rPr sz="1050" b="1">
                <a:solidFill>
                  <a:srgbClr val="555F6B"/>
                </a:solidFill>
                <a:latin typeface="Calibri"/>
              </a:rPr>
              <a:t>et</a:t>
            </a:r>
            <a:r>
              <a:rPr sz="1050" b="0">
                <a:solidFill>
                  <a:srgbClr val="555F6B"/>
                </a:solidFill>
                <a:latin typeface="Calibri"/>
              </a:rPr>
              <a:t> froid, zonage,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555F6B"/>
                </a:solidFill>
                <a:latin typeface="Calibri"/>
              </a:rPr>
              <a:t>pose en site occupé, pas d'eau en magasin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3.5 — LE DIMENSIONNEMENT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452 kW remplacés par 70,4 kW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9200" y="6444001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1 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000" y="1296000"/>
            <a:ext cx="4320000" cy="1440000"/>
          </a:xfrm>
          <a:prstGeom prst="roundRect">
            <a:avLst>
              <a:gd name="adj" fmla="val 6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00000" y="1475999"/>
            <a:ext cx="432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D31B2E"/>
                </a:solidFill>
                <a:latin typeface="Calibri"/>
              </a:rPr>
              <a:t>452 kW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196000"/>
            <a:ext cx="432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55F6B"/>
                </a:solidFill>
                <a:latin typeface="Calibri"/>
              </a:rPr>
              <a:t>chaudière gaz de 1987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2000" y="1584000"/>
            <a:ext cx="122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03A70"/>
                </a:solidFill>
                <a:latin typeface="Calibri"/>
              </a:rPr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12000" y="1296000"/>
            <a:ext cx="4320000" cy="1440000"/>
          </a:xfrm>
          <a:prstGeom prst="roundRect">
            <a:avLst>
              <a:gd name="adj" fmla="val 6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912000" y="1475999"/>
            <a:ext cx="432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0B8A5B"/>
                </a:solidFill>
                <a:latin typeface="Calibri"/>
              </a:rPr>
              <a:t>70,4 kW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2000" y="2196000"/>
            <a:ext cx="432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55F6B"/>
                </a:solidFill>
                <a:latin typeface="Calibri"/>
              </a:rPr>
              <a:t>PAC réversible DRV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00" y="3024000"/>
            <a:ext cx="11016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3A70"/>
                </a:solidFill>
                <a:latin typeface="Calibri"/>
              </a:rPr>
              <a:t>SOIT UNE PUISSANCE DIVISÉE PAR 6,4 — POURQUOI ?</a:t>
            </a:r>
          </a:p>
        </p:txBody>
      </p:sp>
      <p:sp>
        <p:nvSpPr>
          <p:cNvPr id="16" name="Oval 15"/>
          <p:cNvSpPr/>
          <p:nvPr/>
        </p:nvSpPr>
        <p:spPr>
          <a:xfrm>
            <a:off x="900000" y="3625200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16000" y="3564000"/>
            <a:ext cx="100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E2832"/>
                </a:solidFill>
                <a:latin typeface="Calibri"/>
              </a:rPr>
              <a:t>Chaudière de 1987 </a:t>
            </a:r>
            <a:r>
              <a:rPr sz="1350" b="1">
                <a:solidFill>
                  <a:srgbClr val="1E2832"/>
                </a:solidFill>
                <a:latin typeface="Calibri"/>
              </a:rPr>
              <a:t>très largement surdimensionnée</a:t>
            </a:r>
            <a:r>
              <a:rPr sz="1350" b="0">
                <a:solidFill>
                  <a:srgbClr val="1E2832"/>
                </a:solidFill>
                <a:latin typeface="Calibri"/>
              </a:rPr>
              <a:t>, comme la plupart des installations de cette époque</a:t>
            </a:r>
          </a:p>
        </p:txBody>
      </p:sp>
      <p:sp>
        <p:nvSpPr>
          <p:cNvPr id="18" name="Oval 17"/>
          <p:cNvSpPr/>
          <p:nvPr/>
        </p:nvSpPr>
        <p:spPr>
          <a:xfrm>
            <a:off x="900000" y="4039199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16000" y="3977999"/>
            <a:ext cx="100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E2832"/>
                </a:solidFill>
                <a:latin typeface="Calibri"/>
              </a:rPr>
              <a:t>Bâtiment </a:t>
            </a:r>
            <a:r>
              <a:rPr sz="1350" b="1">
                <a:solidFill>
                  <a:srgbClr val="1E2832"/>
                </a:solidFill>
                <a:latin typeface="Calibri"/>
              </a:rPr>
              <a:t>isolé et modifié</a:t>
            </a:r>
            <a:r>
              <a:rPr sz="1350" b="0">
                <a:solidFill>
                  <a:srgbClr val="1E2832"/>
                </a:solidFill>
                <a:latin typeface="Calibri"/>
              </a:rPr>
              <a:t> depuis : toiture, doublages, extension récente</a:t>
            </a:r>
          </a:p>
        </p:txBody>
      </p:sp>
      <p:sp>
        <p:nvSpPr>
          <p:cNvPr id="20" name="Oval 19"/>
          <p:cNvSpPr/>
          <p:nvPr/>
        </p:nvSpPr>
        <p:spPr>
          <a:xfrm>
            <a:off x="900000" y="4453199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16000" y="4391999"/>
            <a:ext cx="100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E2832"/>
                </a:solidFill>
                <a:latin typeface="Calibri"/>
              </a:rPr>
              <a:t>Apports internes considérables</a:t>
            </a:r>
            <a:r>
              <a:rPr sz="1350" b="0">
                <a:solidFill>
                  <a:srgbClr val="1E2832"/>
                </a:solidFill>
                <a:latin typeface="Calibri"/>
              </a:rPr>
              <a:t> : éclairage, occupants, et surtout les rejets des groupes de froid alimentaire (37 % des consommations)</a:t>
            </a:r>
          </a:p>
        </p:txBody>
      </p:sp>
      <p:sp>
        <p:nvSpPr>
          <p:cNvPr id="22" name="Oval 21"/>
          <p:cNvSpPr/>
          <p:nvPr/>
        </p:nvSpPr>
        <p:spPr>
          <a:xfrm>
            <a:off x="900000" y="4867200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16000" y="4806000"/>
            <a:ext cx="100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E2832"/>
                </a:solidFill>
                <a:latin typeface="Calibri"/>
              </a:rPr>
              <a:t>Rendement d'émission d'un </a:t>
            </a:r>
            <a:r>
              <a:rPr sz="1350" b="1">
                <a:solidFill>
                  <a:srgbClr val="1E2832"/>
                </a:solidFill>
                <a:latin typeface="Calibri"/>
              </a:rPr>
              <a:t>DRV à détente directe</a:t>
            </a:r>
            <a:r>
              <a:rPr sz="1350" b="0">
                <a:solidFill>
                  <a:srgbClr val="1E2832"/>
                </a:solidFill>
                <a:latin typeface="Calibri"/>
              </a:rPr>
              <a:t> sans commune mesure avec des aérothermes pilotés en loi d'eau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000" y="5148000"/>
            <a:ext cx="10260000" cy="216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3.6 — LE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Devis, financement et retour sur investissement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9200" y="6444001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1 min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116000"/>
            <a:ext cx="2520000" cy="1548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76000" y="1278000"/>
            <a:ext cx="25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03A70"/>
                </a:solidFill>
                <a:latin typeface="Calibri"/>
              </a:rPr>
              <a:t>90 000 €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2124000"/>
            <a:ext cx="230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montant HT du devis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4000" y="1116000"/>
            <a:ext cx="2520000" cy="1548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384000" y="1278000"/>
            <a:ext cx="25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B8A5B"/>
                </a:solidFill>
                <a:latin typeface="Calibri"/>
              </a:rPr>
              <a:t>11 000 €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2000" y="2124000"/>
            <a:ext cx="230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prime CEE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TotalEnergies / GreenFlex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116000"/>
            <a:ext cx="2520000" cy="1548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92000" y="1278000"/>
            <a:ext cx="25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03A70"/>
                </a:solidFill>
                <a:latin typeface="Calibri"/>
              </a:rPr>
              <a:t>79 000 €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0" y="2124000"/>
            <a:ext cx="230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investissement net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0" y="1116000"/>
            <a:ext cx="2520000" cy="1548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000000" y="1278000"/>
            <a:ext cx="25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D31B2E"/>
                </a:solidFill>
                <a:latin typeface="Calibri"/>
              </a:rPr>
              <a:t>≈ 15 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8000" y="2124000"/>
            <a:ext cx="230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temps de retour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après CEE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00" y="2951999"/>
            <a:ext cx="5436000" cy="22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92000" y="3096000"/>
            <a:ext cx="50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03A70"/>
                </a:solidFill>
                <a:latin typeface="Calibri"/>
              </a:rPr>
              <a:t>LES POSTES DU DEVIS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" y="3456000"/>
            <a:ext cx="39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Unités extérieures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2000" y="3456000"/>
            <a:ext cx="1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03A70"/>
                </a:solidFill>
                <a:latin typeface="Calibri"/>
              </a:rPr>
              <a:t>32 %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000" y="3736800"/>
            <a:ext cx="39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Liaisons frigorifiques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2000" y="3736800"/>
            <a:ext cx="1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03A70"/>
                </a:solidFill>
                <a:latin typeface="Calibri"/>
              </a:rPr>
              <a:t>22 %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" y="4017600"/>
            <a:ext cx="39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Unités intérieures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2000" y="4017600"/>
            <a:ext cx="1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03A70"/>
                </a:solidFill>
                <a:latin typeface="Calibri"/>
              </a:rPr>
              <a:t>12 %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000" y="4298400"/>
            <a:ext cx="39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E2832"/>
                </a:solidFill>
                <a:latin typeface="Calibri"/>
              </a:rPr>
              <a:t>Travail en horaire décalé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2000" y="4298400"/>
            <a:ext cx="1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03A70"/>
                </a:solidFill>
                <a:latin typeface="Calibri"/>
              </a:rPr>
              <a:t>10,5 %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0" y="4579200"/>
            <a:ext cx="39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Gaine de diffusion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2000" y="4579200"/>
            <a:ext cx="1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03A70"/>
                </a:solidFill>
                <a:latin typeface="Calibri"/>
              </a:rPr>
              <a:t>10 %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000" y="4860000"/>
            <a:ext cx="39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Électricité, condensats, divers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2000" y="4860000"/>
            <a:ext cx="1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03A70"/>
                </a:solidFill>
                <a:latin typeface="Calibri"/>
              </a:rPr>
              <a:t>13,5 %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36000" y="2951999"/>
            <a:ext cx="5256000" cy="2268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52000" y="3096000"/>
            <a:ext cx="48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D31B2E"/>
                </a:solidFill>
                <a:latin typeface="Calibri"/>
              </a:rPr>
              <a:t>POURQUOI 15 ANS — ET POURQUOI LE FAIRE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2000" y="3456000"/>
            <a:ext cx="4824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On remplace une énergie </a:t>
            </a:r>
            <a:r>
              <a:rPr sz="1200" b="1">
                <a:solidFill>
                  <a:srgbClr val="1E2832"/>
                </a:solidFill>
                <a:latin typeface="Calibri"/>
              </a:rPr>
              <a:t>bon marché</a:t>
            </a:r>
            <a:r>
              <a:rPr sz="1200" b="0">
                <a:solidFill>
                  <a:srgbClr val="1E2832"/>
                </a:solidFill>
                <a:latin typeface="Calibri"/>
              </a:rPr>
              <a:t> (gaz) par une énergie </a:t>
            </a:r>
            <a:r>
              <a:rPr sz="1200" b="1">
                <a:solidFill>
                  <a:srgbClr val="1E2832"/>
                </a:solidFill>
                <a:latin typeface="Calibri"/>
              </a:rPr>
              <a:t>chère</a:t>
            </a:r>
            <a:r>
              <a:rPr sz="1200" b="0">
                <a:solidFill>
                  <a:srgbClr val="1E2832"/>
                </a:solidFill>
                <a:latin typeface="Calibri"/>
              </a:rPr>
              <a:t> (électricité), et on </a:t>
            </a:r>
            <a:r>
              <a:rPr sz="1200" b="1">
                <a:solidFill>
                  <a:srgbClr val="1E2832"/>
                </a:solidFill>
                <a:latin typeface="Calibri"/>
              </a:rPr>
              <a:t>ajoute</a:t>
            </a:r>
            <a:r>
              <a:rPr sz="1200" b="0">
                <a:solidFill>
                  <a:srgbClr val="1E2832"/>
                </a:solidFill>
                <a:latin typeface="Calibri"/>
              </a:rPr>
              <a:t> un usage : + 102 MWh de climatisation.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Ce qui justifie le projet : </a:t>
            </a:r>
            <a:r>
              <a:rPr sz="1200" b="1">
                <a:solidFill>
                  <a:srgbClr val="1E2832"/>
                </a:solidFill>
                <a:latin typeface="Calibri"/>
              </a:rPr>
              <a:t>chaudière de 1987</a:t>
            </a:r>
            <a:r>
              <a:rPr sz="1200" b="0">
                <a:solidFill>
                  <a:srgbClr val="1E2832"/>
                </a:solidFill>
                <a:latin typeface="Calibri"/>
              </a:rPr>
              <a:t>, </a:t>
            </a:r>
            <a:r>
              <a:rPr sz="1200" b="1">
                <a:solidFill>
                  <a:srgbClr val="1E2832"/>
                </a:solidFill>
                <a:latin typeface="Calibri"/>
              </a:rPr>
              <a:t>confort d'été</a:t>
            </a:r>
            <a:r>
              <a:rPr sz="1200" b="0">
                <a:solidFill>
                  <a:srgbClr val="1E2832"/>
                </a:solidFill>
                <a:latin typeface="Calibri"/>
              </a:rPr>
              <a:t> sur 2 596 m², </a:t>
            </a:r>
            <a:r>
              <a:rPr sz="1200" b="1">
                <a:solidFill>
                  <a:srgbClr val="1E2832"/>
                </a:solidFill>
                <a:latin typeface="Calibri"/>
              </a:rPr>
              <a:t>décret tertiaire</a:t>
            </a:r>
            <a:r>
              <a:rPr sz="1200" b="0">
                <a:solidFill>
                  <a:srgbClr val="1E2832"/>
                </a:solidFill>
                <a:latin typeface="Calibri"/>
              </a:rPr>
              <a:t> et </a:t>
            </a:r>
            <a:r>
              <a:rPr sz="1200" b="1">
                <a:solidFill>
                  <a:srgbClr val="1E2832"/>
                </a:solidFill>
                <a:latin typeface="Calibri"/>
              </a:rPr>
              <a:t>décret BACS</a:t>
            </a:r>
            <a:r>
              <a:rPr sz="1200" b="0">
                <a:solidFill>
                  <a:srgbClr val="1E2832"/>
                </a:solidFill>
                <a:latin typeface="Calibr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E2832"/>
                </a:solidFill>
                <a:latin typeface="Calibri"/>
              </a:rPr>
              <a:t>Le bouquet complet, lui, revient à </a:t>
            </a:r>
            <a:r>
              <a:rPr sz="1200" b="1">
                <a:solidFill>
                  <a:srgbClr val="1E2832"/>
                </a:solidFill>
                <a:latin typeface="Calibri"/>
              </a:rPr>
              <a:t>9,3 ans</a:t>
            </a:r>
            <a:r>
              <a:rPr sz="1200" b="0">
                <a:solidFill>
                  <a:srgbClr val="1E2832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3.7 — LE CHANTIER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Deux mois de nuit dans un ERP en exploitation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9200" y="6444001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2 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116000"/>
            <a:ext cx="2520000" cy="1440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76000" y="1278000"/>
            <a:ext cx="25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003A70"/>
                </a:solidFill>
                <a:latin typeface="Calibri"/>
              </a:rPr>
              <a:t>mi-avril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003A70"/>
                </a:solidFill>
                <a:latin typeface="Calibri"/>
              </a:rPr>
              <a:t>→ mi-juin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2016000"/>
            <a:ext cx="230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période de réalisation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4000" y="1116000"/>
            <a:ext cx="2520000" cy="1440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384000" y="1278000"/>
            <a:ext cx="25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003A70"/>
                </a:solidFill>
                <a:latin typeface="Calibri"/>
              </a:rPr>
              <a:t>19 h 45 → 4 h 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2000" y="2016000"/>
            <a:ext cx="230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soit 8 h de fenêtre utile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116000"/>
            <a:ext cx="2520000" cy="1440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92000" y="1278000"/>
            <a:ext cx="25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003A7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0" y="2016000"/>
            <a:ext cx="230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compagnons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0" y="1116000"/>
            <a:ext cx="2520000" cy="1440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000000" y="1278000"/>
            <a:ext cx="25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003A70"/>
                </a:solidFill>
                <a:latin typeface="Calibri"/>
              </a:rPr>
              <a:t>70 %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8000" y="2016000"/>
            <a:ext cx="230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des tâches en nacelle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00" y="2844000"/>
            <a:ext cx="3456000" cy="237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76000" y="2844000"/>
            <a:ext cx="3456000" cy="324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0000" y="2916000"/>
            <a:ext cx="316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TRAVAIL DE NUIT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3276000"/>
            <a:ext cx="3168000" cy="18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E2832"/>
                </a:solidFill>
                <a:latin typeface="Calibri"/>
              </a:rPr>
              <a:t>Code du travail </a:t>
            </a:r>
            <a:r>
              <a:rPr sz="1150" b="1">
                <a:solidFill>
                  <a:srgbClr val="1E2832"/>
                </a:solidFill>
                <a:latin typeface="Calibri"/>
              </a:rPr>
              <a:t>L. 3122-1 et 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E2832"/>
                </a:solidFill>
                <a:latin typeface="Calibri"/>
              </a:rPr>
              <a:t>Période 21 h – 6 h · 8 h max/jour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E2832"/>
                </a:solidFill>
                <a:latin typeface="Calibri"/>
              </a:rPr>
              <a:t>40 h en moyenne sur 12 semaines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E2832"/>
                </a:solidFill>
                <a:latin typeface="Calibri"/>
              </a:rPr>
              <a:t>Contreparties en repos · suivi médical renforcé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E2832"/>
                </a:solidFill>
                <a:latin typeface="Calibri"/>
              </a:rPr>
              <a:t>Interdit aux mineurs</a:t>
            </a:r>
            <a:r>
              <a:rPr sz="1150" b="0">
                <a:solidFill>
                  <a:srgbClr val="1E2832"/>
                </a:solidFill>
                <a:latin typeface="Calibri"/>
              </a:rPr>
              <a:t> : apprentis exclus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0000" y="2844000"/>
            <a:ext cx="3456000" cy="237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320000" y="2844000"/>
            <a:ext cx="3456000" cy="324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464000" y="2916000"/>
            <a:ext cx="316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ERP EN EXPLOITATION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4000" y="3276000"/>
            <a:ext cx="3168000" cy="18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E2832"/>
                </a:solidFill>
                <a:latin typeface="Calibri"/>
              </a:rPr>
              <a:t>Arrêté du 25 juin 1980, </a:t>
            </a:r>
            <a:r>
              <a:rPr sz="1150" b="1">
                <a:solidFill>
                  <a:srgbClr val="1E2832"/>
                </a:solidFill>
                <a:latin typeface="Calibri"/>
              </a:rPr>
              <a:t>article GN 13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E2832"/>
                </a:solidFill>
                <a:latin typeface="Calibri"/>
              </a:rPr>
              <a:t>Dégagements et issues </a:t>
            </a:r>
            <a:r>
              <a:rPr sz="1150" b="1">
                <a:solidFill>
                  <a:srgbClr val="1E2832"/>
                </a:solidFill>
                <a:latin typeface="Calibri"/>
              </a:rPr>
              <a:t>jamais obstrués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E2832"/>
                </a:solidFill>
                <a:latin typeface="Calibri"/>
              </a:rPr>
              <a:t>Permis de feu</a:t>
            </a:r>
            <a:r>
              <a:rPr sz="1150" b="0">
                <a:solidFill>
                  <a:srgbClr val="1E2832"/>
                </a:solidFill>
                <a:latin typeface="Calibri"/>
              </a:rPr>
              <a:t> pour les brasages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E2832"/>
                </a:solidFill>
                <a:latin typeface="Calibri"/>
              </a:rPr>
              <a:t>Détection remise en service </a:t>
            </a:r>
            <a:r>
              <a:rPr sz="1150" b="1">
                <a:solidFill>
                  <a:srgbClr val="1E2832"/>
                </a:solidFill>
                <a:latin typeface="Calibri"/>
              </a:rPr>
              <a:t>avant 4 h 45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E2832"/>
                </a:solidFill>
                <a:latin typeface="Calibri"/>
              </a:rPr>
              <a:t>Magasin propre et exploitable chaque matin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4000" y="2844000"/>
            <a:ext cx="3456000" cy="237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064000" y="2844000"/>
            <a:ext cx="3456000" cy="324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08000" y="2916000"/>
            <a:ext cx="316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TRAVAIL EN HAUTEUR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8000" y="3276000"/>
            <a:ext cx="3168000" cy="18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E2832"/>
                </a:solidFill>
                <a:latin typeface="Calibri"/>
              </a:rPr>
              <a:t>PEMP</a:t>
            </a:r>
            <a:r>
              <a:rPr sz="1150" b="0">
                <a:solidFill>
                  <a:srgbClr val="1E2832"/>
                </a:solidFill>
                <a:latin typeface="Calibri"/>
              </a:rPr>
              <a:t> : nacelle, pas d'échelle (R. 4323-58)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E2832"/>
                </a:solidFill>
                <a:latin typeface="Calibri"/>
              </a:rPr>
              <a:t>CACES R486</a:t>
            </a:r>
            <a:r>
              <a:rPr sz="1150" b="0">
                <a:solidFill>
                  <a:srgbClr val="1E2832"/>
                </a:solidFill>
                <a:latin typeface="Calibri"/>
              </a:rPr>
              <a:t> + autorisation de conduite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E2832"/>
                </a:solidFill>
                <a:latin typeface="Calibri"/>
              </a:rPr>
              <a:t>VGP tous les 6 mois · harnais + longe courte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E2832"/>
                </a:solidFill>
                <a:latin typeface="Calibri"/>
              </a:rPr>
              <a:t>Personne au sol formée aux manœuvres de secours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E2832"/>
                </a:solidFill>
                <a:latin typeface="Calibri"/>
              </a:rPr>
              <a:t>Zone au sol balisée et interdite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00" y="5328000"/>
            <a:ext cx="1101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555F6B"/>
                </a:solidFill>
                <a:latin typeface="Calibri"/>
              </a:rPr>
              <a:t>Plan de prévention écrit obligatoire</a:t>
            </a:r>
            <a:r>
              <a:rPr sz="1250" b="0">
                <a:solidFill>
                  <a:srgbClr val="555F6B"/>
                </a:solidFill>
                <a:latin typeface="Calibri"/>
              </a:rPr>
              <a:t> (&gt; 400 h et travaux dangereux) + inspection commune préalable avec le magasin.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3.8 — L'ALÉA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Un temps de nuit multiplié par deux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9200" y="6444001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1 min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116000"/>
            <a:ext cx="11016000" cy="827999"/>
          </a:xfrm>
          <a:prstGeom prst="roundRect">
            <a:avLst>
              <a:gd name="adj" fmla="val 6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7999" y="1296000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E2832"/>
                </a:solidFill>
                <a:latin typeface="Calibri"/>
              </a:rPr>
              <a:t>Le fait :</a:t>
            </a:r>
            <a:r>
              <a:rPr sz="1400" b="0">
                <a:solidFill>
                  <a:srgbClr val="1E2832"/>
                </a:solidFill>
                <a:latin typeface="Calibri"/>
              </a:rPr>
              <a:t> la période a été tenue — mi-avril à mi-juin 2026 — mais le </a:t>
            </a:r>
            <a:r>
              <a:rPr sz="1400" b="1">
                <a:solidFill>
                  <a:srgbClr val="1E2832"/>
                </a:solidFill>
                <a:latin typeface="Calibri"/>
              </a:rPr>
              <a:t>volume d'heures de nuit a doublé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1E2832"/>
                </a:solidFill>
                <a:latin typeface="Calibri"/>
              </a:rPr>
              <a:t>par rapport au chiffrage. Ce n'est pas un incident : c'est un </a:t>
            </a:r>
            <a:r>
              <a:rPr sz="1400" b="1">
                <a:solidFill>
                  <a:srgbClr val="1E2832"/>
                </a:solidFill>
                <a:latin typeface="Calibri"/>
              </a:rPr>
              <a:t>écart de productivité structurel</a:t>
            </a:r>
            <a:r>
              <a:rPr sz="1400" b="0">
                <a:solidFill>
                  <a:srgbClr val="1E2832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124000"/>
            <a:ext cx="543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03A70"/>
                </a:solidFill>
                <a:latin typeface="Calibri"/>
              </a:rPr>
              <a:t>LES CAUSES</a:t>
            </a:r>
          </a:p>
        </p:txBody>
      </p:sp>
      <p:sp>
        <p:nvSpPr>
          <p:cNvPr id="11" name="Oval 10"/>
          <p:cNvSpPr/>
          <p:nvPr/>
        </p:nvSpPr>
        <p:spPr>
          <a:xfrm>
            <a:off x="576000" y="2545200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2000" y="2484000"/>
            <a:ext cx="52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Fenêtre utile de 8 h, dont installation et repli quotidiens</a:t>
            </a:r>
          </a:p>
        </p:txBody>
      </p:sp>
      <p:sp>
        <p:nvSpPr>
          <p:cNvPr id="13" name="Oval 12"/>
          <p:cNvSpPr/>
          <p:nvPr/>
        </p:nvSpPr>
        <p:spPr>
          <a:xfrm>
            <a:off x="576000" y="2905200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92000" y="2844000"/>
            <a:ext cx="52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Tout est monté puis redescendu </a:t>
            </a:r>
            <a:r>
              <a:rPr sz="1250" b="1">
                <a:solidFill>
                  <a:srgbClr val="1E2832"/>
                </a:solidFill>
                <a:latin typeface="Calibri"/>
              </a:rPr>
              <a:t>chaque nuit</a:t>
            </a:r>
          </a:p>
        </p:txBody>
      </p:sp>
      <p:sp>
        <p:nvSpPr>
          <p:cNvPr id="15" name="Oval 14"/>
          <p:cNvSpPr/>
          <p:nvPr/>
        </p:nvSpPr>
        <p:spPr>
          <a:xfrm>
            <a:off x="576000" y="3265200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2000" y="3204000"/>
            <a:ext cx="52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70 % en nacelle : réinstallation à chaque zone</a:t>
            </a:r>
          </a:p>
        </p:txBody>
      </p:sp>
      <p:sp>
        <p:nvSpPr>
          <p:cNvPr id="17" name="Oval 16"/>
          <p:cNvSpPr/>
          <p:nvPr/>
        </p:nvSpPr>
        <p:spPr>
          <a:xfrm>
            <a:off x="576000" y="3625200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92000" y="3564000"/>
            <a:ext cx="52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59 ml de gaine à aligner en hauteur</a:t>
            </a:r>
          </a:p>
        </p:txBody>
      </p:sp>
      <p:sp>
        <p:nvSpPr>
          <p:cNvPr id="19" name="Oval 18"/>
          <p:cNvSpPr/>
          <p:nvPr/>
        </p:nvSpPr>
        <p:spPr>
          <a:xfrm>
            <a:off x="576000" y="3985200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92000" y="3924000"/>
            <a:ext cx="52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Vigilance nocturne et fatigue cumulée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000" y="2124000"/>
            <a:ext cx="525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31B2E"/>
                </a:solidFill>
                <a:latin typeface="Calibri"/>
              </a:rPr>
              <a:t>LES CONSÉQUENCES ET LE BILAN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000" y="2484000"/>
            <a:ext cx="5256000" cy="1440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16000" y="2610000"/>
            <a:ext cx="4896000" cy="1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Marge prévue </a:t>
            </a:r>
            <a:r>
              <a:rPr sz="1250" b="1">
                <a:solidFill>
                  <a:srgbClr val="1E2832"/>
                </a:solidFill>
                <a:latin typeface="Calibri"/>
              </a:rPr>
              <a:t>consommée</a:t>
            </a:r>
            <a:r>
              <a:rPr sz="1250" b="0">
                <a:solidFill>
                  <a:srgbClr val="1E2832"/>
                </a:solidFill>
                <a:latin typeface="Calibri"/>
              </a:rPr>
              <a:t> par les heures supplémentaires.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E2832"/>
                </a:solidFill>
                <a:latin typeface="Calibri"/>
              </a:rPr>
              <a:t>Zéro heure de fermeture</a:t>
            </a:r>
            <a:r>
              <a:rPr sz="1250" b="0">
                <a:solidFill>
                  <a:srgbClr val="1E2832"/>
                </a:solidFill>
                <a:latin typeface="Calibri"/>
              </a:rPr>
              <a:t> du magasin : l'écart a été absorbé par l'entreprise, </a:t>
            </a:r>
            <a:r>
              <a:rPr sz="1250" b="1">
                <a:solidFill>
                  <a:srgbClr val="1E2832"/>
                </a:solidFill>
                <a:latin typeface="Calibri"/>
              </a:rPr>
              <a:t>pas par le client</a:t>
            </a:r>
            <a:r>
              <a:rPr sz="1250" b="0">
                <a:solidFill>
                  <a:srgbClr val="1E2832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Affaire finalement </a:t>
            </a:r>
            <a:r>
              <a:rPr sz="1250" b="1">
                <a:solidFill>
                  <a:srgbClr val="1E2832"/>
                </a:solidFill>
                <a:latin typeface="Calibri"/>
              </a:rPr>
              <a:t>très légèrement bénéficiaire</a:t>
            </a:r>
            <a:r>
              <a:rPr sz="1250" b="0">
                <a:solidFill>
                  <a:srgbClr val="1E2832"/>
                </a:solidFill>
                <a:latin typeface="Calibri"/>
              </a:rPr>
              <a:t>, grâce aux </a:t>
            </a:r>
            <a:r>
              <a:rPr sz="1250" b="1">
                <a:solidFill>
                  <a:srgbClr val="1E2832"/>
                </a:solidFill>
                <a:latin typeface="Calibri"/>
              </a:rPr>
              <a:t>économies d'achat et à la négociation</a:t>
            </a:r>
            <a:r>
              <a:rPr sz="1250" b="0">
                <a:solidFill>
                  <a:srgbClr val="1E2832"/>
                </a:solidFill>
                <a:latin typeface="Calibri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36000" y="4031999"/>
            <a:ext cx="5256000" cy="11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16000" y="4158000"/>
            <a:ext cx="4896000" cy="100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1E2832"/>
                </a:solidFill>
                <a:latin typeface="Calibri"/>
              </a:rPr>
              <a:t>Ce que j'en retiens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Un bon résultat </a:t>
            </a:r>
            <a:r>
              <a:rPr sz="1250" b="1">
                <a:solidFill>
                  <a:srgbClr val="1E2832"/>
                </a:solidFill>
                <a:latin typeface="Calibri"/>
              </a:rPr>
              <a:t>ne valide pas</a:t>
            </a:r>
            <a:r>
              <a:rPr sz="1250" b="0">
                <a:solidFill>
                  <a:srgbClr val="1E2832"/>
                </a:solidFill>
                <a:latin typeface="Calibri"/>
              </a:rPr>
              <a:t> une mauvaise estimation : la compensation est venue d'un levier ponctuel, pas de la méthode.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00" y="4356000"/>
            <a:ext cx="5436000" cy="8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6000" y="4482000"/>
            <a:ext cx="507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E2832"/>
                </a:solidFill>
                <a:latin typeface="Calibri"/>
              </a:rPr>
              <a:t>La correction :</a:t>
            </a:r>
            <a:r>
              <a:rPr sz="1150" b="0">
                <a:solidFill>
                  <a:srgbClr val="1E2832"/>
                </a:solidFill>
                <a:latin typeface="Calibri"/>
              </a:rPr>
              <a:t> distinguer au devis le </a:t>
            </a:r>
            <a:r>
              <a:rPr sz="1150" b="1">
                <a:solidFill>
                  <a:srgbClr val="1E2832"/>
                </a:solidFill>
                <a:latin typeface="Calibri"/>
              </a:rPr>
              <a:t>temps de production</a:t>
            </a:r>
            <a:r>
              <a:rPr sz="1150" b="0">
                <a:solidFill>
                  <a:srgbClr val="1E2832"/>
                </a:solidFill>
                <a:latin typeface="Calibri"/>
              </a:rPr>
              <a:t> du </a:t>
            </a:r>
            <a:r>
              <a:rPr sz="1150" b="1">
                <a:solidFill>
                  <a:srgbClr val="1E2832"/>
                </a:solidFill>
                <a:latin typeface="Calibri"/>
              </a:rPr>
              <a:t>temps de mise en place et de repli</a:t>
            </a:r>
            <a:r>
              <a:rPr sz="1150" b="0">
                <a:solidFill>
                  <a:srgbClr val="1E2832"/>
                </a:solidFill>
                <a:latin typeface="Calibri"/>
              </a:rPr>
              <a:t>, et appliquer un coefficient de productivité nocturne.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3.9 — LES 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Indicateurs d'impact pour la transition énergétique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9200" y="6444001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1 min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00" y="1116000"/>
          <a:ext cx="11016000" cy="34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4800"/>
                <a:gridCol w="2423520"/>
                <a:gridCol w="3304800"/>
                <a:gridCol w="1982880"/>
              </a:tblGrid>
              <a:tr h="48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Indicateur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Avant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Après / objectif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Consommation du site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1 219 000 kWh/an</a:t>
                      </a:r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
330,6 kWh/m²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objectif bouquet :
779 000 kWh — 211,2 kWh/m²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− 36 %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Objectif décret tertiaire 2030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369,2 kWh/m²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221,5 kWh/m²</a:t>
                      </a:r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 exigés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conforme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Émissions évitées — action PAC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16 679 kgCO₂e/an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76 650 km en voiture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Émissions évitées — bouquet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64 830 kgCO₂e/an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− 70 %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Fermeture du magasin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0 heure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objectif tenu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Décret BACS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aucune GTB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832"/>
                          </a:solidFill>
                          <a:latin typeface="Calibri"/>
                        </a:rPr>
                        <a:t>liaisons Modbus/BACnet posées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832"/>
                          </a:solidFill>
                          <a:latin typeface="Calibri"/>
                        </a:rPr>
                        <a:t>anticipé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76000" y="4392000"/>
            <a:ext cx="11016000" cy="864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7999" y="4536000"/>
            <a:ext cx="1044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E2832"/>
                </a:solidFill>
                <a:latin typeface="Calibri"/>
              </a:rPr>
              <a:t>Comment je vérifierai réellement le gain :</a:t>
            </a:r>
            <a:r>
              <a:rPr sz="1300" b="0">
                <a:solidFill>
                  <a:srgbClr val="1E2832"/>
                </a:solidFill>
                <a:latin typeface="Calibri"/>
              </a:rPr>
              <a:t> correction des consommations par les </a:t>
            </a:r>
            <a:r>
              <a:rPr sz="1300" b="1">
                <a:solidFill>
                  <a:srgbClr val="1E2832"/>
                </a:solidFill>
                <a:latin typeface="Calibri"/>
              </a:rPr>
              <a:t>degrés-jours (DJU)</a:t>
            </a:r>
            <a:r>
              <a:rPr sz="1300" b="0">
                <a:solidFill>
                  <a:srgbClr val="1E2832"/>
                </a:solidFill>
                <a:latin typeface="Calibri"/>
              </a:rPr>
              <a:t>,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E2832"/>
                </a:solidFill>
                <a:latin typeface="Calibri"/>
              </a:rPr>
              <a:t>raisonnement en </a:t>
            </a:r>
            <a:r>
              <a:rPr sz="1300" b="1">
                <a:solidFill>
                  <a:srgbClr val="1E2832"/>
                </a:solidFill>
                <a:latin typeface="Calibri"/>
              </a:rPr>
              <a:t>kWh avant les euros</a:t>
            </a:r>
            <a:r>
              <a:rPr sz="1300" b="0">
                <a:solidFill>
                  <a:srgbClr val="1E2832"/>
                </a:solidFill>
                <a:latin typeface="Calibri"/>
              </a:rPr>
              <a:t>, suivi via </a:t>
            </a:r>
            <a:r>
              <a:rPr sz="1300" b="1">
                <a:solidFill>
                  <a:srgbClr val="1E2832"/>
                </a:solidFill>
                <a:latin typeface="Calibri"/>
              </a:rPr>
              <a:t>ENERGISME</a:t>
            </a:r>
            <a:r>
              <a:rPr sz="1300" b="0">
                <a:solidFill>
                  <a:srgbClr val="1E2832"/>
                </a:solidFill>
                <a:latin typeface="Calibri"/>
              </a:rPr>
              <a:t> et déclaration </a:t>
            </a:r>
            <a:r>
              <a:rPr sz="1300" b="1">
                <a:solidFill>
                  <a:srgbClr val="1E2832"/>
                </a:solidFill>
                <a:latin typeface="Calibri"/>
              </a:rPr>
              <a:t>OPERAT</a:t>
            </a:r>
            <a:r>
              <a:rPr sz="1300" b="0">
                <a:solidFill>
                  <a:srgbClr val="1E2832"/>
                </a:solidFill>
                <a:latin typeface="Calibri"/>
              </a:rPr>
              <a:t> — sur une année pleine minimum.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0000" y="1584000"/>
            <a:ext cx="216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9CC2E8"/>
                </a:solidFill>
                <a:latin typeface="Calibri"/>
              </a:rPr>
              <a:t>PARTIE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944000"/>
            <a:ext cx="1008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Analyse et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3096000"/>
            <a:ext cx="1800000" cy="36000"/>
          </a:xfrm>
          <a:prstGeom prst="rect">
            <a:avLst/>
          </a:prstGeom>
          <a:solidFill>
            <a:srgbClr val="D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00000" y="3456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6000" y="3456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CE7F3"/>
                </a:solidFill>
                <a:latin typeface="Calibri"/>
              </a:rPr>
              <a:t>Ce qui a fonctionné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52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6000" y="3852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CE7F3"/>
                </a:solidFill>
                <a:latin typeface="Calibri"/>
              </a:rPr>
              <a:t>Ce que je referais autrement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4248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6000" y="4248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CE7F3"/>
                </a:solidFill>
                <a:latin typeface="Calibri"/>
              </a:rPr>
              <a:t>L'équipe : organisation et axes d'amélioration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644000"/>
            <a:ext cx="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6000" y="4644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CE7F3"/>
                </a:solidFill>
                <a:latin typeface="Calibri"/>
              </a:rPr>
              <a:t>Les perspectives pour le 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3200" y="1655999"/>
            <a:ext cx="21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9CC2E8"/>
                </a:solidFill>
                <a:latin typeface="Calibri"/>
              </a:rPr>
              <a:t>≈ 4 minutes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PARTIE 4 — 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Ce qui a marché, ce que je referais autrement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9200" y="6444001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1 min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116000"/>
            <a:ext cx="5436000" cy="4104000"/>
          </a:xfrm>
          <a:prstGeom prst="roundRect">
            <a:avLst>
              <a:gd name="adj" fmla="val 6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2000" y="1260000"/>
            <a:ext cx="50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B8A5B"/>
                </a:solidFill>
                <a:latin typeface="Calibri"/>
              </a:rPr>
              <a:t>CE QUI A FONCTIONNÉ</a:t>
            </a:r>
          </a:p>
        </p:txBody>
      </p:sp>
      <p:sp>
        <p:nvSpPr>
          <p:cNvPr id="10" name="Oval 9"/>
          <p:cNvSpPr/>
          <p:nvPr/>
        </p:nvSpPr>
        <p:spPr>
          <a:xfrm>
            <a:off x="792000" y="1717199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8000" y="1655999"/>
            <a:ext cx="48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Partir d'un </a:t>
            </a:r>
            <a:r>
              <a:rPr sz="1250" b="1">
                <a:solidFill>
                  <a:srgbClr val="1E2832"/>
                </a:solidFill>
                <a:latin typeface="Calibri"/>
              </a:rPr>
              <a:t>audit</a:t>
            </a:r>
            <a:r>
              <a:rPr sz="1250" b="0">
                <a:solidFill>
                  <a:srgbClr val="1E2832"/>
                </a:solidFill>
                <a:latin typeface="Calibri"/>
              </a:rPr>
              <a:t>, pas d'une envie de vendre une machine</a:t>
            </a:r>
          </a:p>
        </p:txBody>
      </p:sp>
      <p:sp>
        <p:nvSpPr>
          <p:cNvPr id="12" name="Oval 11"/>
          <p:cNvSpPr/>
          <p:nvPr/>
        </p:nvSpPr>
        <p:spPr>
          <a:xfrm>
            <a:off x="792000" y="2383199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8000" y="2321999"/>
            <a:ext cx="48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E2832"/>
                </a:solidFill>
                <a:latin typeface="Calibri"/>
              </a:rPr>
              <a:t>Le </a:t>
            </a:r>
            <a:r>
              <a:rPr sz="1250" b="1">
                <a:solidFill>
                  <a:srgbClr val="1E2832"/>
                </a:solidFill>
                <a:latin typeface="Calibri"/>
              </a:rPr>
              <a:t>maillage VINCI</a:t>
            </a:r>
            <a:r>
              <a:rPr sz="1250" b="0">
                <a:solidFill>
                  <a:srgbClr val="1E2832"/>
                </a:solidFill>
                <a:latin typeface="Calibri"/>
              </a:rPr>
              <a:t> : une expertise inaccessible à une PME seule</a:t>
            </a:r>
          </a:p>
        </p:txBody>
      </p:sp>
      <p:sp>
        <p:nvSpPr>
          <p:cNvPr id="14" name="Oval 13"/>
          <p:cNvSpPr/>
          <p:nvPr/>
        </p:nvSpPr>
        <p:spPr>
          <a:xfrm>
            <a:off x="792000" y="3049199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08000" y="2987999"/>
            <a:ext cx="48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E2832"/>
                </a:solidFill>
                <a:latin typeface="Calibri"/>
              </a:rPr>
              <a:t>Séquencement intelligent</a:t>
            </a:r>
            <a:r>
              <a:rPr sz="1250" b="0">
                <a:solidFill>
                  <a:srgbClr val="1E2832"/>
                </a:solidFill>
                <a:latin typeface="Calibri"/>
              </a:rPr>
              <a:t> : liaisons GTB posées, GTC plus tard</a:t>
            </a:r>
          </a:p>
        </p:txBody>
      </p:sp>
      <p:sp>
        <p:nvSpPr>
          <p:cNvPr id="16" name="Oval 15"/>
          <p:cNvSpPr/>
          <p:nvPr/>
        </p:nvSpPr>
        <p:spPr>
          <a:xfrm>
            <a:off x="792000" y="3715199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8000" y="3653999"/>
            <a:ext cx="48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E2832"/>
                </a:solidFill>
                <a:latin typeface="Calibri"/>
              </a:rPr>
              <a:t>Dimensionnement repris à la source</a:t>
            </a:r>
            <a:r>
              <a:rPr sz="1250" b="0">
                <a:solidFill>
                  <a:srgbClr val="1E2832"/>
                </a:solidFill>
                <a:latin typeface="Calibri"/>
              </a:rPr>
              <a:t> : 452 → 70,4 kW</a:t>
            </a:r>
          </a:p>
        </p:txBody>
      </p:sp>
      <p:sp>
        <p:nvSpPr>
          <p:cNvPr id="18" name="Oval 17"/>
          <p:cNvSpPr/>
          <p:nvPr/>
        </p:nvSpPr>
        <p:spPr>
          <a:xfrm>
            <a:off x="792000" y="4381199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08000" y="4319999"/>
            <a:ext cx="48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E2832"/>
                </a:solidFill>
                <a:latin typeface="Calibri"/>
              </a:rPr>
              <a:t>Zéro heure de fermeture</a:t>
            </a:r>
            <a:r>
              <a:rPr sz="1250" b="0">
                <a:solidFill>
                  <a:srgbClr val="1E2832"/>
                </a:solidFill>
                <a:latin typeface="Calibri"/>
              </a:rPr>
              <a:t>, zéro accident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000" y="1116000"/>
            <a:ext cx="5256000" cy="4104000"/>
          </a:xfrm>
          <a:prstGeom prst="roundRect">
            <a:avLst>
              <a:gd name="adj" fmla="val 6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52000" y="1260000"/>
            <a:ext cx="48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31B2E"/>
                </a:solidFill>
                <a:latin typeface="Calibri"/>
              </a:rPr>
              <a:t>CE QUE JE REFERAIS AUTREMENT</a:t>
            </a:r>
          </a:p>
        </p:txBody>
      </p:sp>
      <p:sp>
        <p:nvSpPr>
          <p:cNvPr id="22" name="Oval 21"/>
          <p:cNvSpPr/>
          <p:nvPr/>
        </p:nvSpPr>
        <p:spPr>
          <a:xfrm>
            <a:off x="6552000" y="1717199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68000" y="1655999"/>
            <a:ext cx="460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E2832"/>
                </a:solidFill>
                <a:latin typeface="Calibri"/>
              </a:rPr>
              <a:t>Le fluide</a:t>
            </a:r>
            <a:r>
              <a:rPr sz="1250" b="0">
                <a:solidFill>
                  <a:srgbClr val="1E2832"/>
                </a:solidFill>
                <a:latin typeface="Calibri"/>
              </a:rPr>
              <a:t> : 38 kg de R-410A = </a:t>
            </a:r>
            <a:r>
              <a:rPr sz="1250" b="1">
                <a:solidFill>
                  <a:srgbClr val="1E2832"/>
                </a:solidFill>
                <a:latin typeface="Calibri"/>
              </a:rPr>
              <a:t>79,3 tCO₂e</a:t>
            </a:r>
            <a:r>
              <a:rPr sz="1250" b="0">
                <a:solidFill>
                  <a:srgbClr val="1E2832"/>
                </a:solidFill>
                <a:latin typeface="Calibri"/>
              </a:rPr>
              <a:t>, soit 4,8 années de gain. Au R-32 : 25,7 t, et contrôle annuel au lieu de semestriel</a:t>
            </a:r>
          </a:p>
        </p:txBody>
      </p:sp>
      <p:sp>
        <p:nvSpPr>
          <p:cNvPr id="24" name="Oval 23"/>
          <p:cNvSpPr/>
          <p:nvPr/>
        </p:nvSpPr>
        <p:spPr>
          <a:xfrm>
            <a:off x="6552000" y="2545198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8000" y="2483998"/>
            <a:ext cx="460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E2832"/>
                </a:solidFill>
                <a:latin typeface="Calibri"/>
              </a:rPr>
              <a:t>Le chiffrage du travail de nuit</a:t>
            </a:r>
            <a:r>
              <a:rPr sz="1250" b="0">
                <a:solidFill>
                  <a:srgbClr val="1E2832"/>
                </a:solidFill>
                <a:latin typeface="Calibri"/>
              </a:rPr>
              <a:t>, sous-évalué d'un facteur 2</a:t>
            </a:r>
          </a:p>
        </p:txBody>
      </p:sp>
      <p:sp>
        <p:nvSpPr>
          <p:cNvPr id="26" name="Oval 25"/>
          <p:cNvSpPr/>
          <p:nvPr/>
        </p:nvSpPr>
        <p:spPr>
          <a:xfrm>
            <a:off x="6552000" y="3373198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68000" y="3311998"/>
            <a:ext cx="460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E2832"/>
                </a:solidFill>
                <a:latin typeface="Calibri"/>
              </a:rPr>
              <a:t>Un sous-comptage</a:t>
            </a:r>
            <a:r>
              <a:rPr sz="1250" b="0">
                <a:solidFill>
                  <a:srgbClr val="1E2832"/>
                </a:solidFill>
                <a:latin typeface="Calibri"/>
              </a:rPr>
              <a:t> du poste chauffage avant travaux</a:t>
            </a:r>
          </a:p>
        </p:txBody>
      </p:sp>
      <p:sp>
        <p:nvSpPr>
          <p:cNvPr id="28" name="Oval 27"/>
          <p:cNvSpPr/>
          <p:nvPr/>
        </p:nvSpPr>
        <p:spPr>
          <a:xfrm>
            <a:off x="6552000" y="4201199"/>
            <a:ext cx="79200" cy="79200"/>
          </a:xfrm>
          <a:prstGeom prst="ellipse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768000" y="4139999"/>
            <a:ext cx="460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E2832"/>
                </a:solidFill>
                <a:latin typeface="Calibri"/>
              </a:rPr>
              <a:t>Exploiter l'écart</a:t>
            </a:r>
            <a:r>
              <a:rPr sz="1250" b="0">
                <a:solidFill>
                  <a:srgbClr val="1E2832"/>
                </a:solidFill>
                <a:latin typeface="Calibri"/>
              </a:rPr>
              <a:t> budget audit / devis réel (− 27 %) auprès du client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PARTIE 4 —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Organisation, limites et axes d'amélioration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9200" y="6444001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1 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00" y="1188000"/>
          <a:ext cx="11016000" cy="42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840"/>
                <a:gridCol w="8372160"/>
              </a:tblGrid>
              <a:tr h="70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Thème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Organisation de l'équipe projet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</a:tr>
              <a:tr h="702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2832"/>
                          </a:solidFill>
                          <a:latin typeface="Calibri"/>
                        </a:rPr>
                        <a:t>Mon rôle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832"/>
                          </a:solidFill>
                          <a:latin typeface="Calibri"/>
                        </a:rPr>
                        <a:t>Participation à l'audit · réalisation d'une partie du chantier · exploitation en maintenance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702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2832"/>
                          </a:solidFill>
                          <a:latin typeface="Calibri"/>
                        </a:rPr>
                        <a:t>Points forts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832"/>
                          </a:solidFill>
                          <a:latin typeface="Calibri"/>
                        </a:rPr>
                        <a:t>Chaîne de décision très courte · binôme polyvalent · l'installation est posée par celui qui la maintient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  <a:tr h="702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2832"/>
                          </a:solidFill>
                          <a:latin typeface="Calibri"/>
                        </a:rPr>
                        <a:t>Points faibles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832"/>
                          </a:solidFill>
                          <a:latin typeface="Calibri"/>
                        </a:rPr>
                        <a:t>Effectif de 2 sans marge · transmission nuit/jour décalée de 24 h · isolement de l'équipe de nuit · fatigue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702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2832"/>
                          </a:solidFill>
                          <a:latin typeface="Calibri"/>
                        </a:rPr>
                        <a:t>Axes d'amélioration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832"/>
                          </a:solidFill>
                          <a:latin typeface="Calibri"/>
                        </a:rPr>
                        <a:t>Compte rendu photo standardisé en fin de poste · recouvrement hebdomadaire jour/nuit · 3ᵉ compagnon en renfort sur les phases lourdes · rotation des tâches physiques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  <a:tr h="702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2832"/>
                          </a:solidFill>
                          <a:latin typeface="Calibri"/>
                        </a:rPr>
                        <a:t>Situation de handicap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832"/>
                          </a:solidFill>
                          <a:latin typeface="Calibri"/>
                        </a:rPr>
                        <a:t>Aménagement de poste avec le médecin du travail et le référent handicap : tâches de </a:t>
                      </a:r>
                      <a:r>
                        <a:rPr sz="1250" b="1">
                          <a:solidFill>
                            <a:srgbClr val="1E2832"/>
                          </a:solidFill>
                          <a:latin typeface="Calibri"/>
                        </a:rPr>
                        <a:t>préfabrication au sol</a:t>
                      </a:r>
                      <a:r>
                        <a:rPr sz="1250" b="0">
                          <a:solidFill>
                            <a:srgbClr val="1E2832"/>
                          </a:solidFill>
                          <a:latin typeface="Calibri"/>
                        </a:rPr>
                        <a:t> plutôt qu'en nacelle, adaptation des horaires, accessibilité des zones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PARTIE 4 —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La suite pour le magasin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9200" y="6444001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45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224000"/>
            <a:ext cx="2088000" cy="2376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76000" y="1368000"/>
            <a:ext cx="20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3A70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999" y="1872000"/>
            <a:ext cx="1835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2832"/>
                </a:solidFill>
                <a:latin typeface="Calibri"/>
              </a:rPr>
              <a:t>Récupération de chaleur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2832"/>
                </a:solidFill>
                <a:latin typeface="Calibri"/>
              </a:rPr>
              <a:t>sur les groupes froids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999" y="2808000"/>
            <a:ext cx="183599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34 200 € — </a:t>
            </a:r>
            <a:r>
              <a:rPr sz="1100" b="1">
                <a:solidFill>
                  <a:srgbClr val="555F6B"/>
                </a:solidFill>
                <a:latin typeface="Calibri"/>
              </a:rPr>
              <a:t>4,3 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26000" y="1224000"/>
            <a:ext cx="2088000" cy="2376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26000" y="1368000"/>
            <a:ext cx="20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3A70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1999" y="1872000"/>
            <a:ext cx="1835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2832"/>
                </a:solidFill>
                <a:latin typeface="Calibri"/>
              </a:rPr>
              <a:t>GTC classe A /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1999" y="2808000"/>
            <a:ext cx="183599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39 000 € — </a:t>
            </a:r>
            <a:r>
              <a:rPr sz="1100" b="1">
                <a:solidFill>
                  <a:srgbClr val="555F6B"/>
                </a:solidFill>
                <a:latin typeface="Calibri"/>
              </a:rPr>
              <a:t>5,3 ans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conformité BACS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6000" y="1224000"/>
            <a:ext cx="2088000" cy="2376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76000" y="1368000"/>
            <a:ext cx="20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3A70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1999" y="1872000"/>
            <a:ext cx="1835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2832"/>
                </a:solidFill>
                <a:latin typeface="Calibri"/>
              </a:rPr>
              <a:t>Ballons thermodynamiques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2832"/>
                </a:solidFill>
                <a:latin typeface="Calibri"/>
              </a:rPr>
              <a:t>pour les labos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1999" y="2808000"/>
            <a:ext cx="183599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8 840 € — </a:t>
            </a:r>
            <a:r>
              <a:rPr sz="1100" b="1">
                <a:solidFill>
                  <a:srgbClr val="555F6B"/>
                </a:solidFill>
                <a:latin typeface="Calibri"/>
              </a:rPr>
              <a:t>6,3 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26000" y="1224000"/>
            <a:ext cx="2088000" cy="2376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26000" y="1368000"/>
            <a:ext cx="20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3A70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1999" y="1872000"/>
            <a:ext cx="1835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2832"/>
                </a:solidFill>
                <a:latin typeface="Calibri"/>
              </a:rPr>
              <a:t>Ombrières photovoltaïques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2832"/>
                </a:solidFill>
                <a:latin typeface="Calibri"/>
              </a:rPr>
              <a:t>271,9 kWc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1999" y="2808000"/>
            <a:ext cx="183599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368 000 € — </a:t>
            </a:r>
            <a:r>
              <a:rPr sz="1100" b="1">
                <a:solidFill>
                  <a:srgbClr val="555F6B"/>
                </a:solidFill>
                <a:latin typeface="Calibri"/>
              </a:rPr>
              <a:t>8,4 ans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conformité APER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76000" y="1224000"/>
            <a:ext cx="2088000" cy="2376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576000" y="1368000"/>
            <a:ext cx="20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3A70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1999" y="1872000"/>
            <a:ext cx="1835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2832"/>
                </a:solidFill>
                <a:latin typeface="Calibri"/>
              </a:rPr>
              <a:t>Fermeture des meubles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2832"/>
                </a:solidFill>
                <a:latin typeface="Calibri"/>
              </a:rPr>
              <a:t>frigorifiques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1999" y="2808000"/>
            <a:ext cx="183599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le </a:t>
            </a:r>
            <a:r>
              <a:rPr sz="1100" b="1">
                <a:solidFill>
                  <a:srgbClr val="555F6B"/>
                </a:solidFill>
                <a:latin typeface="Calibri"/>
              </a:rPr>
              <a:t>premier gisement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Calibri"/>
              </a:rPr>
              <a:t>restant : 58 % des consos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00" y="3816000"/>
            <a:ext cx="11016000" cy="14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7999" y="3996000"/>
            <a:ext cx="104400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E2832"/>
                </a:solidFill>
                <a:latin typeface="Calibri"/>
              </a:rPr>
              <a:t>Le bouquet complet : 572 940 € HT · 58 590 € d'économies par an · 9,3 ans de retour · − 70 % d'émissions.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1E2832"/>
                </a:solidFill>
                <a:latin typeface="Calibri"/>
              </a:rPr>
              <a:t>Mon projet est la </a:t>
            </a:r>
            <a:r>
              <a:rPr sz="1350" b="1">
                <a:solidFill>
                  <a:srgbClr val="1E2832"/>
                </a:solidFill>
                <a:latin typeface="Calibri"/>
              </a:rPr>
              <a:t>première brique</a:t>
            </a:r>
            <a:r>
              <a:rPr sz="1350" b="0">
                <a:solidFill>
                  <a:srgbClr val="1E2832"/>
                </a:solidFill>
                <a:latin typeface="Calibri"/>
              </a:rPr>
              <a:t> de cette trajectoire : sans PAC réversible, pas de sortie du gaz,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1E2832"/>
                </a:solidFill>
                <a:latin typeface="Calibri"/>
              </a:rPr>
              <a:t>pas de confort d'été, et un objectif 2030 hors d'atteinte. L'action la moins rentable isolément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1E2832"/>
                </a:solidFill>
                <a:latin typeface="Calibri"/>
              </a:rPr>
              <a:t>était indispensable à l'ensemble.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00000" y="2304000"/>
            <a:ext cx="1800000" cy="36000"/>
          </a:xfrm>
          <a:prstGeom prst="rect">
            <a:avLst/>
          </a:prstGeom>
          <a:solidFill>
            <a:srgbClr val="D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00000" y="1584000"/>
            <a:ext cx="1008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664000"/>
            <a:ext cx="10260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D'une chaudière gaz de 1987 à une </a:t>
            </a:r>
            <a:r>
              <a:rPr sz="1700" b="1">
                <a:solidFill>
                  <a:srgbClr val="FFFFFF"/>
                </a:solidFill>
                <a:latin typeface="Calibri"/>
              </a:rPr>
              <a:t>pompe à chaleur réversible de 70,4 kW</a:t>
            </a:r>
            <a:r>
              <a:rPr sz="1700" b="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installée </a:t>
            </a:r>
            <a:r>
              <a:rPr sz="1700" b="1">
                <a:solidFill>
                  <a:srgbClr val="FFFFFF"/>
                </a:solidFill>
                <a:latin typeface="Calibri"/>
              </a:rPr>
              <a:t>de nuit, en deux mois, sans un seul jour de fermeture</a:t>
            </a:r>
            <a:r>
              <a:rPr sz="1700" b="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pour </a:t>
            </a:r>
            <a:r>
              <a:rPr sz="1700" b="1">
                <a:solidFill>
                  <a:srgbClr val="FFFFFF"/>
                </a:solidFill>
                <a:latin typeface="Calibri"/>
              </a:rPr>
              <a:t>90 000 € HT dont 11 000 € financés par les CEE</a:t>
            </a:r>
            <a:r>
              <a:rPr sz="1700" b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Le rôle d'un chargé de projet en transition énergétique n'est pas de proposer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la meilleure solution technique</a:t>
            </a:r>
            <a:r>
              <a:rPr sz="1700" b="0">
                <a:solidFill>
                  <a:srgbClr val="FFFFFF"/>
                </a:solidFill>
                <a:latin typeface="Calibri"/>
              </a:rPr>
              <a:t>, mais de </a:t>
            </a:r>
            <a:r>
              <a:rPr sz="1700" b="1">
                <a:solidFill>
                  <a:srgbClr val="FFFFFF"/>
                </a:solidFill>
                <a:latin typeface="Calibri"/>
              </a:rPr>
              <a:t>rendre une solution possible</a:t>
            </a:r>
            <a:r>
              <a:rPr sz="1700" b="0">
                <a:solidFill>
                  <a:srgbClr val="FFFFFF"/>
                </a:solidFill>
                <a:latin typeface="Calibri"/>
              </a:rPr>
              <a:t> 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acceptable économiquement, réalisable pour l'équipe, sûre pour les compagnons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et conforme pour le bâtiment.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5080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9CC2E8"/>
                </a:solidFill>
                <a:latin typeface="Calibri"/>
              </a:rPr>
              <a:t>Merci de votre attention — je suis à votre disposition pour vos questions.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ANNEXE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Détail du devis — 92 939,39 € HT ramenés à 90 000 €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00" y="1116000"/>
          <a:ext cx="11016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000"/>
                <a:gridCol w="6058800"/>
                <a:gridCol w="2203200"/>
              </a:tblGrid>
              <a:tr h="39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Poste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Contenu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Montant HT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A.1 Unités intérieures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1 gainable FXMQ-250A + 4 cassettes Roundflow 125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11 055,30 €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A.2 Plénums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Acier galvanisé, isolation 25 mm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552,63 €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A.3 Gaine de diffusion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SIONAIR GMD perforée Ø 550 — 59 ml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8 991,82 €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A.4 Régulation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5 télécommandes MADOKA BRC1H52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774,00 €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A.5 Unités extérieures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RXYQ20U + RXYQ16U, supports, mise en service constructeur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30 036,98 €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A.6 Liaisons frigorifiques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Cuivre 2 tubes, Refnet, charge R-410A, chemins de câbles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20 307,90 €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A.7 Condensats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65 m PVC DN 40, 5 siphons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1 471,59 €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A.8 Électricité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Bus LIYCY, sondes, coffret CVC, </a:t>
                      </a:r>
                      <a:r>
                        <a:rPr sz="1150" b="1">
                          <a:solidFill>
                            <a:srgbClr val="1E2832"/>
                          </a:solidFill>
                          <a:latin typeface="Calibri"/>
                        </a:rPr>
                        <a:t>liaisons Modbus/BACnet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8 388,75 €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A.9 Divers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832"/>
                          </a:solidFill>
                          <a:latin typeface="Calibri"/>
                        </a:rPr>
                        <a:t>Travail en horaire décalé 9 715,85 €</a:t>
                      </a:r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, dossier DESP, percements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11 360,42 €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6000" y="5040000"/>
            <a:ext cx="1101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E2832"/>
                </a:solidFill>
                <a:latin typeface="Calibri"/>
              </a:rPr>
              <a:t>Remise − 2 939,39 € → </a:t>
            </a:r>
            <a:r>
              <a:rPr sz="1350" b="1">
                <a:solidFill>
                  <a:srgbClr val="1E2832"/>
                </a:solidFill>
                <a:latin typeface="Calibri"/>
              </a:rPr>
              <a:t>90 000 € HT</a:t>
            </a:r>
            <a:r>
              <a:rPr sz="1350" b="0">
                <a:solidFill>
                  <a:srgbClr val="1E2832"/>
                </a:solidFill>
                <a:latin typeface="Calibri"/>
              </a:rPr>
              <a:t> · TVA 20 % → 108 000 € TTC · </a:t>
            </a:r>
            <a:r>
              <a:rPr sz="1350" b="1">
                <a:solidFill>
                  <a:srgbClr val="1E2832"/>
                </a:solidFill>
                <a:latin typeface="Calibri"/>
              </a:rPr>
              <a:t>CEE − 11 000 €</a:t>
            </a:r>
            <a:r>
              <a:rPr sz="1350" b="0">
                <a:solidFill>
                  <a:srgbClr val="1E2832"/>
                </a:solidFill>
                <a:latin typeface="Calibri"/>
              </a:rPr>
              <a:t> → </a:t>
            </a:r>
            <a:r>
              <a:rPr sz="1350" b="1">
                <a:solidFill>
                  <a:srgbClr val="1E2832"/>
                </a:solidFill>
                <a:latin typeface="Calibri"/>
              </a:rPr>
              <a:t>97 000 € TTC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ANNEXE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Les 9 actions chiffrées par l'audit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00" y="1116000"/>
          <a:ext cx="11016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6720"/>
                <a:gridCol w="1542240"/>
                <a:gridCol w="1652400"/>
                <a:gridCol w="1432080"/>
                <a:gridCol w="1762560"/>
              </a:tblGrid>
              <a:tr h="39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 de performance énergétique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Coût HT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Économie/an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Retour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Décision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Récupération de chaleur sur groupes froids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34 200 €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6 400 €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832"/>
                          </a:solidFill>
                          <a:latin typeface="Calibri"/>
                        </a:rPr>
                        <a:t>4,3 ans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✔ retenue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GTC (classe A / C)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39 000 €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5 400 €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832"/>
                          </a:solidFill>
                          <a:latin typeface="Calibri"/>
                        </a:rPr>
                        <a:t>5,3 ans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✔ retenue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Ballons thermodynamiques labos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8 840 €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1 410 €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6,3 ans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✔ retenue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Calorifuge de la chaufferie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1 680 €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220 €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6,5 ans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✘ sans objet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Ombrières photovoltaïques 271,9 kWc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368 000 €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43 830 €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8,4 ans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✔ retenue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Solution Air Booster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69 800 €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6 300 €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11,0 ans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✘ arbres à abattre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Chaudière gaz à condensation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47 800 €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2 250 €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21,4 ans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✘ pas de clim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Destratificateurs (29 unités)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44 100 €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1 600 €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21,4 ans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832"/>
                          </a:solidFill>
                          <a:latin typeface="Calibri"/>
                        </a:rPr>
                        <a:t>PAC réversible surface de vente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832"/>
                          </a:solidFill>
                          <a:latin typeface="Calibri"/>
                        </a:rPr>
                        <a:t>122 800 €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832"/>
                          </a:solidFill>
                          <a:latin typeface="Calibri"/>
                        </a:rPr>
                        <a:t>5 260 €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832"/>
                          </a:solidFill>
                          <a:latin typeface="Calibri"/>
                        </a:rPr>
                        <a:t>21,5 ans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832"/>
                          </a:solidFill>
                          <a:latin typeface="Calibri"/>
                        </a:rPr>
                        <a:t>✔ mon projet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6000" y="5040000"/>
            <a:ext cx="1101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E2832"/>
                </a:solidFill>
                <a:latin typeface="Calibri"/>
              </a:rPr>
              <a:t>Bouquet retenu : </a:t>
            </a:r>
            <a:r>
              <a:rPr sz="1350" b="1">
                <a:solidFill>
                  <a:srgbClr val="1E2832"/>
                </a:solidFill>
                <a:latin typeface="Calibri"/>
              </a:rPr>
              <a:t>572 940 € HT · 58 590 €/an · 26 700 € de subventions · 9,3 ans · − 70 % d'émissions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460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32000" y="1008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CC2E8"/>
                </a:solidFill>
                <a:latin typeface="Calibri"/>
              </a:rPr>
              <a:t>ANNEXE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93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Le fluide frigorigène : R-410A contre R-32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Guillaume TARDY — Licence CPEBD, IRUP Saint-Étienne — Bloc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57200" y="6444001"/>
            <a:ext cx="50399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03A70"/>
                </a:solidFill>
                <a:latin typeface="Calibri"/>
              </a:rP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96000" y="1296000"/>
          <a:ext cx="9576000" cy="3527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4960"/>
                <a:gridCol w="2585520"/>
                <a:gridCol w="2585520"/>
              </a:tblGrid>
              <a:tr h="50399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R-410A (installé)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R-32 (alternative)</a:t>
                      </a:r>
                    </a:p>
                  </a:txBody>
                  <a:tcPr marL="72000" marR="72000">
                    <a:solidFill>
                      <a:srgbClr val="003A70"/>
                    </a:solidFill>
                  </a:tcPr>
                </a:tc>
              </a:tr>
              <a:tr h="50399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832"/>
                          </a:solidFill>
                          <a:latin typeface="Calibri"/>
                        </a:rPr>
                        <a:t>Charge de l'installation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832"/>
                          </a:solidFill>
                          <a:latin typeface="Calibri"/>
                        </a:rPr>
                        <a:t>38 kg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832"/>
                          </a:solidFill>
                          <a:latin typeface="Calibri"/>
                        </a:rPr>
                        <a:t>38 kg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50399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832"/>
                          </a:solidFill>
                          <a:latin typeface="Calibri"/>
                        </a:rPr>
                        <a:t>GWP du fluide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832"/>
                          </a:solidFill>
                          <a:latin typeface="Calibri"/>
                        </a:rPr>
                        <a:t>2 088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832"/>
                          </a:solidFill>
                          <a:latin typeface="Calibri"/>
                        </a:rPr>
                        <a:t>675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  <a:tr h="50399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832"/>
                          </a:solidFill>
                          <a:latin typeface="Calibri"/>
                        </a:rPr>
                        <a:t>Impact potentiel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832"/>
                          </a:solidFill>
                          <a:latin typeface="Calibri"/>
                        </a:rPr>
                        <a:t>79,3 t CO₂e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832"/>
                          </a:solidFill>
                          <a:latin typeface="Calibri"/>
                        </a:rPr>
                        <a:t>25,7 t CO₂e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50399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832"/>
                          </a:solidFill>
                          <a:latin typeface="Calibri"/>
                        </a:rPr>
                        <a:t>Équivalent en années de gain (16,7 t/an)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832"/>
                          </a:solidFill>
                          <a:latin typeface="Calibri"/>
                        </a:rPr>
                        <a:t>4,8 ans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832"/>
                          </a:solidFill>
                          <a:latin typeface="Calibri"/>
                        </a:rPr>
                        <a:t>1,5 an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  <a:tr h="50399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832"/>
                          </a:solidFill>
                          <a:latin typeface="Calibri"/>
                        </a:rPr>
                        <a:t>Seuil des 50 t CO₂e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832"/>
                          </a:solidFill>
                          <a:latin typeface="Calibri"/>
                        </a:rPr>
                        <a:t>dépassé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832"/>
                          </a:solidFill>
                          <a:latin typeface="Calibri"/>
                        </a:rPr>
                        <a:t>non dépassé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50399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832"/>
                          </a:solidFill>
                          <a:latin typeface="Calibri"/>
                        </a:rPr>
                        <a:t>Contrôle d'étanchéité réglementaire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832"/>
                          </a:solidFill>
                          <a:latin typeface="Calibri"/>
                        </a:rPr>
                        <a:t>tous les 6 mois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832"/>
                          </a:solidFill>
                          <a:latin typeface="Calibri"/>
                        </a:rPr>
                        <a:t>tous les 12 mois</a:t>
                      </a:r>
                    </a:p>
                  </a:txBody>
                  <a:tcPr marL="72000" marR="72000">
                    <a:solidFill>
                      <a:srgbClr val="E8EF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96000" y="4536000"/>
            <a:ext cx="957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E2832"/>
                </a:solidFill>
                <a:latin typeface="Calibri"/>
              </a:rPr>
              <a:t>Un choix de fluide a un effet chiffrable sur 20 ans</a:t>
            </a:r>
            <a:r>
              <a:rPr sz="1400" b="0">
                <a:solidFill>
                  <a:srgbClr val="1E2832"/>
                </a:solidFill>
                <a:latin typeface="Calibri"/>
              </a:rPr>
              <a:t> : sur le bilan carbone réel du projet,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E2832"/>
                </a:solidFill>
                <a:latin typeface="Calibri"/>
              </a:rPr>
              <a:t>et sur le coût d'exploitation, via la périodicité des contrôles réglementaires.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