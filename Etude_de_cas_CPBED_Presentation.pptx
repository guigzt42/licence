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BED3E9"/>
                </a:solidFill>
                <a:latin typeface="Calibri"/>
              </a:rPr>
              <a:t>ÉTUDE DE CAS — GESTION DE PROJET BÂTIMENT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5000" b="1" i="0">
                <a:solidFill>
                  <a:srgbClr val="FFFFFF"/>
                </a:solidFill>
                <a:latin typeface="Calibri"/>
              </a:rPr>
              <a:t>Siège social DIGITECH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DDE8F3"/>
                </a:solidFill>
                <a:latin typeface="Calibri"/>
              </a:rPr>
              <a:t>Bâtiment tertiaire à énergie positive</a:t>
            </a:r>
          </a:p>
          <a:p>
            <a:pPr algn="l">
              <a:spcBef>
                <a:spcPts val="600"/>
              </a:spcBef>
            </a:pPr>
            <a:r>
              <a:rPr sz="1800" b="0" i="1">
                <a:solidFill>
                  <a:srgbClr val="BED3E9"/>
                </a:solidFill>
                <a:latin typeface="Calibri"/>
              </a:rPr>
              <a:t>Entreprise générale BATIPROJET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FBAD6"/>
                </a:solidFill>
                <a:latin typeface="Calibri"/>
              </a:rPr>
              <a:t>Chef de projet BATIPROJET — 17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1848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Contexte et cadrage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8424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L’opération, les objectifs, les contraintes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59152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377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Découpage du projet (WBS)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432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Les phases et les livrables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18104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2783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3639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Planning et Gantt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50215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Dépendances, chemin critique, délai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77056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86784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9534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Responsabilités (RACI)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6110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Qui fait quoi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36008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45736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5429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Risques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20056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Registre et risques majeurs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394960"/>
            <a:ext cx="685800" cy="685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0468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4132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1F4E79"/>
                </a:solidFill>
                <a:latin typeface="Calibri"/>
              </a:rPr>
              <a:t>Réglementaire et recommandation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7790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A8A8A"/>
                </a:solidFill>
                <a:latin typeface="Calibri"/>
              </a:rPr>
              <a:t>Conformité et décision de lancement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1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Contexte et enjeu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492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404040"/>
                </a:solidFill>
                <a:latin typeface="Calibri"/>
              </a:rPr>
              <a:t>•  DIGITECH France confie à BATIPROJET son nouveau siège social.</a:t>
            </a:r>
          </a:p>
          <a:p>
            <a:pPr algn="l" lvl="1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8A8A8A"/>
                </a:solidFill>
                <a:latin typeface="Calibri"/>
              </a:rPr>
              <a:t>–  Bâtiment tertiaire BEPOS : 4 500 m² de bureaux sur 3 niveaux, salle de conférence de 200 places, restaurant, parking de 120 places, toiture photovoltaïque.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404040"/>
                </a:solidFill>
                <a:latin typeface="Calibri"/>
              </a:rPr>
              <a:t>•  Objectif du maître d’ouvrage : une référence régionale en performance environnementale.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50" b="0" i="0">
                <a:solidFill>
                  <a:srgbClr val="404040"/>
                </a:solidFill>
                <a:latin typeface="Calibri"/>
              </a:rPr>
              <a:t>•  Chantier proche d’un quartier résidentiel : riverains à concerter.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91640"/>
            <a:ext cx="4297680" cy="182880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1F4E79"/>
                </a:solidFill>
                <a:latin typeface="Calibri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86000"/>
            <a:ext cx="3931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404040"/>
                </a:solidFill>
                <a:latin typeface="Calibri"/>
              </a:rPr>
              <a:t>9 M€ HT — budget plafond</a:t>
            </a:r>
          </a:p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404040"/>
                </a:solidFill>
                <a:latin typeface="Calibri"/>
              </a:rPr>
              <a:t>18 mois — délai de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703320"/>
            <a:ext cx="4297680" cy="210312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886200"/>
            <a:ext cx="3931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Contexte tendu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Hausse du coût des matériaux, tension sur la main-d’œuvre, délais d’approvisionnement longs.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1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Objectifs et contraintes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66160" cy="128016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1F4E79"/>
                </a:solidFill>
                <a:latin typeface="Calibri"/>
              </a:rPr>
              <a:t>9 M€ 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Budget maximal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566160" cy="128016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7335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1F4E79"/>
                </a:solidFill>
                <a:latin typeface="Calibri"/>
              </a:rPr>
              <a:t>18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Délai de livraison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66160" cy="128016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67335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1F4E79"/>
                </a:solidFill>
                <a:latin typeface="Calibri"/>
              </a:rPr>
              <a:t>HQE · RE2020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3172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404040"/>
                </a:solidFill>
                <a:latin typeface="Calibri"/>
              </a:rPr>
              <a:t>Qualité environnementale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4E79"/>
                </a:solidFill>
                <a:latin typeface="Calibri"/>
              </a:rPr>
              <a:t>Aussi visés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Sécurité : zéro accident grave, plan SPS respecté.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Environnement : carbone réduit, déchets valorisés.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Qualité : taux de réserves &lt; 2 % à la réception.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F4E79"/>
                </a:solidFill>
                <a:latin typeface="Calibri"/>
              </a:rPr>
              <a:t>Principales contraintes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Hausse du coût des matériaux.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Tension sur la main-d’œuvre qualifiée.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Délais d’approvisionnement des équipements techniques.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•  Proximité résidentielle (nuisances).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2 · 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Découpage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04040"/>
                </a:solidFill>
                <a:latin typeface="Calibri"/>
              </a:rPr>
              <a:t>Six phases (des études à la réception) et un lot transverse de management. Chaque maille = un livrable pilotable.</a:t>
            </a:r>
          </a:p>
        </p:txBody>
      </p:sp>
      <p:pic>
        <p:nvPicPr>
          <p:cNvPr id="9" name="Picture 8" descr="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50" y="2011680"/>
            <a:ext cx="101821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3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Planning, Gantt et chemin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955279" cy="41065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49640" y="1417320"/>
            <a:ext cx="3200400" cy="228600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572768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DÉLAI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21 mois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04040"/>
                </a:solidFill>
                <a:latin typeface="Calibri"/>
              </a:rPr>
              <a:t>pour un objectif de 18 mois</a:t>
            </a:r>
          </a:p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1F4E79"/>
                </a:solidFill>
                <a:latin typeface="Calibri"/>
              </a:rPr>
              <a:t>→ à comprimer de 3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31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1F4E79"/>
                </a:solidFill>
                <a:latin typeface="Calibri"/>
              </a:rPr>
              <a:t>Activités à risque de retard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38912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  <a:latin typeface="Calibri"/>
              </a:rPr>
              <a:t>•  Permis de construire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  <a:latin typeface="Calibri"/>
              </a:rPr>
              <a:t>•  Structure béton (4 mois)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  <a:latin typeface="Calibri"/>
              </a:rPr>
              <a:t>•  Second œuvre (coactivité)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04040"/>
                </a:solidFill>
                <a:latin typeface="Calibri"/>
              </a:rPr>
              <a:t>•  Lots techniques (appros)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4 · RESPONSABILITÉS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Matrice RACI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3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123405"/>
                <a:gridCol w="1123405"/>
                <a:gridCol w="1123405"/>
                <a:gridCol w="1123405"/>
                <a:gridCol w="1123405"/>
                <a:gridCol w="1123405"/>
                <a:gridCol w="1123405"/>
              </a:tblGrid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Activité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MOA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Chef
projet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Archi.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BET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Cond.
trav.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Bureau
contr.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SPS</a:t>
                      </a:r>
                    </a:p>
                  </a:txBody>
                  <a:tcPr marT="12700" marB="12700">
                    <a:solidFill>
                      <a:srgbClr val="1F4E7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Études de conception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Permis de construire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Consultation entreprises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Préparation du chantier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Gros œuvre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Second œuvre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Essais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04040"/>
                          </a:solidFill>
                          <a:latin typeface="Calibri"/>
                        </a:rPr>
                        <a:t>Réception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A8A8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0B0B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T="12700" marB="12700" marL="50800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A8A8A"/>
                </a:solidFill>
                <a:latin typeface="Calibri"/>
              </a:rPr>
              <a:t>R = Réalise   ·   A = Responsable (rend des comptes)   ·   C = Consulté   ·   I = Informé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5 ·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Analyse des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ris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983673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5544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3 risques majeurs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48840"/>
            <a:ext cx="452628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2148840"/>
            <a:ext cx="146304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2402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R1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Dépassement du délai (21 mois vs 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235000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0392B"/>
                </a:solidFill>
                <a:latin typeface="Calibri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46120"/>
            <a:ext cx="452628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3246120"/>
            <a:ext cx="146304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33756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7E22"/>
                </a:solidFill>
                <a:latin typeface="Calibri"/>
              </a:rPr>
              <a:t>R2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Hausse du coût des matériaux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44728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E67E22"/>
                </a:solidFill>
                <a:latin typeface="Calibri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343400"/>
            <a:ext cx="4526280" cy="960120"/>
          </a:xfrm>
          <a:prstGeom prst="round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4343400"/>
            <a:ext cx="146304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43484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67E22"/>
                </a:solidFill>
                <a:latin typeface="Calibri"/>
              </a:rPr>
              <a:t>R4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404040"/>
                </a:solidFill>
                <a:latin typeface="Calibri"/>
              </a:rPr>
              <a:t>Délais d’approvisionnement (PV, CVC)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4544568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E67E22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486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8A8A8A"/>
                </a:solidFill>
                <a:latin typeface="Calibri"/>
              </a:rPr>
              <a:t>Registre complet : 12 risques cotés P × I dans le dossier.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6 ·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Analyse réglementaire et normative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Urbanisme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7335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Permis de construire · PLU · Code de l’urbanisme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1343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RE2020 · Eurocodes · DTU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443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53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Code du travail · coordination SPS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84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Accessibilité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935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PMR · obligations ERP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Incendie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3367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SSI · désenfumage · compartimentage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5488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6460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Environnement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7375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Loi AGEC · déchets · bilan carbone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2926080" cy="56692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Normes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51383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HQE · ISO 9001 / 14001 / 45001 · ISO 19650 (BIM)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080760"/>
            <a:ext cx="11155680" cy="566928"/>
          </a:xfrm>
          <a:prstGeom prst="round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C6A00"/>
                </a:solidFill>
                <a:latin typeface="Calibri"/>
              </a:rPr>
              <a:t>Point clé : salle de conférence (200 places) + restaurant = ERP → règles incendie et accessibilité renforcées.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RÉFLEXION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Points clés stratégiques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Hausse de +20 % des matériaux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≈ +0,9 M€ sur 9 M€ → l’enveloppe est dépassée. Parades : achats anticipés, clauses de révision.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Sécuriser le délai de 18 mois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Comprimer le chemin critique : permis anticipé, préfabrication, lots techniques en parallèle, appros tôt.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Indicateurs pour le COPIL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245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Avancement vs planning, SPI/CPI (valeur acquise), coût engagé, sécurité (TF/TG), déchets valorisés.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F4E79"/>
                </a:solidFill>
                <a:latin typeface="Calibri"/>
              </a:rPr>
              <a:t>Apport du BIM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675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Coordination des lots, détection des conflits, quantitatifs fiables, DOE numérique → gains délai/coût/qualité.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BED3E9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Recommandation au comité de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Étude de cas — Siège social DIGITECH (BATIPROJET)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F4E79"/>
                </a:solidFill>
                <a:latin typeface="Calibri"/>
              </a:rPr>
              <a:t>Le projet est solide et réalisable, mais deux réserves doivent être levées avant le lancement.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486400" cy="2194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Délai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Planning à 21 mois pour un objectif de 18. Valider un plan de compression (permis, préfabrication, chevauchement des lots).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77440"/>
            <a:ext cx="5486400" cy="2194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5120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Budget</a:t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404040"/>
                </a:solidFill>
                <a:latin typeface="Calibri"/>
              </a:rPr>
              <a:t>Exposé à la hausse des matériaux. Sécuriser par des achats anticipés et des clauses de révision de prix.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247120" cy="10972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E7D32"/>
                </a:solidFill>
                <a:latin typeface="Calibri"/>
              </a:rPr>
              <a:t>Recommandation : lancer sous conditions — plan de compression du délai validé, marché des matériaux sécurisé et registre des risques suivi en comité de pilotage.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