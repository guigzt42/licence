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pPr>
              <a:defRPr sz="1200"/>
            </a:pPr>
            <a:r>
              <a:t>Évolution des consommations facturées</a:t>
            </a:r>
          </a:p>
        </c:rich>
      </c:tx>
      <c:layout/>
      <c:overlay val="0"/>
    </c:title>
    <c:autoTitleDeleted val="0"/>
    <c:plotArea>
      <c:barChart>
        <c:barDir val="col"/>
        <c:grouping val="clustered"/>
        <c:ser>
          <c:idx val="0"/>
          <c:order val="0"/>
          <c:tx>
            <c:strRef>
              <c:f>Sheet1!$B$1</c:f>
              <c:strCache>
                <c:ptCount val="1"/>
                <c:pt idx="0">
                  <c:v>Fioul (L)</c:v>
                </c:pt>
              </c:strCache>
            </c:strRef>
          </c:tx>
          <c:spPr>
            <a:solidFill>
              <a:srgbClr val="E65100"/>
            </a:solidFill>
          </c:spPr>
          <c:cat>
            <c:strRef>
              <c:f>Sheet1!$A$2:$A$6</c:f>
              <c:strCache>
                <c:ptCount val="5"/>
                <c:pt idx="0">
                  <c:v>19-20</c:v>
                </c:pt>
                <c:pt idx="1">
                  <c:v>20-21</c:v>
                </c:pt>
                <c:pt idx="2">
                  <c:v>21-22</c:v>
                </c:pt>
                <c:pt idx="3">
                  <c:v>22-23</c:v>
                </c:pt>
                <c:pt idx="4">
                  <c:v>23-24</c:v>
                </c:pt>
              </c:strCache>
            </c:strRef>
          </c:cat>
          <c:val>
            <c:numRef>
              <c:f>Sheet1!$B$2:$B$6</c:f>
              <c:numCache>
                <c:formatCode>General</c:formatCode>
                <c:ptCount val="5"/>
                <c:pt idx="0">
                  <c:v>1500</c:v>
                </c:pt>
                <c:pt idx="1">
                  <c:v>1800</c:v>
                </c:pt>
                <c:pt idx="2">
                  <c:v>1700</c:v>
                </c:pt>
                <c:pt idx="3">
                  <c:v>1400</c:v>
                </c:pt>
                <c:pt idx="4">
                  <c:v>1400</c:v>
                </c:pt>
              </c:numCache>
            </c:numRef>
          </c:val>
        </c:ser>
        <c:ser>
          <c:idx val="1"/>
          <c:order val="1"/>
          <c:tx>
            <c:strRef>
              <c:f>Sheet1!$C$1</c:f>
              <c:strCache>
                <c:ptCount val="1"/>
                <c:pt idx="0">
                  <c:v>Électricité (kWh)</c:v>
                </c:pt>
              </c:strCache>
            </c:strRef>
          </c:tx>
          <c:spPr>
            <a:solidFill>
              <a:srgbClr val="1565C0"/>
            </a:solidFill>
          </c:spPr>
          <c:cat>
            <c:strRef>
              <c:f>Sheet1!$A$2:$A$6</c:f>
              <c:strCache>
                <c:ptCount val="5"/>
                <c:pt idx="0">
                  <c:v>19-20</c:v>
                </c:pt>
                <c:pt idx="1">
                  <c:v>20-21</c:v>
                </c:pt>
                <c:pt idx="2">
                  <c:v>21-22</c:v>
                </c:pt>
                <c:pt idx="3">
                  <c:v>22-23</c:v>
                </c:pt>
                <c:pt idx="4">
                  <c:v>23-24</c:v>
                </c:pt>
              </c:strCache>
            </c:strRef>
          </c:cat>
          <c:val>
            <c:numRef>
              <c:f>Sheet1!$C$2:$C$6</c:f>
              <c:numCache>
                <c:formatCode>General</c:formatCode>
                <c:ptCount val="5"/>
                <c:pt idx="0">
                  <c:v>5552</c:v>
                </c:pt>
                <c:pt idx="1">
                  <c:v>5679</c:v>
                </c:pt>
                <c:pt idx="2">
                  <c:v>5334</c:v>
                </c:pt>
                <c:pt idx="3">
                  <c:v>5207</c:v>
                </c:pt>
                <c:pt idx="4">
                  <c:v>5461</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b"/>
      <c:overlay val="0"/>
      <c:txPr>
        <a:bodyPr/>
        <a:lstStyle/>
        <a:p>
          <a:pPr>
            <a:defRPr sz="900"/>
          </a:pPr>
        </a:p>
      </c:txPr>
    </c:legend>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chart>
    <c:title>
      <c:tx>
        <c:rich>
          <a:bodyPr/>
          <a:lstStyle/>
          <a:p>
            <a:pPr>
              <a:defRPr sz="1200"/>
            </a:pPr>
            <a:r>
              <a:t>Répartition des postes de dépense</a:t>
            </a:r>
          </a:p>
        </c:rich>
      </c:tx>
      <c:layout/>
      <c:overlay val="0"/>
    </c:title>
    <c:autoTitleDeleted val="0"/>
    <c:plotArea>
      <c:pieChart>
        <c:varyColors val="1"/>
        <c:ser>
          <c:idx val="0"/>
          <c:order val="0"/>
          <c:tx>
            <c:strRef>
              <c:f>Sheet1!$B$1</c:f>
              <c:strCache>
                <c:ptCount val="1"/>
                <c:pt idx="0">
                  <c:v>Postes</c:v>
                </c:pt>
              </c:strCache>
            </c:strRef>
          </c:tx>
          <c:dPt>
            <c:idx val="0"/>
            <c:spPr>
              <a:solidFill>
                <a:srgbClr val="E65100"/>
              </a:solidFill>
            </c:spPr>
          </c:dPt>
          <c:dPt>
            <c:idx val="1"/>
            <c:spPr>
              <a:solidFill>
                <a:srgbClr val="1565C0"/>
              </a:solidFill>
            </c:spPr>
          </c:dPt>
          <c:dPt>
            <c:idx val="2"/>
            <c:spPr>
              <a:solidFill>
                <a:srgbClr val="90A4AE"/>
              </a:solidFill>
            </c:spPr>
          </c:dPt>
          <c:cat>
            <c:strRef>
              <c:f>Sheet1!$A$2:$A$4</c:f>
              <c:strCache>
                <c:ptCount val="3"/>
                <c:pt idx="0">
                  <c:v>Chauffage (fioul+bois)</c:v>
                </c:pt>
                <c:pt idx="1">
                  <c:v>ECS (ballon élec.)</c:v>
                </c:pt>
                <c:pt idx="2">
                  <c:v>Électricité spécifique</c:v>
                </c:pt>
              </c:strCache>
            </c:strRef>
          </c:cat>
          <c:val>
            <c:numRef>
              <c:f>Sheet1!$B$2:$B$4</c:f>
              <c:numCache>
                <c:formatCode>General</c:formatCode>
                <c:ptCount val="3"/>
                <c:pt idx="0">
                  <c:v>78</c:v>
                </c:pt>
                <c:pt idx="1">
                  <c:v>9</c:v>
                </c:pt>
                <c:pt idx="2">
                  <c:v>13</c:v>
                </c:pt>
              </c:numCache>
            </c:numRef>
          </c:val>
        </c:ser>
        <c:dLbls>
          <c:numFmt formatCode="0&quot;%&quot;" sourceLinked="0"/>
          <c:txPr>
            <a:bodyPr/>
            <a:lstStyle/>
            <a:p>
              <a:pPr>
                <a:defRPr sz="1200" b="1">
                  <a:solidFill>
                    <a:srgbClr val="FFFFFF"/>
                  </a:solidFill>
                </a:defRPr>
              </a:pPr>
            </a:p>
          </c:txPr>
          <c:dLblPos val="inEnd"/>
          <c:showLegendKey val="0"/>
          <c:showVal val="1"/>
          <c:showCatName val="0"/>
          <c:showSerName val="0"/>
          <c:showPercent val="0"/>
          <c:showBubbleSize val="0"/>
          <c:showLeaderLines val="1"/>
        </c:dLbls>
      </c:pieChart>
    </c:plotArea>
    <c:legend>
      <c:legendPos val="b"/>
      <c:overlay val="0"/>
      <c:txPr>
        <a:bodyPr/>
        <a:lstStyle/>
        <a:p>
          <a:pPr>
            <a:defRPr sz="1000"/>
          </a:pPr>
        </a:p>
      </c:txPr>
    </c:legend>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chart>
    <c:autoTitleDeleted val="1"/>
    <c:plotArea>
      <c:pieChart>
        <c:varyColors val="1"/>
        <c:ser>
          <c:idx val="0"/>
          <c:order val="0"/>
          <c:tx>
            <c:strRef>
              <c:f>Sheet1!$B$1</c:f>
              <c:strCache>
                <c:ptCount val="1"/>
                <c:pt idx="0">
                  <c:v>Déperditions</c:v>
                </c:pt>
              </c:strCache>
            </c:strRef>
          </c:tx>
          <c:dPt>
            <c:idx val="0"/>
            <c:spPr>
              <a:solidFill>
                <a:srgbClr val="C62828"/>
              </a:solidFill>
            </c:spPr>
          </c:dPt>
          <c:dPt>
            <c:idx val="1"/>
            <c:spPr>
              <a:solidFill>
                <a:srgbClr val="E65100"/>
              </a:solidFill>
            </c:spPr>
          </c:dPt>
          <c:dPt>
            <c:idx val="2"/>
            <c:spPr>
              <a:solidFill>
                <a:srgbClr val="1565C0"/>
              </a:solidFill>
            </c:spPr>
          </c:dPt>
          <c:dPt>
            <c:idx val="3"/>
            <c:spPr>
              <a:solidFill>
                <a:srgbClr val="8E24AA"/>
              </a:solidFill>
            </c:spPr>
          </c:dPt>
          <c:dPt>
            <c:idx val="4"/>
            <c:spPr>
              <a:solidFill>
                <a:srgbClr val="2E7D32"/>
              </a:solidFill>
            </c:spPr>
          </c:dPt>
          <c:dPt>
            <c:idx val="5"/>
            <c:spPr>
              <a:solidFill>
                <a:srgbClr val="90A4AE"/>
              </a:solidFill>
            </c:spPr>
          </c:dPt>
          <c:cat>
            <c:strRef>
              <c:f>Sheet1!$A$2:$A$7</c:f>
              <c:strCache>
                <c:ptCount val="6"/>
                <c:pt idx="0">
                  <c:v>Murs extérieurs</c:v>
                </c:pt>
                <c:pt idx="1">
                  <c:v>Toiture</c:v>
                </c:pt>
                <c:pt idx="2">
                  <c:v>Ventilation</c:v>
                </c:pt>
                <c:pt idx="3">
                  <c:v>Ponts thermiques</c:v>
                </c:pt>
                <c:pt idx="4">
                  <c:v>Fenêtres</c:v>
                </c:pt>
                <c:pt idx="5">
                  <c:v>Plancher bas</c:v>
                </c:pt>
              </c:strCache>
            </c:strRef>
          </c:cat>
          <c:val>
            <c:numRef>
              <c:f>Sheet1!$B$2:$B$7</c:f>
              <c:numCache>
                <c:formatCode>General</c:formatCode>
                <c:ptCount val="6"/>
                <c:pt idx="0">
                  <c:v>42</c:v>
                </c:pt>
                <c:pt idx="1">
                  <c:v>20</c:v>
                </c:pt>
                <c:pt idx="2">
                  <c:v>20</c:v>
                </c:pt>
                <c:pt idx="3">
                  <c:v>10</c:v>
                </c:pt>
                <c:pt idx="4">
                  <c:v>4</c:v>
                </c:pt>
                <c:pt idx="5">
                  <c:v>4</c:v>
                </c:pt>
              </c:numCache>
            </c:numRef>
          </c:val>
        </c:ser>
        <c:dLbls>
          <c:numFmt formatCode="0&quot;%&quot;" sourceLinked="0"/>
          <c:txPr>
            <a:bodyPr/>
            <a:lstStyle/>
            <a:p>
              <a:pPr>
                <a:defRPr sz="1100" b="1">
                  <a:solidFill>
                    <a:srgbClr val="FFFFFF"/>
                  </a:solidFill>
                </a:defRPr>
              </a:pPr>
            </a:p>
          </c:txPr>
          <c:dLblPos val="inEnd"/>
          <c:showLegendKey val="0"/>
          <c:showVal val="1"/>
          <c:showCatName val="0"/>
          <c:showSerName val="0"/>
          <c:showPercent val="0"/>
          <c:showBubbleSize val="0"/>
          <c:showLeaderLines val="1"/>
        </c:dLbls>
      </c:pieChart>
    </c:plotArea>
    <c:legend>
      <c:legendPos/>
      <c:overlay val="0"/>
      <c:txPr>
        <a:bodyPr/>
        <a:lstStyle/>
        <a:p>
          <a:pPr>
            <a:defRPr sz="1100"/>
          </a:pPr>
        </a:p>
      </c:txPr>
    </c:legend>
    <c:dispBlanksAs val="gap"/>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title>
      <c:tx>
        <c:rich>
          <a:bodyPr/>
          <a:lstStyle/>
          <a:p>
            <a:pPr>
              <a:defRPr sz="1200"/>
            </a:pPr>
            <a:r>
              <a:t>Coût global sur 30 ans</a:t>
            </a:r>
          </a:p>
        </c:rich>
      </c:tx>
      <c:layout/>
      <c:overlay val="0"/>
    </c:title>
    <c:autoTitleDeleted val="0"/>
    <c:plotArea>
      <c:barChart>
        <c:barDir val="col"/>
        <c:grouping val="clustered"/>
        <c:ser>
          <c:idx val="0"/>
          <c:order val="0"/>
          <c:tx>
            <c:strRef>
              <c:f>Sheet1!$B$1</c:f>
              <c:strCache>
                <c:ptCount val="1"/>
                <c:pt idx="0">
                  <c:v>Coût global sur 30 ans (€)</c:v>
                </c:pt>
              </c:strCache>
            </c:strRef>
          </c:tx>
          <c:dPt>
            <c:idx val="0"/>
            <c:spPr>
              <a:solidFill>
                <a:srgbClr val="C62828"/>
              </a:solidFill>
            </c:spPr>
          </c:dPt>
          <c:dPt>
            <c:idx val="1"/>
            <c:spPr>
              <a:solidFill>
                <a:srgbClr val="1565C0"/>
              </a:solidFill>
            </c:spPr>
          </c:dPt>
          <c:dPt>
            <c:idx val="2"/>
            <c:spPr>
              <a:solidFill>
                <a:srgbClr val="1B5E20"/>
              </a:solidFill>
            </c:spPr>
          </c:dPt>
          <c:cat>
            <c:strRef>
              <c:f>Sheet1!$A$2:$A$4</c:f>
              <c:strCache>
                <c:ptCount val="3"/>
                <c:pt idx="0">
                  <c:v>État initial</c:v>
                </c:pt>
                <c:pt idx="1">
                  <c:v>Scénario 1</c:v>
                </c:pt>
                <c:pt idx="2">
                  <c:v>Scénario 2</c:v>
                </c:pt>
              </c:strCache>
            </c:strRef>
          </c:cat>
          <c:val>
            <c:numRef>
              <c:f>Sheet1!$B$2:$B$4</c:f>
              <c:numCache>
                <c:formatCode>General</c:formatCode>
                <c:ptCount val="3"/>
                <c:pt idx="0">
                  <c:v>250650</c:v>
                </c:pt>
                <c:pt idx="1">
                  <c:v>159000</c:v>
                </c:pt>
                <c:pt idx="2">
                  <c:v>130000</c:v>
                </c:pt>
              </c:numCache>
            </c:numRef>
          </c:val>
        </c:ser>
        <c:dLbls>
          <c:numFmt formatCode="# ##0 &quot;€&quot;" sourceLinked="0"/>
          <c:txPr>
            <a:bodyPr/>
            <a:lstStyle/>
            <a:p>
              <a:pPr>
                <a:defRPr sz="1000" b="1"/>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Bonjour, je suis Guillaume Tardy. Je vous présente mon étude de rénovation énergétique réalisée pour le compte d'un maître d'ouvrage occupant. Il s'agit d'une ancienne ferme savoyarde de la fin du XIXe siècle, à Saint-Jean-de-Chevelu. Ma démarche : diagnostiquer l'existant, le comparer aux références, puis proposer deux scénarios de rénovation performante — un par étapes et un global — chiffrés et argumentés. Rappel du cadre : le photovoltaïque et la climatisation ne sont pas étudiés.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Voici mon plan. Je pars du contexte et des attentes du maître d'ouvrage, puis le diagnostic technique complet : consommations, enveloppe, systèmes, éclairage et ventilation. J'en tire le bilan des déperditions et le DPE. Je présente ensuite mes deux scénarios, leur dimensionnement, l'analyse économique en coût global, et je termine par le plan de sobriété et ma recommandation.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bâtiment est une ancienne ferme savoyarde de la fin du XIXe, réhabilitée dans les années 90. 99 m² chauffés sur deux niveaux, sous des combles perdus accessibles par une échelle. À l'Est, une partie non chauffée sert de garage. La signature du bâti : des murs en pierre calcaire de 50 cm — forte inertie mais aucune isolation. Tout l'enjeu sera d'isoler sans dénaturer la ferme et en respectant la perspirance des murs. Le sujet exclut le photovoltaïque et la climatisation.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 m'appuie sur les plans et la coupe fournis. Le rez-de-chaussée regroupe les pièces de vie — cuisine, salon, salle de bain — et l'étage les chambres. La coupe montre bien les combles perdus non chauffés au-dessus de l'étage, ce qui crée une interface déperditive importante. À noter : les plans portent encore les anciennes menuiseries de 1990, mais elles ont été remplacées en 2019 par du double vitrage bois posé en tunnel.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J'ai recueilli les attentes lors de la rencontre avec le maître d'ouvrage. Ses objectifs : baisser ses factures, gagner en confort hiver comme été, sortir du fioul et réduire son empreinte carbone, tout en valorisant son bien. Côté moyens : il a un budget pour des travaux conséquents mais veut qu'ils soient justifiés par les économies. Ses contraintes orientent fortement le projet : préserver le cachet de la ferme, respecter les murs en pierre et gérer l'humidité — ce qui pointe vers une isolation par l'extérieur perspirante.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Au-delà des économies, j'ai formulé des objectifs de confort sur les quatre dimensions attendues : thermique d'hiver, thermique d'été, qualité de l'air et confort visuel. Hiver : fin des parois froides grâce à l'isolation et à une meilleure régulation. Été : déphasage des isolants biosourcés. Air : VMC hygroréglable. Visuel : passage en tout LED et valorisation de la lumière naturelle. J'ajoute l'acoustique, améliorée par l'isolation extérieure. Enfin, aucun besoin d'accessibilité PMR n'a été identifié, mais je l'ai bien vérifié comme le demande la méthode.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L'analyse bioclimatique étudie comment le bâtiment tire parti de son environnement. Il est implanté sur un versant orienté Sud-Est à 498 m d'altitude, en contexte rural. Le diagramme de masque solaire montre un masque lointain — le relief — qui limite un peu les apports à certaines heures, mais l'exposition reste globalement bonne. L'orientation Sud-Est est un vrai atout : apports solaires gratuits en hiver. Le revers : un risque de surchauffe estivale, que je traite par des isolants déphasants et la gestion des volets.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J'ai analysé les factures sur 5 ans, soit bien plus que les 3 ans minimum attendus. Chauffage : chaudière fioul de 1991 + poêle à bois en appoint. Moyennes : 1 560 L de fioul, 6 stères de bois, 5 447 kWh d'électricité dont l'eau chaude par ballon électrique. Les consommations sont stables d'une année sur l'autre, signe d'un usage régulier ; le niveau élevé pour 99 m² trahit une enveloppe défaillante. C'est ce constat qui m'amène à comparer ces consommations aux références.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 mets ces consommations en perspective, comme l'attend la méthode. D'abord la répartition par poste : le chauffage pèse près de 80 % de la dépense, l'ECS électrique environ 10 %, le reste en électricité spécifique. J'ai intégré la rigueur climatique : nous sommes en Savoie, à 498 m, en zone climatique H1, donc des besoins de chauffage structurellement élevés. J'ai vérifié la cohérence entre les factures et l'estimation théorique du DPE. Enfin, la comparaison nationale est parlante : 535 contre environ 250 kWh d'énergie primaire au m² en moyenne, soit plus du double. Le diagnostic confirme une vraie passoire thermique.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L'enveloppe maintenant, poste par poste. Murs en pierre 50 cm : forte inertie mais pas d'isolation. Combles : seulement 8 cm de laine minérale ancienne, très insuffisant. Menuiseries : double vitrage bois argon posé en 2019, donc récentes et performantes, avec des grilles d'entrée d'air. Plancher sur terre-plein non isolé. Et une étanchéité à l'air non maîtrisée, source d'infiltrations. Conclusion : comme les fenêtres sont déjà bonnes, je concentre l'isolation sur les murs et la toiture.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systèmes : chaudière fioul de 1991, sans sonde extérieure ni régulation climatique, alimentant des radiateurs fonte haute température dépourvus de robinets thermostatiques — donc impossible d'ajuster pièce par pièce. Le poêle à bois de 6 kW aide en appoint mais n'est ni labellisé ni étanche. L'eau chaude vient d'un vieux ballon électrique de 200 L placé hors volume chauffé, ce qui génère des pertes. Et toujours aucune VMC. Ces trois points — chauffage, régulation, ventilation — sont mes principaux leviers d'économies.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Trois confforts souvent oubliés mais notés. L'éclairage : aujourd'hui 25 % d'halogènes énergivores et 75 % de LED, 200 W installés ; je préconise le passage en 100 % LED et la valorisation de la lumière naturelle grâce à l'orientation Sud-Est. La qualité de l'air : la ventilation naturelle ne maîtrise pas les débits et favorise l'humidité ; je propose une VMC hygro B. L'acoustique : les bruits extérieurs sont mal filtrés ; or l'isolation par l'extérieur améliore aussi l'affaiblissement acoustique — un bénéfice complémentaire des travaux d'enveloppe.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Voici le cœur du diagnostic : le calcul des déperditions. 42 % partent par les murs, 20 % par la toiture, 20 % par la ventilation, 10 % par les ponts thermiques, et seulement 4 % chacun pour fenêtres et plancher. L'indicateur clé : un Ubât de 2,03 contre une référence de 0,47, soit près de quatre fois trop. La puissance de chauffage nécessaire est de 21,3 kW. Ce calcul justifie directement mes priorités : murs, toiture et ventilation, qui cumulent plus de 80 % des pertes.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Tout converge vers le DPE. Le logement est classé G — la pire classe — en énergie comme en climat. 535 kWh d'énergie primaire par m², 156 kg de CO2 par m², et une facture de 7 100 à 9 610 € par an. C'est cohérent avec ce qu'on a vu : murs non isolés et chaudière fioul. Cet état des lieux justifie une rénovation ambitieuse, ce qui m'amène à mes scénarios.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Avant les travaux, le cadre réglementaire. L'ITE modifie l'aspect des façades : déclaration préalable en mairie et respect du PLU. Mes scénarios s'inscrivent dans la rénovation performante au sens du code de la construction, c'est-à-dire viser le niveau BBC. Les matériaux doivent respecter les critères techniques pour ouvrir droit aux aides, et tout est posé selon les DTU, en préservant le caractère de la ferme.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 premier scénario est une rénovation performante PAR ÉTAPES. L'étape 1 cible l'enveloppe : isolation des murs par l'extérieur en laine de bois 200 mm, isolation des combles en ouate de cellulose 400 mm, et VMC hygro B. C'est cohérent avec l'attendu : cette première étape traite les DEUX premiers postes d'isolation — murs et toiture — et fait gagner plusieurs classes, de G à B. Point important : en commençant par l'isolation, on réduit les besoins, ce qui ne compromet pas mais au contraire prépare le changement de chauffage à l'étape suivante — on pourra alors dimensionner plus petit. Le chauffage et l'ECS sont conservés à ce stade. Investissement : environ 24 000 €.</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 second scénario est une rénovation performante GLOBALE : toute l'isolation du scénario 1 en une fois, plus le remplacement du chauffage. J'ai étudié deux solutions bas carbone : la PAC air/eau et la chaudière à granulés. Les deux ont d'excellents rendements et de faibles émissions. Je retiens la chaudière à granulés pour deux raisons décisives : elle est compatible avec les radiateurs en fonte HAUTE température déjà en place — la PAC serait moins efficace sur de la haute température — et le granulé est une énergie renouvelable locale, facile à approvisionner en Savoie. Résultat : étiquette A/B, pour environ 40 000 €.</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Cette diapo répond à un attendu fortement coefficienté : l'adaptation et l'optimisation des équipements. Côté régulation, le diagnostic a montré l'absence de sonde extérieure et de robinets thermostatiques. Je préconise donc : une sonde extérieure pour piloter la chaudière par loi d'eau, des robinets thermostatiques sur les radiateurs fonte pour réguler pièce par pièce, et un thermostat programmable. On améliore ainsi le rendement global de l'installation. Côté eau chaude : le vieux ballon électrique hors volume chauffé est un gouffre. Dans le scénario 1, je propose un chauffe-eau thermodynamique qui divise la conso ECS par trois ; dans le scénario 2, l'ECS est couplée à la chaudière granulés via un ballon tampon. Dans les deux cas, on replace le ballon dans le volume chauffé.</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Comme le demande la grille, j'ai privilégié des solutions bas carbone : des matériaux biosourcés. Laine de bois pour l'ITE des murs, ouate de cellulose — du papier recyclé — pour les combles. Trois raisons : un faible impact carbone, un excellent déphasage thermique qui apporte le confort d'été recherché, et surtout la perspirance, essentielle sur des murs en pierre anciens qui doivent laisser passer la vapeur d'eau pour éviter les pathologies d'humidité.</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dimensionnement. Pour l'isolation, R = épaisseur / lambda : R = 5,26 pour les murs, R = 10,26 pour les combles — des valeurs conformes à une rénovation performante. Pour le chauffage : la puissance initiale est de 21,3 kW ; avec une réduction des besoins estimée à 55 % grâce à l'isolation et la VMC, on tombe à environ 10 kW. Avec une marge de sécurité pour les jours les plus froids, je retiens 12 kW. Le besoin annuel revient à environ 1,5 tonne de granulés, d'où un silo de 2 tonnes. La VMC hygro B est dimensionnée à 180 m³/h maxi.</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chiffrage s'appuie sur les prix moyens du marché par type de travaux. Scénario 1 : 24 000 € HT, dont 18 000 € pour l'isolation des murs — logique, c'est le premier poste de pertes. Scénario 2 : on ajoute la chaudière à granulés et le silo, soit 40 000 € au total. L'écart de 16 000 € correspond donc au remplacement du chauffage.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travaux sont éligibles à plusieurs aides, ce qui permet de calculer le reste à charge — un attendu important. Scénario 1 : 5 000 € de MaPrimeRénov' et 2 000 € de CEE, reste à charge 17 000 €. Scénario 2, plus ambitieux donc mieux aidé : 8 000 € de MaPrimeRénov', 4 000 € de CEE, 1 000 € d'aides locales, reste à charge 27 000 €. Ce sont des estimations : les montants réels dépendent des revenus du ménage et des barèmes en vigueur.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C'est l'analyse en coût global qui tranche entre les scénarios. Sans rien faire, on dépense 250 000 € sur 30 ans ; le scénario 1 ramène à 159 000 €, le scénario 2 à 130 000 €. Donc malgré un investissement initial plus élevé, le scénario 2 coûte MOINS cher au final. Les coûts mensuels passent de 696 € à 250 €. Et le ROI est rapide : 5,7 ans pour le scénario 1, 5,4 ans pour le scénario 2. Question possible du jury : j'ai retenu 30 ans ; en intégrant une hausse du prix de l'énergie, l'écart se creuserait encore en faveur du scénario 2.</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complément des travaux, un mode opératoire de sobriété destiné aux occupants — un attendu de la grille. Des gestes simples et gratuits, formulés pour des non-spécialistes : maintenir 19-20 °C, baisser en cas d'absence, entretenir les équipements, fermer les volets la nuit, traquer les veilles, suivre ses consommations. Ces gestes amplifient les économies obtenues par la rénovation.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Cette synthèse récapitule tout. On lit la progression : de G/G à B/B avec le scénario par étapes, jusqu'à A/B avec le scénario global. Le scénario 2 coûte plus cher à l'achat mais affiche le coût annuel le plus bas, le coût global le plus faible et même le ROI le plus court. C'est la base de ma recommandation.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conclure : au regard de la performance, du confort, de la sortie du fioul et de la rentabilité long terme, je recommande le scénario 2, la rénovation globale, qui fait passer le logement de G à A/B et qui coûte le moins cher sur 30 ans. Si le budget initial est un frein, le scénario 1 par étapes est une excellente première étape, qu'on complétera plus tard par le changement de chauffage — les deux scénarios sont d'ailleurs cohérents entre eux. Je vous remercie de votre attention et je suis prêt à répondre à vos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852160" cy="6858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05_x55_658x390.png"/>
          <p:cNvPicPr>
            <a:picLocks noChangeAspect="1"/>
          </p:cNvPicPr>
          <p:nvPr/>
        </p:nvPicPr>
        <p:blipFill>
          <a:blip r:embed="rId2"/>
          <a:stretch>
            <a:fillRect/>
          </a:stretch>
        </p:blipFill>
        <p:spPr>
          <a:xfrm>
            <a:off x="0" y="1694697"/>
            <a:ext cx="5852160" cy="3468605"/>
          </a:xfrm>
          <a:prstGeom prst="rect">
            <a:avLst/>
          </a:prstGeom>
        </p:spPr>
      </p:pic>
      <p:sp>
        <p:nvSpPr>
          <p:cNvPr id="5" name="Rectangle 4"/>
          <p:cNvSpPr/>
          <p:nvPr/>
        </p:nvSpPr>
        <p:spPr>
          <a:xfrm>
            <a:off x="5852160" y="0"/>
            <a:ext cx="76200" cy="6858000"/>
          </a:xfrm>
          <a:prstGeom prst="rect">
            <a:avLst/>
          </a:prstGeom>
          <a:solidFill>
            <a:srgbClr val="A5D6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63640" y="640080"/>
            <a:ext cx="5669280" cy="457200"/>
          </a:xfrm>
          <a:prstGeom prst="rect">
            <a:avLst/>
          </a:prstGeom>
          <a:noFill/>
        </p:spPr>
        <p:txBody>
          <a:bodyPr wrap="square" anchor="t" lIns="25400" rIns="25400" tIns="25400" bIns="25400">
            <a:spAutoFit/>
          </a:bodyPr>
          <a:lstStyle/>
          <a:p>
            <a:pPr algn="l">
              <a:lnSpc>
                <a:spcPct val="100000"/>
              </a:lnSpc>
              <a:spcAft>
                <a:spcPts val="400"/>
              </a:spcAft>
            </a:pPr>
            <a:r>
              <a:rPr sz="1200" b="1" i="0">
                <a:solidFill>
                  <a:srgbClr val="C8E6C9"/>
                </a:solidFill>
                <a:latin typeface="Calibri"/>
              </a:rPr>
              <a:t>BLOC 1 — CHARGÉ DE PROJET ÉNERGIE ET BÂTIMENT DURABLES</a:t>
            </a:r>
          </a:p>
        </p:txBody>
      </p:sp>
      <p:sp>
        <p:nvSpPr>
          <p:cNvPr id="7" name="TextBox 6"/>
          <p:cNvSpPr txBox="1"/>
          <p:nvPr/>
        </p:nvSpPr>
        <p:spPr>
          <a:xfrm>
            <a:off x="6263640" y="1371600"/>
            <a:ext cx="5669280" cy="2377440"/>
          </a:xfrm>
          <a:prstGeom prst="rect">
            <a:avLst/>
          </a:prstGeom>
          <a:noFill/>
        </p:spPr>
        <p:txBody>
          <a:bodyPr wrap="square" anchor="t" lIns="25400" rIns="25400" tIns="25400" bIns="25400">
            <a:spAutoFit/>
          </a:bodyPr>
          <a:lstStyle/>
          <a:p>
            <a:pPr algn="l">
              <a:lnSpc>
                <a:spcPct val="100000"/>
              </a:lnSpc>
              <a:spcAft>
                <a:spcPts val="400"/>
              </a:spcAft>
            </a:pPr>
            <a:r>
              <a:rPr sz="3800" b="1" i="0">
                <a:solidFill>
                  <a:srgbClr val="FFFFFF"/>
                </a:solidFill>
                <a:latin typeface="Calibri"/>
              </a:rPr>
              <a:t>Rénovation</a:t>
            </a:r>
          </a:p>
          <a:p>
            <a:pPr algn="l">
              <a:lnSpc>
                <a:spcPct val="100000"/>
              </a:lnSpc>
              <a:spcAft>
                <a:spcPts val="400"/>
              </a:spcAft>
            </a:pPr>
            <a:r>
              <a:rPr sz="3800" b="1" i="0">
                <a:solidFill>
                  <a:srgbClr val="FFFFFF"/>
                </a:solidFill>
                <a:latin typeface="Calibri"/>
              </a:rPr>
              <a:t>énergétique d’une</a:t>
            </a:r>
          </a:p>
          <a:p>
            <a:pPr algn="l">
              <a:lnSpc>
                <a:spcPct val="100000"/>
              </a:lnSpc>
              <a:spcAft>
                <a:spcPts val="400"/>
              </a:spcAft>
            </a:pPr>
            <a:r>
              <a:rPr sz="3800" b="1" i="0">
                <a:solidFill>
                  <a:srgbClr val="C8E6C9"/>
                </a:solidFill>
                <a:latin typeface="Calibri"/>
              </a:rPr>
              <a:t>ancienne ferme</a:t>
            </a:r>
          </a:p>
          <a:p>
            <a:pPr algn="l">
              <a:lnSpc>
                <a:spcPct val="100000"/>
              </a:lnSpc>
              <a:spcAft>
                <a:spcPts val="400"/>
              </a:spcAft>
            </a:pPr>
            <a:r>
              <a:rPr sz="3800" b="1" i="0">
                <a:solidFill>
                  <a:srgbClr val="C8E6C9"/>
                </a:solidFill>
                <a:latin typeface="Calibri"/>
              </a:rPr>
              <a:t>savoyarde</a:t>
            </a:r>
          </a:p>
        </p:txBody>
      </p:sp>
      <p:sp>
        <p:nvSpPr>
          <p:cNvPr id="8" name="TextBox 7"/>
          <p:cNvSpPr txBox="1"/>
          <p:nvPr/>
        </p:nvSpPr>
        <p:spPr>
          <a:xfrm>
            <a:off x="6263640" y="4297680"/>
            <a:ext cx="5669280" cy="548640"/>
          </a:xfrm>
          <a:prstGeom prst="rect">
            <a:avLst/>
          </a:prstGeom>
          <a:noFill/>
        </p:spPr>
        <p:txBody>
          <a:bodyPr wrap="square" anchor="t" lIns="25400" rIns="25400" tIns="25400" bIns="25400">
            <a:spAutoFit/>
          </a:bodyPr>
          <a:lstStyle/>
          <a:p>
            <a:pPr algn="l">
              <a:lnSpc>
                <a:spcPct val="100000"/>
              </a:lnSpc>
              <a:spcAft>
                <a:spcPts val="400"/>
              </a:spcAft>
            </a:pPr>
            <a:r>
              <a:rPr sz="1500" b="0" i="0">
                <a:solidFill>
                  <a:srgbClr val="FFFFFF"/>
                </a:solidFill>
                <a:latin typeface="Calibri"/>
              </a:rPr>
              <a:t>Étude pour un maître d’ouvrage — Saint-Jean-de-Chevelu (73)</a:t>
            </a:r>
          </a:p>
        </p:txBody>
      </p:sp>
      <p:sp>
        <p:nvSpPr>
          <p:cNvPr id="9" name="Rectangle 8"/>
          <p:cNvSpPr/>
          <p:nvPr/>
        </p:nvSpPr>
        <p:spPr>
          <a:xfrm>
            <a:off x="6263640" y="5029200"/>
            <a:ext cx="5394960" cy="25400"/>
          </a:xfrm>
          <a:prstGeom prst="rect">
            <a:avLst/>
          </a:prstGeom>
          <a:solidFill>
            <a:srgbClr val="A5D6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63640" y="5257800"/>
            <a:ext cx="5669280" cy="914400"/>
          </a:xfrm>
          <a:prstGeom prst="rect">
            <a:avLst/>
          </a:prstGeom>
          <a:noFill/>
        </p:spPr>
        <p:txBody>
          <a:bodyPr wrap="square" anchor="t" lIns="25400" rIns="25400" tIns="25400" bIns="25400">
            <a:spAutoFit/>
          </a:bodyPr>
          <a:lstStyle/>
          <a:p>
            <a:pPr algn="l">
              <a:lnSpc>
                <a:spcPct val="115000"/>
              </a:lnSpc>
              <a:spcAft>
                <a:spcPts val="400"/>
              </a:spcAft>
            </a:pPr>
            <a:r>
              <a:rPr sz="1700" b="1" i="0">
                <a:solidFill>
                  <a:srgbClr val="FFFFFF"/>
                </a:solidFill>
                <a:latin typeface="Calibri"/>
              </a:rPr>
              <a:t>Présenté par Guillaume Tardy</a:t>
            </a:r>
          </a:p>
          <a:p>
            <a:pPr algn="l">
              <a:lnSpc>
                <a:spcPct val="115000"/>
              </a:lnSpc>
              <a:spcAft>
                <a:spcPts val="400"/>
              </a:spcAft>
            </a:pPr>
            <a:r>
              <a:rPr sz="1300" b="0" i="0">
                <a:solidFill>
                  <a:srgbClr val="C8E6C9"/>
                </a:solidFill>
                <a:latin typeface="Calibri"/>
              </a:rPr>
              <a:t>Soutenance orale — Sujet 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65760"/>
            <a:ext cx="10332720" cy="731520"/>
          </a:xfrm>
          <a:prstGeom prst="rect">
            <a:avLst/>
          </a:prstGeom>
          <a:noFill/>
        </p:spPr>
        <p:txBody>
          <a:bodyPr wrap="square" anchor="ctr" lIns="25400" rIns="25400" tIns="25400" bIns="25400">
            <a:spAutoFit/>
          </a:bodyPr>
          <a:lstStyle/>
          <a:p>
            <a:pPr algn="l">
              <a:lnSpc>
                <a:spcPct val="100000"/>
              </a:lnSpc>
              <a:spcAft>
                <a:spcPts val="400"/>
              </a:spcAft>
            </a:pPr>
            <a:r>
              <a:rPr sz="2900" b="1" i="0">
                <a:solidFill>
                  <a:srgbClr val="1B5E20"/>
                </a:solidFill>
                <a:latin typeface="Calibri"/>
              </a:rPr>
              <a:t>Sommaire</a:t>
            </a:r>
          </a:p>
        </p:txBody>
      </p:sp>
      <p:sp>
        <p:nvSpPr>
          <p:cNvPr id="5" name="Rectangle 4"/>
          <p:cNvSpPr/>
          <p:nvPr/>
        </p:nvSpPr>
        <p:spPr>
          <a:xfrm>
            <a:off x="548640" y="1170432"/>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Rénovation énergétique – Saint-Jean-de-Chevelu (73) – Bloc 1</a:t>
            </a:r>
          </a:p>
        </p:txBody>
      </p:sp>
      <p:sp>
        <p:nvSpPr>
          <p:cNvPr id="7" name="TextBox 6"/>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sp>
        <p:nvSpPr>
          <p:cNvPr id="8" name="Oval 7"/>
          <p:cNvSpPr/>
          <p:nvPr/>
        </p:nvSpPr>
        <p:spPr>
          <a:xfrm>
            <a:off x="822960" y="1554480"/>
            <a:ext cx="475488" cy="47548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1554480"/>
            <a:ext cx="475488" cy="475488"/>
          </a:xfrm>
          <a:prstGeom prst="rect">
            <a:avLst/>
          </a:prstGeom>
          <a:noFill/>
        </p:spPr>
        <p:txBody>
          <a:bodyPr wrap="square" anchor="ctr" lIns="25400" rIns="25400" tIns="25400" bIns="25400">
            <a:spAutoFit/>
          </a:bodyPr>
          <a:lstStyle/>
          <a:p>
            <a:pPr algn="ctr">
              <a:lnSpc>
                <a:spcPct val="100000"/>
              </a:lnSpc>
              <a:spcAft>
                <a:spcPts val="400"/>
              </a:spcAft>
            </a:pPr>
            <a:r>
              <a:rPr sz="1700" b="1" i="0">
                <a:solidFill>
                  <a:srgbClr val="FFFFFF"/>
                </a:solidFill>
                <a:latin typeface="Calibri"/>
              </a:rPr>
              <a:t>1</a:t>
            </a:r>
          </a:p>
        </p:txBody>
      </p:sp>
      <p:sp>
        <p:nvSpPr>
          <p:cNvPr id="10" name="TextBox 9"/>
          <p:cNvSpPr txBox="1"/>
          <p:nvPr/>
        </p:nvSpPr>
        <p:spPr>
          <a:xfrm>
            <a:off x="1508760" y="1527048"/>
            <a:ext cx="7315200" cy="365760"/>
          </a:xfrm>
          <a:prstGeom prst="rect">
            <a:avLst/>
          </a:prstGeom>
          <a:noFill/>
        </p:spPr>
        <p:txBody>
          <a:bodyPr wrap="square" anchor="ctr" lIns="25400" rIns="25400" tIns="25400" bIns="25400">
            <a:spAutoFit/>
          </a:bodyPr>
          <a:lstStyle/>
          <a:p>
            <a:pPr algn="l">
              <a:lnSpc>
                <a:spcPct val="100000"/>
              </a:lnSpc>
              <a:spcAft>
                <a:spcPts val="400"/>
              </a:spcAft>
            </a:pPr>
            <a:r>
              <a:rPr sz="1700" b="1" i="0">
                <a:solidFill>
                  <a:srgbClr val="37474F"/>
                </a:solidFill>
                <a:latin typeface="Calibri"/>
              </a:rPr>
              <a:t>Analyse de la situation &amp; objectifs</a:t>
            </a:r>
          </a:p>
        </p:txBody>
      </p:sp>
      <p:sp>
        <p:nvSpPr>
          <p:cNvPr id="11" name="TextBox 10"/>
          <p:cNvSpPr txBox="1"/>
          <p:nvPr/>
        </p:nvSpPr>
        <p:spPr>
          <a:xfrm>
            <a:off x="1508760" y="1828800"/>
            <a:ext cx="9601200" cy="274320"/>
          </a:xfrm>
          <a:prstGeom prst="rect">
            <a:avLst/>
          </a:prstGeom>
          <a:noFill/>
        </p:spPr>
        <p:txBody>
          <a:bodyPr wrap="square" anchor="t" lIns="25400" rIns="25400" tIns="25400" bIns="25400">
            <a:spAutoFit/>
          </a:bodyPr>
          <a:lstStyle/>
          <a:p>
            <a:pPr algn="l">
              <a:lnSpc>
                <a:spcPct val="100000"/>
              </a:lnSpc>
              <a:spcAft>
                <a:spcPts val="400"/>
              </a:spcAft>
            </a:pPr>
            <a:r>
              <a:rPr sz="1200" b="0" i="1">
                <a:solidFill>
                  <a:srgbClr val="90A4AE"/>
                </a:solidFill>
                <a:latin typeface="Calibri"/>
              </a:rPr>
              <a:t>Contexte, maître d’ouvrage, confort visé</a:t>
            </a:r>
          </a:p>
        </p:txBody>
      </p:sp>
      <p:sp>
        <p:nvSpPr>
          <p:cNvPr id="12" name="Oval 11"/>
          <p:cNvSpPr/>
          <p:nvPr/>
        </p:nvSpPr>
        <p:spPr>
          <a:xfrm>
            <a:off x="822960" y="2194560"/>
            <a:ext cx="475488" cy="47548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2194560"/>
            <a:ext cx="475488" cy="475488"/>
          </a:xfrm>
          <a:prstGeom prst="rect">
            <a:avLst/>
          </a:prstGeom>
          <a:noFill/>
        </p:spPr>
        <p:txBody>
          <a:bodyPr wrap="square" anchor="ctr" lIns="25400" rIns="25400" tIns="25400" bIns="25400">
            <a:spAutoFit/>
          </a:bodyPr>
          <a:lstStyle/>
          <a:p>
            <a:pPr algn="ctr">
              <a:lnSpc>
                <a:spcPct val="100000"/>
              </a:lnSpc>
              <a:spcAft>
                <a:spcPts val="400"/>
              </a:spcAft>
            </a:pPr>
            <a:r>
              <a:rPr sz="1700" b="1" i="0">
                <a:solidFill>
                  <a:srgbClr val="FFFFFF"/>
                </a:solidFill>
                <a:latin typeface="Calibri"/>
              </a:rPr>
              <a:t>2</a:t>
            </a:r>
          </a:p>
        </p:txBody>
      </p:sp>
      <p:sp>
        <p:nvSpPr>
          <p:cNvPr id="14" name="TextBox 13"/>
          <p:cNvSpPr txBox="1"/>
          <p:nvPr/>
        </p:nvSpPr>
        <p:spPr>
          <a:xfrm>
            <a:off x="1508760" y="2167128"/>
            <a:ext cx="7315200" cy="365760"/>
          </a:xfrm>
          <a:prstGeom prst="rect">
            <a:avLst/>
          </a:prstGeom>
          <a:noFill/>
        </p:spPr>
        <p:txBody>
          <a:bodyPr wrap="square" anchor="ctr" lIns="25400" rIns="25400" tIns="25400" bIns="25400">
            <a:spAutoFit/>
          </a:bodyPr>
          <a:lstStyle/>
          <a:p>
            <a:pPr algn="l">
              <a:lnSpc>
                <a:spcPct val="100000"/>
              </a:lnSpc>
              <a:spcAft>
                <a:spcPts val="400"/>
              </a:spcAft>
            </a:pPr>
            <a:r>
              <a:rPr sz="1700" b="1" i="0">
                <a:solidFill>
                  <a:srgbClr val="37474F"/>
                </a:solidFill>
                <a:latin typeface="Calibri"/>
              </a:rPr>
              <a:t>Diagnostic technique de l’existant</a:t>
            </a:r>
          </a:p>
        </p:txBody>
      </p:sp>
      <p:sp>
        <p:nvSpPr>
          <p:cNvPr id="15" name="TextBox 14"/>
          <p:cNvSpPr txBox="1"/>
          <p:nvPr/>
        </p:nvSpPr>
        <p:spPr>
          <a:xfrm>
            <a:off x="1508760" y="2468880"/>
            <a:ext cx="9601200" cy="274320"/>
          </a:xfrm>
          <a:prstGeom prst="rect">
            <a:avLst/>
          </a:prstGeom>
          <a:noFill/>
        </p:spPr>
        <p:txBody>
          <a:bodyPr wrap="square" anchor="t" lIns="25400" rIns="25400" tIns="25400" bIns="25400">
            <a:spAutoFit/>
          </a:bodyPr>
          <a:lstStyle/>
          <a:p>
            <a:pPr algn="l">
              <a:lnSpc>
                <a:spcPct val="100000"/>
              </a:lnSpc>
              <a:spcAft>
                <a:spcPts val="400"/>
              </a:spcAft>
            </a:pPr>
            <a:r>
              <a:rPr sz="1200" b="0" i="1">
                <a:solidFill>
                  <a:srgbClr val="90A4AE"/>
                </a:solidFill>
                <a:latin typeface="Calibri"/>
              </a:rPr>
              <a:t>Consommations, enveloppe, systèmes, éclairage</a:t>
            </a:r>
          </a:p>
        </p:txBody>
      </p:sp>
      <p:sp>
        <p:nvSpPr>
          <p:cNvPr id="16" name="Oval 15"/>
          <p:cNvSpPr/>
          <p:nvPr/>
        </p:nvSpPr>
        <p:spPr>
          <a:xfrm>
            <a:off x="822960" y="2834640"/>
            <a:ext cx="475488" cy="47548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2834640"/>
            <a:ext cx="475488" cy="475488"/>
          </a:xfrm>
          <a:prstGeom prst="rect">
            <a:avLst/>
          </a:prstGeom>
          <a:noFill/>
        </p:spPr>
        <p:txBody>
          <a:bodyPr wrap="square" anchor="ctr" lIns="25400" rIns="25400" tIns="25400" bIns="25400">
            <a:spAutoFit/>
          </a:bodyPr>
          <a:lstStyle/>
          <a:p>
            <a:pPr algn="ctr">
              <a:lnSpc>
                <a:spcPct val="100000"/>
              </a:lnSpc>
              <a:spcAft>
                <a:spcPts val="400"/>
              </a:spcAft>
            </a:pPr>
            <a:r>
              <a:rPr sz="1700" b="1" i="0">
                <a:solidFill>
                  <a:srgbClr val="FFFFFF"/>
                </a:solidFill>
                <a:latin typeface="Calibri"/>
              </a:rPr>
              <a:t>3</a:t>
            </a:r>
          </a:p>
        </p:txBody>
      </p:sp>
      <p:sp>
        <p:nvSpPr>
          <p:cNvPr id="18" name="TextBox 17"/>
          <p:cNvSpPr txBox="1"/>
          <p:nvPr/>
        </p:nvSpPr>
        <p:spPr>
          <a:xfrm>
            <a:off x="1508760" y="2807208"/>
            <a:ext cx="7315200" cy="365760"/>
          </a:xfrm>
          <a:prstGeom prst="rect">
            <a:avLst/>
          </a:prstGeom>
          <a:noFill/>
        </p:spPr>
        <p:txBody>
          <a:bodyPr wrap="square" anchor="ctr" lIns="25400" rIns="25400" tIns="25400" bIns="25400">
            <a:spAutoFit/>
          </a:bodyPr>
          <a:lstStyle/>
          <a:p>
            <a:pPr algn="l">
              <a:lnSpc>
                <a:spcPct val="100000"/>
              </a:lnSpc>
              <a:spcAft>
                <a:spcPts val="400"/>
              </a:spcAft>
            </a:pPr>
            <a:r>
              <a:rPr sz="1700" b="1" i="0">
                <a:solidFill>
                  <a:srgbClr val="37474F"/>
                </a:solidFill>
                <a:latin typeface="Calibri"/>
              </a:rPr>
              <a:t>Bilan des déperditions &amp; DPE</a:t>
            </a:r>
          </a:p>
        </p:txBody>
      </p:sp>
      <p:sp>
        <p:nvSpPr>
          <p:cNvPr id="19" name="TextBox 18"/>
          <p:cNvSpPr txBox="1"/>
          <p:nvPr/>
        </p:nvSpPr>
        <p:spPr>
          <a:xfrm>
            <a:off x="1508760" y="3108960"/>
            <a:ext cx="9601200" cy="274320"/>
          </a:xfrm>
          <a:prstGeom prst="rect">
            <a:avLst/>
          </a:prstGeom>
          <a:noFill/>
        </p:spPr>
        <p:txBody>
          <a:bodyPr wrap="square" anchor="t" lIns="25400" rIns="25400" tIns="25400" bIns="25400">
            <a:spAutoFit/>
          </a:bodyPr>
          <a:lstStyle/>
          <a:p>
            <a:pPr algn="l">
              <a:lnSpc>
                <a:spcPct val="100000"/>
              </a:lnSpc>
              <a:spcAft>
                <a:spcPts val="400"/>
              </a:spcAft>
            </a:pPr>
            <a:r>
              <a:rPr sz="1200" b="0" i="1">
                <a:solidFill>
                  <a:srgbClr val="90A4AE"/>
                </a:solidFill>
                <a:latin typeface="Calibri"/>
              </a:rPr>
              <a:t>Calculs thermiques, étiquette actuelle</a:t>
            </a:r>
          </a:p>
        </p:txBody>
      </p:sp>
      <p:sp>
        <p:nvSpPr>
          <p:cNvPr id="20" name="Oval 19"/>
          <p:cNvSpPr/>
          <p:nvPr/>
        </p:nvSpPr>
        <p:spPr>
          <a:xfrm>
            <a:off x="822960" y="3474720"/>
            <a:ext cx="475488" cy="47548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60" y="3474720"/>
            <a:ext cx="475488" cy="475488"/>
          </a:xfrm>
          <a:prstGeom prst="rect">
            <a:avLst/>
          </a:prstGeom>
          <a:noFill/>
        </p:spPr>
        <p:txBody>
          <a:bodyPr wrap="square" anchor="ctr" lIns="25400" rIns="25400" tIns="25400" bIns="25400">
            <a:spAutoFit/>
          </a:bodyPr>
          <a:lstStyle/>
          <a:p>
            <a:pPr algn="ctr">
              <a:lnSpc>
                <a:spcPct val="100000"/>
              </a:lnSpc>
              <a:spcAft>
                <a:spcPts val="400"/>
              </a:spcAft>
            </a:pPr>
            <a:r>
              <a:rPr sz="1700" b="1" i="0">
                <a:solidFill>
                  <a:srgbClr val="FFFFFF"/>
                </a:solidFill>
                <a:latin typeface="Calibri"/>
              </a:rPr>
              <a:t>4</a:t>
            </a:r>
          </a:p>
        </p:txBody>
      </p:sp>
      <p:sp>
        <p:nvSpPr>
          <p:cNvPr id="22" name="TextBox 21"/>
          <p:cNvSpPr txBox="1"/>
          <p:nvPr/>
        </p:nvSpPr>
        <p:spPr>
          <a:xfrm>
            <a:off x="1508760" y="3447288"/>
            <a:ext cx="7315200" cy="365760"/>
          </a:xfrm>
          <a:prstGeom prst="rect">
            <a:avLst/>
          </a:prstGeom>
          <a:noFill/>
        </p:spPr>
        <p:txBody>
          <a:bodyPr wrap="square" anchor="ctr" lIns="25400" rIns="25400" tIns="25400" bIns="25400">
            <a:spAutoFit/>
          </a:bodyPr>
          <a:lstStyle/>
          <a:p>
            <a:pPr algn="l">
              <a:lnSpc>
                <a:spcPct val="100000"/>
              </a:lnSpc>
              <a:spcAft>
                <a:spcPts val="400"/>
              </a:spcAft>
            </a:pPr>
            <a:r>
              <a:rPr sz="1700" b="1" i="0">
                <a:solidFill>
                  <a:srgbClr val="37474F"/>
                </a:solidFill>
                <a:latin typeface="Calibri"/>
              </a:rPr>
              <a:t>Deux scénarios de rénovation</a:t>
            </a:r>
          </a:p>
        </p:txBody>
      </p:sp>
      <p:sp>
        <p:nvSpPr>
          <p:cNvPr id="23" name="TextBox 22"/>
          <p:cNvSpPr txBox="1"/>
          <p:nvPr/>
        </p:nvSpPr>
        <p:spPr>
          <a:xfrm>
            <a:off x="1508760" y="3749040"/>
            <a:ext cx="9601200" cy="274320"/>
          </a:xfrm>
          <a:prstGeom prst="rect">
            <a:avLst/>
          </a:prstGeom>
          <a:noFill/>
        </p:spPr>
        <p:txBody>
          <a:bodyPr wrap="square" anchor="t" lIns="25400" rIns="25400" tIns="25400" bIns="25400">
            <a:spAutoFit/>
          </a:bodyPr>
          <a:lstStyle/>
          <a:p>
            <a:pPr algn="l">
              <a:lnSpc>
                <a:spcPct val="100000"/>
              </a:lnSpc>
              <a:spcAft>
                <a:spcPts val="400"/>
              </a:spcAft>
            </a:pPr>
            <a:r>
              <a:rPr sz="1200" b="0" i="1">
                <a:solidFill>
                  <a:srgbClr val="90A4AE"/>
                </a:solidFill>
                <a:latin typeface="Calibri"/>
              </a:rPr>
              <a:t>Par étapes (B/B) et global (A/B)</a:t>
            </a:r>
          </a:p>
        </p:txBody>
      </p:sp>
      <p:sp>
        <p:nvSpPr>
          <p:cNvPr id="24" name="Oval 23"/>
          <p:cNvSpPr/>
          <p:nvPr/>
        </p:nvSpPr>
        <p:spPr>
          <a:xfrm>
            <a:off x="822960" y="4114800"/>
            <a:ext cx="475488" cy="47548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60" y="4114800"/>
            <a:ext cx="475488" cy="475488"/>
          </a:xfrm>
          <a:prstGeom prst="rect">
            <a:avLst/>
          </a:prstGeom>
          <a:noFill/>
        </p:spPr>
        <p:txBody>
          <a:bodyPr wrap="square" anchor="ctr" lIns="25400" rIns="25400" tIns="25400" bIns="25400">
            <a:spAutoFit/>
          </a:bodyPr>
          <a:lstStyle/>
          <a:p>
            <a:pPr algn="ctr">
              <a:lnSpc>
                <a:spcPct val="100000"/>
              </a:lnSpc>
              <a:spcAft>
                <a:spcPts val="400"/>
              </a:spcAft>
            </a:pPr>
            <a:r>
              <a:rPr sz="1700" b="1" i="0">
                <a:solidFill>
                  <a:srgbClr val="FFFFFF"/>
                </a:solidFill>
                <a:latin typeface="Calibri"/>
              </a:rPr>
              <a:t>5</a:t>
            </a:r>
          </a:p>
        </p:txBody>
      </p:sp>
      <p:sp>
        <p:nvSpPr>
          <p:cNvPr id="26" name="TextBox 25"/>
          <p:cNvSpPr txBox="1"/>
          <p:nvPr/>
        </p:nvSpPr>
        <p:spPr>
          <a:xfrm>
            <a:off x="1508760" y="4087368"/>
            <a:ext cx="7315200" cy="365760"/>
          </a:xfrm>
          <a:prstGeom prst="rect">
            <a:avLst/>
          </a:prstGeom>
          <a:noFill/>
        </p:spPr>
        <p:txBody>
          <a:bodyPr wrap="square" anchor="ctr" lIns="25400" rIns="25400" tIns="25400" bIns="25400">
            <a:spAutoFit/>
          </a:bodyPr>
          <a:lstStyle/>
          <a:p>
            <a:pPr algn="l">
              <a:lnSpc>
                <a:spcPct val="100000"/>
              </a:lnSpc>
              <a:spcAft>
                <a:spcPts val="400"/>
              </a:spcAft>
            </a:pPr>
            <a:r>
              <a:rPr sz="1700" b="1" i="0">
                <a:solidFill>
                  <a:srgbClr val="37474F"/>
                </a:solidFill>
                <a:latin typeface="Calibri"/>
              </a:rPr>
              <a:t>Dimensionnement &amp; matériaux</a:t>
            </a:r>
          </a:p>
        </p:txBody>
      </p:sp>
      <p:sp>
        <p:nvSpPr>
          <p:cNvPr id="27" name="TextBox 26"/>
          <p:cNvSpPr txBox="1"/>
          <p:nvPr/>
        </p:nvSpPr>
        <p:spPr>
          <a:xfrm>
            <a:off x="1508760" y="4389120"/>
            <a:ext cx="9601200" cy="274320"/>
          </a:xfrm>
          <a:prstGeom prst="rect">
            <a:avLst/>
          </a:prstGeom>
          <a:noFill/>
        </p:spPr>
        <p:txBody>
          <a:bodyPr wrap="square" anchor="t" lIns="25400" rIns="25400" tIns="25400" bIns="25400">
            <a:spAutoFit/>
          </a:bodyPr>
          <a:lstStyle/>
          <a:p>
            <a:pPr algn="l">
              <a:lnSpc>
                <a:spcPct val="100000"/>
              </a:lnSpc>
              <a:spcAft>
                <a:spcPts val="400"/>
              </a:spcAft>
            </a:pPr>
            <a:r>
              <a:rPr sz="1200" b="0" i="1">
                <a:solidFill>
                  <a:srgbClr val="90A4AE"/>
                </a:solidFill>
                <a:latin typeface="Calibri"/>
              </a:rPr>
              <a:t>Régulation, ECS, isolants biosourcés</a:t>
            </a:r>
          </a:p>
        </p:txBody>
      </p:sp>
      <p:sp>
        <p:nvSpPr>
          <p:cNvPr id="28" name="Oval 27"/>
          <p:cNvSpPr/>
          <p:nvPr/>
        </p:nvSpPr>
        <p:spPr>
          <a:xfrm>
            <a:off x="822960" y="4754880"/>
            <a:ext cx="475488" cy="47548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2960" y="4754880"/>
            <a:ext cx="475488" cy="475488"/>
          </a:xfrm>
          <a:prstGeom prst="rect">
            <a:avLst/>
          </a:prstGeom>
          <a:noFill/>
        </p:spPr>
        <p:txBody>
          <a:bodyPr wrap="square" anchor="ctr" lIns="25400" rIns="25400" tIns="25400" bIns="25400">
            <a:spAutoFit/>
          </a:bodyPr>
          <a:lstStyle/>
          <a:p>
            <a:pPr algn="ctr">
              <a:lnSpc>
                <a:spcPct val="100000"/>
              </a:lnSpc>
              <a:spcAft>
                <a:spcPts val="400"/>
              </a:spcAft>
            </a:pPr>
            <a:r>
              <a:rPr sz="1700" b="1" i="0">
                <a:solidFill>
                  <a:srgbClr val="FFFFFF"/>
                </a:solidFill>
                <a:latin typeface="Calibri"/>
              </a:rPr>
              <a:t>6</a:t>
            </a:r>
          </a:p>
        </p:txBody>
      </p:sp>
      <p:sp>
        <p:nvSpPr>
          <p:cNvPr id="30" name="TextBox 29"/>
          <p:cNvSpPr txBox="1"/>
          <p:nvPr/>
        </p:nvSpPr>
        <p:spPr>
          <a:xfrm>
            <a:off x="1508760" y="4727448"/>
            <a:ext cx="7315200" cy="365760"/>
          </a:xfrm>
          <a:prstGeom prst="rect">
            <a:avLst/>
          </a:prstGeom>
          <a:noFill/>
        </p:spPr>
        <p:txBody>
          <a:bodyPr wrap="square" anchor="ctr" lIns="25400" rIns="25400" tIns="25400" bIns="25400">
            <a:spAutoFit/>
          </a:bodyPr>
          <a:lstStyle/>
          <a:p>
            <a:pPr algn="l">
              <a:lnSpc>
                <a:spcPct val="100000"/>
              </a:lnSpc>
              <a:spcAft>
                <a:spcPts val="400"/>
              </a:spcAft>
            </a:pPr>
            <a:r>
              <a:rPr sz="1700" b="1" i="0">
                <a:solidFill>
                  <a:srgbClr val="37474F"/>
                </a:solidFill>
                <a:latin typeface="Calibri"/>
              </a:rPr>
              <a:t>Analyse économique en coût global</a:t>
            </a:r>
          </a:p>
        </p:txBody>
      </p:sp>
      <p:sp>
        <p:nvSpPr>
          <p:cNvPr id="31" name="TextBox 30"/>
          <p:cNvSpPr txBox="1"/>
          <p:nvPr/>
        </p:nvSpPr>
        <p:spPr>
          <a:xfrm>
            <a:off x="1508760" y="5029200"/>
            <a:ext cx="9601200" cy="274320"/>
          </a:xfrm>
          <a:prstGeom prst="rect">
            <a:avLst/>
          </a:prstGeom>
          <a:noFill/>
        </p:spPr>
        <p:txBody>
          <a:bodyPr wrap="square" anchor="t" lIns="25400" rIns="25400" tIns="25400" bIns="25400">
            <a:spAutoFit/>
          </a:bodyPr>
          <a:lstStyle/>
          <a:p>
            <a:pPr algn="l">
              <a:lnSpc>
                <a:spcPct val="100000"/>
              </a:lnSpc>
              <a:spcAft>
                <a:spcPts val="400"/>
              </a:spcAft>
            </a:pPr>
            <a:r>
              <a:rPr sz="1200" b="0" i="1">
                <a:solidFill>
                  <a:srgbClr val="90A4AE"/>
                </a:solidFill>
                <a:latin typeface="Calibri"/>
              </a:rPr>
              <a:t>Chiffrage, aides, reste à charge, ROI</a:t>
            </a:r>
          </a:p>
        </p:txBody>
      </p:sp>
      <p:sp>
        <p:nvSpPr>
          <p:cNvPr id="32" name="Oval 31"/>
          <p:cNvSpPr/>
          <p:nvPr/>
        </p:nvSpPr>
        <p:spPr>
          <a:xfrm>
            <a:off x="822960" y="5394960"/>
            <a:ext cx="475488" cy="47548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2960" y="5394960"/>
            <a:ext cx="475488" cy="475488"/>
          </a:xfrm>
          <a:prstGeom prst="rect">
            <a:avLst/>
          </a:prstGeom>
          <a:noFill/>
        </p:spPr>
        <p:txBody>
          <a:bodyPr wrap="square" anchor="ctr" lIns="25400" rIns="25400" tIns="25400" bIns="25400">
            <a:spAutoFit/>
          </a:bodyPr>
          <a:lstStyle/>
          <a:p>
            <a:pPr algn="ctr">
              <a:lnSpc>
                <a:spcPct val="100000"/>
              </a:lnSpc>
              <a:spcAft>
                <a:spcPts val="400"/>
              </a:spcAft>
            </a:pPr>
            <a:r>
              <a:rPr sz="1700" b="1" i="0">
                <a:solidFill>
                  <a:srgbClr val="FFFFFF"/>
                </a:solidFill>
                <a:latin typeface="Calibri"/>
              </a:rPr>
              <a:t>7</a:t>
            </a:r>
          </a:p>
        </p:txBody>
      </p:sp>
      <p:sp>
        <p:nvSpPr>
          <p:cNvPr id="34" name="TextBox 33"/>
          <p:cNvSpPr txBox="1"/>
          <p:nvPr/>
        </p:nvSpPr>
        <p:spPr>
          <a:xfrm>
            <a:off x="1508760" y="5367528"/>
            <a:ext cx="7315200" cy="365760"/>
          </a:xfrm>
          <a:prstGeom prst="rect">
            <a:avLst/>
          </a:prstGeom>
          <a:noFill/>
        </p:spPr>
        <p:txBody>
          <a:bodyPr wrap="square" anchor="ctr" lIns="25400" rIns="25400" tIns="25400" bIns="25400">
            <a:spAutoFit/>
          </a:bodyPr>
          <a:lstStyle/>
          <a:p>
            <a:pPr algn="l">
              <a:lnSpc>
                <a:spcPct val="100000"/>
              </a:lnSpc>
              <a:spcAft>
                <a:spcPts val="400"/>
              </a:spcAft>
            </a:pPr>
            <a:r>
              <a:rPr sz="1700" b="1" i="0">
                <a:solidFill>
                  <a:srgbClr val="37474F"/>
                </a:solidFill>
                <a:latin typeface="Calibri"/>
              </a:rPr>
              <a:t>Plan de sobriété &amp; conclusion</a:t>
            </a:r>
          </a:p>
        </p:txBody>
      </p:sp>
      <p:sp>
        <p:nvSpPr>
          <p:cNvPr id="35" name="TextBox 34"/>
          <p:cNvSpPr txBox="1"/>
          <p:nvPr/>
        </p:nvSpPr>
        <p:spPr>
          <a:xfrm>
            <a:off x="1508760" y="5669280"/>
            <a:ext cx="9601200" cy="274320"/>
          </a:xfrm>
          <a:prstGeom prst="rect">
            <a:avLst/>
          </a:prstGeom>
          <a:noFill/>
        </p:spPr>
        <p:txBody>
          <a:bodyPr wrap="square" anchor="t" lIns="25400" rIns="25400" tIns="25400" bIns="25400">
            <a:spAutoFit/>
          </a:bodyPr>
          <a:lstStyle/>
          <a:p>
            <a:pPr algn="l">
              <a:lnSpc>
                <a:spcPct val="100000"/>
              </a:lnSpc>
              <a:spcAft>
                <a:spcPts val="400"/>
              </a:spcAft>
            </a:pPr>
            <a:r>
              <a:rPr sz="1200" b="0" i="1">
                <a:solidFill>
                  <a:srgbClr val="90A4AE"/>
                </a:solidFill>
                <a:latin typeface="Calibri"/>
              </a:rPr>
              <a:t>Conseils aux occupants, recommandation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1</a:t>
            </a:r>
          </a:p>
        </p:txBody>
      </p:sp>
      <p:sp>
        <p:nvSpPr>
          <p:cNvPr id="6" name="TextBox 5"/>
          <p:cNvSpPr txBox="1"/>
          <p:nvPr/>
        </p:nvSpPr>
        <p:spPr>
          <a:xfrm>
            <a:off x="1325880" y="365760"/>
            <a:ext cx="10332720" cy="731520"/>
          </a:xfrm>
          <a:prstGeom prst="rect">
            <a:avLst/>
          </a:prstGeom>
          <a:noFill/>
        </p:spPr>
        <p:txBody>
          <a:bodyPr wrap="square" anchor="ctr" lIns="25400" rIns="25400" tIns="25400" bIns="25400">
            <a:spAutoFit/>
          </a:bodyPr>
          <a:lstStyle/>
          <a:p>
            <a:pPr algn="l">
              <a:lnSpc>
                <a:spcPct val="100000"/>
              </a:lnSpc>
              <a:spcAft>
                <a:spcPts val="400"/>
              </a:spcAft>
            </a:pPr>
            <a:r>
              <a:rPr sz="2900" b="1" i="0">
                <a:solidFill>
                  <a:srgbClr val="1B5E20"/>
                </a:solidFill>
                <a:latin typeface="Calibri"/>
              </a:rPr>
              <a:t>Analyse de la situation</a:t>
            </a:r>
          </a:p>
        </p:txBody>
      </p:sp>
      <p:sp>
        <p:nvSpPr>
          <p:cNvPr id="7" name="TextBox 6"/>
          <p:cNvSpPr txBox="1"/>
          <p:nvPr/>
        </p:nvSpPr>
        <p:spPr>
          <a:xfrm>
            <a:off x="1325880" y="1060704"/>
            <a:ext cx="10332720" cy="365760"/>
          </a:xfrm>
          <a:prstGeom prst="rect">
            <a:avLst/>
          </a:prstGeom>
          <a:noFill/>
        </p:spPr>
        <p:txBody>
          <a:bodyPr wrap="square" anchor="t" lIns="25400" rIns="25400" tIns="25400" bIns="25400">
            <a:spAutoFit/>
          </a:bodyPr>
          <a:lstStyle/>
          <a:p>
            <a:pPr algn="l">
              <a:lnSpc>
                <a:spcPct val="100000"/>
              </a:lnSpc>
              <a:spcAft>
                <a:spcPts val="400"/>
              </a:spcAft>
            </a:pPr>
            <a:r>
              <a:rPr sz="1400" b="0" i="1">
                <a:solidFill>
                  <a:srgbClr val="90A4AE"/>
                </a:solidFill>
                <a:latin typeface="Calibri"/>
              </a:rPr>
              <a:t>Nature du projet et contexte</a:t>
            </a:r>
          </a:p>
        </p:txBody>
      </p:sp>
      <p:sp>
        <p:nvSpPr>
          <p:cNvPr id="8" name="Rectangle 7"/>
          <p:cNvSpPr/>
          <p:nvPr/>
        </p:nvSpPr>
        <p:spPr>
          <a:xfrm>
            <a:off x="1325880" y="1170432"/>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Rénovation énergétique – Saint-Jean-de-Chevelu (73) – Bloc 1</a:t>
            </a:r>
          </a:p>
        </p:txBody>
      </p:sp>
      <p:sp>
        <p:nvSpPr>
          <p:cNvPr id="10" name="TextBox 9"/>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sp>
        <p:nvSpPr>
          <p:cNvPr id="11" name="TextBox 10"/>
          <p:cNvSpPr txBox="1"/>
          <p:nvPr/>
        </p:nvSpPr>
        <p:spPr>
          <a:xfrm>
            <a:off x="822960" y="1554480"/>
            <a:ext cx="5486400" cy="4114800"/>
          </a:xfrm>
          <a:prstGeom prst="rect">
            <a:avLst/>
          </a:prstGeom>
          <a:noFill/>
        </p:spPr>
        <p:txBody>
          <a:bodyPr wrap="square">
            <a:spAutoFit/>
          </a:bodyPr>
          <a:lstStyle/>
          <a:p>
            <a:pPr>
              <a:lnSpc>
                <a:spcPct val="105000"/>
              </a:lnSpc>
              <a:spcAft>
                <a:spcPts val="1000"/>
              </a:spcAft>
            </a:pPr>
            <a:r>
              <a:rPr sz="1450" b="1">
                <a:solidFill>
                  <a:srgbClr val="2E7D32"/>
                </a:solidFill>
                <a:latin typeface="Calibri"/>
              </a:rPr>
              <a:t>●  </a:t>
            </a:r>
            <a:r>
              <a:rPr sz="1450" b="1">
                <a:solidFill>
                  <a:srgbClr val="37474F"/>
                </a:solidFill>
                <a:latin typeface="Calibri"/>
              </a:rPr>
              <a:t>Ancienne ferme </a:t>
            </a:r>
            <a:r>
              <a:rPr sz="1450">
                <a:solidFill>
                  <a:srgbClr val="37474F"/>
                </a:solidFill>
                <a:latin typeface="Calibri"/>
              </a:rPr>
              <a:t>fin XIXᵉ s., réhabilitée dans les années 1990</a:t>
            </a:r>
          </a:p>
          <a:p>
            <a:pPr>
              <a:lnSpc>
                <a:spcPct val="105000"/>
              </a:lnSpc>
              <a:spcAft>
                <a:spcPts val="1000"/>
              </a:spcAft>
            </a:pPr>
            <a:r>
              <a:rPr sz="1450" b="1">
                <a:solidFill>
                  <a:srgbClr val="2E7D32"/>
                </a:solidFill>
                <a:latin typeface="Calibri"/>
              </a:rPr>
              <a:t>●  </a:t>
            </a:r>
            <a:r>
              <a:rPr sz="1450" b="1">
                <a:solidFill>
                  <a:srgbClr val="37474F"/>
                </a:solidFill>
                <a:latin typeface="Calibri"/>
              </a:rPr>
              <a:t>Maison individuelle </a:t>
            </a:r>
            <a:r>
              <a:rPr sz="1450">
                <a:solidFill>
                  <a:srgbClr val="37474F"/>
                </a:solidFill>
                <a:latin typeface="Calibri"/>
              </a:rPr>
              <a:t>occupée par une famille (résidence principale)</a:t>
            </a:r>
          </a:p>
          <a:p>
            <a:pPr>
              <a:lnSpc>
                <a:spcPct val="105000"/>
              </a:lnSpc>
              <a:spcAft>
                <a:spcPts val="1000"/>
              </a:spcAft>
            </a:pPr>
            <a:r>
              <a:rPr sz="1450" b="1">
                <a:solidFill>
                  <a:srgbClr val="2E7D32"/>
                </a:solidFill>
                <a:latin typeface="Calibri"/>
              </a:rPr>
              <a:t>●  </a:t>
            </a:r>
            <a:r>
              <a:rPr sz="1450" b="1">
                <a:solidFill>
                  <a:srgbClr val="37474F"/>
                </a:solidFill>
                <a:latin typeface="Calibri"/>
              </a:rPr>
              <a:t>99 m² habitables chauffés </a:t>
            </a:r>
            <a:r>
              <a:rPr sz="1450">
                <a:solidFill>
                  <a:srgbClr val="37474F"/>
                </a:solidFill>
                <a:latin typeface="Calibri"/>
              </a:rPr>
              <a:t>sur 2 niveaux, sous combles perdus</a:t>
            </a:r>
          </a:p>
          <a:p>
            <a:pPr>
              <a:lnSpc>
                <a:spcPct val="105000"/>
              </a:lnSpc>
              <a:spcAft>
                <a:spcPts val="1000"/>
              </a:spcAft>
            </a:pPr>
            <a:r>
              <a:rPr sz="1450" b="1">
                <a:solidFill>
                  <a:srgbClr val="2E7D32"/>
                </a:solidFill>
                <a:latin typeface="Calibri"/>
              </a:rPr>
              <a:t>●  </a:t>
            </a:r>
            <a:r>
              <a:rPr sz="1450" b="1">
                <a:solidFill>
                  <a:srgbClr val="37474F"/>
                </a:solidFill>
                <a:latin typeface="Calibri"/>
              </a:rPr>
              <a:t>Partie non chauffée </a:t>
            </a:r>
            <a:r>
              <a:rPr sz="1450">
                <a:solidFill>
                  <a:srgbClr val="37474F"/>
                </a:solidFill>
                <a:latin typeface="Calibri"/>
              </a:rPr>
              <a:t>à l’Est : garage / débarras</a:t>
            </a:r>
          </a:p>
          <a:p>
            <a:pPr>
              <a:lnSpc>
                <a:spcPct val="105000"/>
              </a:lnSpc>
              <a:spcAft>
                <a:spcPts val="1000"/>
              </a:spcAft>
            </a:pPr>
            <a:r>
              <a:rPr sz="1450" b="1">
                <a:solidFill>
                  <a:srgbClr val="2E7D32"/>
                </a:solidFill>
                <a:latin typeface="Calibri"/>
              </a:rPr>
              <a:t>●  </a:t>
            </a:r>
            <a:r>
              <a:rPr sz="1450" b="1">
                <a:solidFill>
                  <a:srgbClr val="37474F"/>
                </a:solidFill>
                <a:latin typeface="Calibri"/>
              </a:rPr>
              <a:t>Murs en pierre calcaire 50 cm </a:t>
            </a:r>
            <a:r>
              <a:rPr sz="1450">
                <a:solidFill>
                  <a:srgbClr val="37474F"/>
                </a:solidFill>
                <a:latin typeface="Calibri"/>
              </a:rPr>
              <a:t>→ forte inertie, patrimoine local</a:t>
            </a:r>
          </a:p>
          <a:p>
            <a:pPr>
              <a:lnSpc>
                <a:spcPct val="105000"/>
              </a:lnSpc>
              <a:spcAft>
                <a:spcPts val="1000"/>
              </a:spcAft>
            </a:pPr>
            <a:r>
              <a:rPr sz="1450" b="1">
                <a:solidFill>
                  <a:srgbClr val="2E7D32"/>
                </a:solidFill>
                <a:latin typeface="Calibri"/>
              </a:rPr>
              <a:t>●  </a:t>
            </a:r>
            <a:r>
              <a:rPr sz="1450" b="1">
                <a:solidFill>
                  <a:srgbClr val="37474F"/>
                </a:solidFill>
                <a:latin typeface="Calibri"/>
              </a:rPr>
              <a:t>Étude pour le MOA : </a:t>
            </a:r>
            <a:r>
              <a:rPr sz="1450">
                <a:solidFill>
                  <a:srgbClr val="37474F"/>
                </a:solidFill>
                <a:latin typeface="Calibri"/>
              </a:rPr>
              <a:t>diagnostic + scénarios adaptés au bâti ancien</a:t>
            </a:r>
          </a:p>
        </p:txBody>
      </p:sp>
      <p:sp>
        <p:nvSpPr>
          <p:cNvPr id="12" name="Rectangle 11"/>
          <p:cNvSpPr/>
          <p:nvPr/>
        </p:nvSpPr>
        <p:spPr>
          <a:xfrm>
            <a:off x="7086396" y="1534480"/>
            <a:ext cx="3840887" cy="2380864"/>
          </a:xfrm>
          <a:prstGeom prst="rect">
            <a:avLst/>
          </a:prstGeom>
          <a:solidFill>
            <a:srgbClr val="FFFFFF"/>
          </a:solidFill>
          <a:ln w="1524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05_x56_630x388.png"/>
          <p:cNvPicPr>
            <a:picLocks noChangeAspect="1"/>
          </p:cNvPicPr>
          <p:nvPr/>
        </p:nvPicPr>
        <p:blipFill>
          <a:blip r:embed="rId2"/>
          <a:stretch>
            <a:fillRect/>
          </a:stretch>
        </p:blipFill>
        <p:spPr>
          <a:xfrm>
            <a:off x="7106396" y="1554480"/>
            <a:ext cx="3800887" cy="2340864"/>
          </a:xfrm>
          <a:prstGeom prst="rect">
            <a:avLst/>
          </a:prstGeom>
        </p:spPr>
      </p:pic>
      <p:sp>
        <p:nvSpPr>
          <p:cNvPr id="14" name="TextBox 13"/>
          <p:cNvSpPr txBox="1"/>
          <p:nvPr/>
        </p:nvSpPr>
        <p:spPr>
          <a:xfrm>
            <a:off x="6675120" y="3915344"/>
            <a:ext cx="4663440" cy="310896"/>
          </a:xfrm>
          <a:prstGeom prst="rect">
            <a:avLst/>
          </a:prstGeom>
          <a:noFill/>
        </p:spPr>
        <p:txBody>
          <a:bodyPr wrap="square" anchor="t" lIns="25400" rIns="25400" tIns="25400" bIns="25400">
            <a:spAutoFit/>
          </a:bodyPr>
          <a:lstStyle/>
          <a:p>
            <a:pPr algn="ctr">
              <a:lnSpc>
                <a:spcPct val="100000"/>
              </a:lnSpc>
              <a:spcAft>
                <a:spcPts val="400"/>
              </a:spcAft>
            </a:pPr>
            <a:r>
              <a:rPr sz="1100" b="0" i="1">
                <a:solidFill>
                  <a:srgbClr val="90A4AE"/>
                </a:solidFill>
                <a:latin typeface="Calibri"/>
              </a:rPr>
              <a:t>Façade de la maison — vue depuis l’accès</a:t>
            </a:r>
          </a:p>
        </p:txBody>
      </p:sp>
      <p:sp>
        <p:nvSpPr>
          <p:cNvPr id="15" name="Rounded Rectangle 14"/>
          <p:cNvSpPr/>
          <p:nvPr/>
        </p:nvSpPr>
        <p:spPr>
          <a:xfrm>
            <a:off x="6675120" y="4434840"/>
            <a:ext cx="4663440" cy="1371600"/>
          </a:xfrm>
          <a:prstGeom prst="roundRect">
            <a:avLst/>
          </a:prstGeom>
          <a:solidFill>
            <a:srgbClr val="E8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903720" y="4526280"/>
            <a:ext cx="4206240" cy="1188720"/>
          </a:xfrm>
          <a:prstGeom prst="rect">
            <a:avLst/>
          </a:prstGeom>
          <a:noFill/>
        </p:spPr>
        <p:txBody>
          <a:bodyPr wrap="square" anchor="t" lIns="25400" rIns="25400" tIns="25400" bIns="25400">
            <a:spAutoFit/>
          </a:bodyPr>
          <a:lstStyle/>
          <a:p>
            <a:pPr algn="l">
              <a:lnSpc>
                <a:spcPct val="120000"/>
              </a:lnSpc>
              <a:spcAft>
                <a:spcPts val="400"/>
              </a:spcAft>
            </a:pPr>
            <a:r>
              <a:rPr sz="1300" b="1" i="0">
                <a:solidFill>
                  <a:srgbClr val="1B5E20"/>
                </a:solidFill>
                <a:latin typeface="Calibri"/>
              </a:rPr>
              <a:t>Saint-Jean-de-Chevelu (73170)</a:t>
            </a:r>
          </a:p>
          <a:p>
            <a:pPr algn="l">
              <a:lnSpc>
                <a:spcPct val="120000"/>
              </a:lnSpc>
              <a:spcAft>
                <a:spcPts val="400"/>
              </a:spcAft>
            </a:pPr>
            <a:r>
              <a:rPr sz="1200" b="0" i="0">
                <a:solidFill>
                  <a:srgbClr val="37474F"/>
                </a:solidFill>
                <a:latin typeface="Calibri"/>
              </a:rPr>
              <a:t>Altitude 498 m · versant Sud-Est · contexte rural</a:t>
            </a:r>
          </a:p>
          <a:p>
            <a:pPr algn="l">
              <a:lnSpc>
                <a:spcPct val="120000"/>
              </a:lnSpc>
              <a:spcAft>
                <a:spcPts val="400"/>
              </a:spcAft>
            </a:pPr>
            <a:r>
              <a:rPr sz="1100" b="0" i="1">
                <a:solidFill>
                  <a:srgbClr val="90A4AE"/>
                </a:solidFill>
                <a:latin typeface="Calibri"/>
              </a:rPr>
              <a:t>Hors étude : photovoltaïque &amp; climatisation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1</a:t>
            </a:r>
          </a:p>
        </p:txBody>
      </p:sp>
      <p:sp>
        <p:nvSpPr>
          <p:cNvPr id="6" name="TextBox 5"/>
          <p:cNvSpPr txBox="1"/>
          <p:nvPr/>
        </p:nvSpPr>
        <p:spPr>
          <a:xfrm>
            <a:off x="1325880" y="365760"/>
            <a:ext cx="10332720" cy="731520"/>
          </a:xfrm>
          <a:prstGeom prst="rect">
            <a:avLst/>
          </a:prstGeom>
          <a:noFill/>
        </p:spPr>
        <p:txBody>
          <a:bodyPr wrap="square" anchor="ctr" lIns="25400" rIns="25400" tIns="25400" bIns="25400">
            <a:spAutoFit/>
          </a:bodyPr>
          <a:lstStyle/>
          <a:p>
            <a:pPr algn="l">
              <a:lnSpc>
                <a:spcPct val="100000"/>
              </a:lnSpc>
              <a:spcAft>
                <a:spcPts val="400"/>
              </a:spcAft>
            </a:pPr>
            <a:r>
              <a:rPr sz="2900" b="1" i="0">
                <a:solidFill>
                  <a:srgbClr val="1B5E20"/>
                </a:solidFill>
                <a:latin typeface="Calibri"/>
              </a:rPr>
              <a:t>Le bâtiment en plans</a:t>
            </a:r>
          </a:p>
        </p:txBody>
      </p:sp>
      <p:sp>
        <p:nvSpPr>
          <p:cNvPr id="7" name="TextBox 6"/>
          <p:cNvSpPr txBox="1"/>
          <p:nvPr/>
        </p:nvSpPr>
        <p:spPr>
          <a:xfrm>
            <a:off x="1325880" y="1060704"/>
            <a:ext cx="10332720" cy="365760"/>
          </a:xfrm>
          <a:prstGeom prst="rect">
            <a:avLst/>
          </a:prstGeom>
          <a:noFill/>
        </p:spPr>
        <p:txBody>
          <a:bodyPr wrap="square" anchor="t" lIns="25400" rIns="25400" tIns="25400" bIns="25400">
            <a:spAutoFit/>
          </a:bodyPr>
          <a:lstStyle/>
          <a:p>
            <a:pPr algn="l">
              <a:lnSpc>
                <a:spcPct val="100000"/>
              </a:lnSpc>
              <a:spcAft>
                <a:spcPts val="400"/>
              </a:spcAft>
            </a:pPr>
            <a:r>
              <a:rPr sz="1400" b="0" i="1">
                <a:solidFill>
                  <a:srgbClr val="90A4AE"/>
                </a:solidFill>
                <a:latin typeface="Calibri"/>
              </a:rPr>
              <a:t>Organisation des espaces et coupe</a:t>
            </a:r>
          </a:p>
        </p:txBody>
      </p:sp>
      <p:sp>
        <p:nvSpPr>
          <p:cNvPr id="8" name="Rectangle 7"/>
          <p:cNvSpPr/>
          <p:nvPr/>
        </p:nvSpPr>
        <p:spPr>
          <a:xfrm>
            <a:off x="1325880" y="1170432"/>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Rénovation énergétique – Saint-Jean-de-Chevelu (73) – Bloc 1</a:t>
            </a:r>
          </a:p>
        </p:txBody>
      </p:sp>
      <p:sp>
        <p:nvSpPr>
          <p:cNvPr id="10" name="TextBox 9"/>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sp>
        <p:nvSpPr>
          <p:cNvPr id="11" name="Rectangle 10"/>
          <p:cNvSpPr/>
          <p:nvPr/>
        </p:nvSpPr>
        <p:spPr>
          <a:xfrm>
            <a:off x="620080" y="1563403"/>
            <a:ext cx="3789039" cy="2688777"/>
          </a:xfrm>
          <a:prstGeom prst="rect">
            <a:avLst/>
          </a:prstGeom>
          <a:solidFill>
            <a:srgbClr val="FFFFFF"/>
          </a:solidFill>
          <a:ln w="1524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p07_x68_1196x845.png"/>
          <p:cNvPicPr>
            <a:picLocks noChangeAspect="1"/>
          </p:cNvPicPr>
          <p:nvPr/>
        </p:nvPicPr>
        <p:blipFill>
          <a:blip r:embed="rId2"/>
          <a:stretch>
            <a:fillRect/>
          </a:stretch>
        </p:blipFill>
        <p:spPr>
          <a:xfrm>
            <a:off x="640080" y="1583403"/>
            <a:ext cx="3749039" cy="2648777"/>
          </a:xfrm>
          <a:prstGeom prst="rect">
            <a:avLst/>
          </a:prstGeom>
        </p:spPr>
      </p:pic>
      <p:sp>
        <p:nvSpPr>
          <p:cNvPr id="13" name="TextBox 12"/>
          <p:cNvSpPr txBox="1"/>
          <p:nvPr/>
        </p:nvSpPr>
        <p:spPr>
          <a:xfrm>
            <a:off x="640080" y="4326824"/>
            <a:ext cx="3749039" cy="310896"/>
          </a:xfrm>
          <a:prstGeom prst="rect">
            <a:avLst/>
          </a:prstGeom>
          <a:noFill/>
        </p:spPr>
        <p:txBody>
          <a:bodyPr wrap="square" anchor="t" lIns="25400" rIns="25400" tIns="25400" bIns="25400">
            <a:spAutoFit/>
          </a:bodyPr>
          <a:lstStyle/>
          <a:p>
            <a:pPr algn="ctr">
              <a:lnSpc>
                <a:spcPct val="100000"/>
              </a:lnSpc>
              <a:spcAft>
                <a:spcPts val="400"/>
              </a:spcAft>
            </a:pPr>
            <a:r>
              <a:rPr sz="1100" b="0" i="1">
                <a:solidFill>
                  <a:srgbClr val="90A4AE"/>
                </a:solidFill>
                <a:latin typeface="Calibri"/>
              </a:rPr>
              <a:t>Plan RDC — pièces de vie</a:t>
            </a:r>
          </a:p>
        </p:txBody>
      </p:sp>
      <p:sp>
        <p:nvSpPr>
          <p:cNvPr id="14" name="Rectangle 13"/>
          <p:cNvSpPr/>
          <p:nvPr/>
        </p:nvSpPr>
        <p:spPr>
          <a:xfrm>
            <a:off x="4460560" y="1611314"/>
            <a:ext cx="3697600" cy="2592955"/>
          </a:xfrm>
          <a:prstGeom prst="rect">
            <a:avLst/>
          </a:prstGeom>
          <a:solidFill>
            <a:srgbClr val="FFFFFF"/>
          </a:solidFill>
          <a:ln w="1524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p08_x72_1192x832.png"/>
          <p:cNvPicPr>
            <a:picLocks noChangeAspect="1"/>
          </p:cNvPicPr>
          <p:nvPr/>
        </p:nvPicPr>
        <p:blipFill>
          <a:blip r:embed="rId3"/>
          <a:stretch>
            <a:fillRect/>
          </a:stretch>
        </p:blipFill>
        <p:spPr>
          <a:xfrm>
            <a:off x="4480560" y="1631314"/>
            <a:ext cx="3657600" cy="2552955"/>
          </a:xfrm>
          <a:prstGeom prst="rect">
            <a:avLst/>
          </a:prstGeom>
        </p:spPr>
      </p:pic>
      <p:sp>
        <p:nvSpPr>
          <p:cNvPr id="16" name="TextBox 15"/>
          <p:cNvSpPr txBox="1"/>
          <p:nvPr/>
        </p:nvSpPr>
        <p:spPr>
          <a:xfrm>
            <a:off x="4480560" y="4326824"/>
            <a:ext cx="3657600" cy="310896"/>
          </a:xfrm>
          <a:prstGeom prst="rect">
            <a:avLst/>
          </a:prstGeom>
          <a:noFill/>
        </p:spPr>
        <p:txBody>
          <a:bodyPr wrap="square" anchor="t" lIns="25400" rIns="25400" tIns="25400" bIns="25400">
            <a:spAutoFit/>
          </a:bodyPr>
          <a:lstStyle/>
          <a:p>
            <a:pPr algn="ctr">
              <a:lnSpc>
                <a:spcPct val="100000"/>
              </a:lnSpc>
              <a:spcAft>
                <a:spcPts val="400"/>
              </a:spcAft>
            </a:pPr>
            <a:r>
              <a:rPr sz="1100" b="0" i="1">
                <a:solidFill>
                  <a:srgbClr val="90A4AE"/>
                </a:solidFill>
                <a:latin typeface="Calibri"/>
              </a:rPr>
              <a:t>Plan R+1 — espaces de nuit</a:t>
            </a:r>
          </a:p>
        </p:txBody>
      </p:sp>
      <p:sp>
        <p:nvSpPr>
          <p:cNvPr id="17" name="Rectangle 16"/>
          <p:cNvSpPr/>
          <p:nvPr/>
        </p:nvSpPr>
        <p:spPr>
          <a:xfrm>
            <a:off x="8209600" y="1999716"/>
            <a:ext cx="3331840" cy="1816152"/>
          </a:xfrm>
          <a:prstGeom prst="rect">
            <a:avLst/>
          </a:prstGeom>
          <a:solidFill>
            <a:srgbClr val="FFFFFF"/>
          </a:solidFill>
          <a:ln w="1524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p08_x73_1188x641.png"/>
          <p:cNvPicPr>
            <a:picLocks noChangeAspect="1"/>
          </p:cNvPicPr>
          <p:nvPr/>
        </p:nvPicPr>
        <p:blipFill>
          <a:blip r:embed="rId4"/>
          <a:stretch>
            <a:fillRect/>
          </a:stretch>
        </p:blipFill>
        <p:spPr>
          <a:xfrm>
            <a:off x="8229600" y="2019716"/>
            <a:ext cx="3291840" cy="1776152"/>
          </a:xfrm>
          <a:prstGeom prst="rect">
            <a:avLst/>
          </a:prstGeom>
        </p:spPr>
      </p:pic>
      <p:sp>
        <p:nvSpPr>
          <p:cNvPr id="19" name="TextBox 18"/>
          <p:cNvSpPr txBox="1"/>
          <p:nvPr/>
        </p:nvSpPr>
        <p:spPr>
          <a:xfrm>
            <a:off x="8229600" y="4326824"/>
            <a:ext cx="3291840" cy="310896"/>
          </a:xfrm>
          <a:prstGeom prst="rect">
            <a:avLst/>
          </a:prstGeom>
          <a:noFill/>
        </p:spPr>
        <p:txBody>
          <a:bodyPr wrap="square" anchor="t" lIns="25400" rIns="25400" tIns="25400" bIns="25400">
            <a:spAutoFit/>
          </a:bodyPr>
          <a:lstStyle/>
          <a:p>
            <a:pPr algn="ctr">
              <a:lnSpc>
                <a:spcPct val="100000"/>
              </a:lnSpc>
              <a:spcAft>
                <a:spcPts val="400"/>
              </a:spcAft>
            </a:pPr>
            <a:r>
              <a:rPr sz="1100" b="0" i="1">
                <a:solidFill>
                  <a:srgbClr val="90A4AE"/>
                </a:solidFill>
                <a:latin typeface="Calibri"/>
              </a:rPr>
              <a:t>Coupe sur la zone chauffée</a:t>
            </a:r>
          </a:p>
        </p:txBody>
      </p:sp>
      <p:sp>
        <p:nvSpPr>
          <p:cNvPr id="20" name="Rounded Rectangle 19"/>
          <p:cNvSpPr/>
          <p:nvPr/>
        </p:nvSpPr>
        <p:spPr>
          <a:xfrm>
            <a:off x="640080" y="5074920"/>
            <a:ext cx="10881360" cy="960120"/>
          </a:xfrm>
          <a:prstGeom prst="roundRect">
            <a:avLst/>
          </a:prstGeom>
          <a:solidFill>
            <a:srgbClr val="E8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8680" y="5166360"/>
            <a:ext cx="10424160" cy="777240"/>
          </a:xfrm>
          <a:prstGeom prst="rect">
            <a:avLst/>
          </a:prstGeom>
          <a:noFill/>
        </p:spPr>
        <p:txBody>
          <a:bodyPr wrap="square" anchor="ctr" lIns="25400" rIns="25400" tIns="25400" bIns="25400">
            <a:spAutoFit/>
          </a:bodyPr>
          <a:lstStyle/>
          <a:p>
            <a:pPr algn="l">
              <a:lnSpc>
                <a:spcPct val="100000"/>
              </a:lnSpc>
              <a:spcAft>
                <a:spcPts val="400"/>
              </a:spcAft>
            </a:pPr>
            <a:r>
              <a:rPr sz="1300" b="1" i="0">
                <a:solidFill>
                  <a:srgbClr val="1B5E20"/>
                </a:solidFill>
                <a:latin typeface="Calibri"/>
              </a:rPr>
              <a:t>Lecture : </a:t>
            </a:r>
            <a:r>
              <a:rPr sz="1300" b="0" i="0">
                <a:solidFill>
                  <a:srgbClr val="37474F"/>
                </a:solidFill>
                <a:latin typeface="Calibri"/>
              </a:rPr>
              <a:t>RDC = pièces de vie, R+1 = chambres. Les combles perdus non chauffés surplombent l’étage : cette interface favorise les déperditions par la toiture, confirmées plus loin.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1</a:t>
            </a:r>
          </a:p>
        </p:txBody>
      </p:sp>
      <p:sp>
        <p:nvSpPr>
          <p:cNvPr id="6" name="TextBox 5"/>
          <p:cNvSpPr txBox="1"/>
          <p:nvPr/>
        </p:nvSpPr>
        <p:spPr>
          <a:xfrm>
            <a:off x="1325880" y="365760"/>
            <a:ext cx="10332720" cy="731520"/>
          </a:xfrm>
          <a:prstGeom prst="rect">
            <a:avLst/>
          </a:prstGeom>
          <a:noFill/>
        </p:spPr>
        <p:txBody>
          <a:bodyPr wrap="square" anchor="ctr" lIns="25400" rIns="25400" tIns="25400" bIns="25400">
            <a:spAutoFit/>
          </a:bodyPr>
          <a:lstStyle/>
          <a:p>
            <a:pPr algn="l">
              <a:lnSpc>
                <a:spcPct val="100000"/>
              </a:lnSpc>
              <a:spcAft>
                <a:spcPts val="400"/>
              </a:spcAft>
            </a:pPr>
            <a:r>
              <a:rPr sz="2900" b="1" i="0">
                <a:solidFill>
                  <a:srgbClr val="1B5E20"/>
                </a:solidFill>
                <a:latin typeface="Calibri"/>
              </a:rPr>
              <a:t>Objectifs et attentes du maître d’ouvrage</a:t>
            </a:r>
          </a:p>
        </p:txBody>
      </p:sp>
      <p:sp>
        <p:nvSpPr>
          <p:cNvPr id="7" name="Rectangle 6"/>
          <p:cNvSpPr/>
          <p:nvPr/>
        </p:nvSpPr>
        <p:spPr>
          <a:xfrm>
            <a:off x="1325880" y="1170432"/>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Rénovation énergétique – Saint-Jean-de-Chevelu (73) – Bloc 1</a:t>
            </a:r>
          </a:p>
        </p:txBody>
      </p:sp>
      <p:sp>
        <p:nvSpPr>
          <p:cNvPr id="9" name="TextBox 8"/>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sp>
        <p:nvSpPr>
          <p:cNvPr id="10" name="TextBox 9"/>
          <p:cNvSpPr txBox="1"/>
          <p:nvPr/>
        </p:nvSpPr>
        <p:spPr>
          <a:xfrm>
            <a:off x="822960" y="1965960"/>
            <a:ext cx="5120640" cy="365760"/>
          </a:xfrm>
          <a:prstGeom prst="rect">
            <a:avLst/>
          </a:prstGeom>
          <a:noFill/>
        </p:spPr>
        <p:txBody>
          <a:bodyPr wrap="square" anchor="t" lIns="25400" rIns="25400" tIns="25400" bIns="25400">
            <a:spAutoFit/>
          </a:bodyPr>
          <a:lstStyle/>
          <a:p>
            <a:pPr algn="l">
              <a:lnSpc>
                <a:spcPct val="100000"/>
              </a:lnSpc>
              <a:spcAft>
                <a:spcPts val="400"/>
              </a:spcAft>
            </a:pPr>
            <a:r>
              <a:rPr sz="1600" b="1" i="0">
                <a:solidFill>
                  <a:srgbClr val="1B5E20"/>
                </a:solidFill>
                <a:latin typeface="Calibri"/>
              </a:rPr>
              <a:t>Besoins &amp; objectifs</a:t>
            </a:r>
          </a:p>
        </p:txBody>
      </p:sp>
      <p:sp>
        <p:nvSpPr>
          <p:cNvPr id="11" name="TextBox 10"/>
          <p:cNvSpPr txBox="1"/>
          <p:nvPr/>
        </p:nvSpPr>
        <p:spPr>
          <a:xfrm>
            <a:off x="822960" y="2423160"/>
            <a:ext cx="5120640" cy="3657600"/>
          </a:xfrm>
          <a:prstGeom prst="rect">
            <a:avLst/>
          </a:prstGeom>
          <a:noFill/>
        </p:spPr>
        <p:txBody>
          <a:bodyPr wrap="square">
            <a:spAutoFit/>
          </a:bodyPr>
          <a:lstStyle/>
          <a:p>
            <a:pPr>
              <a:lnSpc>
                <a:spcPct val="105000"/>
              </a:lnSpc>
              <a:spcAft>
                <a:spcPts val="900"/>
              </a:spcAft>
            </a:pPr>
            <a:r>
              <a:rPr sz="1400" b="1">
                <a:solidFill>
                  <a:srgbClr val="2E7D32"/>
                </a:solidFill>
                <a:latin typeface="Calibri"/>
              </a:rPr>
              <a:t>●  </a:t>
            </a:r>
            <a:r>
              <a:rPr sz="1400">
                <a:solidFill>
                  <a:srgbClr val="37474F"/>
                </a:solidFill>
                <a:latin typeface="Calibri"/>
              </a:rPr>
              <a:t>Réduire les dépenses énergétiques</a:t>
            </a:r>
          </a:p>
          <a:p>
            <a:pPr>
              <a:lnSpc>
                <a:spcPct val="105000"/>
              </a:lnSpc>
              <a:spcAft>
                <a:spcPts val="900"/>
              </a:spcAft>
            </a:pPr>
            <a:r>
              <a:rPr sz="1400" b="1">
                <a:solidFill>
                  <a:srgbClr val="2E7D32"/>
                </a:solidFill>
                <a:latin typeface="Calibri"/>
              </a:rPr>
              <a:t>●  </a:t>
            </a:r>
            <a:r>
              <a:rPr sz="1400">
                <a:solidFill>
                  <a:srgbClr val="37474F"/>
                </a:solidFill>
                <a:latin typeface="Calibri"/>
              </a:rPr>
              <a:t>Confort d’hiver (supprimer parois froides)</a:t>
            </a:r>
          </a:p>
          <a:p>
            <a:pPr>
              <a:lnSpc>
                <a:spcPct val="105000"/>
              </a:lnSpc>
              <a:spcAft>
                <a:spcPts val="900"/>
              </a:spcAft>
            </a:pPr>
            <a:r>
              <a:rPr sz="1400" b="1">
                <a:solidFill>
                  <a:srgbClr val="2E7D32"/>
                </a:solidFill>
                <a:latin typeface="Calibri"/>
              </a:rPr>
              <a:t>●  </a:t>
            </a:r>
            <a:r>
              <a:rPr sz="1400">
                <a:solidFill>
                  <a:srgbClr val="37474F"/>
                </a:solidFill>
                <a:latin typeface="Calibri"/>
              </a:rPr>
              <a:t>Confort d’été (surchauffe sous toiture)</a:t>
            </a:r>
          </a:p>
          <a:p>
            <a:pPr>
              <a:lnSpc>
                <a:spcPct val="105000"/>
              </a:lnSpc>
              <a:spcAft>
                <a:spcPts val="900"/>
              </a:spcAft>
            </a:pPr>
            <a:r>
              <a:rPr sz="1400" b="1">
                <a:solidFill>
                  <a:srgbClr val="2E7D32"/>
                </a:solidFill>
                <a:latin typeface="Calibri"/>
              </a:rPr>
              <a:t>●  </a:t>
            </a:r>
            <a:r>
              <a:rPr sz="1400">
                <a:solidFill>
                  <a:srgbClr val="37474F"/>
                </a:solidFill>
                <a:latin typeface="Calibri"/>
              </a:rPr>
              <a:t>Remplacer à terme la chaudière fioul</a:t>
            </a:r>
          </a:p>
          <a:p>
            <a:pPr>
              <a:lnSpc>
                <a:spcPct val="105000"/>
              </a:lnSpc>
              <a:spcAft>
                <a:spcPts val="900"/>
              </a:spcAft>
            </a:pPr>
            <a:r>
              <a:rPr sz="1400" b="1">
                <a:solidFill>
                  <a:srgbClr val="2E7D32"/>
                </a:solidFill>
                <a:latin typeface="Calibri"/>
              </a:rPr>
              <a:t>●  </a:t>
            </a:r>
            <a:r>
              <a:rPr sz="1400">
                <a:solidFill>
                  <a:srgbClr val="37474F"/>
                </a:solidFill>
                <a:latin typeface="Calibri"/>
              </a:rPr>
              <a:t>Réduire les émissions de gaz à effet de serre</a:t>
            </a:r>
          </a:p>
          <a:p>
            <a:pPr>
              <a:lnSpc>
                <a:spcPct val="105000"/>
              </a:lnSpc>
              <a:spcAft>
                <a:spcPts val="900"/>
              </a:spcAft>
            </a:pPr>
            <a:r>
              <a:rPr sz="1400" b="1">
                <a:solidFill>
                  <a:srgbClr val="2E7D32"/>
                </a:solidFill>
                <a:latin typeface="Calibri"/>
              </a:rPr>
              <a:t>●  </a:t>
            </a:r>
            <a:r>
              <a:rPr sz="1400">
                <a:solidFill>
                  <a:srgbClr val="37474F"/>
                </a:solidFill>
                <a:latin typeface="Calibri"/>
              </a:rPr>
              <a:t>Valoriser le patrimoine immobilier</a:t>
            </a:r>
          </a:p>
        </p:txBody>
      </p:sp>
      <p:sp>
        <p:nvSpPr>
          <p:cNvPr id="12" name="TextBox 11"/>
          <p:cNvSpPr txBox="1"/>
          <p:nvPr/>
        </p:nvSpPr>
        <p:spPr>
          <a:xfrm>
            <a:off x="6309360" y="1965960"/>
            <a:ext cx="5120640" cy="365760"/>
          </a:xfrm>
          <a:prstGeom prst="rect">
            <a:avLst/>
          </a:prstGeom>
          <a:noFill/>
        </p:spPr>
        <p:txBody>
          <a:bodyPr wrap="square" anchor="t" lIns="25400" rIns="25400" tIns="25400" bIns="25400">
            <a:spAutoFit/>
          </a:bodyPr>
          <a:lstStyle/>
          <a:p>
            <a:pPr algn="l">
              <a:lnSpc>
                <a:spcPct val="100000"/>
              </a:lnSpc>
              <a:spcAft>
                <a:spcPts val="400"/>
              </a:spcAft>
            </a:pPr>
            <a:r>
              <a:rPr sz="1600" b="1" i="0">
                <a:solidFill>
                  <a:srgbClr val="1B5E20"/>
                </a:solidFill>
                <a:latin typeface="Calibri"/>
              </a:rPr>
              <a:t>Moyens &amp; contraintes</a:t>
            </a:r>
          </a:p>
        </p:txBody>
      </p:sp>
      <p:sp>
        <p:nvSpPr>
          <p:cNvPr id="13" name="TextBox 12"/>
          <p:cNvSpPr txBox="1"/>
          <p:nvPr/>
        </p:nvSpPr>
        <p:spPr>
          <a:xfrm>
            <a:off x="6309360" y="2423160"/>
            <a:ext cx="5120640" cy="3657600"/>
          </a:xfrm>
          <a:prstGeom prst="rect">
            <a:avLst/>
          </a:prstGeom>
          <a:noFill/>
        </p:spPr>
        <p:txBody>
          <a:bodyPr wrap="square">
            <a:spAutoFit/>
          </a:bodyPr>
          <a:lstStyle/>
          <a:p>
            <a:pPr>
              <a:lnSpc>
                <a:spcPct val="105000"/>
              </a:lnSpc>
              <a:spcAft>
                <a:spcPts val="900"/>
              </a:spcAft>
            </a:pPr>
            <a:r>
              <a:rPr sz="1400" b="1">
                <a:solidFill>
                  <a:srgbClr val="E65100"/>
                </a:solidFill>
                <a:latin typeface="Calibri"/>
              </a:rPr>
              <a:t>●  </a:t>
            </a:r>
            <a:r>
              <a:rPr sz="1400">
                <a:solidFill>
                  <a:srgbClr val="37474F"/>
                </a:solidFill>
                <a:latin typeface="Calibri"/>
              </a:rPr>
              <a:t>Budget pour des travaux importants…</a:t>
            </a:r>
          </a:p>
          <a:p>
            <a:pPr>
              <a:lnSpc>
                <a:spcPct val="105000"/>
              </a:lnSpc>
              <a:spcAft>
                <a:spcPts val="900"/>
              </a:spcAft>
            </a:pPr>
            <a:r>
              <a:rPr sz="1400" b="1">
                <a:solidFill>
                  <a:srgbClr val="E65100"/>
                </a:solidFill>
                <a:latin typeface="Calibri"/>
              </a:rPr>
              <a:t>●  </a:t>
            </a:r>
            <a:r>
              <a:rPr sz="1400">
                <a:solidFill>
                  <a:srgbClr val="37474F"/>
                </a:solidFill>
                <a:latin typeface="Calibri"/>
              </a:rPr>
              <a:t>… investissements justifiés par les économies</a:t>
            </a:r>
          </a:p>
          <a:p>
            <a:pPr>
              <a:lnSpc>
                <a:spcPct val="105000"/>
              </a:lnSpc>
              <a:spcAft>
                <a:spcPts val="900"/>
              </a:spcAft>
            </a:pPr>
            <a:r>
              <a:rPr sz="1400" b="1">
                <a:solidFill>
                  <a:srgbClr val="E65100"/>
                </a:solidFill>
                <a:latin typeface="Calibri"/>
              </a:rPr>
              <a:t>●  </a:t>
            </a:r>
            <a:r>
              <a:rPr sz="1400">
                <a:solidFill>
                  <a:srgbClr val="37474F"/>
                </a:solidFill>
                <a:latin typeface="Calibri"/>
              </a:rPr>
              <a:t>Conserver le caractère de la ferme</a:t>
            </a:r>
          </a:p>
          <a:p>
            <a:pPr>
              <a:lnSpc>
                <a:spcPct val="105000"/>
              </a:lnSpc>
              <a:spcAft>
                <a:spcPts val="900"/>
              </a:spcAft>
            </a:pPr>
            <a:r>
              <a:rPr sz="1400" b="1">
                <a:solidFill>
                  <a:srgbClr val="E65100"/>
                </a:solidFill>
                <a:latin typeface="Calibri"/>
              </a:rPr>
              <a:t>●  </a:t>
            </a:r>
            <a:r>
              <a:rPr sz="1400">
                <a:solidFill>
                  <a:srgbClr val="37474F"/>
                </a:solidFill>
                <a:latin typeface="Calibri"/>
              </a:rPr>
              <a:t>Solutions compatibles avec les murs en pierre</a:t>
            </a:r>
          </a:p>
          <a:p>
            <a:pPr>
              <a:lnSpc>
                <a:spcPct val="105000"/>
              </a:lnSpc>
              <a:spcAft>
                <a:spcPts val="900"/>
              </a:spcAft>
            </a:pPr>
            <a:r>
              <a:rPr sz="1400" b="1">
                <a:solidFill>
                  <a:srgbClr val="E65100"/>
                </a:solidFill>
                <a:latin typeface="Calibri"/>
              </a:rPr>
              <a:t>●  </a:t>
            </a:r>
            <a:r>
              <a:rPr sz="1400">
                <a:solidFill>
                  <a:srgbClr val="37474F"/>
                </a:solidFill>
                <a:latin typeface="Calibri"/>
              </a:rPr>
              <a:t>Limiter les risques liés à l’humidité</a:t>
            </a:r>
          </a:p>
          <a:p>
            <a:pPr>
              <a:lnSpc>
                <a:spcPct val="105000"/>
              </a:lnSpc>
              <a:spcAft>
                <a:spcPts val="900"/>
              </a:spcAft>
            </a:pPr>
            <a:r>
              <a:rPr sz="1400" b="1">
                <a:solidFill>
                  <a:srgbClr val="E65100"/>
                </a:solidFill>
                <a:latin typeface="Calibri"/>
              </a:rPr>
              <a:t>●  </a:t>
            </a:r>
            <a:r>
              <a:rPr sz="1400">
                <a:solidFill>
                  <a:srgbClr val="37474F"/>
                </a:solidFill>
                <a:latin typeface="Calibri"/>
              </a:rPr>
              <a:t>Mobiliser les aides financières</a:t>
            </a:r>
          </a:p>
        </p:txBody>
      </p:sp>
      <p:sp>
        <p:nvSpPr>
          <p:cNvPr id="14" name="TextBox 13"/>
          <p:cNvSpPr txBox="1"/>
          <p:nvPr/>
        </p:nvSpPr>
        <p:spPr>
          <a:xfrm>
            <a:off x="822960" y="1508760"/>
            <a:ext cx="10424160" cy="365760"/>
          </a:xfrm>
          <a:prstGeom prst="rect">
            <a:avLst/>
          </a:prstGeom>
          <a:noFill/>
        </p:spPr>
        <p:txBody>
          <a:bodyPr wrap="square" anchor="t" lIns="25400" rIns="25400" tIns="25400" bIns="25400">
            <a:spAutoFit/>
          </a:bodyPr>
          <a:lstStyle/>
          <a:p>
            <a:pPr algn="l">
              <a:lnSpc>
                <a:spcPct val="100000"/>
              </a:lnSpc>
              <a:spcAft>
                <a:spcPts val="400"/>
              </a:spcAft>
            </a:pPr>
            <a:r>
              <a:rPr sz="1400" b="0" i="1">
                <a:solidFill>
                  <a:srgbClr val="37474F"/>
                </a:solidFill>
                <a:latin typeface="Calibri"/>
              </a:rPr>
              <a:t>Recueil réalisé lors de la rencontre avec le maître d’ouvrage occupant.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1</a:t>
            </a:r>
          </a:p>
        </p:txBody>
      </p:sp>
      <p:sp>
        <p:nvSpPr>
          <p:cNvPr id="6" name="TextBox 5"/>
          <p:cNvSpPr txBox="1"/>
          <p:nvPr/>
        </p:nvSpPr>
        <p:spPr>
          <a:xfrm>
            <a:off x="1325880" y="365760"/>
            <a:ext cx="10332720" cy="731520"/>
          </a:xfrm>
          <a:prstGeom prst="rect">
            <a:avLst/>
          </a:prstGeom>
          <a:noFill/>
        </p:spPr>
        <p:txBody>
          <a:bodyPr wrap="square" anchor="ctr" lIns="25400" rIns="25400" tIns="25400" bIns="25400">
            <a:spAutoFit/>
          </a:bodyPr>
          <a:lstStyle/>
          <a:p>
            <a:pPr algn="l">
              <a:lnSpc>
                <a:spcPct val="100000"/>
              </a:lnSpc>
              <a:spcAft>
                <a:spcPts val="400"/>
              </a:spcAft>
            </a:pPr>
            <a:r>
              <a:rPr sz="2900" b="1" i="0">
                <a:solidFill>
                  <a:srgbClr val="1B5E20"/>
                </a:solidFill>
                <a:latin typeface="Calibri"/>
              </a:rPr>
              <a:t>Objectifs de confort à atteindre</a:t>
            </a:r>
          </a:p>
        </p:txBody>
      </p:sp>
      <p:sp>
        <p:nvSpPr>
          <p:cNvPr id="7" name="Rectangle 6"/>
          <p:cNvSpPr/>
          <p:nvPr/>
        </p:nvSpPr>
        <p:spPr>
          <a:xfrm>
            <a:off x="1325880" y="1170432"/>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Rénovation énergétique – Saint-Jean-de-Chevelu (73) – Bloc 1</a:t>
            </a:r>
          </a:p>
        </p:txBody>
      </p:sp>
      <p:sp>
        <p:nvSpPr>
          <p:cNvPr id="9" name="TextBox 8"/>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graphicFrame>
        <p:nvGraphicFramePr>
          <p:cNvPr id="10" name="Table 9"/>
          <p:cNvGraphicFramePr>
            <a:graphicFrameLocks noGrp="1"/>
          </p:cNvGraphicFramePr>
          <p:nvPr/>
        </p:nvGraphicFramePr>
        <p:xfrm>
          <a:off x="822960" y="1600200"/>
          <a:ext cx="10515600" cy="3968496"/>
        </p:xfrm>
        <a:graphic>
          <a:graphicData uri="http://schemas.openxmlformats.org/drawingml/2006/table">
            <a:tbl>
              <a:tblPr>
                <a:tableStyleId>{5C22544A-7EE6-4342-B048-85BDC9FD1C3A}</a:tableStyleId>
              </a:tblPr>
              <a:tblGrid>
                <a:gridCol w="2103120"/>
                <a:gridCol w="4023360"/>
                <a:gridCol w="4389120"/>
              </a:tblGrid>
              <a:tr h="566928">
                <a:tc>
                  <a:txBody>
                    <a:bodyPr wrap="square"/>
                    <a:lstStyle/>
                    <a:p>
                      <a:pPr algn="l"/>
                      <a:r>
                        <a:rPr sz="1300" b="1">
                          <a:solidFill>
                            <a:srgbClr val="FFFFFF"/>
                          </a:solidFill>
                          <a:latin typeface="Calibri"/>
                        </a:rPr>
                        <a:t>Type de confort</a:t>
                      </a:r>
                    </a:p>
                  </a:txBody>
                  <a:tcPr marL="88900" marR="88900" marT="12700" marB="12700" anchor="ctr">
                    <a:solidFill>
                      <a:srgbClr val="1B5E20"/>
                    </a:solidFill>
                  </a:tcPr>
                </a:tc>
                <a:tc>
                  <a:txBody>
                    <a:bodyPr wrap="square"/>
                    <a:lstStyle/>
                    <a:p>
                      <a:pPr algn="ctr"/>
                      <a:r>
                        <a:rPr sz="1300" b="1">
                          <a:solidFill>
                            <a:srgbClr val="FFFFFF"/>
                          </a:solidFill>
                          <a:latin typeface="Calibri"/>
                        </a:rPr>
                        <a:t>Situation actuelle</a:t>
                      </a:r>
                    </a:p>
                  </a:txBody>
                  <a:tcPr marL="88900" marR="88900" marT="12700" marB="12700" anchor="ctr">
                    <a:solidFill>
                      <a:srgbClr val="1B5E20"/>
                    </a:solidFill>
                  </a:tcPr>
                </a:tc>
                <a:tc>
                  <a:txBody>
                    <a:bodyPr wrap="square"/>
                    <a:lstStyle/>
                    <a:p>
                      <a:pPr algn="ctr"/>
                      <a:r>
                        <a:rPr sz="1300" b="1">
                          <a:solidFill>
                            <a:srgbClr val="FFFFFF"/>
                          </a:solidFill>
                          <a:latin typeface="Calibri"/>
                        </a:rPr>
                        <a:t>Amélioration visée</a:t>
                      </a:r>
                    </a:p>
                  </a:txBody>
                  <a:tcPr marL="88900" marR="88900" marT="12700" marB="12700" anchor="ctr">
                    <a:solidFill>
                      <a:srgbClr val="1B5E20"/>
                    </a:solidFill>
                  </a:tcPr>
                </a:tc>
              </a:tr>
              <a:tr h="566928">
                <a:tc>
                  <a:txBody>
                    <a:bodyPr wrap="square"/>
                    <a:lstStyle/>
                    <a:p>
                      <a:pPr algn="l"/>
                      <a:r>
                        <a:rPr sz="1200" b="1">
                          <a:solidFill>
                            <a:srgbClr val="37474F"/>
                          </a:solidFill>
                          <a:latin typeface="Calibri"/>
                        </a:rPr>
                        <a:t>Confort d’hiver</a:t>
                      </a:r>
                    </a:p>
                  </a:txBody>
                  <a:tcPr marL="88900" marR="88900" marT="12700" marB="12700" anchor="ctr">
                    <a:solidFill>
                      <a:srgbClr val="FFFFFF"/>
                    </a:solidFill>
                  </a:tcPr>
                </a:tc>
                <a:tc>
                  <a:txBody>
                    <a:bodyPr wrap="square"/>
                    <a:lstStyle/>
                    <a:p>
                      <a:pPr algn="ctr"/>
                      <a:r>
                        <a:rPr sz="1200" b="0">
                          <a:solidFill>
                            <a:srgbClr val="37474F"/>
                          </a:solidFill>
                          <a:latin typeface="Calibri"/>
                        </a:rPr>
                        <a:t>Parois froides, écarts entre pièces</a:t>
                      </a:r>
                    </a:p>
                  </a:txBody>
                  <a:tcPr marL="88900" marR="88900" marT="12700" marB="12700" anchor="ctr">
                    <a:solidFill>
                      <a:srgbClr val="FFFFFF"/>
                    </a:solidFill>
                  </a:tcPr>
                </a:tc>
                <a:tc>
                  <a:txBody>
                    <a:bodyPr wrap="square"/>
                    <a:lstStyle/>
                    <a:p>
                      <a:pPr algn="ctr"/>
                      <a:r>
                        <a:rPr sz="1200" b="0">
                          <a:solidFill>
                            <a:srgbClr val="37474F"/>
                          </a:solidFill>
                          <a:latin typeface="Calibri"/>
                        </a:rPr>
                        <a:t>Températures homogènes (isolation + régulation)</a:t>
                      </a:r>
                    </a:p>
                  </a:txBody>
                  <a:tcPr marL="88900" marR="88900" marT="12700" marB="12700" anchor="ctr">
                    <a:solidFill>
                      <a:srgbClr val="FFFFFF"/>
                    </a:solidFill>
                  </a:tcPr>
                </a:tc>
              </a:tr>
              <a:tr h="566928">
                <a:tc>
                  <a:txBody>
                    <a:bodyPr wrap="square"/>
                    <a:lstStyle/>
                    <a:p>
                      <a:pPr algn="l"/>
                      <a:r>
                        <a:rPr sz="1200" b="1">
                          <a:solidFill>
                            <a:srgbClr val="37474F"/>
                          </a:solidFill>
                          <a:latin typeface="Calibri"/>
                        </a:rPr>
                        <a:t>Confort d’été</a:t>
                      </a:r>
                    </a:p>
                  </a:txBody>
                  <a:tcPr marL="88900" marR="88900" marT="12700" marB="12700" anchor="ctr">
                    <a:solidFill>
                      <a:srgbClr val="E8F5E9"/>
                    </a:solidFill>
                  </a:tcPr>
                </a:tc>
                <a:tc>
                  <a:txBody>
                    <a:bodyPr wrap="square"/>
                    <a:lstStyle/>
                    <a:p>
                      <a:pPr algn="ctr"/>
                      <a:r>
                        <a:rPr sz="1200" b="0">
                          <a:solidFill>
                            <a:srgbClr val="37474F"/>
                          </a:solidFill>
                          <a:latin typeface="Calibri"/>
                        </a:rPr>
                        <a:t>Surchauffe sous toiture</a:t>
                      </a:r>
                    </a:p>
                  </a:txBody>
                  <a:tcPr marL="88900" marR="88900" marT="12700" marB="12700" anchor="ctr">
                    <a:solidFill>
                      <a:srgbClr val="E8F5E9"/>
                    </a:solidFill>
                  </a:tcPr>
                </a:tc>
                <a:tc>
                  <a:txBody>
                    <a:bodyPr wrap="square"/>
                    <a:lstStyle/>
                    <a:p>
                      <a:pPr algn="ctr"/>
                      <a:r>
                        <a:rPr sz="1200" b="0">
                          <a:solidFill>
                            <a:srgbClr val="37474F"/>
                          </a:solidFill>
                          <a:latin typeface="Calibri"/>
                        </a:rPr>
                        <a:t>Déphasage des isolants biosourcés</a:t>
                      </a:r>
                    </a:p>
                  </a:txBody>
                  <a:tcPr marL="88900" marR="88900" marT="12700" marB="12700" anchor="ctr">
                    <a:solidFill>
                      <a:srgbClr val="E8F5E9"/>
                    </a:solidFill>
                  </a:tcPr>
                </a:tc>
              </a:tr>
              <a:tr h="566928">
                <a:tc>
                  <a:txBody>
                    <a:bodyPr wrap="square"/>
                    <a:lstStyle/>
                    <a:p>
                      <a:pPr algn="l"/>
                      <a:r>
                        <a:rPr sz="1200" b="1">
                          <a:solidFill>
                            <a:srgbClr val="37474F"/>
                          </a:solidFill>
                          <a:latin typeface="Calibri"/>
                        </a:rPr>
                        <a:t>Qualité de l’air</a:t>
                      </a:r>
                    </a:p>
                  </a:txBody>
                  <a:tcPr marL="88900" marR="88900" marT="12700" marB="12700" anchor="ctr">
                    <a:solidFill>
                      <a:srgbClr val="FFFFFF"/>
                    </a:solidFill>
                  </a:tcPr>
                </a:tc>
                <a:tc>
                  <a:txBody>
                    <a:bodyPr wrap="square"/>
                    <a:lstStyle/>
                    <a:p>
                      <a:pPr algn="ctr"/>
                      <a:r>
                        <a:rPr sz="1200" b="0">
                          <a:solidFill>
                            <a:srgbClr val="37474F"/>
                          </a:solidFill>
                          <a:latin typeface="Calibri"/>
                        </a:rPr>
                        <a:t>Ventilation naturelle non maîtrisée</a:t>
                      </a:r>
                    </a:p>
                  </a:txBody>
                  <a:tcPr marL="88900" marR="88900" marT="12700" marB="12700" anchor="ctr">
                    <a:solidFill>
                      <a:srgbClr val="FFFFFF"/>
                    </a:solidFill>
                  </a:tcPr>
                </a:tc>
                <a:tc>
                  <a:txBody>
                    <a:bodyPr wrap="square"/>
                    <a:lstStyle/>
                    <a:p>
                      <a:pPr algn="ctr"/>
                      <a:r>
                        <a:rPr sz="1200" b="0">
                          <a:solidFill>
                            <a:srgbClr val="37474F"/>
                          </a:solidFill>
                          <a:latin typeface="Calibri"/>
                        </a:rPr>
                        <a:t>Renouvellement d’air contrôlé (VMC hygro B)</a:t>
                      </a:r>
                    </a:p>
                  </a:txBody>
                  <a:tcPr marL="88900" marR="88900" marT="12700" marB="12700" anchor="ctr">
                    <a:solidFill>
                      <a:srgbClr val="FFFFFF"/>
                    </a:solidFill>
                  </a:tcPr>
                </a:tc>
              </a:tr>
              <a:tr h="566928">
                <a:tc>
                  <a:txBody>
                    <a:bodyPr wrap="square"/>
                    <a:lstStyle/>
                    <a:p>
                      <a:pPr algn="l"/>
                      <a:r>
                        <a:rPr sz="1200" b="1">
                          <a:solidFill>
                            <a:srgbClr val="37474F"/>
                          </a:solidFill>
                          <a:latin typeface="Calibri"/>
                        </a:rPr>
                        <a:t>Confort visuel</a:t>
                      </a:r>
                    </a:p>
                  </a:txBody>
                  <a:tcPr marL="88900" marR="88900" marT="12700" marB="12700" anchor="ctr">
                    <a:solidFill>
                      <a:srgbClr val="E8F5E9"/>
                    </a:solidFill>
                  </a:tcPr>
                </a:tc>
                <a:tc>
                  <a:txBody>
                    <a:bodyPr wrap="square"/>
                    <a:lstStyle/>
                    <a:p>
                      <a:pPr algn="ctr"/>
                      <a:r>
                        <a:rPr sz="1200" b="0">
                          <a:solidFill>
                            <a:srgbClr val="37474F"/>
                          </a:solidFill>
                          <a:latin typeface="Calibri"/>
                        </a:rPr>
                        <a:t>Halogènes énergivores (25 %)</a:t>
                      </a:r>
                    </a:p>
                  </a:txBody>
                  <a:tcPr marL="88900" marR="88900" marT="12700" marB="12700" anchor="ctr">
                    <a:solidFill>
                      <a:srgbClr val="E8F5E9"/>
                    </a:solidFill>
                  </a:tcPr>
                </a:tc>
                <a:tc>
                  <a:txBody>
                    <a:bodyPr wrap="square"/>
                    <a:lstStyle/>
                    <a:p>
                      <a:pPr algn="ctr"/>
                      <a:r>
                        <a:rPr sz="1200" b="0">
                          <a:solidFill>
                            <a:srgbClr val="37474F"/>
                          </a:solidFill>
                          <a:latin typeface="Calibri"/>
                        </a:rPr>
                        <a:t>Éclairage 100 % LED, apports de lumière naturelle</a:t>
                      </a:r>
                    </a:p>
                  </a:txBody>
                  <a:tcPr marL="88900" marR="88900" marT="12700" marB="12700" anchor="ctr">
                    <a:solidFill>
                      <a:srgbClr val="E8F5E9"/>
                    </a:solidFill>
                  </a:tcPr>
                </a:tc>
              </a:tr>
              <a:tr h="566928">
                <a:tc>
                  <a:txBody>
                    <a:bodyPr wrap="square"/>
                    <a:lstStyle/>
                    <a:p>
                      <a:pPr algn="l"/>
                      <a:r>
                        <a:rPr sz="1200" b="1">
                          <a:solidFill>
                            <a:srgbClr val="37474F"/>
                          </a:solidFill>
                          <a:latin typeface="Calibri"/>
                        </a:rPr>
                        <a:t>Confort acoustique</a:t>
                      </a:r>
                    </a:p>
                  </a:txBody>
                  <a:tcPr marL="88900" marR="88900" marT="12700" marB="12700" anchor="ctr">
                    <a:solidFill>
                      <a:srgbClr val="FFFFFF"/>
                    </a:solidFill>
                  </a:tcPr>
                </a:tc>
                <a:tc>
                  <a:txBody>
                    <a:bodyPr wrap="square"/>
                    <a:lstStyle/>
                    <a:p>
                      <a:pPr algn="ctr"/>
                      <a:r>
                        <a:rPr sz="1200" b="0">
                          <a:solidFill>
                            <a:srgbClr val="37474F"/>
                          </a:solidFill>
                          <a:latin typeface="Calibri"/>
                        </a:rPr>
                        <a:t>Isolation phonique limitée</a:t>
                      </a:r>
                    </a:p>
                  </a:txBody>
                  <a:tcPr marL="88900" marR="88900" marT="12700" marB="12700" anchor="ctr">
                    <a:solidFill>
                      <a:srgbClr val="FFFFFF"/>
                    </a:solidFill>
                  </a:tcPr>
                </a:tc>
                <a:tc>
                  <a:txBody>
                    <a:bodyPr wrap="square"/>
                    <a:lstStyle/>
                    <a:p>
                      <a:pPr algn="ctr"/>
                      <a:r>
                        <a:rPr sz="1200" b="0">
                          <a:solidFill>
                            <a:srgbClr val="37474F"/>
                          </a:solidFill>
                          <a:latin typeface="Calibri"/>
                        </a:rPr>
                        <a:t>Atténuation des bruits extérieurs (ITE)</a:t>
                      </a:r>
                    </a:p>
                  </a:txBody>
                  <a:tcPr marL="88900" marR="88900" marT="12700" marB="12700" anchor="ctr">
                    <a:solidFill>
                      <a:srgbClr val="FFFFFF"/>
                    </a:solidFill>
                  </a:tcPr>
                </a:tc>
              </a:tr>
              <a:tr h="566928">
                <a:tc>
                  <a:txBody>
                    <a:bodyPr wrap="square"/>
                    <a:lstStyle/>
                    <a:p>
                      <a:pPr algn="l"/>
                      <a:r>
                        <a:rPr sz="1200" b="1">
                          <a:solidFill>
                            <a:srgbClr val="37474F"/>
                          </a:solidFill>
                          <a:latin typeface="Calibri"/>
                        </a:rPr>
                        <a:t>Confort / sanitaire</a:t>
                      </a:r>
                    </a:p>
                  </a:txBody>
                  <a:tcPr marL="88900" marR="88900" marT="12700" marB="12700" anchor="ctr">
                    <a:solidFill>
                      <a:srgbClr val="E8F5E9"/>
                    </a:solidFill>
                  </a:tcPr>
                </a:tc>
                <a:tc>
                  <a:txBody>
                    <a:bodyPr wrap="square"/>
                    <a:lstStyle/>
                    <a:p>
                      <a:pPr algn="ctr"/>
                      <a:r>
                        <a:rPr sz="1200" b="0">
                          <a:solidFill>
                            <a:srgbClr val="37474F"/>
                          </a:solidFill>
                          <a:latin typeface="Calibri"/>
                        </a:rPr>
                        <a:t>Chauffage peu régulé, condensation</a:t>
                      </a:r>
                    </a:p>
                  </a:txBody>
                  <a:tcPr marL="88900" marR="88900" marT="12700" marB="12700" anchor="ctr">
                    <a:solidFill>
                      <a:srgbClr val="E8F5E9"/>
                    </a:solidFill>
                  </a:tcPr>
                </a:tc>
                <a:tc>
                  <a:txBody>
                    <a:bodyPr wrap="square"/>
                    <a:lstStyle/>
                    <a:p>
                      <a:pPr algn="ctr"/>
                      <a:r>
                        <a:rPr sz="1200" b="0">
                          <a:solidFill>
                            <a:srgbClr val="37474F"/>
                          </a:solidFill>
                          <a:latin typeface="Calibri"/>
                        </a:rPr>
                        <a:t>Régulation fine, réduction de l’humidité</a:t>
                      </a:r>
                    </a:p>
                  </a:txBody>
                  <a:tcPr marL="88900" marR="88900" marT="12700" marB="12700" anchor="ctr">
                    <a:solidFill>
                      <a:srgbClr val="E8F5E9"/>
                    </a:solidFill>
                  </a:tcPr>
                </a:tc>
              </a:tr>
            </a:tbl>
          </a:graphicData>
        </a:graphic>
      </p:graphicFrame>
      <p:sp>
        <p:nvSpPr>
          <p:cNvPr id="11" name="TextBox 10"/>
          <p:cNvSpPr txBox="1"/>
          <p:nvPr/>
        </p:nvSpPr>
        <p:spPr>
          <a:xfrm>
            <a:off x="822960" y="5989320"/>
            <a:ext cx="10424160" cy="457200"/>
          </a:xfrm>
          <a:prstGeom prst="rect">
            <a:avLst/>
          </a:prstGeom>
          <a:noFill/>
        </p:spPr>
        <p:txBody>
          <a:bodyPr wrap="square" anchor="t" lIns="25400" rIns="25400" tIns="25400" bIns="25400">
            <a:spAutoFit/>
          </a:bodyPr>
          <a:lstStyle/>
          <a:p>
            <a:pPr algn="l">
              <a:lnSpc>
                <a:spcPct val="100000"/>
              </a:lnSpc>
              <a:spcAft>
                <a:spcPts val="400"/>
              </a:spcAft>
            </a:pPr>
            <a:r>
              <a:rPr sz="1200" b="0" i="1">
                <a:solidFill>
                  <a:srgbClr val="90A4AE"/>
                </a:solidFill>
                <a:latin typeface="Calibri"/>
              </a:rPr>
              <a:t>Aucun besoin d’accessibilité / PMR identifié dans cette étude.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2</a:t>
            </a:r>
          </a:p>
        </p:txBody>
      </p:sp>
      <p:sp>
        <p:nvSpPr>
          <p:cNvPr id="6" name="TextBox 5"/>
          <p:cNvSpPr txBox="1"/>
          <p:nvPr/>
        </p:nvSpPr>
        <p:spPr>
          <a:xfrm>
            <a:off x="1325880" y="365760"/>
            <a:ext cx="10332720" cy="731520"/>
          </a:xfrm>
          <a:prstGeom prst="rect">
            <a:avLst/>
          </a:prstGeom>
          <a:noFill/>
        </p:spPr>
        <p:txBody>
          <a:bodyPr wrap="square" anchor="ctr" lIns="25400" rIns="25400" tIns="25400" bIns="25400">
            <a:spAutoFit/>
          </a:bodyPr>
          <a:lstStyle/>
          <a:p>
            <a:pPr algn="l">
              <a:lnSpc>
                <a:spcPct val="100000"/>
              </a:lnSpc>
              <a:spcAft>
                <a:spcPts val="400"/>
              </a:spcAft>
            </a:pPr>
            <a:r>
              <a:rPr sz="2900" b="1" i="0">
                <a:solidFill>
                  <a:srgbClr val="1B5E20"/>
                </a:solidFill>
                <a:latin typeface="Calibri"/>
              </a:rPr>
              <a:t>Analyse bioclimatique du site</a:t>
            </a:r>
          </a:p>
        </p:txBody>
      </p:sp>
      <p:sp>
        <p:nvSpPr>
          <p:cNvPr id="7" name="TextBox 6"/>
          <p:cNvSpPr txBox="1"/>
          <p:nvPr/>
        </p:nvSpPr>
        <p:spPr>
          <a:xfrm>
            <a:off x="1325880" y="1060704"/>
            <a:ext cx="10332720" cy="365760"/>
          </a:xfrm>
          <a:prstGeom prst="rect">
            <a:avLst/>
          </a:prstGeom>
          <a:noFill/>
        </p:spPr>
        <p:txBody>
          <a:bodyPr wrap="square" anchor="t" lIns="25400" rIns="25400" tIns="25400" bIns="25400">
            <a:spAutoFit/>
          </a:bodyPr>
          <a:lstStyle/>
          <a:p>
            <a:pPr algn="l">
              <a:lnSpc>
                <a:spcPct val="100000"/>
              </a:lnSpc>
              <a:spcAft>
                <a:spcPts val="400"/>
              </a:spcAft>
            </a:pPr>
            <a:r>
              <a:rPr sz="1400" b="0" i="1">
                <a:solidFill>
                  <a:srgbClr val="90A4AE"/>
                </a:solidFill>
                <a:latin typeface="Calibri"/>
              </a:rPr>
              <a:t>Implantation, orientation et masque solaire</a:t>
            </a:r>
          </a:p>
        </p:txBody>
      </p:sp>
      <p:sp>
        <p:nvSpPr>
          <p:cNvPr id="8" name="Rectangle 7"/>
          <p:cNvSpPr/>
          <p:nvPr/>
        </p:nvSpPr>
        <p:spPr>
          <a:xfrm>
            <a:off x="1325880" y="1170432"/>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Rénovation énergétique – Saint-Jean-de-Chevelu (73) – Bloc 1</a:t>
            </a:r>
          </a:p>
        </p:txBody>
      </p:sp>
      <p:sp>
        <p:nvSpPr>
          <p:cNvPr id="10" name="TextBox 9"/>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sp>
        <p:nvSpPr>
          <p:cNvPr id="11" name="Rectangle 10"/>
          <p:cNvSpPr/>
          <p:nvPr/>
        </p:nvSpPr>
        <p:spPr>
          <a:xfrm>
            <a:off x="711520" y="1557010"/>
            <a:ext cx="3697600" cy="2152924"/>
          </a:xfrm>
          <a:prstGeom prst="rect">
            <a:avLst/>
          </a:prstGeom>
          <a:solidFill>
            <a:srgbClr val="FFFFFF"/>
          </a:solidFill>
          <a:ln w="1524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p03_x47_914x528.png"/>
          <p:cNvPicPr>
            <a:picLocks noChangeAspect="1"/>
          </p:cNvPicPr>
          <p:nvPr/>
        </p:nvPicPr>
        <p:blipFill>
          <a:blip r:embed="rId2"/>
          <a:stretch>
            <a:fillRect/>
          </a:stretch>
        </p:blipFill>
        <p:spPr>
          <a:xfrm>
            <a:off x="731520" y="1577010"/>
            <a:ext cx="3657600" cy="2112924"/>
          </a:xfrm>
          <a:prstGeom prst="rect">
            <a:avLst/>
          </a:prstGeom>
        </p:spPr>
      </p:pic>
      <p:sp>
        <p:nvSpPr>
          <p:cNvPr id="13" name="TextBox 12"/>
          <p:cNvSpPr txBox="1"/>
          <p:nvPr/>
        </p:nvSpPr>
        <p:spPr>
          <a:xfrm>
            <a:off x="731520" y="3732464"/>
            <a:ext cx="3657600" cy="310896"/>
          </a:xfrm>
          <a:prstGeom prst="rect">
            <a:avLst/>
          </a:prstGeom>
          <a:noFill/>
        </p:spPr>
        <p:txBody>
          <a:bodyPr wrap="square" anchor="t" lIns="25400" rIns="25400" tIns="25400" bIns="25400">
            <a:spAutoFit/>
          </a:bodyPr>
          <a:lstStyle/>
          <a:p>
            <a:pPr algn="ctr">
              <a:lnSpc>
                <a:spcPct val="100000"/>
              </a:lnSpc>
              <a:spcAft>
                <a:spcPts val="400"/>
              </a:spcAft>
            </a:pPr>
            <a:r>
              <a:rPr sz="1100" b="0" i="1">
                <a:solidFill>
                  <a:srgbClr val="90A4AE"/>
                </a:solidFill>
                <a:latin typeface="Calibri"/>
              </a:rPr>
              <a:t>Localisation — versant Sud-Est</a:t>
            </a:r>
          </a:p>
        </p:txBody>
      </p:sp>
      <p:sp>
        <p:nvSpPr>
          <p:cNvPr id="14" name="Rectangle 13"/>
          <p:cNvSpPr/>
          <p:nvPr/>
        </p:nvSpPr>
        <p:spPr>
          <a:xfrm>
            <a:off x="4870865" y="1534480"/>
            <a:ext cx="3242750" cy="2197984"/>
          </a:xfrm>
          <a:prstGeom prst="rect">
            <a:avLst/>
          </a:prstGeom>
          <a:solidFill>
            <a:srgbClr val="FFFFFF"/>
          </a:solidFill>
          <a:ln w="1524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p04_x51_889x599.png"/>
          <p:cNvPicPr>
            <a:picLocks noChangeAspect="1"/>
          </p:cNvPicPr>
          <p:nvPr/>
        </p:nvPicPr>
        <p:blipFill>
          <a:blip r:embed="rId3"/>
          <a:stretch>
            <a:fillRect/>
          </a:stretch>
        </p:blipFill>
        <p:spPr>
          <a:xfrm>
            <a:off x="4890865" y="1554480"/>
            <a:ext cx="3202750" cy="2157984"/>
          </a:xfrm>
          <a:prstGeom prst="rect">
            <a:avLst/>
          </a:prstGeom>
        </p:spPr>
      </p:pic>
      <p:sp>
        <p:nvSpPr>
          <p:cNvPr id="16" name="TextBox 15"/>
          <p:cNvSpPr txBox="1"/>
          <p:nvPr/>
        </p:nvSpPr>
        <p:spPr>
          <a:xfrm>
            <a:off x="4572000" y="3732464"/>
            <a:ext cx="3840480" cy="310896"/>
          </a:xfrm>
          <a:prstGeom prst="rect">
            <a:avLst/>
          </a:prstGeom>
          <a:noFill/>
        </p:spPr>
        <p:txBody>
          <a:bodyPr wrap="square" anchor="t" lIns="25400" rIns="25400" tIns="25400" bIns="25400">
            <a:spAutoFit/>
          </a:bodyPr>
          <a:lstStyle/>
          <a:p>
            <a:pPr algn="ctr">
              <a:lnSpc>
                <a:spcPct val="100000"/>
              </a:lnSpc>
              <a:spcAft>
                <a:spcPts val="400"/>
              </a:spcAft>
            </a:pPr>
            <a:r>
              <a:rPr sz="1100" b="0" i="1">
                <a:solidFill>
                  <a:srgbClr val="90A4AE"/>
                </a:solidFill>
                <a:latin typeface="Calibri"/>
              </a:rPr>
              <a:t>Diagramme de masque solaire lointain</a:t>
            </a:r>
          </a:p>
        </p:txBody>
      </p:sp>
      <p:graphicFrame>
        <p:nvGraphicFramePr>
          <p:cNvPr id="17" name="Table 16"/>
          <p:cNvGraphicFramePr>
            <a:graphicFrameLocks noGrp="1"/>
          </p:cNvGraphicFramePr>
          <p:nvPr/>
        </p:nvGraphicFramePr>
        <p:xfrm>
          <a:off x="8686800" y="1554480"/>
          <a:ext cx="2743200" cy="2468880"/>
        </p:xfrm>
        <a:graphic>
          <a:graphicData uri="http://schemas.openxmlformats.org/drawingml/2006/table">
            <a:tbl>
              <a:tblPr>
                <a:tableStyleId>{5C22544A-7EE6-4342-B048-85BDC9FD1C3A}</a:tableStyleId>
              </a:tblPr>
              <a:tblGrid>
                <a:gridCol w="1554480"/>
                <a:gridCol w="1188720"/>
              </a:tblGrid>
              <a:tr h="411480">
                <a:tc>
                  <a:txBody>
                    <a:bodyPr wrap="square"/>
                    <a:lstStyle/>
                    <a:p>
                      <a:pPr algn="l"/>
                      <a:r>
                        <a:rPr sz="1100" b="1">
                          <a:solidFill>
                            <a:srgbClr val="FFFFFF"/>
                          </a:solidFill>
                          <a:latin typeface="Calibri"/>
                        </a:rPr>
                        <a:t>Caractéristique</a:t>
                      </a:r>
                    </a:p>
                  </a:txBody>
                  <a:tcPr marL="88900" marR="88900" marT="12700" marB="12700" anchor="ctr">
                    <a:solidFill>
                      <a:srgbClr val="1B5E20"/>
                    </a:solidFill>
                  </a:tcPr>
                </a:tc>
                <a:tc>
                  <a:txBody>
                    <a:bodyPr wrap="square"/>
                    <a:lstStyle/>
                    <a:p>
                      <a:pPr algn="ctr"/>
                      <a:r>
                        <a:rPr sz="1100" b="1">
                          <a:solidFill>
                            <a:srgbClr val="FFFFFF"/>
                          </a:solidFill>
                          <a:latin typeface="Calibri"/>
                        </a:rPr>
                        <a:t>Valeur</a:t>
                      </a:r>
                    </a:p>
                  </a:txBody>
                  <a:tcPr marL="88900" marR="88900" marT="12700" marB="12700" anchor="ctr">
                    <a:solidFill>
                      <a:srgbClr val="1B5E20"/>
                    </a:solidFill>
                  </a:tcPr>
                </a:tc>
              </a:tr>
              <a:tr h="411480">
                <a:tc>
                  <a:txBody>
                    <a:bodyPr wrap="square"/>
                    <a:lstStyle/>
                    <a:p>
                      <a:pPr algn="l"/>
                      <a:r>
                        <a:rPr sz="1100" b="0">
                          <a:solidFill>
                            <a:srgbClr val="37474F"/>
                          </a:solidFill>
                          <a:latin typeface="Calibri"/>
                        </a:rPr>
                        <a:t>Altitude</a:t>
                      </a:r>
                    </a:p>
                  </a:txBody>
                  <a:tcPr marL="88900" marR="88900" marT="12700" marB="12700" anchor="ctr">
                    <a:solidFill>
                      <a:srgbClr val="FFFFFF"/>
                    </a:solidFill>
                  </a:tcPr>
                </a:tc>
                <a:tc>
                  <a:txBody>
                    <a:bodyPr wrap="square"/>
                    <a:lstStyle/>
                    <a:p>
                      <a:pPr algn="ctr"/>
                      <a:r>
                        <a:rPr sz="1100" b="0">
                          <a:solidFill>
                            <a:srgbClr val="37474F"/>
                          </a:solidFill>
                          <a:latin typeface="Calibri"/>
                        </a:rPr>
                        <a:t>498 m</a:t>
                      </a:r>
                    </a:p>
                  </a:txBody>
                  <a:tcPr marL="88900" marR="88900" marT="12700" marB="12700" anchor="ctr">
                    <a:solidFill>
                      <a:srgbClr val="FFFFFF"/>
                    </a:solidFill>
                  </a:tcPr>
                </a:tc>
              </a:tr>
              <a:tr h="411480">
                <a:tc>
                  <a:txBody>
                    <a:bodyPr wrap="square"/>
                    <a:lstStyle/>
                    <a:p>
                      <a:pPr algn="l"/>
                      <a:r>
                        <a:rPr sz="1100" b="0">
                          <a:solidFill>
                            <a:srgbClr val="37474F"/>
                          </a:solidFill>
                          <a:latin typeface="Calibri"/>
                        </a:rPr>
                        <a:t>Orientation</a:t>
                      </a:r>
                    </a:p>
                  </a:txBody>
                  <a:tcPr marL="88900" marR="88900" marT="12700" marB="12700" anchor="ctr">
                    <a:solidFill>
                      <a:srgbClr val="E8F5E9"/>
                    </a:solidFill>
                  </a:tcPr>
                </a:tc>
                <a:tc>
                  <a:txBody>
                    <a:bodyPr wrap="square"/>
                    <a:lstStyle/>
                    <a:p>
                      <a:pPr algn="ctr"/>
                      <a:r>
                        <a:rPr sz="1100" b="0">
                          <a:solidFill>
                            <a:srgbClr val="37474F"/>
                          </a:solidFill>
                          <a:latin typeface="Calibri"/>
                        </a:rPr>
                        <a:t>Sud-Est</a:t>
                      </a:r>
                    </a:p>
                  </a:txBody>
                  <a:tcPr marL="88900" marR="88900" marT="12700" marB="12700" anchor="ctr">
                    <a:solidFill>
                      <a:srgbClr val="E8F5E9"/>
                    </a:solidFill>
                  </a:tcPr>
                </a:tc>
              </a:tr>
              <a:tr h="411480">
                <a:tc>
                  <a:txBody>
                    <a:bodyPr wrap="square"/>
                    <a:lstStyle/>
                    <a:p>
                      <a:pPr algn="l"/>
                      <a:r>
                        <a:rPr sz="1100" b="0">
                          <a:solidFill>
                            <a:srgbClr val="37474F"/>
                          </a:solidFill>
                          <a:latin typeface="Calibri"/>
                        </a:rPr>
                        <a:t>Environnement</a:t>
                      </a:r>
                    </a:p>
                  </a:txBody>
                  <a:tcPr marL="88900" marR="88900" marT="12700" marB="12700" anchor="ctr">
                    <a:solidFill>
                      <a:srgbClr val="FFFFFF"/>
                    </a:solidFill>
                  </a:tcPr>
                </a:tc>
                <a:tc>
                  <a:txBody>
                    <a:bodyPr wrap="square"/>
                    <a:lstStyle/>
                    <a:p>
                      <a:pPr algn="ctr"/>
                      <a:r>
                        <a:rPr sz="1100" b="0">
                          <a:solidFill>
                            <a:srgbClr val="37474F"/>
                          </a:solidFill>
                          <a:latin typeface="Calibri"/>
                        </a:rPr>
                        <a:t>Rural</a:t>
                      </a:r>
                    </a:p>
                  </a:txBody>
                  <a:tcPr marL="88900" marR="88900" marT="12700" marB="12700" anchor="ctr">
                    <a:solidFill>
                      <a:srgbClr val="FFFFFF"/>
                    </a:solidFill>
                  </a:tcPr>
                </a:tc>
              </a:tr>
              <a:tr h="411480">
                <a:tc>
                  <a:txBody>
                    <a:bodyPr wrap="square"/>
                    <a:lstStyle/>
                    <a:p>
                      <a:pPr algn="l"/>
                      <a:r>
                        <a:rPr sz="1100" b="0">
                          <a:solidFill>
                            <a:srgbClr val="37474F"/>
                          </a:solidFill>
                          <a:latin typeface="Calibri"/>
                        </a:rPr>
                        <a:t>Masque</a:t>
                      </a:r>
                    </a:p>
                  </a:txBody>
                  <a:tcPr marL="88900" marR="88900" marT="12700" marB="12700" anchor="ctr">
                    <a:solidFill>
                      <a:srgbClr val="E8F5E9"/>
                    </a:solidFill>
                  </a:tcPr>
                </a:tc>
                <a:tc>
                  <a:txBody>
                    <a:bodyPr wrap="square"/>
                    <a:lstStyle/>
                    <a:p>
                      <a:pPr algn="ctr"/>
                      <a:r>
                        <a:rPr sz="1100" b="0">
                          <a:solidFill>
                            <a:srgbClr val="37474F"/>
                          </a:solidFill>
                          <a:latin typeface="Calibri"/>
                        </a:rPr>
                        <a:t>Lointain présent</a:t>
                      </a:r>
                    </a:p>
                  </a:txBody>
                  <a:tcPr marL="88900" marR="88900" marT="12700" marB="12700" anchor="ctr">
                    <a:solidFill>
                      <a:srgbClr val="E8F5E9"/>
                    </a:solidFill>
                  </a:tcPr>
                </a:tc>
              </a:tr>
              <a:tr h="411480">
                <a:tc>
                  <a:txBody>
                    <a:bodyPr wrap="square"/>
                    <a:lstStyle/>
                    <a:p>
                      <a:pPr algn="l"/>
                      <a:r>
                        <a:rPr sz="1100" b="0">
                          <a:solidFill>
                            <a:srgbClr val="37474F"/>
                          </a:solidFill>
                          <a:latin typeface="Calibri"/>
                        </a:rPr>
                        <a:t>Potentiel solaire</a:t>
                      </a:r>
                    </a:p>
                  </a:txBody>
                  <a:tcPr marL="88900" marR="88900" marT="12700" marB="12700" anchor="ctr">
                    <a:solidFill>
                      <a:srgbClr val="FFFFFF"/>
                    </a:solidFill>
                  </a:tcPr>
                </a:tc>
                <a:tc>
                  <a:txBody>
                    <a:bodyPr wrap="square"/>
                    <a:lstStyle/>
                    <a:p>
                      <a:pPr algn="ctr"/>
                      <a:r>
                        <a:rPr sz="1100" b="0">
                          <a:solidFill>
                            <a:srgbClr val="37474F"/>
                          </a:solidFill>
                          <a:latin typeface="Calibri"/>
                        </a:rPr>
                        <a:t>Hivernal favorable</a:t>
                      </a:r>
                    </a:p>
                  </a:txBody>
                  <a:tcPr marL="88900" marR="88900" marT="12700" marB="12700" anchor="ctr">
                    <a:solidFill>
                      <a:srgbClr val="FFFFFF"/>
                    </a:solidFill>
                  </a:tcPr>
                </a:tc>
              </a:tr>
            </a:tbl>
          </a:graphicData>
        </a:graphic>
      </p:graphicFrame>
      <p:sp>
        <p:nvSpPr>
          <p:cNvPr id="18" name="Rounded Rectangle 17"/>
          <p:cNvSpPr/>
          <p:nvPr/>
        </p:nvSpPr>
        <p:spPr>
          <a:xfrm>
            <a:off x="731520" y="4480560"/>
            <a:ext cx="10698480" cy="1280160"/>
          </a:xfrm>
          <a:prstGeom prst="roundRect">
            <a:avLst/>
          </a:prstGeom>
          <a:solidFill>
            <a:srgbClr val="E8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0120" y="4572000"/>
            <a:ext cx="10241280" cy="1097280"/>
          </a:xfrm>
          <a:prstGeom prst="rect">
            <a:avLst/>
          </a:prstGeom>
          <a:noFill/>
        </p:spPr>
        <p:txBody>
          <a:bodyPr wrap="square" anchor="t" lIns="25400" rIns="25400" tIns="25400" bIns="25400">
            <a:spAutoFit/>
          </a:bodyPr>
          <a:lstStyle/>
          <a:p>
            <a:pPr algn="l">
              <a:lnSpc>
                <a:spcPct val="120000"/>
              </a:lnSpc>
              <a:spcAft>
                <a:spcPts val="400"/>
              </a:spcAft>
            </a:pPr>
            <a:r>
              <a:rPr sz="1300" b="1" i="0">
                <a:solidFill>
                  <a:srgbClr val="1B5E20"/>
                </a:solidFill>
                <a:latin typeface="Calibri"/>
              </a:rPr>
              <a:t>Atout : </a:t>
            </a:r>
            <a:r>
              <a:rPr sz="1300" b="0" i="0">
                <a:solidFill>
                  <a:srgbClr val="37474F"/>
                </a:solidFill>
                <a:latin typeface="Calibri"/>
              </a:rPr>
              <a:t>l’orientation Sud-Est favorise les apports solaires d’hiver (gains gratuits, confort). </a:t>
            </a:r>
          </a:p>
          <a:p>
            <a:pPr algn="l">
              <a:lnSpc>
                <a:spcPct val="120000"/>
              </a:lnSpc>
              <a:spcAft>
                <a:spcPts val="400"/>
              </a:spcAft>
            </a:pPr>
            <a:r>
              <a:rPr sz="1300" b="1" i="0">
                <a:solidFill>
                  <a:srgbClr val="E65100"/>
                </a:solidFill>
                <a:latin typeface="Calibri"/>
              </a:rPr>
              <a:t>Vigilance : </a:t>
            </a:r>
            <a:r>
              <a:rPr sz="1300" b="0" i="0">
                <a:solidFill>
                  <a:srgbClr val="37474F"/>
                </a:solidFill>
                <a:latin typeface="Calibri"/>
              </a:rPr>
              <a:t>ces mêmes apports peuvent provoquer des surchauffes l’été → d’où le choix d’isolants déphasants et la fermeture des volets.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2</a:t>
            </a:r>
          </a:p>
        </p:txBody>
      </p:sp>
      <p:sp>
        <p:nvSpPr>
          <p:cNvPr id="6" name="TextBox 5"/>
          <p:cNvSpPr txBox="1"/>
          <p:nvPr/>
        </p:nvSpPr>
        <p:spPr>
          <a:xfrm>
            <a:off x="1325880" y="365760"/>
            <a:ext cx="10332720" cy="731520"/>
          </a:xfrm>
          <a:prstGeom prst="rect">
            <a:avLst/>
          </a:prstGeom>
          <a:noFill/>
        </p:spPr>
        <p:txBody>
          <a:bodyPr wrap="square" anchor="ctr" lIns="25400" rIns="25400" tIns="25400" bIns="25400">
            <a:spAutoFit/>
          </a:bodyPr>
          <a:lstStyle/>
          <a:p>
            <a:pPr algn="l">
              <a:lnSpc>
                <a:spcPct val="100000"/>
              </a:lnSpc>
              <a:spcAft>
                <a:spcPts val="400"/>
              </a:spcAft>
            </a:pPr>
            <a:r>
              <a:rPr sz="2900" b="1" i="0">
                <a:solidFill>
                  <a:srgbClr val="1B5E20"/>
                </a:solidFill>
                <a:latin typeface="Calibri"/>
              </a:rPr>
              <a:t>Analyse des consommations</a:t>
            </a:r>
          </a:p>
        </p:txBody>
      </p:sp>
      <p:sp>
        <p:nvSpPr>
          <p:cNvPr id="7" name="TextBox 6"/>
          <p:cNvSpPr txBox="1"/>
          <p:nvPr/>
        </p:nvSpPr>
        <p:spPr>
          <a:xfrm>
            <a:off x="1325880" y="1060704"/>
            <a:ext cx="10332720" cy="365760"/>
          </a:xfrm>
          <a:prstGeom prst="rect">
            <a:avLst/>
          </a:prstGeom>
          <a:noFill/>
        </p:spPr>
        <p:txBody>
          <a:bodyPr wrap="square" anchor="t" lIns="25400" rIns="25400" tIns="25400" bIns="25400">
            <a:spAutoFit/>
          </a:bodyPr>
          <a:lstStyle/>
          <a:p>
            <a:pPr algn="l">
              <a:lnSpc>
                <a:spcPct val="100000"/>
              </a:lnSpc>
              <a:spcAft>
                <a:spcPts val="400"/>
              </a:spcAft>
            </a:pPr>
            <a:r>
              <a:rPr sz="1400" b="0" i="1">
                <a:solidFill>
                  <a:srgbClr val="90A4AE"/>
                </a:solidFill>
                <a:latin typeface="Calibri"/>
              </a:rPr>
              <a:t>Relevés des factures sur 5 ans</a:t>
            </a:r>
          </a:p>
        </p:txBody>
      </p:sp>
      <p:sp>
        <p:nvSpPr>
          <p:cNvPr id="8" name="Rectangle 7"/>
          <p:cNvSpPr/>
          <p:nvPr/>
        </p:nvSpPr>
        <p:spPr>
          <a:xfrm>
            <a:off x="1325880" y="1170432"/>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Rénovation énergétique – Saint-Jean-de-Chevelu (73) – Bloc 1</a:t>
            </a:r>
          </a:p>
        </p:txBody>
      </p:sp>
      <p:sp>
        <p:nvSpPr>
          <p:cNvPr id="10" name="TextBox 9"/>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sp>
        <p:nvSpPr>
          <p:cNvPr id="11" name="Rounded Rectangle 10"/>
          <p:cNvSpPr/>
          <p:nvPr/>
        </p:nvSpPr>
        <p:spPr>
          <a:xfrm>
            <a:off x="822960" y="1554480"/>
            <a:ext cx="3291840" cy="1325880"/>
          </a:xfrm>
          <a:prstGeom prst="roundRect">
            <a:avLst/>
          </a:prstGeom>
          <a:solidFill>
            <a:srgbClr val="FFFFFF"/>
          </a:solidFill>
          <a:ln w="1270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22960" y="1554480"/>
            <a:ext cx="3291840" cy="109728"/>
          </a:xfrm>
          <a:prstGeom prst="roundRect">
            <a:avLst/>
          </a:prstGeom>
          <a:solidFill>
            <a:srgbClr val="E6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1700784"/>
            <a:ext cx="3291840" cy="777240"/>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E65100"/>
                </a:solidFill>
                <a:latin typeface="Calibri"/>
              </a:rPr>
              <a:t>1 560 L/an</a:t>
            </a:r>
          </a:p>
        </p:txBody>
      </p:sp>
      <p:sp>
        <p:nvSpPr>
          <p:cNvPr id="14" name="TextBox 13"/>
          <p:cNvSpPr txBox="1"/>
          <p:nvPr/>
        </p:nvSpPr>
        <p:spPr>
          <a:xfrm>
            <a:off x="822960" y="2404872"/>
            <a:ext cx="3291840" cy="438912"/>
          </a:xfrm>
          <a:prstGeom prst="rect">
            <a:avLst/>
          </a:prstGeom>
          <a:noFill/>
        </p:spPr>
        <p:txBody>
          <a:bodyPr wrap="square" anchor="ctr" lIns="25400" rIns="25400" tIns="25400" bIns="25400">
            <a:spAutoFit/>
          </a:bodyPr>
          <a:lstStyle/>
          <a:p>
            <a:pPr algn="ctr">
              <a:lnSpc>
                <a:spcPct val="100000"/>
              </a:lnSpc>
              <a:spcAft>
                <a:spcPts val="400"/>
              </a:spcAft>
            </a:pPr>
            <a:r>
              <a:rPr sz="1100" b="0" i="0">
                <a:solidFill>
                  <a:srgbClr val="37474F"/>
                </a:solidFill>
                <a:latin typeface="Calibri"/>
              </a:rPr>
              <a:t>Fioul (moy.) — chauffage principal</a:t>
            </a:r>
          </a:p>
        </p:txBody>
      </p:sp>
      <p:sp>
        <p:nvSpPr>
          <p:cNvPr id="15" name="Rounded Rectangle 14"/>
          <p:cNvSpPr/>
          <p:nvPr/>
        </p:nvSpPr>
        <p:spPr>
          <a:xfrm>
            <a:off x="4297680" y="1554480"/>
            <a:ext cx="3291840" cy="1325880"/>
          </a:xfrm>
          <a:prstGeom prst="roundRect">
            <a:avLst/>
          </a:prstGeom>
          <a:solidFill>
            <a:srgbClr val="FFFFFF"/>
          </a:solidFill>
          <a:ln w="1270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4297680" y="1554480"/>
            <a:ext cx="3291840" cy="109728"/>
          </a:xfrm>
          <a:prstGeom prst="round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297680" y="1700784"/>
            <a:ext cx="3291840" cy="777240"/>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2E7D32"/>
                </a:solidFill>
                <a:latin typeface="Calibri"/>
              </a:rPr>
              <a:t>6 stères/an</a:t>
            </a:r>
          </a:p>
        </p:txBody>
      </p:sp>
      <p:sp>
        <p:nvSpPr>
          <p:cNvPr id="18" name="TextBox 17"/>
          <p:cNvSpPr txBox="1"/>
          <p:nvPr/>
        </p:nvSpPr>
        <p:spPr>
          <a:xfrm>
            <a:off x="4297680" y="2404872"/>
            <a:ext cx="3291840" cy="438912"/>
          </a:xfrm>
          <a:prstGeom prst="rect">
            <a:avLst/>
          </a:prstGeom>
          <a:noFill/>
        </p:spPr>
        <p:txBody>
          <a:bodyPr wrap="square" anchor="ctr" lIns="25400" rIns="25400" tIns="25400" bIns="25400">
            <a:spAutoFit/>
          </a:bodyPr>
          <a:lstStyle/>
          <a:p>
            <a:pPr algn="ctr">
              <a:lnSpc>
                <a:spcPct val="100000"/>
              </a:lnSpc>
              <a:spcAft>
                <a:spcPts val="400"/>
              </a:spcAft>
            </a:pPr>
            <a:r>
              <a:rPr sz="1100" b="0" i="0">
                <a:solidFill>
                  <a:srgbClr val="37474F"/>
                </a:solidFill>
                <a:latin typeface="Calibri"/>
              </a:rPr>
              <a:t>Bois bûche — poêle d’appoint</a:t>
            </a:r>
          </a:p>
        </p:txBody>
      </p:sp>
      <p:sp>
        <p:nvSpPr>
          <p:cNvPr id="19" name="Rounded Rectangle 18"/>
          <p:cNvSpPr/>
          <p:nvPr/>
        </p:nvSpPr>
        <p:spPr>
          <a:xfrm>
            <a:off x="7772400" y="1554480"/>
            <a:ext cx="3291840" cy="1325880"/>
          </a:xfrm>
          <a:prstGeom prst="roundRect">
            <a:avLst/>
          </a:prstGeom>
          <a:solidFill>
            <a:srgbClr val="FFFFFF"/>
          </a:solidFill>
          <a:ln w="1270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7772400" y="1554480"/>
            <a:ext cx="3291840" cy="109728"/>
          </a:xfrm>
          <a:prstGeom prst="roundRect">
            <a:avLst/>
          </a:prstGeom>
          <a:solidFill>
            <a:srgbClr val="1565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0" y="1700784"/>
            <a:ext cx="3291840" cy="777240"/>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1565C0"/>
                </a:solidFill>
                <a:latin typeface="Calibri"/>
              </a:rPr>
              <a:t>5 447 kWh/an</a:t>
            </a:r>
          </a:p>
        </p:txBody>
      </p:sp>
      <p:sp>
        <p:nvSpPr>
          <p:cNvPr id="22" name="TextBox 21"/>
          <p:cNvSpPr txBox="1"/>
          <p:nvPr/>
        </p:nvSpPr>
        <p:spPr>
          <a:xfrm>
            <a:off x="7772400" y="2404872"/>
            <a:ext cx="3291840" cy="438912"/>
          </a:xfrm>
          <a:prstGeom prst="rect">
            <a:avLst/>
          </a:prstGeom>
          <a:noFill/>
        </p:spPr>
        <p:txBody>
          <a:bodyPr wrap="square" anchor="ctr" lIns="25400" rIns="25400" tIns="25400" bIns="25400">
            <a:spAutoFit/>
          </a:bodyPr>
          <a:lstStyle/>
          <a:p>
            <a:pPr algn="ctr">
              <a:lnSpc>
                <a:spcPct val="100000"/>
              </a:lnSpc>
              <a:spcAft>
                <a:spcPts val="400"/>
              </a:spcAft>
            </a:pPr>
            <a:r>
              <a:rPr sz="1100" b="0" i="0">
                <a:solidFill>
                  <a:srgbClr val="37474F"/>
                </a:solidFill>
                <a:latin typeface="Calibri"/>
              </a:rPr>
              <a:t>Électricité — ECS, éclairage, usages</a:t>
            </a:r>
          </a:p>
        </p:txBody>
      </p:sp>
      <p:graphicFrame>
        <p:nvGraphicFramePr>
          <p:cNvPr id="23" name="Chart 22"/>
          <p:cNvGraphicFramePr>
            <a:graphicFrameLocks noGrp="1"/>
          </p:cNvGraphicFramePr>
          <p:nvPr/>
        </p:nvGraphicFramePr>
        <p:xfrm>
          <a:off x="822960" y="3154680"/>
          <a:ext cx="6400800" cy="2880360"/>
        </p:xfrm>
        <a:graphic>
          <a:graphicData uri="http://schemas.openxmlformats.org/drawingml/2006/chart">
            <c:chart xmlns:c="http://schemas.openxmlformats.org/drawingml/2006/chart" r:id="rId2"/>
          </a:graphicData>
        </a:graphic>
      </p:graphicFrame>
      <p:sp>
        <p:nvSpPr>
          <p:cNvPr id="24" name="Rounded Rectangle 23"/>
          <p:cNvSpPr/>
          <p:nvPr/>
        </p:nvSpPr>
        <p:spPr>
          <a:xfrm>
            <a:off x="7589520" y="3154680"/>
            <a:ext cx="3657600" cy="2880360"/>
          </a:xfrm>
          <a:prstGeom prst="roundRect">
            <a:avLst/>
          </a:prstGeom>
          <a:solidFill>
            <a:srgbClr val="E8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818120" y="3246120"/>
            <a:ext cx="3200400" cy="365760"/>
          </a:xfrm>
          <a:prstGeom prst="rect">
            <a:avLst/>
          </a:prstGeom>
          <a:noFill/>
        </p:spPr>
        <p:txBody>
          <a:bodyPr wrap="square" anchor="t" lIns="25400" rIns="25400" tIns="25400" bIns="25400">
            <a:spAutoFit/>
          </a:bodyPr>
          <a:lstStyle/>
          <a:p>
            <a:pPr algn="l">
              <a:lnSpc>
                <a:spcPct val="100000"/>
              </a:lnSpc>
              <a:spcAft>
                <a:spcPts val="400"/>
              </a:spcAft>
            </a:pPr>
            <a:r>
              <a:rPr sz="1400" b="1" i="0">
                <a:solidFill>
                  <a:srgbClr val="1B5E20"/>
                </a:solidFill>
                <a:latin typeface="Calibri"/>
              </a:rPr>
              <a:t>Lecture</a:t>
            </a:r>
          </a:p>
        </p:txBody>
      </p:sp>
      <p:sp>
        <p:nvSpPr>
          <p:cNvPr id="26" name="TextBox 25"/>
          <p:cNvSpPr txBox="1"/>
          <p:nvPr/>
        </p:nvSpPr>
        <p:spPr>
          <a:xfrm>
            <a:off x="7818120" y="3657600"/>
            <a:ext cx="3291840" cy="2286000"/>
          </a:xfrm>
          <a:prstGeom prst="rect">
            <a:avLst/>
          </a:prstGeom>
          <a:noFill/>
        </p:spPr>
        <p:txBody>
          <a:bodyPr wrap="square">
            <a:spAutoFit/>
          </a:bodyPr>
          <a:lstStyle/>
          <a:p>
            <a:pPr>
              <a:lnSpc>
                <a:spcPct val="105000"/>
              </a:lnSpc>
              <a:spcAft>
                <a:spcPts val="700"/>
              </a:spcAft>
            </a:pPr>
            <a:r>
              <a:rPr sz="1200" b="1">
                <a:solidFill>
                  <a:srgbClr val="2E7D32"/>
                </a:solidFill>
                <a:latin typeface="Calibri"/>
              </a:rPr>
              <a:t>●  </a:t>
            </a:r>
            <a:r>
              <a:rPr sz="1200">
                <a:solidFill>
                  <a:srgbClr val="37474F"/>
                </a:solidFill>
                <a:latin typeface="Calibri"/>
              </a:rPr>
              <a:t>Forte dépendance au fioul (chaudière 1991)</a:t>
            </a:r>
          </a:p>
          <a:p>
            <a:pPr>
              <a:lnSpc>
                <a:spcPct val="105000"/>
              </a:lnSpc>
              <a:spcAft>
                <a:spcPts val="700"/>
              </a:spcAft>
            </a:pPr>
            <a:r>
              <a:rPr sz="1200" b="1">
                <a:solidFill>
                  <a:srgbClr val="2E7D32"/>
                </a:solidFill>
                <a:latin typeface="Calibri"/>
              </a:rPr>
              <a:t>●  </a:t>
            </a:r>
            <a:r>
              <a:rPr sz="1200">
                <a:solidFill>
                  <a:srgbClr val="37474F"/>
                </a:solidFill>
                <a:latin typeface="Calibri"/>
              </a:rPr>
              <a:t>Conso stable malgré la météo</a:t>
            </a:r>
          </a:p>
          <a:p>
            <a:pPr>
              <a:lnSpc>
                <a:spcPct val="105000"/>
              </a:lnSpc>
              <a:spcAft>
                <a:spcPts val="700"/>
              </a:spcAft>
            </a:pPr>
            <a:r>
              <a:rPr sz="1200" b="1">
                <a:solidFill>
                  <a:srgbClr val="2E7D32"/>
                </a:solidFill>
                <a:latin typeface="Calibri"/>
              </a:rPr>
              <a:t>●  </a:t>
            </a:r>
            <a:r>
              <a:rPr sz="1200">
                <a:solidFill>
                  <a:srgbClr val="37474F"/>
                </a:solidFill>
                <a:latin typeface="Calibri"/>
              </a:rPr>
              <a:t>Cause : enveloppe peu performante</a:t>
            </a:r>
          </a:p>
          <a:p>
            <a:pPr>
              <a:lnSpc>
                <a:spcPct val="105000"/>
              </a:lnSpc>
              <a:spcAft>
                <a:spcPts val="700"/>
              </a:spcAft>
            </a:pPr>
            <a:r>
              <a:rPr sz="1200" b="1">
                <a:solidFill>
                  <a:srgbClr val="2E7D32"/>
                </a:solidFill>
                <a:latin typeface="Calibri"/>
              </a:rPr>
              <a:t>●  </a:t>
            </a:r>
            <a:r>
              <a:rPr sz="1200">
                <a:solidFill>
                  <a:srgbClr val="37474F"/>
                </a:solidFill>
                <a:latin typeface="Calibri"/>
              </a:rPr>
              <a:t>ECS électrique = poste élec majeur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2</a:t>
            </a:r>
          </a:p>
        </p:txBody>
      </p:sp>
      <p:sp>
        <p:nvSpPr>
          <p:cNvPr id="6" name="TextBox 5"/>
          <p:cNvSpPr txBox="1"/>
          <p:nvPr/>
        </p:nvSpPr>
        <p:spPr>
          <a:xfrm>
            <a:off x="1325880" y="365760"/>
            <a:ext cx="10332720" cy="731520"/>
          </a:xfrm>
          <a:prstGeom prst="rect">
            <a:avLst/>
          </a:prstGeom>
          <a:noFill/>
        </p:spPr>
        <p:txBody>
          <a:bodyPr wrap="square" anchor="ctr" lIns="25400" rIns="25400" tIns="25400" bIns="25400">
            <a:spAutoFit/>
          </a:bodyPr>
          <a:lstStyle/>
          <a:p>
            <a:pPr algn="l">
              <a:lnSpc>
                <a:spcPct val="100000"/>
              </a:lnSpc>
              <a:spcAft>
                <a:spcPts val="400"/>
              </a:spcAft>
            </a:pPr>
            <a:r>
              <a:rPr sz="2900" b="1" i="0">
                <a:solidFill>
                  <a:srgbClr val="1B5E20"/>
                </a:solidFill>
                <a:latin typeface="Calibri"/>
              </a:rPr>
              <a:t>Postes de dépense &amp; mise en perspective</a:t>
            </a:r>
          </a:p>
        </p:txBody>
      </p:sp>
      <p:sp>
        <p:nvSpPr>
          <p:cNvPr id="7" name="Rectangle 6"/>
          <p:cNvSpPr/>
          <p:nvPr/>
        </p:nvSpPr>
        <p:spPr>
          <a:xfrm>
            <a:off x="1325880" y="1170432"/>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Rénovation énergétique – Saint-Jean-de-Chevelu (73) – Bloc 1</a:t>
            </a:r>
          </a:p>
        </p:txBody>
      </p:sp>
      <p:sp>
        <p:nvSpPr>
          <p:cNvPr id="9" name="TextBox 8"/>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graphicFrame>
        <p:nvGraphicFramePr>
          <p:cNvPr id="10" name="Chart 9"/>
          <p:cNvGraphicFramePr>
            <a:graphicFrameLocks noGrp="1"/>
          </p:cNvGraphicFramePr>
          <p:nvPr/>
        </p:nvGraphicFramePr>
        <p:xfrm>
          <a:off x="548640" y="1554480"/>
          <a:ext cx="5120640" cy="4206240"/>
        </p:xfrm>
        <a:graphic>
          <a:graphicData uri="http://schemas.openxmlformats.org/drawingml/2006/chart">
            <c:chart xmlns:c="http://schemas.openxmlformats.org/drawingml/2006/chart" r:id="rId2"/>
          </a:graphicData>
        </a:graphic>
      </p:graphicFrame>
      <p:sp>
        <p:nvSpPr>
          <p:cNvPr id="11" name="TextBox 10"/>
          <p:cNvSpPr txBox="1"/>
          <p:nvPr/>
        </p:nvSpPr>
        <p:spPr>
          <a:xfrm>
            <a:off x="6126480" y="1554480"/>
            <a:ext cx="5303520" cy="365760"/>
          </a:xfrm>
          <a:prstGeom prst="rect">
            <a:avLst/>
          </a:prstGeom>
          <a:noFill/>
        </p:spPr>
        <p:txBody>
          <a:bodyPr wrap="square" anchor="t" lIns="25400" rIns="25400" tIns="25400" bIns="25400">
            <a:spAutoFit/>
          </a:bodyPr>
          <a:lstStyle/>
          <a:p>
            <a:pPr algn="l">
              <a:lnSpc>
                <a:spcPct val="100000"/>
              </a:lnSpc>
              <a:spcAft>
                <a:spcPts val="400"/>
              </a:spcAft>
            </a:pPr>
            <a:r>
              <a:rPr sz="1600" b="1" i="0">
                <a:solidFill>
                  <a:srgbClr val="1B5E20"/>
                </a:solidFill>
                <a:latin typeface="Calibri"/>
              </a:rPr>
              <a:t>Mise en perspective</a:t>
            </a:r>
          </a:p>
        </p:txBody>
      </p:sp>
      <p:sp>
        <p:nvSpPr>
          <p:cNvPr id="12" name="TextBox 11"/>
          <p:cNvSpPr txBox="1"/>
          <p:nvPr/>
        </p:nvSpPr>
        <p:spPr>
          <a:xfrm>
            <a:off x="6126480" y="2011680"/>
            <a:ext cx="5394960" cy="2194560"/>
          </a:xfrm>
          <a:prstGeom prst="rect">
            <a:avLst/>
          </a:prstGeom>
          <a:noFill/>
        </p:spPr>
        <p:txBody>
          <a:bodyPr wrap="square">
            <a:spAutoFit/>
          </a:bodyPr>
          <a:lstStyle/>
          <a:p>
            <a:pPr>
              <a:lnSpc>
                <a:spcPct val="105000"/>
              </a:lnSpc>
              <a:spcAft>
                <a:spcPts val="1100"/>
              </a:spcAft>
            </a:pPr>
            <a:r>
              <a:rPr sz="1350" b="1">
                <a:solidFill>
                  <a:srgbClr val="2E7D32"/>
                </a:solidFill>
                <a:latin typeface="Calibri"/>
              </a:rPr>
              <a:t>●  </a:t>
            </a:r>
            <a:r>
              <a:rPr sz="1350" b="1">
                <a:solidFill>
                  <a:srgbClr val="37474F"/>
                </a:solidFill>
                <a:latin typeface="Calibri"/>
              </a:rPr>
              <a:t>Rigueur climatique intégrée : </a:t>
            </a:r>
            <a:r>
              <a:rPr sz="1350">
                <a:solidFill>
                  <a:srgbClr val="37474F"/>
                </a:solidFill>
                <a:latin typeface="Calibri"/>
              </a:rPr>
              <a:t>Savoie, 498 m, zone H1 (climat froid → besoins élevés)</a:t>
            </a:r>
          </a:p>
          <a:p>
            <a:pPr>
              <a:lnSpc>
                <a:spcPct val="105000"/>
              </a:lnSpc>
              <a:spcAft>
                <a:spcPts val="1100"/>
              </a:spcAft>
            </a:pPr>
            <a:r>
              <a:rPr sz="1350" b="1">
                <a:solidFill>
                  <a:srgbClr val="2E7D32"/>
                </a:solidFill>
                <a:latin typeface="Calibri"/>
              </a:rPr>
              <a:t>●  </a:t>
            </a:r>
            <a:r>
              <a:rPr sz="1350" b="1">
                <a:solidFill>
                  <a:srgbClr val="37474F"/>
                </a:solidFill>
                <a:latin typeface="Calibri"/>
              </a:rPr>
              <a:t>Cohérence factures / DPE : </a:t>
            </a:r>
            <a:r>
              <a:rPr sz="1350">
                <a:solidFill>
                  <a:srgbClr val="37474F"/>
                </a:solidFill>
                <a:latin typeface="Calibri"/>
              </a:rPr>
              <a:t>conso facturée en ligne avec l’estimation théorique du DPE</a:t>
            </a:r>
          </a:p>
          <a:p>
            <a:pPr>
              <a:lnSpc>
                <a:spcPct val="105000"/>
              </a:lnSpc>
              <a:spcAft>
                <a:spcPts val="1100"/>
              </a:spcAft>
            </a:pPr>
            <a:r>
              <a:rPr sz="1350" b="1">
                <a:solidFill>
                  <a:srgbClr val="2E7D32"/>
                </a:solidFill>
                <a:latin typeface="Calibri"/>
              </a:rPr>
              <a:t>●  </a:t>
            </a:r>
            <a:r>
              <a:rPr sz="1350" b="1">
                <a:solidFill>
                  <a:srgbClr val="37474F"/>
                </a:solidFill>
                <a:latin typeface="Calibri"/>
              </a:rPr>
              <a:t>Chauffage = poste dominant : </a:t>
            </a:r>
            <a:r>
              <a:rPr sz="1350">
                <a:solidFill>
                  <a:srgbClr val="37474F"/>
                </a:solidFill>
                <a:latin typeface="Calibri"/>
              </a:rPr>
              <a:t>près de 80 % de la dépense énergétique</a:t>
            </a:r>
          </a:p>
        </p:txBody>
      </p:sp>
      <p:sp>
        <p:nvSpPr>
          <p:cNvPr id="13" name="Rounded Rectangle 12"/>
          <p:cNvSpPr/>
          <p:nvPr/>
        </p:nvSpPr>
        <p:spPr>
          <a:xfrm>
            <a:off x="6126480" y="4343400"/>
            <a:ext cx="5394960" cy="1371600"/>
          </a:xfrm>
          <a:prstGeom prst="roundRect">
            <a:avLst/>
          </a:prstGeom>
          <a:solidFill>
            <a:srgbClr val="FFF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4480560"/>
            <a:ext cx="4937760" cy="1188720"/>
          </a:xfrm>
          <a:prstGeom prst="rect">
            <a:avLst/>
          </a:prstGeom>
          <a:noFill/>
        </p:spPr>
        <p:txBody>
          <a:bodyPr wrap="square" anchor="t" lIns="25400" rIns="25400" tIns="25400" bIns="25400">
            <a:spAutoFit/>
          </a:bodyPr>
          <a:lstStyle/>
          <a:p>
            <a:pPr algn="l">
              <a:lnSpc>
                <a:spcPct val="115000"/>
              </a:lnSpc>
              <a:spcAft>
                <a:spcPts val="400"/>
              </a:spcAft>
            </a:pPr>
            <a:r>
              <a:rPr sz="1300" b="1" i="0">
                <a:solidFill>
                  <a:srgbClr val="E65100"/>
                </a:solidFill>
                <a:latin typeface="Calibri"/>
              </a:rPr>
              <a:t>Comparaison à la moyenne nationale</a:t>
            </a:r>
          </a:p>
          <a:p>
            <a:pPr algn="l">
              <a:lnSpc>
                <a:spcPct val="115000"/>
              </a:lnSpc>
              <a:spcAft>
                <a:spcPts val="400"/>
              </a:spcAft>
            </a:pPr>
            <a:r>
              <a:rPr sz="1600" b="1" i="0">
                <a:solidFill>
                  <a:srgbClr val="37474F"/>
                </a:solidFill>
                <a:latin typeface="Calibri"/>
              </a:rPr>
              <a:t>535 kWhEP/m².an  vs  ≈ 250 kWhEP/m².an</a:t>
            </a:r>
          </a:p>
          <a:p>
            <a:pPr algn="l">
              <a:lnSpc>
                <a:spcPct val="115000"/>
              </a:lnSpc>
              <a:spcAft>
                <a:spcPts val="400"/>
              </a:spcAft>
            </a:pPr>
            <a:r>
              <a:rPr sz="1200" b="0" i="0">
                <a:solidFill>
                  <a:srgbClr val="37474F"/>
                </a:solidFill>
                <a:latin typeface="Calibri"/>
              </a:rPr>
              <a:t>→ plus du double d’une habitation moyenne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2</a:t>
            </a:r>
          </a:p>
        </p:txBody>
      </p:sp>
      <p:sp>
        <p:nvSpPr>
          <p:cNvPr id="6" name="TextBox 5"/>
          <p:cNvSpPr txBox="1"/>
          <p:nvPr/>
        </p:nvSpPr>
        <p:spPr>
          <a:xfrm>
            <a:off x="1325880" y="365760"/>
            <a:ext cx="10332720" cy="731520"/>
          </a:xfrm>
          <a:prstGeom prst="rect">
            <a:avLst/>
          </a:prstGeom>
          <a:noFill/>
        </p:spPr>
        <p:txBody>
          <a:bodyPr wrap="square" anchor="ctr" lIns="25400" rIns="25400" tIns="25400" bIns="25400">
            <a:spAutoFit/>
          </a:bodyPr>
          <a:lstStyle/>
          <a:p>
            <a:pPr algn="l">
              <a:lnSpc>
                <a:spcPct val="100000"/>
              </a:lnSpc>
              <a:spcAft>
                <a:spcPts val="400"/>
              </a:spcAft>
            </a:pPr>
            <a:r>
              <a:rPr sz="2900" b="1" i="0">
                <a:solidFill>
                  <a:srgbClr val="1B5E20"/>
                </a:solidFill>
                <a:latin typeface="Calibri"/>
              </a:rPr>
              <a:t>Diagnostic de l’enveloppe thermique</a:t>
            </a:r>
          </a:p>
        </p:txBody>
      </p:sp>
      <p:sp>
        <p:nvSpPr>
          <p:cNvPr id="7" name="Rectangle 6"/>
          <p:cNvSpPr/>
          <p:nvPr/>
        </p:nvSpPr>
        <p:spPr>
          <a:xfrm>
            <a:off x="1325880" y="1170432"/>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Rénovation énergétique – Saint-Jean-de-Chevelu (73) – Bloc 1</a:t>
            </a:r>
          </a:p>
        </p:txBody>
      </p:sp>
      <p:sp>
        <p:nvSpPr>
          <p:cNvPr id="9" name="TextBox 8"/>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graphicFrame>
        <p:nvGraphicFramePr>
          <p:cNvPr id="10" name="Table 9"/>
          <p:cNvGraphicFramePr>
            <a:graphicFrameLocks noGrp="1"/>
          </p:cNvGraphicFramePr>
          <p:nvPr/>
        </p:nvGraphicFramePr>
        <p:xfrm>
          <a:off x="822960" y="1554480"/>
          <a:ext cx="7315200" cy="3520440"/>
        </p:xfrm>
        <a:graphic>
          <a:graphicData uri="http://schemas.openxmlformats.org/drawingml/2006/table">
            <a:tbl>
              <a:tblPr>
                <a:tableStyleId>{5C22544A-7EE6-4342-B048-85BDC9FD1C3A}</a:tableStyleId>
              </a:tblPr>
              <a:tblGrid>
                <a:gridCol w="2011680"/>
                <a:gridCol w="3108960"/>
                <a:gridCol w="2194560"/>
              </a:tblGrid>
              <a:tr h="502920">
                <a:tc>
                  <a:txBody>
                    <a:bodyPr wrap="square"/>
                    <a:lstStyle/>
                    <a:p>
                      <a:pPr algn="l"/>
                      <a:r>
                        <a:rPr sz="1200" b="1">
                          <a:solidFill>
                            <a:srgbClr val="FFFFFF"/>
                          </a:solidFill>
                          <a:latin typeface="Calibri"/>
                        </a:rPr>
                        <a:t>Élément</a:t>
                      </a:r>
                    </a:p>
                  </a:txBody>
                  <a:tcPr marL="88900" marR="88900" marT="12700" marB="12700" anchor="ctr">
                    <a:solidFill>
                      <a:srgbClr val="1B5E20"/>
                    </a:solidFill>
                  </a:tcPr>
                </a:tc>
                <a:tc>
                  <a:txBody>
                    <a:bodyPr wrap="square"/>
                    <a:lstStyle/>
                    <a:p>
                      <a:pPr algn="ctr"/>
                      <a:r>
                        <a:rPr sz="1200" b="1">
                          <a:solidFill>
                            <a:srgbClr val="FFFFFF"/>
                          </a:solidFill>
                          <a:latin typeface="Calibri"/>
                        </a:rPr>
                        <a:t>Composition</a:t>
                      </a:r>
                    </a:p>
                  </a:txBody>
                  <a:tcPr marL="88900" marR="88900" marT="12700" marB="12700" anchor="ctr">
                    <a:solidFill>
                      <a:srgbClr val="1B5E20"/>
                    </a:solidFill>
                  </a:tcPr>
                </a:tc>
                <a:tc>
                  <a:txBody>
                    <a:bodyPr wrap="square"/>
                    <a:lstStyle/>
                    <a:p>
                      <a:pPr algn="ctr"/>
                      <a:r>
                        <a:rPr sz="1200" b="1">
                          <a:solidFill>
                            <a:srgbClr val="FFFFFF"/>
                          </a:solidFill>
                          <a:latin typeface="Calibri"/>
                        </a:rPr>
                        <a:t>Observation</a:t>
                      </a:r>
                    </a:p>
                  </a:txBody>
                  <a:tcPr marL="88900" marR="88900" marT="12700" marB="12700" anchor="ctr">
                    <a:solidFill>
                      <a:srgbClr val="1B5E20"/>
                    </a:solidFill>
                  </a:tcPr>
                </a:tc>
              </a:tr>
              <a:tr h="502920">
                <a:tc>
                  <a:txBody>
                    <a:bodyPr wrap="square"/>
                    <a:lstStyle/>
                    <a:p>
                      <a:pPr algn="l"/>
                      <a:r>
                        <a:rPr sz="1150" b="1">
                          <a:solidFill>
                            <a:srgbClr val="37474F"/>
                          </a:solidFill>
                          <a:latin typeface="Calibri"/>
                        </a:rPr>
                        <a:t>Murs extérieurs</a:t>
                      </a:r>
                    </a:p>
                  </a:txBody>
                  <a:tcPr marL="88900" marR="88900" marT="12700" marB="12700" anchor="ctr">
                    <a:solidFill>
                      <a:srgbClr val="FFFFFF"/>
                    </a:solidFill>
                  </a:tcPr>
                </a:tc>
                <a:tc>
                  <a:txBody>
                    <a:bodyPr wrap="square"/>
                    <a:lstStyle/>
                    <a:p>
                      <a:pPr algn="ctr"/>
                      <a:r>
                        <a:rPr sz="1150" b="0">
                          <a:solidFill>
                            <a:srgbClr val="37474F"/>
                          </a:solidFill>
                          <a:latin typeface="Calibri"/>
                        </a:rPr>
                        <a:t>Pierre calcaire 50 cm</a:t>
                      </a:r>
                    </a:p>
                  </a:txBody>
                  <a:tcPr marL="88900" marR="88900" marT="12700" marB="12700" anchor="ctr">
                    <a:solidFill>
                      <a:srgbClr val="FFFFFF"/>
                    </a:solidFill>
                  </a:tcPr>
                </a:tc>
                <a:tc>
                  <a:txBody>
                    <a:bodyPr wrap="square"/>
                    <a:lstStyle/>
                    <a:p>
                      <a:pPr algn="ctr"/>
                      <a:r>
                        <a:rPr sz="1150" b="0">
                          <a:solidFill>
                            <a:srgbClr val="37474F"/>
                          </a:solidFill>
                          <a:latin typeface="Calibri"/>
                        </a:rPr>
                        <a:t>Forte inertie, faible isolation</a:t>
                      </a:r>
                    </a:p>
                  </a:txBody>
                  <a:tcPr marL="88900" marR="88900" marT="12700" marB="12700" anchor="ctr">
                    <a:solidFill>
                      <a:srgbClr val="FFFFFF"/>
                    </a:solidFill>
                  </a:tcPr>
                </a:tc>
              </a:tr>
              <a:tr h="502920">
                <a:tc>
                  <a:txBody>
                    <a:bodyPr wrap="square"/>
                    <a:lstStyle/>
                    <a:p>
                      <a:pPr algn="l"/>
                      <a:r>
                        <a:rPr sz="1150" b="1">
                          <a:solidFill>
                            <a:srgbClr val="37474F"/>
                          </a:solidFill>
                          <a:latin typeface="Calibri"/>
                        </a:rPr>
                        <a:t>Toiture / combles</a:t>
                      </a:r>
                    </a:p>
                  </a:txBody>
                  <a:tcPr marL="88900" marR="88900" marT="12700" marB="12700" anchor="ctr">
                    <a:solidFill>
                      <a:srgbClr val="E8F5E9"/>
                    </a:solidFill>
                  </a:tcPr>
                </a:tc>
                <a:tc>
                  <a:txBody>
                    <a:bodyPr wrap="square"/>
                    <a:lstStyle/>
                    <a:p>
                      <a:pPr algn="ctr"/>
                      <a:r>
                        <a:rPr sz="1150" b="0">
                          <a:solidFill>
                            <a:srgbClr val="37474F"/>
                          </a:solidFill>
                          <a:latin typeface="Calibri"/>
                        </a:rPr>
                        <a:t>8 cm laine minérale ancienne</a:t>
                      </a:r>
                    </a:p>
                  </a:txBody>
                  <a:tcPr marL="88900" marR="88900" marT="12700" marB="12700" anchor="ctr">
                    <a:solidFill>
                      <a:srgbClr val="E8F5E9"/>
                    </a:solidFill>
                  </a:tcPr>
                </a:tc>
                <a:tc>
                  <a:txBody>
                    <a:bodyPr wrap="square"/>
                    <a:lstStyle/>
                    <a:p>
                      <a:pPr algn="ctr"/>
                      <a:r>
                        <a:rPr sz="1150" b="0">
                          <a:solidFill>
                            <a:srgbClr val="37474F"/>
                          </a:solidFill>
                          <a:latin typeface="Calibri"/>
                        </a:rPr>
                        <a:t>Isolation insuffisante</a:t>
                      </a:r>
                    </a:p>
                  </a:txBody>
                  <a:tcPr marL="88900" marR="88900" marT="12700" marB="12700" anchor="ctr">
                    <a:solidFill>
                      <a:srgbClr val="E8F5E9"/>
                    </a:solidFill>
                  </a:tcPr>
                </a:tc>
              </a:tr>
              <a:tr h="502920">
                <a:tc>
                  <a:txBody>
                    <a:bodyPr wrap="square"/>
                    <a:lstStyle/>
                    <a:p>
                      <a:pPr algn="l"/>
                      <a:r>
                        <a:rPr sz="1150" b="1">
                          <a:solidFill>
                            <a:srgbClr val="37474F"/>
                          </a:solidFill>
                          <a:latin typeface="Calibri"/>
                        </a:rPr>
                        <a:t>Menuiseries</a:t>
                      </a:r>
                    </a:p>
                  </a:txBody>
                  <a:tcPr marL="88900" marR="88900" marT="12700" marB="12700" anchor="ctr">
                    <a:solidFill>
                      <a:srgbClr val="FFFFFF"/>
                    </a:solidFill>
                  </a:tcPr>
                </a:tc>
                <a:tc>
                  <a:txBody>
                    <a:bodyPr wrap="square"/>
                    <a:lstStyle/>
                    <a:p>
                      <a:pPr algn="ctr"/>
                      <a:r>
                        <a:rPr sz="1150" b="0">
                          <a:solidFill>
                            <a:srgbClr val="37474F"/>
                          </a:solidFill>
                          <a:latin typeface="Calibri"/>
                        </a:rPr>
                        <a:t>Double vitrage bois 4/16/4 Argon (2019)</a:t>
                      </a:r>
                    </a:p>
                  </a:txBody>
                  <a:tcPr marL="88900" marR="88900" marT="12700" marB="12700" anchor="ctr">
                    <a:solidFill>
                      <a:srgbClr val="FFFFFF"/>
                    </a:solidFill>
                  </a:tcPr>
                </a:tc>
                <a:tc>
                  <a:txBody>
                    <a:bodyPr wrap="square"/>
                    <a:lstStyle/>
                    <a:p>
                      <a:pPr algn="ctr"/>
                      <a:r>
                        <a:rPr sz="1150" b="0">
                          <a:solidFill>
                            <a:srgbClr val="37474F"/>
                          </a:solidFill>
                          <a:latin typeface="Calibri"/>
                        </a:rPr>
                        <a:t>Bon état, performantes</a:t>
                      </a:r>
                    </a:p>
                  </a:txBody>
                  <a:tcPr marL="88900" marR="88900" marT="12700" marB="12700" anchor="ctr">
                    <a:solidFill>
                      <a:srgbClr val="FFFFFF"/>
                    </a:solidFill>
                  </a:tcPr>
                </a:tc>
              </a:tr>
              <a:tr h="502920">
                <a:tc>
                  <a:txBody>
                    <a:bodyPr wrap="square"/>
                    <a:lstStyle/>
                    <a:p>
                      <a:pPr algn="l"/>
                      <a:r>
                        <a:rPr sz="1150" b="1">
                          <a:solidFill>
                            <a:srgbClr val="37474F"/>
                          </a:solidFill>
                          <a:latin typeface="Calibri"/>
                        </a:rPr>
                        <a:t>Plancher bas</a:t>
                      </a:r>
                    </a:p>
                  </a:txBody>
                  <a:tcPr marL="88900" marR="88900" marT="12700" marB="12700" anchor="ctr">
                    <a:solidFill>
                      <a:srgbClr val="E8F5E9"/>
                    </a:solidFill>
                  </a:tcPr>
                </a:tc>
                <a:tc>
                  <a:txBody>
                    <a:bodyPr wrap="square"/>
                    <a:lstStyle/>
                    <a:p>
                      <a:pPr algn="ctr"/>
                      <a:r>
                        <a:rPr sz="1150" b="0">
                          <a:solidFill>
                            <a:srgbClr val="37474F"/>
                          </a:solidFill>
                          <a:latin typeface="Calibri"/>
                        </a:rPr>
                        <a:t>Dalle béton sur terre-plein</a:t>
                      </a:r>
                    </a:p>
                  </a:txBody>
                  <a:tcPr marL="88900" marR="88900" marT="12700" marB="12700" anchor="ctr">
                    <a:solidFill>
                      <a:srgbClr val="E8F5E9"/>
                    </a:solidFill>
                  </a:tcPr>
                </a:tc>
                <a:tc>
                  <a:txBody>
                    <a:bodyPr wrap="square"/>
                    <a:lstStyle/>
                    <a:p>
                      <a:pPr algn="ctr"/>
                      <a:r>
                        <a:rPr sz="1150" b="0">
                          <a:solidFill>
                            <a:srgbClr val="37474F"/>
                          </a:solidFill>
                          <a:latin typeface="Calibri"/>
                        </a:rPr>
                        <a:t>Non isolé → déperditions</a:t>
                      </a:r>
                    </a:p>
                  </a:txBody>
                  <a:tcPr marL="88900" marR="88900" marT="12700" marB="12700" anchor="ctr">
                    <a:solidFill>
                      <a:srgbClr val="E8F5E9"/>
                    </a:solidFill>
                  </a:tcPr>
                </a:tc>
              </a:tr>
              <a:tr h="502920">
                <a:tc>
                  <a:txBody>
                    <a:bodyPr wrap="square"/>
                    <a:lstStyle/>
                    <a:p>
                      <a:pPr algn="l"/>
                      <a:r>
                        <a:rPr sz="1150" b="1">
                          <a:solidFill>
                            <a:srgbClr val="37474F"/>
                          </a:solidFill>
                          <a:latin typeface="Calibri"/>
                        </a:rPr>
                        <a:t>Ponts thermiques</a:t>
                      </a:r>
                    </a:p>
                  </a:txBody>
                  <a:tcPr marL="88900" marR="88900" marT="12700" marB="12700" anchor="ctr">
                    <a:solidFill>
                      <a:srgbClr val="FFFFFF"/>
                    </a:solidFill>
                  </a:tcPr>
                </a:tc>
                <a:tc>
                  <a:txBody>
                    <a:bodyPr wrap="square"/>
                    <a:lstStyle/>
                    <a:p>
                      <a:pPr algn="ctr"/>
                      <a:r>
                        <a:rPr sz="1150" b="0">
                          <a:solidFill>
                            <a:srgbClr val="37474F"/>
                          </a:solidFill>
                          <a:latin typeface="Calibri"/>
                        </a:rPr>
                        <a:t>Jonctions des parois</a:t>
                      </a:r>
                    </a:p>
                  </a:txBody>
                  <a:tcPr marL="88900" marR="88900" marT="12700" marB="12700" anchor="ctr">
                    <a:solidFill>
                      <a:srgbClr val="FFFFFF"/>
                    </a:solidFill>
                  </a:tcPr>
                </a:tc>
                <a:tc>
                  <a:txBody>
                    <a:bodyPr wrap="square"/>
                    <a:lstStyle/>
                    <a:p>
                      <a:pPr algn="ctr"/>
                      <a:r>
                        <a:rPr sz="1150" b="0">
                          <a:solidFill>
                            <a:srgbClr val="37474F"/>
                          </a:solidFill>
                          <a:latin typeface="Calibri"/>
                        </a:rPr>
                        <a:t>Pertes importantes</a:t>
                      </a:r>
                    </a:p>
                  </a:txBody>
                  <a:tcPr marL="88900" marR="88900" marT="12700" marB="12700" anchor="ctr">
                    <a:solidFill>
                      <a:srgbClr val="FFFFFF"/>
                    </a:solidFill>
                  </a:tcPr>
                </a:tc>
              </a:tr>
              <a:tr h="502920">
                <a:tc>
                  <a:txBody>
                    <a:bodyPr wrap="square"/>
                    <a:lstStyle/>
                    <a:p>
                      <a:pPr algn="l"/>
                      <a:r>
                        <a:rPr sz="1150" b="1">
                          <a:solidFill>
                            <a:srgbClr val="37474F"/>
                          </a:solidFill>
                          <a:latin typeface="Calibri"/>
                        </a:rPr>
                        <a:t>Étanchéité à l’air</a:t>
                      </a:r>
                    </a:p>
                  </a:txBody>
                  <a:tcPr marL="88900" marR="88900" marT="12700" marB="12700" anchor="ctr">
                    <a:solidFill>
                      <a:srgbClr val="E8F5E9"/>
                    </a:solidFill>
                  </a:tcPr>
                </a:tc>
                <a:tc>
                  <a:txBody>
                    <a:bodyPr wrap="square"/>
                    <a:lstStyle/>
                    <a:p>
                      <a:pPr algn="ctr"/>
                      <a:r>
                        <a:rPr sz="1150" b="0">
                          <a:solidFill>
                            <a:srgbClr val="37474F"/>
                          </a:solidFill>
                          <a:latin typeface="Calibri"/>
                        </a:rPr>
                        <a:t>Non maîtrisée (entrées d’air)</a:t>
                      </a:r>
                    </a:p>
                  </a:txBody>
                  <a:tcPr marL="88900" marR="88900" marT="12700" marB="12700" anchor="ctr">
                    <a:solidFill>
                      <a:srgbClr val="E8F5E9"/>
                    </a:solidFill>
                  </a:tcPr>
                </a:tc>
                <a:tc>
                  <a:txBody>
                    <a:bodyPr wrap="square"/>
                    <a:lstStyle/>
                    <a:p>
                      <a:pPr algn="ctr"/>
                      <a:r>
                        <a:rPr sz="1150" b="0">
                          <a:solidFill>
                            <a:srgbClr val="37474F"/>
                          </a:solidFill>
                          <a:latin typeface="Calibri"/>
                        </a:rPr>
                        <a:t>Infiltrations parasites</a:t>
                      </a:r>
                    </a:p>
                  </a:txBody>
                  <a:tcPr marL="88900" marR="88900" marT="12700" marB="12700" anchor="ctr">
                    <a:solidFill>
                      <a:srgbClr val="E8F5E9"/>
                    </a:solidFill>
                  </a:tcPr>
                </a:tc>
              </a:tr>
            </a:tbl>
          </a:graphicData>
        </a:graphic>
      </p:graphicFrame>
      <p:sp>
        <p:nvSpPr>
          <p:cNvPr id="11" name="Rectangle 10"/>
          <p:cNvSpPr/>
          <p:nvPr/>
        </p:nvSpPr>
        <p:spPr>
          <a:xfrm>
            <a:off x="8589356" y="1534480"/>
            <a:ext cx="2572328" cy="2197984"/>
          </a:xfrm>
          <a:prstGeom prst="rect">
            <a:avLst/>
          </a:prstGeom>
          <a:solidFill>
            <a:srgbClr val="FFFFFF"/>
          </a:solidFill>
          <a:ln w="1524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p06_x62_460x392.png"/>
          <p:cNvPicPr>
            <a:picLocks noChangeAspect="1"/>
          </p:cNvPicPr>
          <p:nvPr/>
        </p:nvPicPr>
        <p:blipFill>
          <a:blip r:embed="rId2"/>
          <a:stretch>
            <a:fillRect/>
          </a:stretch>
        </p:blipFill>
        <p:spPr>
          <a:xfrm>
            <a:off x="8609356" y="1554480"/>
            <a:ext cx="2532328" cy="2157984"/>
          </a:xfrm>
          <a:prstGeom prst="rect">
            <a:avLst/>
          </a:prstGeom>
        </p:spPr>
      </p:pic>
      <p:sp>
        <p:nvSpPr>
          <p:cNvPr id="13" name="TextBox 12"/>
          <p:cNvSpPr txBox="1"/>
          <p:nvPr/>
        </p:nvSpPr>
        <p:spPr>
          <a:xfrm>
            <a:off x="8412480" y="3732464"/>
            <a:ext cx="2926080" cy="310896"/>
          </a:xfrm>
          <a:prstGeom prst="rect">
            <a:avLst/>
          </a:prstGeom>
          <a:noFill/>
        </p:spPr>
        <p:txBody>
          <a:bodyPr wrap="square" anchor="t" lIns="25400" rIns="25400" tIns="25400" bIns="25400">
            <a:spAutoFit/>
          </a:bodyPr>
          <a:lstStyle/>
          <a:p>
            <a:pPr algn="ctr">
              <a:lnSpc>
                <a:spcPct val="100000"/>
              </a:lnSpc>
              <a:spcAft>
                <a:spcPts val="400"/>
              </a:spcAft>
            </a:pPr>
            <a:r>
              <a:rPr sz="1100" b="0" i="1">
                <a:solidFill>
                  <a:srgbClr val="90A4AE"/>
                </a:solidFill>
                <a:latin typeface="Calibri"/>
              </a:rPr>
              <a:t>Pose des menuiseries bois en tunnel (2019)</a:t>
            </a:r>
          </a:p>
        </p:txBody>
      </p:sp>
      <p:sp>
        <p:nvSpPr>
          <p:cNvPr id="14" name="Rounded Rectangle 13"/>
          <p:cNvSpPr/>
          <p:nvPr/>
        </p:nvSpPr>
        <p:spPr>
          <a:xfrm>
            <a:off x="8412480" y="4343400"/>
            <a:ext cx="2926080" cy="1417320"/>
          </a:xfrm>
          <a:prstGeom prst="roundRect">
            <a:avLst/>
          </a:prstGeom>
          <a:solidFill>
            <a:srgbClr val="E8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0" y="4434840"/>
            <a:ext cx="2606040" cy="1280160"/>
          </a:xfrm>
          <a:prstGeom prst="rect">
            <a:avLst/>
          </a:prstGeom>
          <a:noFill/>
        </p:spPr>
        <p:txBody>
          <a:bodyPr wrap="square" anchor="t" lIns="25400" rIns="25400" tIns="25400" bIns="25400">
            <a:spAutoFit/>
          </a:bodyPr>
          <a:lstStyle/>
          <a:p>
            <a:pPr algn="l">
              <a:lnSpc>
                <a:spcPct val="115000"/>
              </a:lnSpc>
              <a:spcAft>
                <a:spcPts val="400"/>
              </a:spcAft>
            </a:pPr>
            <a:r>
              <a:rPr sz="1300" b="1" i="0">
                <a:solidFill>
                  <a:srgbClr val="1B5E20"/>
                </a:solidFill>
                <a:latin typeface="Calibri"/>
              </a:rPr>
              <a:t>À retenir</a:t>
            </a:r>
          </a:p>
          <a:p>
            <a:pPr algn="l">
              <a:lnSpc>
                <a:spcPct val="115000"/>
              </a:lnSpc>
              <a:spcAft>
                <a:spcPts val="400"/>
              </a:spcAft>
            </a:pPr>
            <a:r>
              <a:rPr sz="1200" b="0" i="0">
                <a:solidFill>
                  <a:srgbClr val="37474F"/>
                </a:solidFill>
                <a:latin typeface="Calibri"/>
              </a:rPr>
              <a:t>Fenêtres déjà rénovées →</a:t>
            </a:r>
          </a:p>
          <a:p>
            <a:pPr algn="l">
              <a:lnSpc>
                <a:spcPct val="115000"/>
              </a:lnSpc>
              <a:spcAft>
                <a:spcPts val="400"/>
              </a:spcAft>
            </a:pPr>
            <a:r>
              <a:rPr sz="1300" b="1" i="0">
                <a:solidFill>
                  <a:srgbClr val="1B5E20"/>
                </a:solidFill>
                <a:latin typeface="Calibri"/>
              </a:rPr>
              <a:t>priorité : murs + toiture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2</a:t>
            </a:r>
          </a:p>
        </p:txBody>
      </p:sp>
      <p:sp>
        <p:nvSpPr>
          <p:cNvPr id="6" name="TextBox 5"/>
          <p:cNvSpPr txBox="1"/>
          <p:nvPr/>
        </p:nvSpPr>
        <p:spPr>
          <a:xfrm>
            <a:off x="1325880" y="365760"/>
            <a:ext cx="10332720" cy="731520"/>
          </a:xfrm>
          <a:prstGeom prst="rect">
            <a:avLst/>
          </a:prstGeom>
          <a:noFill/>
        </p:spPr>
        <p:txBody>
          <a:bodyPr wrap="square" anchor="ctr" lIns="25400" rIns="25400" tIns="25400" bIns="25400">
            <a:spAutoFit/>
          </a:bodyPr>
          <a:lstStyle/>
          <a:p>
            <a:pPr algn="l">
              <a:lnSpc>
                <a:spcPct val="100000"/>
              </a:lnSpc>
              <a:spcAft>
                <a:spcPts val="400"/>
              </a:spcAft>
            </a:pPr>
            <a:r>
              <a:rPr sz="2900" b="1" i="0">
                <a:solidFill>
                  <a:srgbClr val="1B5E20"/>
                </a:solidFill>
                <a:latin typeface="Calibri"/>
              </a:rPr>
              <a:t>Diagnostic des systèmes existants</a:t>
            </a:r>
          </a:p>
        </p:txBody>
      </p:sp>
      <p:sp>
        <p:nvSpPr>
          <p:cNvPr id="7" name="TextBox 6"/>
          <p:cNvSpPr txBox="1"/>
          <p:nvPr/>
        </p:nvSpPr>
        <p:spPr>
          <a:xfrm>
            <a:off x="1325880" y="1060704"/>
            <a:ext cx="10332720" cy="365760"/>
          </a:xfrm>
          <a:prstGeom prst="rect">
            <a:avLst/>
          </a:prstGeom>
          <a:noFill/>
        </p:spPr>
        <p:txBody>
          <a:bodyPr wrap="square" anchor="t" lIns="25400" rIns="25400" tIns="25400" bIns="25400">
            <a:spAutoFit/>
          </a:bodyPr>
          <a:lstStyle/>
          <a:p>
            <a:pPr algn="l">
              <a:lnSpc>
                <a:spcPct val="100000"/>
              </a:lnSpc>
              <a:spcAft>
                <a:spcPts val="400"/>
              </a:spcAft>
            </a:pPr>
            <a:r>
              <a:rPr sz="1400" b="0" i="1">
                <a:solidFill>
                  <a:srgbClr val="90A4AE"/>
                </a:solidFill>
                <a:latin typeface="Calibri"/>
              </a:rPr>
              <a:t>Chauffage, ECS et ventilation</a:t>
            </a:r>
          </a:p>
        </p:txBody>
      </p:sp>
      <p:sp>
        <p:nvSpPr>
          <p:cNvPr id="8" name="Rectangle 7"/>
          <p:cNvSpPr/>
          <p:nvPr/>
        </p:nvSpPr>
        <p:spPr>
          <a:xfrm>
            <a:off x="1325880" y="1170432"/>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Rénovation énergétique – Saint-Jean-de-Chevelu (73) – Bloc 1</a:t>
            </a:r>
          </a:p>
        </p:txBody>
      </p:sp>
      <p:sp>
        <p:nvSpPr>
          <p:cNvPr id="10" name="TextBox 9"/>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graphicFrame>
        <p:nvGraphicFramePr>
          <p:cNvPr id="11" name="Table 10"/>
          <p:cNvGraphicFramePr>
            <a:graphicFrameLocks noGrp="1"/>
          </p:cNvGraphicFramePr>
          <p:nvPr/>
        </p:nvGraphicFramePr>
        <p:xfrm>
          <a:off x="822960" y="1554480"/>
          <a:ext cx="7498080" cy="3182112"/>
        </p:xfrm>
        <a:graphic>
          <a:graphicData uri="http://schemas.openxmlformats.org/drawingml/2006/table">
            <a:tbl>
              <a:tblPr>
                <a:tableStyleId>{5C22544A-7EE6-4342-B048-85BDC9FD1C3A}</a:tableStyleId>
              </a:tblPr>
              <a:tblGrid>
                <a:gridCol w="2011680"/>
                <a:gridCol w="3200400"/>
                <a:gridCol w="2286000"/>
              </a:tblGrid>
              <a:tr h="530352">
                <a:tc>
                  <a:txBody>
                    <a:bodyPr wrap="square"/>
                    <a:lstStyle/>
                    <a:p>
                      <a:pPr algn="l"/>
                      <a:r>
                        <a:rPr sz="1200" b="1">
                          <a:solidFill>
                            <a:srgbClr val="FFFFFF"/>
                          </a:solidFill>
                          <a:latin typeface="Calibri"/>
                        </a:rPr>
                        <a:t>Équipement</a:t>
                      </a:r>
                    </a:p>
                  </a:txBody>
                  <a:tcPr marL="88900" marR="88900" marT="12700" marB="12700" anchor="ctr">
                    <a:solidFill>
                      <a:srgbClr val="1B5E20"/>
                    </a:solidFill>
                  </a:tcPr>
                </a:tc>
                <a:tc>
                  <a:txBody>
                    <a:bodyPr wrap="square"/>
                    <a:lstStyle/>
                    <a:p>
                      <a:pPr algn="ctr"/>
                      <a:r>
                        <a:rPr sz="1200" b="1">
                          <a:solidFill>
                            <a:srgbClr val="FFFFFF"/>
                          </a:solidFill>
                          <a:latin typeface="Calibri"/>
                        </a:rPr>
                        <a:t>Description</a:t>
                      </a:r>
                    </a:p>
                  </a:txBody>
                  <a:tcPr marL="88900" marR="88900" marT="12700" marB="12700" anchor="ctr">
                    <a:solidFill>
                      <a:srgbClr val="1B5E20"/>
                    </a:solidFill>
                  </a:tcPr>
                </a:tc>
                <a:tc>
                  <a:txBody>
                    <a:bodyPr wrap="square"/>
                    <a:lstStyle/>
                    <a:p>
                      <a:pPr algn="ctr"/>
                      <a:r>
                        <a:rPr sz="1200" b="1">
                          <a:solidFill>
                            <a:srgbClr val="FFFFFF"/>
                          </a:solidFill>
                          <a:latin typeface="Calibri"/>
                        </a:rPr>
                        <a:t>Limite principale</a:t>
                      </a:r>
                    </a:p>
                  </a:txBody>
                  <a:tcPr marL="88900" marR="88900" marT="12700" marB="12700" anchor="ctr">
                    <a:solidFill>
                      <a:srgbClr val="1B5E20"/>
                    </a:solidFill>
                  </a:tcPr>
                </a:tc>
              </a:tr>
              <a:tr h="530352">
                <a:tc>
                  <a:txBody>
                    <a:bodyPr wrap="square"/>
                    <a:lstStyle/>
                    <a:p>
                      <a:pPr algn="l"/>
                      <a:r>
                        <a:rPr sz="1150" b="1">
                          <a:solidFill>
                            <a:srgbClr val="37474F"/>
                          </a:solidFill>
                          <a:latin typeface="Calibri"/>
                        </a:rPr>
                        <a:t>Chaudière fioul</a:t>
                      </a:r>
                    </a:p>
                  </a:txBody>
                  <a:tcPr marL="88900" marR="88900" marT="12700" marB="12700" anchor="ctr">
                    <a:solidFill>
                      <a:srgbClr val="FFFFFF"/>
                    </a:solidFill>
                  </a:tcPr>
                </a:tc>
                <a:tc>
                  <a:txBody>
                    <a:bodyPr wrap="square"/>
                    <a:lstStyle/>
                    <a:p>
                      <a:pPr algn="ctr"/>
                      <a:r>
                        <a:rPr sz="1150" b="0">
                          <a:solidFill>
                            <a:srgbClr val="37474F"/>
                          </a:solidFill>
                          <a:latin typeface="Calibri"/>
                        </a:rPr>
                        <a:t>Basse température, 1991</a:t>
                      </a:r>
                    </a:p>
                  </a:txBody>
                  <a:tcPr marL="88900" marR="88900" marT="12700" marB="12700" anchor="ctr">
                    <a:solidFill>
                      <a:srgbClr val="FFFFFF"/>
                    </a:solidFill>
                  </a:tcPr>
                </a:tc>
                <a:tc>
                  <a:txBody>
                    <a:bodyPr wrap="square"/>
                    <a:lstStyle/>
                    <a:p>
                      <a:pPr algn="ctr"/>
                      <a:r>
                        <a:rPr sz="1150" b="0">
                          <a:solidFill>
                            <a:srgbClr val="37474F"/>
                          </a:solidFill>
                          <a:latin typeface="Calibri"/>
                        </a:rPr>
                        <a:t>Ancienne, fossile, sans sonde extérieure</a:t>
                      </a:r>
                    </a:p>
                  </a:txBody>
                  <a:tcPr marL="88900" marR="88900" marT="12700" marB="12700" anchor="ctr">
                    <a:solidFill>
                      <a:srgbClr val="FFFFFF"/>
                    </a:solidFill>
                  </a:tcPr>
                </a:tc>
              </a:tr>
              <a:tr h="530352">
                <a:tc>
                  <a:txBody>
                    <a:bodyPr wrap="square"/>
                    <a:lstStyle/>
                    <a:p>
                      <a:pPr algn="l"/>
                      <a:r>
                        <a:rPr sz="1150" b="1">
                          <a:solidFill>
                            <a:srgbClr val="37474F"/>
                          </a:solidFill>
                          <a:latin typeface="Calibri"/>
                        </a:rPr>
                        <a:t>Radiateurs fonte</a:t>
                      </a:r>
                    </a:p>
                  </a:txBody>
                  <a:tcPr marL="88900" marR="88900" marT="12700" marB="12700" anchor="ctr">
                    <a:solidFill>
                      <a:srgbClr val="E8F5E9"/>
                    </a:solidFill>
                  </a:tcPr>
                </a:tc>
                <a:tc>
                  <a:txBody>
                    <a:bodyPr wrap="square"/>
                    <a:lstStyle/>
                    <a:p>
                      <a:pPr algn="ctr"/>
                      <a:r>
                        <a:rPr sz="1150" b="0">
                          <a:solidFill>
                            <a:srgbClr val="37474F"/>
                          </a:solidFill>
                          <a:latin typeface="Calibri"/>
                        </a:rPr>
                        <a:t>Haute T°, sans robinet thermo.</a:t>
                      </a:r>
                    </a:p>
                  </a:txBody>
                  <a:tcPr marL="88900" marR="88900" marT="12700" marB="12700" anchor="ctr">
                    <a:solidFill>
                      <a:srgbClr val="E8F5E9"/>
                    </a:solidFill>
                  </a:tcPr>
                </a:tc>
                <a:tc>
                  <a:txBody>
                    <a:bodyPr wrap="square"/>
                    <a:lstStyle/>
                    <a:p>
                      <a:pPr algn="ctr"/>
                      <a:r>
                        <a:rPr sz="1150" b="0">
                          <a:solidFill>
                            <a:srgbClr val="37474F"/>
                          </a:solidFill>
                          <a:latin typeface="Calibri"/>
                        </a:rPr>
                        <a:t>Régulation pièce par pièce absente</a:t>
                      </a:r>
                    </a:p>
                  </a:txBody>
                  <a:tcPr marL="88900" marR="88900" marT="12700" marB="12700" anchor="ctr">
                    <a:solidFill>
                      <a:srgbClr val="E8F5E9"/>
                    </a:solidFill>
                  </a:tcPr>
                </a:tc>
              </a:tr>
              <a:tr h="530352">
                <a:tc>
                  <a:txBody>
                    <a:bodyPr wrap="square"/>
                    <a:lstStyle/>
                    <a:p>
                      <a:pPr algn="l"/>
                      <a:r>
                        <a:rPr sz="1150" b="1">
                          <a:solidFill>
                            <a:srgbClr val="37474F"/>
                          </a:solidFill>
                          <a:latin typeface="Calibri"/>
                        </a:rPr>
                        <a:t>Poêle à bois</a:t>
                      </a:r>
                    </a:p>
                  </a:txBody>
                  <a:tcPr marL="88900" marR="88900" marT="12700" marB="12700" anchor="ctr">
                    <a:solidFill>
                      <a:srgbClr val="FFFFFF"/>
                    </a:solidFill>
                  </a:tcPr>
                </a:tc>
                <a:tc>
                  <a:txBody>
                    <a:bodyPr wrap="square"/>
                    <a:lstStyle/>
                    <a:p>
                      <a:pPr algn="ctr"/>
                      <a:r>
                        <a:rPr sz="1150" b="0">
                          <a:solidFill>
                            <a:srgbClr val="37474F"/>
                          </a:solidFill>
                          <a:latin typeface="Calibri"/>
                        </a:rPr>
                        <a:t>Bûches 6 kW (2010)</a:t>
                      </a:r>
                    </a:p>
                  </a:txBody>
                  <a:tcPr marL="88900" marR="88900" marT="12700" marB="12700" anchor="ctr">
                    <a:solidFill>
                      <a:srgbClr val="FFFFFF"/>
                    </a:solidFill>
                  </a:tcPr>
                </a:tc>
                <a:tc>
                  <a:txBody>
                    <a:bodyPr wrap="square"/>
                    <a:lstStyle/>
                    <a:p>
                      <a:pPr algn="ctr"/>
                      <a:r>
                        <a:rPr sz="1150" b="0">
                          <a:solidFill>
                            <a:srgbClr val="37474F"/>
                          </a:solidFill>
                          <a:latin typeface="Calibri"/>
                        </a:rPr>
                        <a:t>Pas de label Flamme Verte, non étanche</a:t>
                      </a:r>
                    </a:p>
                  </a:txBody>
                  <a:tcPr marL="88900" marR="88900" marT="12700" marB="12700" anchor="ctr">
                    <a:solidFill>
                      <a:srgbClr val="FFFFFF"/>
                    </a:solidFill>
                  </a:tcPr>
                </a:tc>
              </a:tr>
              <a:tr h="530352">
                <a:tc>
                  <a:txBody>
                    <a:bodyPr wrap="square"/>
                    <a:lstStyle/>
                    <a:p>
                      <a:pPr algn="l"/>
                      <a:r>
                        <a:rPr sz="1150" b="1">
                          <a:solidFill>
                            <a:srgbClr val="37474F"/>
                          </a:solidFill>
                          <a:latin typeface="Calibri"/>
                        </a:rPr>
                        <a:t>Ballon ECS</a:t>
                      </a:r>
                    </a:p>
                  </a:txBody>
                  <a:tcPr marL="88900" marR="88900" marT="12700" marB="12700" anchor="ctr">
                    <a:solidFill>
                      <a:srgbClr val="E8F5E9"/>
                    </a:solidFill>
                  </a:tcPr>
                </a:tc>
                <a:tc>
                  <a:txBody>
                    <a:bodyPr wrap="square"/>
                    <a:lstStyle/>
                    <a:p>
                      <a:pPr algn="ctr"/>
                      <a:r>
                        <a:rPr sz="1150" b="0">
                          <a:solidFill>
                            <a:srgbClr val="37474F"/>
                          </a:solidFill>
                          <a:latin typeface="Calibri"/>
                        </a:rPr>
                        <a:t>Électrique 200 L, hors volume chauffé</a:t>
                      </a:r>
                    </a:p>
                  </a:txBody>
                  <a:tcPr marL="88900" marR="88900" marT="12700" marB="12700" anchor="ctr">
                    <a:solidFill>
                      <a:srgbClr val="E8F5E9"/>
                    </a:solidFill>
                  </a:tcPr>
                </a:tc>
                <a:tc>
                  <a:txBody>
                    <a:bodyPr wrap="square"/>
                    <a:lstStyle/>
                    <a:p>
                      <a:pPr algn="ctr"/>
                      <a:r>
                        <a:rPr sz="1150" b="0">
                          <a:solidFill>
                            <a:srgbClr val="37474F"/>
                          </a:solidFill>
                          <a:latin typeface="Calibri"/>
                        </a:rPr>
                        <a:t>Pertes thermiques, conso élec.</a:t>
                      </a:r>
                    </a:p>
                  </a:txBody>
                  <a:tcPr marL="88900" marR="88900" marT="12700" marB="12700" anchor="ctr">
                    <a:solidFill>
                      <a:srgbClr val="E8F5E9"/>
                    </a:solidFill>
                  </a:tcPr>
                </a:tc>
              </a:tr>
              <a:tr h="530352">
                <a:tc>
                  <a:txBody>
                    <a:bodyPr wrap="square"/>
                    <a:lstStyle/>
                    <a:p>
                      <a:pPr algn="l"/>
                      <a:r>
                        <a:rPr sz="1150" b="1">
                          <a:solidFill>
                            <a:srgbClr val="37474F"/>
                          </a:solidFill>
                          <a:latin typeface="Calibri"/>
                        </a:rPr>
                        <a:t>Ventilation</a:t>
                      </a:r>
                    </a:p>
                  </a:txBody>
                  <a:tcPr marL="88900" marR="88900" marT="12700" marB="12700" anchor="ctr">
                    <a:solidFill>
                      <a:srgbClr val="FFFFFF"/>
                    </a:solidFill>
                  </a:tcPr>
                </a:tc>
                <a:tc>
                  <a:txBody>
                    <a:bodyPr wrap="square"/>
                    <a:lstStyle/>
                    <a:p>
                      <a:pPr algn="ctr"/>
                      <a:r>
                        <a:rPr sz="1150" b="0">
                          <a:solidFill>
                            <a:srgbClr val="37474F"/>
                          </a:solidFill>
                          <a:latin typeface="Calibri"/>
                        </a:rPr>
                        <a:t>Naturelle (pas de VMC)</a:t>
                      </a:r>
                    </a:p>
                  </a:txBody>
                  <a:tcPr marL="88900" marR="88900" marT="12700" marB="12700" anchor="ctr">
                    <a:solidFill>
                      <a:srgbClr val="FFFFFF"/>
                    </a:solidFill>
                  </a:tcPr>
                </a:tc>
                <a:tc>
                  <a:txBody>
                    <a:bodyPr wrap="square"/>
                    <a:lstStyle/>
                    <a:p>
                      <a:pPr algn="ctr"/>
                      <a:r>
                        <a:rPr sz="1150" b="0">
                          <a:solidFill>
                            <a:srgbClr val="37474F"/>
                          </a:solidFill>
                          <a:latin typeface="Calibri"/>
                        </a:rPr>
                        <a:t>Débits non maîtrisés, pertes</a:t>
                      </a:r>
                    </a:p>
                  </a:txBody>
                  <a:tcPr marL="88900" marR="88900" marT="12700" marB="12700" anchor="ctr">
                    <a:solidFill>
                      <a:srgbClr val="FFFFFF"/>
                    </a:solidFill>
                  </a:tcPr>
                </a:tc>
              </a:tr>
            </a:tbl>
          </a:graphicData>
        </a:graphic>
      </p:graphicFrame>
      <p:sp>
        <p:nvSpPr>
          <p:cNvPr id="12" name="Rectangle 11"/>
          <p:cNvSpPr/>
          <p:nvPr/>
        </p:nvSpPr>
        <p:spPr>
          <a:xfrm>
            <a:off x="8642480" y="1534480"/>
            <a:ext cx="1231640" cy="2060823"/>
          </a:xfrm>
          <a:prstGeom prst="rect">
            <a:avLst/>
          </a:prstGeom>
          <a:solidFill>
            <a:srgbClr val="FFFFFF"/>
          </a:solidFill>
          <a:ln w="1524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06_x64_240x407.png"/>
          <p:cNvPicPr>
            <a:picLocks noChangeAspect="1"/>
          </p:cNvPicPr>
          <p:nvPr/>
        </p:nvPicPr>
        <p:blipFill>
          <a:blip r:embed="rId2"/>
          <a:stretch>
            <a:fillRect/>
          </a:stretch>
        </p:blipFill>
        <p:spPr>
          <a:xfrm>
            <a:off x="8662480" y="1554480"/>
            <a:ext cx="1191640" cy="2020823"/>
          </a:xfrm>
          <a:prstGeom prst="rect">
            <a:avLst/>
          </a:prstGeom>
        </p:spPr>
      </p:pic>
      <p:sp>
        <p:nvSpPr>
          <p:cNvPr id="14" name="TextBox 13"/>
          <p:cNvSpPr txBox="1"/>
          <p:nvPr/>
        </p:nvSpPr>
        <p:spPr>
          <a:xfrm>
            <a:off x="8595360" y="3595304"/>
            <a:ext cx="1325880" cy="310896"/>
          </a:xfrm>
          <a:prstGeom prst="rect">
            <a:avLst/>
          </a:prstGeom>
          <a:noFill/>
        </p:spPr>
        <p:txBody>
          <a:bodyPr wrap="square" anchor="t" lIns="25400" rIns="25400" tIns="25400" bIns="25400">
            <a:spAutoFit/>
          </a:bodyPr>
          <a:lstStyle/>
          <a:p>
            <a:pPr algn="ctr">
              <a:lnSpc>
                <a:spcPct val="100000"/>
              </a:lnSpc>
              <a:spcAft>
                <a:spcPts val="400"/>
              </a:spcAft>
            </a:pPr>
            <a:r>
              <a:rPr sz="1100" b="0" i="1">
                <a:solidFill>
                  <a:srgbClr val="90A4AE"/>
                </a:solidFill>
                <a:latin typeface="Calibri"/>
              </a:rPr>
              <a:t>Chaudière fioul (1991)</a:t>
            </a:r>
          </a:p>
        </p:txBody>
      </p:sp>
      <p:sp>
        <p:nvSpPr>
          <p:cNvPr id="15" name="Rectangle 14"/>
          <p:cNvSpPr/>
          <p:nvPr/>
        </p:nvSpPr>
        <p:spPr>
          <a:xfrm>
            <a:off x="10038400" y="1628368"/>
            <a:ext cx="1365880" cy="1873047"/>
          </a:xfrm>
          <a:prstGeom prst="rect">
            <a:avLst/>
          </a:prstGeom>
          <a:solidFill>
            <a:srgbClr val="FFFFFF"/>
          </a:solidFill>
          <a:ln w="1524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p06_x63_366x506.png"/>
          <p:cNvPicPr>
            <a:picLocks noChangeAspect="1"/>
          </p:cNvPicPr>
          <p:nvPr/>
        </p:nvPicPr>
        <p:blipFill>
          <a:blip r:embed="rId3"/>
          <a:stretch>
            <a:fillRect/>
          </a:stretch>
        </p:blipFill>
        <p:spPr>
          <a:xfrm>
            <a:off x="10058400" y="1648368"/>
            <a:ext cx="1325880" cy="1833047"/>
          </a:xfrm>
          <a:prstGeom prst="rect">
            <a:avLst/>
          </a:prstGeom>
        </p:spPr>
      </p:pic>
      <p:sp>
        <p:nvSpPr>
          <p:cNvPr id="17" name="TextBox 16"/>
          <p:cNvSpPr txBox="1"/>
          <p:nvPr/>
        </p:nvSpPr>
        <p:spPr>
          <a:xfrm>
            <a:off x="10058400" y="3595304"/>
            <a:ext cx="1325880" cy="310896"/>
          </a:xfrm>
          <a:prstGeom prst="rect">
            <a:avLst/>
          </a:prstGeom>
          <a:noFill/>
        </p:spPr>
        <p:txBody>
          <a:bodyPr wrap="square" anchor="t" lIns="25400" rIns="25400" tIns="25400" bIns="25400">
            <a:spAutoFit/>
          </a:bodyPr>
          <a:lstStyle/>
          <a:p>
            <a:pPr algn="ctr">
              <a:lnSpc>
                <a:spcPct val="100000"/>
              </a:lnSpc>
              <a:spcAft>
                <a:spcPts val="400"/>
              </a:spcAft>
            </a:pPr>
            <a:r>
              <a:rPr sz="1100" b="0" i="1">
                <a:solidFill>
                  <a:srgbClr val="90A4AE"/>
                </a:solidFill>
                <a:latin typeface="Calibri"/>
              </a:rPr>
              <a:t>Ballon ECS</a:t>
            </a:r>
          </a:p>
        </p:txBody>
      </p:sp>
      <p:sp>
        <p:nvSpPr>
          <p:cNvPr id="18" name="Rounded Rectangle 17"/>
          <p:cNvSpPr/>
          <p:nvPr/>
        </p:nvSpPr>
        <p:spPr>
          <a:xfrm>
            <a:off x="822960" y="4983480"/>
            <a:ext cx="10515600" cy="868680"/>
          </a:xfrm>
          <a:prstGeom prst="roundRect">
            <a:avLst/>
          </a:prstGeom>
          <a:solidFill>
            <a:srgbClr val="FFF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074920"/>
            <a:ext cx="10058400" cy="685800"/>
          </a:xfrm>
          <a:prstGeom prst="rect">
            <a:avLst/>
          </a:prstGeom>
          <a:noFill/>
        </p:spPr>
        <p:txBody>
          <a:bodyPr wrap="square" anchor="ctr" lIns="25400" rIns="25400" tIns="25400" bIns="25400">
            <a:spAutoFit/>
          </a:bodyPr>
          <a:lstStyle/>
          <a:p>
            <a:pPr algn="l">
              <a:lnSpc>
                <a:spcPct val="100000"/>
              </a:lnSpc>
              <a:spcAft>
                <a:spcPts val="400"/>
              </a:spcAft>
            </a:pPr>
            <a:r>
              <a:rPr sz="1300" b="1" i="0">
                <a:solidFill>
                  <a:srgbClr val="E65100"/>
                </a:solidFill>
                <a:latin typeface="Calibri"/>
              </a:rPr>
              <a:t>Constat : </a:t>
            </a:r>
            <a:r>
              <a:rPr sz="1300" b="0" i="0">
                <a:solidFill>
                  <a:srgbClr val="37474F"/>
                </a:solidFill>
                <a:latin typeface="Calibri"/>
              </a:rPr>
              <a:t>équipements vieillissants, régulation rudimentaire et absence de VMC → leviers majeurs d’économies.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2</a:t>
            </a:r>
          </a:p>
        </p:txBody>
      </p:sp>
      <p:sp>
        <p:nvSpPr>
          <p:cNvPr id="6" name="TextBox 5"/>
          <p:cNvSpPr txBox="1"/>
          <p:nvPr/>
        </p:nvSpPr>
        <p:spPr>
          <a:xfrm>
            <a:off x="1325880" y="365760"/>
            <a:ext cx="10332720" cy="731520"/>
          </a:xfrm>
          <a:prstGeom prst="rect">
            <a:avLst/>
          </a:prstGeom>
          <a:noFill/>
        </p:spPr>
        <p:txBody>
          <a:bodyPr wrap="square" anchor="ctr" lIns="25400" rIns="25400" tIns="25400" bIns="25400">
            <a:spAutoFit/>
          </a:bodyPr>
          <a:lstStyle/>
          <a:p>
            <a:pPr algn="l">
              <a:lnSpc>
                <a:spcPct val="100000"/>
              </a:lnSpc>
              <a:spcAft>
                <a:spcPts val="400"/>
              </a:spcAft>
            </a:pPr>
            <a:r>
              <a:rPr sz="2900" b="1" i="0">
                <a:solidFill>
                  <a:srgbClr val="1B5E20"/>
                </a:solidFill>
                <a:latin typeface="Calibri"/>
              </a:rPr>
              <a:t>Éclairage, qualité de l’air &amp; acoustique</a:t>
            </a:r>
          </a:p>
        </p:txBody>
      </p:sp>
      <p:sp>
        <p:nvSpPr>
          <p:cNvPr id="7" name="Rectangle 6"/>
          <p:cNvSpPr/>
          <p:nvPr/>
        </p:nvSpPr>
        <p:spPr>
          <a:xfrm>
            <a:off x="1325880" y="1170432"/>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Rénovation énergétique – Saint-Jean-de-Chevelu (73) – Bloc 1</a:t>
            </a:r>
          </a:p>
        </p:txBody>
      </p:sp>
      <p:sp>
        <p:nvSpPr>
          <p:cNvPr id="9" name="TextBox 8"/>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sp>
        <p:nvSpPr>
          <p:cNvPr id="10" name="Rounded Rectangle 9"/>
          <p:cNvSpPr/>
          <p:nvPr/>
        </p:nvSpPr>
        <p:spPr>
          <a:xfrm>
            <a:off x="822960" y="1600200"/>
            <a:ext cx="3383280" cy="3840480"/>
          </a:xfrm>
          <a:prstGeom prst="roundRect">
            <a:avLst/>
          </a:prstGeom>
          <a:solidFill>
            <a:srgbClr val="FFFFFF"/>
          </a:solidFill>
          <a:ln w="1270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22960" y="1600200"/>
            <a:ext cx="3383280" cy="548640"/>
          </a:xfrm>
          <a:prstGeom prst="roundRect">
            <a:avLst/>
          </a:prstGeom>
          <a:solidFill>
            <a:srgbClr val="E6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1600200"/>
            <a:ext cx="3383280" cy="548640"/>
          </a:xfrm>
          <a:prstGeom prst="rect">
            <a:avLst/>
          </a:prstGeom>
          <a:noFill/>
        </p:spPr>
        <p:txBody>
          <a:bodyPr wrap="square" anchor="ctr" lIns="25400" rIns="25400" tIns="25400" bIns="25400">
            <a:spAutoFit/>
          </a:bodyPr>
          <a:lstStyle/>
          <a:p>
            <a:pPr algn="ctr">
              <a:lnSpc>
                <a:spcPct val="100000"/>
              </a:lnSpc>
              <a:spcAft>
                <a:spcPts val="400"/>
              </a:spcAft>
            </a:pPr>
            <a:r>
              <a:rPr sz="1500" b="1" i="0">
                <a:solidFill>
                  <a:srgbClr val="FFFFFF"/>
                </a:solidFill>
                <a:latin typeface="Calibri"/>
              </a:rPr>
              <a:t>Éclairage / confort visuel</a:t>
            </a:r>
          </a:p>
        </p:txBody>
      </p:sp>
      <p:sp>
        <p:nvSpPr>
          <p:cNvPr id="13" name="TextBox 12"/>
          <p:cNvSpPr txBox="1"/>
          <p:nvPr/>
        </p:nvSpPr>
        <p:spPr>
          <a:xfrm>
            <a:off x="1005840" y="2331720"/>
            <a:ext cx="3063240" cy="3017520"/>
          </a:xfrm>
          <a:prstGeom prst="rect">
            <a:avLst/>
          </a:prstGeom>
          <a:noFill/>
        </p:spPr>
        <p:txBody>
          <a:bodyPr wrap="square">
            <a:spAutoFit/>
          </a:bodyPr>
          <a:lstStyle/>
          <a:p>
            <a:pPr>
              <a:lnSpc>
                <a:spcPct val="105000"/>
              </a:lnSpc>
              <a:spcAft>
                <a:spcPts val="800"/>
              </a:spcAft>
            </a:pPr>
            <a:r>
              <a:rPr sz="1250" b="1">
                <a:solidFill>
                  <a:srgbClr val="2E7D32"/>
                </a:solidFill>
                <a:latin typeface="Calibri"/>
              </a:rPr>
              <a:t>●  </a:t>
            </a:r>
            <a:r>
              <a:rPr sz="1250" b="1">
                <a:solidFill>
                  <a:srgbClr val="37474F"/>
                </a:solidFill>
                <a:latin typeface="Calibri"/>
              </a:rPr>
              <a:t>Existant : </a:t>
            </a:r>
            <a:r>
              <a:rPr sz="1250">
                <a:solidFill>
                  <a:srgbClr val="37474F"/>
                </a:solidFill>
                <a:latin typeface="Calibri"/>
              </a:rPr>
              <a:t>25 % halogènes + 75 % LED, 200 W installés</a:t>
            </a:r>
          </a:p>
          <a:p>
            <a:pPr>
              <a:lnSpc>
                <a:spcPct val="105000"/>
              </a:lnSpc>
              <a:spcAft>
                <a:spcPts val="800"/>
              </a:spcAft>
            </a:pPr>
            <a:r>
              <a:rPr sz="1250" b="1">
                <a:solidFill>
                  <a:srgbClr val="2E7D32"/>
                </a:solidFill>
                <a:latin typeface="Calibri"/>
              </a:rPr>
              <a:t>●  </a:t>
            </a:r>
            <a:r>
              <a:rPr sz="1250" b="1">
                <a:solidFill>
                  <a:srgbClr val="37474F"/>
                </a:solidFill>
                <a:latin typeface="Calibri"/>
              </a:rPr>
              <a:t>Proposé : </a:t>
            </a:r>
            <a:r>
              <a:rPr sz="1250">
                <a:solidFill>
                  <a:srgbClr val="37474F"/>
                </a:solidFill>
                <a:latin typeface="Calibri"/>
              </a:rPr>
              <a:t>passage 100 % LED basse conso</a:t>
            </a:r>
          </a:p>
          <a:p>
            <a:pPr>
              <a:lnSpc>
                <a:spcPct val="105000"/>
              </a:lnSpc>
              <a:spcAft>
                <a:spcPts val="800"/>
              </a:spcAft>
            </a:pPr>
            <a:r>
              <a:rPr sz="1250" b="1">
                <a:solidFill>
                  <a:srgbClr val="2E7D32"/>
                </a:solidFill>
                <a:latin typeface="Calibri"/>
              </a:rPr>
              <a:t>●  </a:t>
            </a:r>
            <a:r>
              <a:rPr sz="1250" b="1">
                <a:solidFill>
                  <a:srgbClr val="37474F"/>
                </a:solidFill>
                <a:latin typeface="Calibri"/>
              </a:rPr>
              <a:t>Valoriser </a:t>
            </a:r>
            <a:r>
              <a:rPr sz="1250">
                <a:solidFill>
                  <a:srgbClr val="37474F"/>
                </a:solidFill>
                <a:latin typeface="Calibri"/>
              </a:rPr>
              <a:t>la lumière naturelle (orientation SE)</a:t>
            </a:r>
          </a:p>
        </p:txBody>
      </p:sp>
      <p:sp>
        <p:nvSpPr>
          <p:cNvPr id="14" name="Rounded Rectangle 13"/>
          <p:cNvSpPr/>
          <p:nvPr/>
        </p:nvSpPr>
        <p:spPr>
          <a:xfrm>
            <a:off x="4389120" y="1600200"/>
            <a:ext cx="3383280" cy="3840480"/>
          </a:xfrm>
          <a:prstGeom prst="roundRect">
            <a:avLst/>
          </a:prstGeom>
          <a:solidFill>
            <a:srgbClr val="FFFFFF"/>
          </a:solidFill>
          <a:ln w="1270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389120" y="1600200"/>
            <a:ext cx="3383280" cy="548640"/>
          </a:xfrm>
          <a:prstGeom prst="round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89120" y="1600200"/>
            <a:ext cx="3383280" cy="548640"/>
          </a:xfrm>
          <a:prstGeom prst="rect">
            <a:avLst/>
          </a:prstGeom>
          <a:noFill/>
        </p:spPr>
        <p:txBody>
          <a:bodyPr wrap="square" anchor="ctr" lIns="25400" rIns="25400" tIns="25400" bIns="25400">
            <a:spAutoFit/>
          </a:bodyPr>
          <a:lstStyle/>
          <a:p>
            <a:pPr algn="ctr">
              <a:lnSpc>
                <a:spcPct val="100000"/>
              </a:lnSpc>
              <a:spcAft>
                <a:spcPts val="400"/>
              </a:spcAft>
            </a:pPr>
            <a:r>
              <a:rPr sz="1500" b="1" i="0">
                <a:solidFill>
                  <a:srgbClr val="FFFFFF"/>
                </a:solidFill>
                <a:latin typeface="Calibri"/>
              </a:rPr>
              <a:t>Qualité de l’air (QAI)</a:t>
            </a:r>
          </a:p>
        </p:txBody>
      </p:sp>
      <p:sp>
        <p:nvSpPr>
          <p:cNvPr id="17" name="TextBox 16"/>
          <p:cNvSpPr txBox="1"/>
          <p:nvPr/>
        </p:nvSpPr>
        <p:spPr>
          <a:xfrm>
            <a:off x="4572000" y="2331720"/>
            <a:ext cx="3063240" cy="3017520"/>
          </a:xfrm>
          <a:prstGeom prst="rect">
            <a:avLst/>
          </a:prstGeom>
          <a:noFill/>
        </p:spPr>
        <p:txBody>
          <a:bodyPr wrap="square">
            <a:spAutoFit/>
          </a:bodyPr>
          <a:lstStyle/>
          <a:p>
            <a:pPr>
              <a:lnSpc>
                <a:spcPct val="105000"/>
              </a:lnSpc>
              <a:spcAft>
                <a:spcPts val="800"/>
              </a:spcAft>
            </a:pPr>
            <a:r>
              <a:rPr sz="1250" b="1">
                <a:solidFill>
                  <a:srgbClr val="2E7D32"/>
                </a:solidFill>
                <a:latin typeface="Calibri"/>
              </a:rPr>
              <a:t>●  </a:t>
            </a:r>
            <a:r>
              <a:rPr sz="1250" b="1">
                <a:solidFill>
                  <a:srgbClr val="37474F"/>
                </a:solidFill>
                <a:latin typeface="Calibri"/>
              </a:rPr>
              <a:t>Existant : </a:t>
            </a:r>
            <a:r>
              <a:rPr sz="1250">
                <a:solidFill>
                  <a:srgbClr val="37474F"/>
                </a:solidFill>
                <a:latin typeface="Calibri"/>
              </a:rPr>
              <a:t>ventilation naturelle, débits non maîtrisés</a:t>
            </a:r>
          </a:p>
          <a:p>
            <a:pPr>
              <a:lnSpc>
                <a:spcPct val="105000"/>
              </a:lnSpc>
              <a:spcAft>
                <a:spcPts val="800"/>
              </a:spcAft>
            </a:pPr>
            <a:r>
              <a:rPr sz="1250" b="1">
                <a:solidFill>
                  <a:srgbClr val="2E7D32"/>
                </a:solidFill>
                <a:latin typeface="Calibri"/>
              </a:rPr>
              <a:t>●  </a:t>
            </a:r>
            <a:r>
              <a:rPr sz="1250" b="1">
                <a:solidFill>
                  <a:srgbClr val="37474F"/>
                </a:solidFill>
                <a:latin typeface="Calibri"/>
              </a:rPr>
              <a:t>Risques : </a:t>
            </a:r>
            <a:r>
              <a:rPr sz="1250">
                <a:solidFill>
                  <a:srgbClr val="37474F"/>
                </a:solidFill>
                <a:latin typeface="Calibri"/>
              </a:rPr>
              <a:t>humidité, condensation, polluants</a:t>
            </a:r>
          </a:p>
          <a:p>
            <a:pPr>
              <a:lnSpc>
                <a:spcPct val="105000"/>
              </a:lnSpc>
              <a:spcAft>
                <a:spcPts val="800"/>
              </a:spcAft>
            </a:pPr>
            <a:r>
              <a:rPr sz="1250" b="1">
                <a:solidFill>
                  <a:srgbClr val="2E7D32"/>
                </a:solidFill>
                <a:latin typeface="Calibri"/>
              </a:rPr>
              <a:t>●  </a:t>
            </a:r>
            <a:r>
              <a:rPr sz="1250" b="1">
                <a:solidFill>
                  <a:srgbClr val="37474F"/>
                </a:solidFill>
                <a:latin typeface="Calibri"/>
              </a:rPr>
              <a:t>Proposé : </a:t>
            </a:r>
            <a:r>
              <a:rPr sz="1250">
                <a:solidFill>
                  <a:srgbClr val="37474F"/>
                </a:solidFill>
                <a:latin typeface="Calibri"/>
              </a:rPr>
              <a:t>VMC hygroréglable de type B</a:t>
            </a:r>
          </a:p>
        </p:txBody>
      </p:sp>
      <p:sp>
        <p:nvSpPr>
          <p:cNvPr id="18" name="Rounded Rectangle 17"/>
          <p:cNvSpPr/>
          <p:nvPr/>
        </p:nvSpPr>
        <p:spPr>
          <a:xfrm>
            <a:off x="7955279" y="1600200"/>
            <a:ext cx="3383280" cy="3840480"/>
          </a:xfrm>
          <a:prstGeom prst="roundRect">
            <a:avLst/>
          </a:prstGeom>
          <a:solidFill>
            <a:srgbClr val="FFFFFF"/>
          </a:solidFill>
          <a:ln w="1270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955279" y="1600200"/>
            <a:ext cx="3383280" cy="548640"/>
          </a:xfrm>
          <a:prstGeom prst="roundRect">
            <a:avLst/>
          </a:prstGeom>
          <a:solidFill>
            <a:srgbClr val="1565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55279" y="1600200"/>
            <a:ext cx="3383280" cy="548640"/>
          </a:xfrm>
          <a:prstGeom prst="rect">
            <a:avLst/>
          </a:prstGeom>
          <a:noFill/>
        </p:spPr>
        <p:txBody>
          <a:bodyPr wrap="square" anchor="ctr" lIns="25400" rIns="25400" tIns="25400" bIns="25400">
            <a:spAutoFit/>
          </a:bodyPr>
          <a:lstStyle/>
          <a:p>
            <a:pPr algn="ctr">
              <a:lnSpc>
                <a:spcPct val="100000"/>
              </a:lnSpc>
              <a:spcAft>
                <a:spcPts val="400"/>
              </a:spcAft>
            </a:pPr>
            <a:r>
              <a:rPr sz="1500" b="1" i="0">
                <a:solidFill>
                  <a:srgbClr val="FFFFFF"/>
                </a:solidFill>
                <a:latin typeface="Calibri"/>
              </a:rPr>
              <a:t>Confort acoustique</a:t>
            </a:r>
          </a:p>
        </p:txBody>
      </p:sp>
      <p:sp>
        <p:nvSpPr>
          <p:cNvPr id="21" name="TextBox 20"/>
          <p:cNvSpPr txBox="1"/>
          <p:nvPr/>
        </p:nvSpPr>
        <p:spPr>
          <a:xfrm>
            <a:off x="8138159" y="2331720"/>
            <a:ext cx="3063240" cy="3017520"/>
          </a:xfrm>
          <a:prstGeom prst="rect">
            <a:avLst/>
          </a:prstGeom>
          <a:noFill/>
        </p:spPr>
        <p:txBody>
          <a:bodyPr wrap="square">
            <a:spAutoFit/>
          </a:bodyPr>
          <a:lstStyle/>
          <a:p>
            <a:pPr>
              <a:lnSpc>
                <a:spcPct val="105000"/>
              </a:lnSpc>
              <a:spcAft>
                <a:spcPts val="800"/>
              </a:spcAft>
            </a:pPr>
            <a:r>
              <a:rPr sz="1250" b="1">
                <a:solidFill>
                  <a:srgbClr val="2E7D32"/>
                </a:solidFill>
                <a:latin typeface="Calibri"/>
              </a:rPr>
              <a:t>●  </a:t>
            </a:r>
            <a:r>
              <a:rPr sz="1250" b="1">
                <a:solidFill>
                  <a:srgbClr val="37474F"/>
                </a:solidFill>
                <a:latin typeface="Calibri"/>
              </a:rPr>
              <a:t>Sources : </a:t>
            </a:r>
            <a:r>
              <a:rPr sz="1250">
                <a:solidFill>
                  <a:srgbClr val="37474F"/>
                </a:solidFill>
                <a:latin typeface="Calibri"/>
              </a:rPr>
              <a:t>bruits extérieurs (route, voisinage)</a:t>
            </a:r>
          </a:p>
          <a:p>
            <a:pPr>
              <a:lnSpc>
                <a:spcPct val="105000"/>
              </a:lnSpc>
              <a:spcAft>
                <a:spcPts val="800"/>
              </a:spcAft>
            </a:pPr>
            <a:r>
              <a:rPr sz="1250" b="1">
                <a:solidFill>
                  <a:srgbClr val="2E7D32"/>
                </a:solidFill>
                <a:latin typeface="Calibri"/>
              </a:rPr>
              <a:t>●  </a:t>
            </a:r>
            <a:r>
              <a:rPr sz="1250" b="1">
                <a:solidFill>
                  <a:srgbClr val="37474F"/>
                </a:solidFill>
                <a:latin typeface="Calibri"/>
              </a:rPr>
              <a:t>Existant : </a:t>
            </a:r>
            <a:r>
              <a:rPr sz="1250">
                <a:solidFill>
                  <a:srgbClr val="37474F"/>
                </a:solidFill>
                <a:latin typeface="Calibri"/>
              </a:rPr>
              <a:t>isolation phonique limitée</a:t>
            </a:r>
          </a:p>
          <a:p>
            <a:pPr>
              <a:lnSpc>
                <a:spcPct val="105000"/>
              </a:lnSpc>
              <a:spcAft>
                <a:spcPts val="800"/>
              </a:spcAft>
            </a:pPr>
            <a:r>
              <a:rPr sz="1250" b="1">
                <a:solidFill>
                  <a:srgbClr val="2E7D32"/>
                </a:solidFill>
                <a:latin typeface="Calibri"/>
              </a:rPr>
              <a:t>●  </a:t>
            </a:r>
            <a:r>
              <a:rPr sz="1250" b="1">
                <a:solidFill>
                  <a:srgbClr val="37474F"/>
                </a:solidFill>
                <a:latin typeface="Calibri"/>
              </a:rPr>
              <a:t>Proposé : </a:t>
            </a:r>
            <a:r>
              <a:rPr sz="1250">
                <a:solidFill>
                  <a:srgbClr val="37474F"/>
                </a:solidFill>
                <a:latin typeface="Calibri"/>
              </a:rPr>
              <a:t>l’ITE améliore aussi l’affaiblissement acoustique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3</a:t>
            </a:r>
          </a:p>
        </p:txBody>
      </p:sp>
      <p:sp>
        <p:nvSpPr>
          <p:cNvPr id="6" name="TextBox 5"/>
          <p:cNvSpPr txBox="1"/>
          <p:nvPr/>
        </p:nvSpPr>
        <p:spPr>
          <a:xfrm>
            <a:off x="1325880" y="365760"/>
            <a:ext cx="10332720" cy="731520"/>
          </a:xfrm>
          <a:prstGeom prst="rect">
            <a:avLst/>
          </a:prstGeom>
          <a:noFill/>
        </p:spPr>
        <p:txBody>
          <a:bodyPr wrap="square" anchor="ctr" lIns="25400" rIns="25400" tIns="25400" bIns="25400">
            <a:spAutoFit/>
          </a:bodyPr>
          <a:lstStyle/>
          <a:p>
            <a:pPr algn="l">
              <a:lnSpc>
                <a:spcPct val="100000"/>
              </a:lnSpc>
              <a:spcAft>
                <a:spcPts val="400"/>
              </a:spcAft>
            </a:pPr>
            <a:r>
              <a:rPr sz="2900" b="1" i="0">
                <a:solidFill>
                  <a:srgbClr val="1B5E20"/>
                </a:solidFill>
                <a:latin typeface="Calibri"/>
              </a:rPr>
              <a:t>Bilan des déperditions thermiques</a:t>
            </a:r>
          </a:p>
        </p:txBody>
      </p:sp>
      <p:sp>
        <p:nvSpPr>
          <p:cNvPr id="7" name="TextBox 6"/>
          <p:cNvSpPr txBox="1"/>
          <p:nvPr/>
        </p:nvSpPr>
        <p:spPr>
          <a:xfrm>
            <a:off x="1325880" y="1060704"/>
            <a:ext cx="10332720" cy="365760"/>
          </a:xfrm>
          <a:prstGeom prst="rect">
            <a:avLst/>
          </a:prstGeom>
          <a:noFill/>
        </p:spPr>
        <p:txBody>
          <a:bodyPr wrap="square" anchor="t" lIns="25400" rIns="25400" tIns="25400" bIns="25400">
            <a:spAutoFit/>
          </a:bodyPr>
          <a:lstStyle/>
          <a:p>
            <a:pPr algn="l">
              <a:lnSpc>
                <a:spcPct val="100000"/>
              </a:lnSpc>
              <a:spcAft>
                <a:spcPts val="400"/>
              </a:spcAft>
            </a:pPr>
            <a:r>
              <a:rPr sz="1400" b="0" i="1">
                <a:solidFill>
                  <a:srgbClr val="90A4AE"/>
                </a:solidFill>
                <a:latin typeface="Calibri"/>
              </a:rPr>
              <a:t>Calcul thermique de l’existant</a:t>
            </a:r>
          </a:p>
        </p:txBody>
      </p:sp>
      <p:sp>
        <p:nvSpPr>
          <p:cNvPr id="8" name="Rectangle 7"/>
          <p:cNvSpPr/>
          <p:nvPr/>
        </p:nvSpPr>
        <p:spPr>
          <a:xfrm>
            <a:off x="1325880" y="1170432"/>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Rénovation énergétique – Saint-Jean-de-Chevelu (73) – Bloc 1</a:t>
            </a:r>
          </a:p>
        </p:txBody>
      </p:sp>
      <p:sp>
        <p:nvSpPr>
          <p:cNvPr id="10" name="TextBox 9"/>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graphicFrame>
        <p:nvGraphicFramePr>
          <p:cNvPr id="11" name="Chart 10"/>
          <p:cNvGraphicFramePr>
            <a:graphicFrameLocks noGrp="1"/>
          </p:cNvGraphicFramePr>
          <p:nvPr/>
        </p:nvGraphicFramePr>
        <p:xfrm>
          <a:off x="640080" y="1554480"/>
          <a:ext cx="5760720" cy="4434840"/>
        </p:xfrm>
        <a:graphic>
          <a:graphicData uri="http://schemas.openxmlformats.org/drawingml/2006/chart">
            <c:chart xmlns:c="http://schemas.openxmlformats.org/drawingml/2006/chart" r:id="rId2"/>
          </a:graphicData>
        </a:graphic>
      </p:graphicFrame>
      <p:sp>
        <p:nvSpPr>
          <p:cNvPr id="12" name="TextBox 11"/>
          <p:cNvSpPr txBox="1"/>
          <p:nvPr/>
        </p:nvSpPr>
        <p:spPr>
          <a:xfrm>
            <a:off x="6858000" y="1554480"/>
            <a:ext cx="4572000" cy="365760"/>
          </a:xfrm>
          <a:prstGeom prst="rect">
            <a:avLst/>
          </a:prstGeom>
          <a:noFill/>
        </p:spPr>
        <p:txBody>
          <a:bodyPr wrap="square" anchor="t" lIns="25400" rIns="25400" tIns="25400" bIns="25400">
            <a:spAutoFit/>
          </a:bodyPr>
          <a:lstStyle/>
          <a:p>
            <a:pPr algn="l">
              <a:lnSpc>
                <a:spcPct val="100000"/>
              </a:lnSpc>
              <a:spcAft>
                <a:spcPts val="400"/>
              </a:spcAft>
            </a:pPr>
            <a:r>
              <a:rPr sz="1500" b="1" i="0">
                <a:solidFill>
                  <a:srgbClr val="1B5E20"/>
                </a:solidFill>
                <a:latin typeface="Calibri"/>
              </a:rPr>
              <a:t>Indicateurs techniques</a:t>
            </a:r>
          </a:p>
        </p:txBody>
      </p:sp>
      <p:graphicFrame>
        <p:nvGraphicFramePr>
          <p:cNvPr id="13" name="Table 12"/>
          <p:cNvGraphicFramePr>
            <a:graphicFrameLocks noGrp="1"/>
          </p:cNvGraphicFramePr>
          <p:nvPr/>
        </p:nvGraphicFramePr>
        <p:xfrm>
          <a:off x="6858000" y="2011680"/>
          <a:ext cx="4480560" cy="2578608"/>
        </p:xfrm>
        <a:graphic>
          <a:graphicData uri="http://schemas.openxmlformats.org/drawingml/2006/table">
            <a:tbl>
              <a:tblPr>
                <a:tableStyleId>{5C22544A-7EE6-4342-B048-85BDC9FD1C3A}</a:tableStyleId>
              </a:tblPr>
              <a:tblGrid>
                <a:gridCol w="2651760"/>
                <a:gridCol w="1828800"/>
              </a:tblGrid>
              <a:tr h="429768">
                <a:tc>
                  <a:txBody>
                    <a:bodyPr wrap="square"/>
                    <a:lstStyle/>
                    <a:p>
                      <a:pPr algn="l"/>
                      <a:r>
                        <a:rPr sz="1200" b="1">
                          <a:solidFill>
                            <a:srgbClr val="FFFFFF"/>
                          </a:solidFill>
                          <a:latin typeface="Calibri"/>
                        </a:rPr>
                        <a:t>Indicateur</a:t>
                      </a:r>
                    </a:p>
                  </a:txBody>
                  <a:tcPr marL="88900" marR="88900" marT="12700" marB="12700" anchor="ctr">
                    <a:solidFill>
                      <a:srgbClr val="1B5E20"/>
                    </a:solidFill>
                  </a:tcPr>
                </a:tc>
                <a:tc>
                  <a:txBody>
                    <a:bodyPr wrap="square"/>
                    <a:lstStyle/>
                    <a:p>
                      <a:pPr algn="ctr"/>
                      <a:r>
                        <a:rPr sz="1200" b="1">
                          <a:solidFill>
                            <a:srgbClr val="FFFFFF"/>
                          </a:solidFill>
                          <a:latin typeface="Calibri"/>
                        </a:rPr>
                        <a:t>Valeur</a:t>
                      </a:r>
                    </a:p>
                  </a:txBody>
                  <a:tcPr marL="88900" marR="88900" marT="12700" marB="12700" anchor="ctr">
                    <a:solidFill>
                      <a:srgbClr val="1B5E20"/>
                    </a:solidFill>
                  </a:tcPr>
                </a:tc>
              </a:tr>
              <a:tr h="429768">
                <a:tc>
                  <a:txBody>
                    <a:bodyPr wrap="square"/>
                    <a:lstStyle/>
                    <a:p>
                      <a:pPr algn="l"/>
                      <a:r>
                        <a:rPr sz="1200" b="0">
                          <a:solidFill>
                            <a:srgbClr val="37474F"/>
                          </a:solidFill>
                          <a:latin typeface="Calibri"/>
                        </a:rPr>
                        <a:t>Surface déperditive</a:t>
                      </a:r>
                    </a:p>
                  </a:txBody>
                  <a:tcPr marL="88900" marR="88900" marT="12700" marB="12700" anchor="ctr">
                    <a:solidFill>
                      <a:srgbClr val="FFFFFF"/>
                    </a:solidFill>
                  </a:tcPr>
                </a:tc>
                <a:tc>
                  <a:txBody>
                    <a:bodyPr wrap="square"/>
                    <a:lstStyle/>
                    <a:p>
                      <a:pPr algn="ctr"/>
                      <a:r>
                        <a:rPr sz="1200" b="0">
                          <a:solidFill>
                            <a:srgbClr val="37474F"/>
                          </a:solidFill>
                          <a:latin typeface="Calibri"/>
                        </a:rPr>
                        <a:t>232,91 m²</a:t>
                      </a:r>
                    </a:p>
                  </a:txBody>
                  <a:tcPr marL="88900" marR="88900" marT="12700" marB="12700" anchor="ctr">
                    <a:solidFill>
                      <a:srgbClr val="FFFFFF"/>
                    </a:solidFill>
                  </a:tcPr>
                </a:tc>
              </a:tr>
              <a:tr h="429768">
                <a:tc>
                  <a:txBody>
                    <a:bodyPr wrap="square"/>
                    <a:lstStyle/>
                    <a:p>
                      <a:pPr algn="l"/>
                      <a:r>
                        <a:rPr sz="1200" b="0">
                          <a:solidFill>
                            <a:srgbClr val="37474F"/>
                          </a:solidFill>
                          <a:latin typeface="Calibri"/>
                        </a:rPr>
                        <a:t>Coefficient Ubât</a:t>
                      </a:r>
                    </a:p>
                  </a:txBody>
                  <a:tcPr marL="88900" marR="88900" marT="12700" marB="12700" anchor="ctr">
                    <a:solidFill>
                      <a:srgbClr val="E8F5E9"/>
                    </a:solidFill>
                  </a:tcPr>
                </a:tc>
                <a:tc>
                  <a:txBody>
                    <a:bodyPr wrap="square"/>
                    <a:lstStyle/>
                    <a:p>
                      <a:pPr algn="ctr"/>
                      <a:r>
                        <a:rPr sz="1200" b="0">
                          <a:solidFill>
                            <a:srgbClr val="37474F"/>
                          </a:solidFill>
                          <a:latin typeface="Calibri"/>
                        </a:rPr>
                        <a:t>2,03 W/(m².K)</a:t>
                      </a:r>
                    </a:p>
                  </a:txBody>
                  <a:tcPr marL="88900" marR="88900" marT="12700" marB="12700" anchor="ctr">
                    <a:solidFill>
                      <a:srgbClr val="E8F5E9"/>
                    </a:solidFill>
                  </a:tcPr>
                </a:tc>
              </a:tr>
              <a:tr h="429768">
                <a:tc>
                  <a:txBody>
                    <a:bodyPr wrap="square"/>
                    <a:lstStyle/>
                    <a:p>
                      <a:pPr algn="l"/>
                      <a:r>
                        <a:rPr sz="1200" b="0">
                          <a:solidFill>
                            <a:srgbClr val="37474F"/>
                          </a:solidFill>
                          <a:latin typeface="Calibri"/>
                        </a:rPr>
                        <a:t>Ubât de référence</a:t>
                      </a:r>
                    </a:p>
                  </a:txBody>
                  <a:tcPr marL="88900" marR="88900" marT="12700" marB="12700" anchor="ctr">
                    <a:solidFill>
                      <a:srgbClr val="FFFFFF"/>
                    </a:solidFill>
                  </a:tcPr>
                </a:tc>
                <a:tc>
                  <a:txBody>
                    <a:bodyPr wrap="square"/>
                    <a:lstStyle/>
                    <a:p>
                      <a:pPr algn="ctr"/>
                      <a:r>
                        <a:rPr sz="1200" b="0">
                          <a:solidFill>
                            <a:srgbClr val="37474F"/>
                          </a:solidFill>
                          <a:latin typeface="Calibri"/>
                        </a:rPr>
                        <a:t>0,47 W/(m².K)</a:t>
                      </a:r>
                    </a:p>
                  </a:txBody>
                  <a:tcPr marL="88900" marR="88900" marT="12700" marB="12700" anchor="ctr">
                    <a:solidFill>
                      <a:srgbClr val="FFFFFF"/>
                    </a:solidFill>
                  </a:tcPr>
                </a:tc>
              </a:tr>
              <a:tr h="429768">
                <a:tc>
                  <a:txBody>
                    <a:bodyPr wrap="square"/>
                    <a:lstStyle/>
                    <a:p>
                      <a:pPr algn="l"/>
                      <a:r>
                        <a:rPr sz="1200" b="0">
                          <a:solidFill>
                            <a:srgbClr val="37474F"/>
                          </a:solidFill>
                          <a:latin typeface="Calibri"/>
                        </a:rPr>
                        <a:t>Coefficient GV</a:t>
                      </a:r>
                    </a:p>
                  </a:txBody>
                  <a:tcPr marL="88900" marR="88900" marT="12700" marB="12700" anchor="ctr">
                    <a:solidFill>
                      <a:srgbClr val="E8F5E9"/>
                    </a:solidFill>
                  </a:tcPr>
                </a:tc>
                <a:tc>
                  <a:txBody>
                    <a:bodyPr wrap="square"/>
                    <a:lstStyle/>
                    <a:p>
                      <a:pPr algn="ctr"/>
                      <a:r>
                        <a:rPr sz="1200" b="0">
                          <a:solidFill>
                            <a:srgbClr val="37474F"/>
                          </a:solidFill>
                          <a:latin typeface="Calibri"/>
                        </a:rPr>
                        <a:t>722 W/K</a:t>
                      </a:r>
                    </a:p>
                  </a:txBody>
                  <a:tcPr marL="88900" marR="88900" marT="12700" marB="12700" anchor="ctr">
                    <a:solidFill>
                      <a:srgbClr val="E8F5E9"/>
                    </a:solidFill>
                  </a:tcPr>
                </a:tc>
              </a:tr>
              <a:tr h="429768">
                <a:tc>
                  <a:txBody>
                    <a:bodyPr wrap="square"/>
                    <a:lstStyle/>
                    <a:p>
                      <a:pPr algn="l"/>
                      <a:r>
                        <a:rPr sz="1200" b="0">
                          <a:solidFill>
                            <a:srgbClr val="37474F"/>
                          </a:solidFill>
                          <a:latin typeface="Calibri"/>
                        </a:rPr>
                        <a:t>Puissance de chauffage</a:t>
                      </a:r>
                    </a:p>
                  </a:txBody>
                  <a:tcPr marL="88900" marR="88900" marT="12700" marB="12700" anchor="ctr">
                    <a:solidFill>
                      <a:srgbClr val="FFFFFF"/>
                    </a:solidFill>
                  </a:tcPr>
                </a:tc>
                <a:tc>
                  <a:txBody>
                    <a:bodyPr wrap="square"/>
                    <a:lstStyle/>
                    <a:p>
                      <a:pPr algn="ctr"/>
                      <a:r>
                        <a:rPr sz="1200" b="0">
                          <a:solidFill>
                            <a:srgbClr val="37474F"/>
                          </a:solidFill>
                          <a:latin typeface="Calibri"/>
                        </a:rPr>
                        <a:t>21,3 kW</a:t>
                      </a:r>
                    </a:p>
                  </a:txBody>
                  <a:tcPr marL="88900" marR="88900" marT="12700" marB="12700" anchor="ctr">
                    <a:solidFill>
                      <a:srgbClr val="FFFFFF"/>
                    </a:solidFill>
                  </a:tcPr>
                </a:tc>
              </a:tr>
            </a:tbl>
          </a:graphicData>
        </a:graphic>
      </p:graphicFrame>
      <p:sp>
        <p:nvSpPr>
          <p:cNvPr id="14" name="TextBox 13"/>
          <p:cNvSpPr txBox="1"/>
          <p:nvPr/>
        </p:nvSpPr>
        <p:spPr>
          <a:xfrm>
            <a:off x="6858000" y="5029200"/>
            <a:ext cx="4480560" cy="914400"/>
          </a:xfrm>
          <a:prstGeom prst="rect">
            <a:avLst/>
          </a:prstGeom>
          <a:noFill/>
        </p:spPr>
        <p:txBody>
          <a:bodyPr wrap="square" anchor="t" lIns="25400" rIns="25400" tIns="25400" bIns="25400">
            <a:spAutoFit/>
          </a:bodyPr>
          <a:lstStyle/>
          <a:p>
            <a:pPr algn="l">
              <a:lnSpc>
                <a:spcPct val="100000"/>
              </a:lnSpc>
              <a:spcAft>
                <a:spcPts val="400"/>
              </a:spcAft>
            </a:pPr>
            <a:r>
              <a:rPr sz="1300" b="1" i="0">
                <a:solidFill>
                  <a:srgbClr val="C62828"/>
                </a:solidFill>
                <a:latin typeface="Calibri"/>
              </a:rPr>
              <a:t>Ubât ≈ 4× la référence : l’enveloppe est le vrai problème.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3</a:t>
            </a:r>
          </a:p>
        </p:txBody>
      </p:sp>
      <p:sp>
        <p:nvSpPr>
          <p:cNvPr id="6" name="TextBox 5"/>
          <p:cNvSpPr txBox="1"/>
          <p:nvPr/>
        </p:nvSpPr>
        <p:spPr>
          <a:xfrm>
            <a:off x="1325880" y="365760"/>
            <a:ext cx="10332720" cy="731520"/>
          </a:xfrm>
          <a:prstGeom prst="rect">
            <a:avLst/>
          </a:prstGeom>
          <a:noFill/>
        </p:spPr>
        <p:txBody>
          <a:bodyPr wrap="square" anchor="ctr" lIns="25400" rIns="25400" tIns="25400" bIns="25400">
            <a:spAutoFit/>
          </a:bodyPr>
          <a:lstStyle/>
          <a:p>
            <a:pPr algn="l">
              <a:lnSpc>
                <a:spcPct val="100000"/>
              </a:lnSpc>
              <a:spcAft>
                <a:spcPts val="400"/>
              </a:spcAft>
            </a:pPr>
            <a:r>
              <a:rPr sz="2900" b="1" i="0">
                <a:solidFill>
                  <a:srgbClr val="1B5E20"/>
                </a:solidFill>
                <a:latin typeface="Calibri"/>
              </a:rPr>
              <a:t>Étiquette DPE de l’existant</a:t>
            </a:r>
          </a:p>
        </p:txBody>
      </p:sp>
      <p:sp>
        <p:nvSpPr>
          <p:cNvPr id="7" name="TextBox 6"/>
          <p:cNvSpPr txBox="1"/>
          <p:nvPr/>
        </p:nvSpPr>
        <p:spPr>
          <a:xfrm>
            <a:off x="1325880" y="1060704"/>
            <a:ext cx="10332720" cy="365760"/>
          </a:xfrm>
          <a:prstGeom prst="rect">
            <a:avLst/>
          </a:prstGeom>
          <a:noFill/>
        </p:spPr>
        <p:txBody>
          <a:bodyPr wrap="square" anchor="t" lIns="25400" rIns="25400" tIns="25400" bIns="25400">
            <a:spAutoFit/>
          </a:bodyPr>
          <a:lstStyle/>
          <a:p>
            <a:pPr algn="l">
              <a:lnSpc>
                <a:spcPct val="100000"/>
              </a:lnSpc>
              <a:spcAft>
                <a:spcPts val="400"/>
              </a:spcAft>
            </a:pPr>
            <a:r>
              <a:rPr sz="1400" b="0" i="1">
                <a:solidFill>
                  <a:srgbClr val="90A4AE"/>
                </a:solidFill>
                <a:latin typeface="Calibri"/>
              </a:rPr>
              <a:t>Un logement très énergivore</a:t>
            </a:r>
          </a:p>
        </p:txBody>
      </p:sp>
      <p:sp>
        <p:nvSpPr>
          <p:cNvPr id="8" name="Rectangle 7"/>
          <p:cNvSpPr/>
          <p:nvPr/>
        </p:nvSpPr>
        <p:spPr>
          <a:xfrm>
            <a:off x="1325880" y="1170432"/>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Rénovation énergétique – Saint-Jean-de-Chevelu (73) – Bloc 1</a:t>
            </a:r>
          </a:p>
        </p:txBody>
      </p:sp>
      <p:sp>
        <p:nvSpPr>
          <p:cNvPr id="10" name="TextBox 9"/>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sp>
        <p:nvSpPr>
          <p:cNvPr id="11" name="TextBox 10"/>
          <p:cNvSpPr txBox="1"/>
          <p:nvPr/>
        </p:nvSpPr>
        <p:spPr>
          <a:xfrm>
            <a:off x="914400" y="1554480"/>
            <a:ext cx="2779776" cy="274320"/>
          </a:xfrm>
          <a:prstGeom prst="rect">
            <a:avLst/>
          </a:prstGeom>
          <a:noFill/>
        </p:spPr>
        <p:txBody>
          <a:bodyPr wrap="square" anchor="t" lIns="25400" rIns="25400" tIns="25400" bIns="25400">
            <a:spAutoFit/>
          </a:bodyPr>
          <a:lstStyle/>
          <a:p>
            <a:pPr algn="l">
              <a:lnSpc>
                <a:spcPct val="100000"/>
              </a:lnSpc>
              <a:spcAft>
                <a:spcPts val="400"/>
              </a:spcAft>
            </a:pPr>
            <a:r>
              <a:rPr sz="1200" b="1" i="0">
                <a:solidFill>
                  <a:srgbClr val="37474F"/>
                </a:solidFill>
                <a:latin typeface="Calibri"/>
              </a:rPr>
              <a:t>Classe énergie</a:t>
            </a:r>
          </a:p>
        </p:txBody>
      </p:sp>
      <p:sp>
        <p:nvSpPr>
          <p:cNvPr id="12" name="Rounded Rectangle 11"/>
          <p:cNvSpPr/>
          <p:nvPr/>
        </p:nvSpPr>
        <p:spPr>
          <a:xfrm>
            <a:off x="914400" y="1883664"/>
            <a:ext cx="914400" cy="384048"/>
          </a:xfrm>
          <a:prstGeom prst="roundRect">
            <a:avLst/>
          </a:prstGeom>
          <a:solidFill>
            <a:srgbClr val="0083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9264" y="1883664"/>
            <a:ext cx="841248" cy="384048"/>
          </a:xfrm>
          <a:prstGeom prst="rect">
            <a:avLst/>
          </a:prstGeom>
          <a:noFill/>
        </p:spPr>
        <p:txBody>
          <a:bodyPr wrap="square" anchor="ctr" lIns="25400" rIns="25400" tIns="25400" bIns="25400">
            <a:spAutoFit/>
          </a:bodyPr>
          <a:lstStyle/>
          <a:p>
            <a:pPr algn="l">
              <a:lnSpc>
                <a:spcPct val="100000"/>
              </a:lnSpc>
              <a:spcAft>
                <a:spcPts val="400"/>
              </a:spcAft>
            </a:pPr>
            <a:r>
              <a:rPr sz="1600" b="1" i="0">
                <a:solidFill>
                  <a:srgbClr val="FFFFFF"/>
                </a:solidFill>
                <a:latin typeface="Calibri"/>
              </a:rPr>
              <a:t>A</a:t>
            </a:r>
          </a:p>
        </p:txBody>
      </p:sp>
      <p:sp>
        <p:nvSpPr>
          <p:cNvPr id="14" name="Rounded Rectangle 13"/>
          <p:cNvSpPr/>
          <p:nvPr/>
        </p:nvSpPr>
        <p:spPr>
          <a:xfrm>
            <a:off x="914400" y="2322576"/>
            <a:ext cx="1225296" cy="384048"/>
          </a:xfrm>
          <a:prstGeom prst="roundRect">
            <a:avLst/>
          </a:prstGeom>
          <a:solidFill>
            <a:srgbClr val="57AA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9264" y="2322576"/>
            <a:ext cx="1152144" cy="384048"/>
          </a:xfrm>
          <a:prstGeom prst="rect">
            <a:avLst/>
          </a:prstGeom>
          <a:noFill/>
        </p:spPr>
        <p:txBody>
          <a:bodyPr wrap="square" anchor="ctr" lIns="25400" rIns="25400" tIns="25400" bIns="25400">
            <a:spAutoFit/>
          </a:bodyPr>
          <a:lstStyle/>
          <a:p>
            <a:pPr algn="l">
              <a:lnSpc>
                <a:spcPct val="100000"/>
              </a:lnSpc>
              <a:spcAft>
                <a:spcPts val="400"/>
              </a:spcAft>
            </a:pPr>
            <a:r>
              <a:rPr sz="1600" b="1" i="0">
                <a:solidFill>
                  <a:srgbClr val="FFFFFF"/>
                </a:solidFill>
                <a:latin typeface="Calibri"/>
              </a:rPr>
              <a:t>B</a:t>
            </a:r>
          </a:p>
        </p:txBody>
      </p:sp>
      <p:sp>
        <p:nvSpPr>
          <p:cNvPr id="16" name="Rounded Rectangle 15"/>
          <p:cNvSpPr/>
          <p:nvPr/>
        </p:nvSpPr>
        <p:spPr>
          <a:xfrm>
            <a:off x="914400" y="2761488"/>
            <a:ext cx="1536192" cy="384048"/>
          </a:xfrm>
          <a:prstGeom prst="roundRect">
            <a:avLst/>
          </a:prstGeom>
          <a:solidFill>
            <a:srgbClr val="C3D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9264" y="2761488"/>
            <a:ext cx="1463040" cy="384048"/>
          </a:xfrm>
          <a:prstGeom prst="rect">
            <a:avLst/>
          </a:prstGeom>
          <a:noFill/>
        </p:spPr>
        <p:txBody>
          <a:bodyPr wrap="square" anchor="ctr" lIns="25400" rIns="25400" tIns="25400" bIns="25400">
            <a:spAutoFit/>
          </a:bodyPr>
          <a:lstStyle/>
          <a:p>
            <a:pPr algn="l">
              <a:lnSpc>
                <a:spcPct val="100000"/>
              </a:lnSpc>
              <a:spcAft>
                <a:spcPts val="400"/>
              </a:spcAft>
            </a:pPr>
            <a:r>
              <a:rPr sz="1600" b="1" i="0">
                <a:solidFill>
                  <a:srgbClr val="FFFFFF"/>
                </a:solidFill>
                <a:latin typeface="Calibri"/>
              </a:rPr>
              <a:t>C</a:t>
            </a:r>
          </a:p>
        </p:txBody>
      </p:sp>
      <p:sp>
        <p:nvSpPr>
          <p:cNvPr id="18" name="Rounded Rectangle 17"/>
          <p:cNvSpPr/>
          <p:nvPr/>
        </p:nvSpPr>
        <p:spPr>
          <a:xfrm>
            <a:off x="914400" y="3200400"/>
            <a:ext cx="1847088" cy="384048"/>
          </a:xfrm>
          <a:prstGeom prst="roundRect">
            <a:avLst/>
          </a:prstGeom>
          <a:solidFill>
            <a:srgbClr val="FCEA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9264" y="3200400"/>
            <a:ext cx="1773936" cy="384048"/>
          </a:xfrm>
          <a:prstGeom prst="rect">
            <a:avLst/>
          </a:prstGeom>
          <a:noFill/>
        </p:spPr>
        <p:txBody>
          <a:bodyPr wrap="square" anchor="ctr" lIns="25400" rIns="25400" tIns="25400" bIns="25400">
            <a:spAutoFit/>
          </a:bodyPr>
          <a:lstStyle/>
          <a:p>
            <a:pPr algn="l">
              <a:lnSpc>
                <a:spcPct val="100000"/>
              </a:lnSpc>
              <a:spcAft>
                <a:spcPts val="400"/>
              </a:spcAft>
            </a:pPr>
            <a:r>
              <a:rPr sz="1600" b="1" i="0">
                <a:solidFill>
                  <a:srgbClr val="FFFFFF"/>
                </a:solidFill>
                <a:latin typeface="Calibri"/>
              </a:rPr>
              <a:t>D</a:t>
            </a:r>
          </a:p>
        </p:txBody>
      </p:sp>
      <p:sp>
        <p:nvSpPr>
          <p:cNvPr id="20" name="Rounded Rectangle 19"/>
          <p:cNvSpPr/>
          <p:nvPr/>
        </p:nvSpPr>
        <p:spPr>
          <a:xfrm>
            <a:off x="914400" y="3639312"/>
            <a:ext cx="2157984" cy="384048"/>
          </a:xfrm>
          <a:prstGeom prst="roundRect">
            <a:avLst/>
          </a:prstGeom>
          <a:solidFill>
            <a:srgbClr val="F7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9264" y="3639312"/>
            <a:ext cx="2084832" cy="384048"/>
          </a:xfrm>
          <a:prstGeom prst="rect">
            <a:avLst/>
          </a:prstGeom>
          <a:noFill/>
        </p:spPr>
        <p:txBody>
          <a:bodyPr wrap="square" anchor="ctr" lIns="25400" rIns="25400" tIns="25400" bIns="25400">
            <a:spAutoFit/>
          </a:bodyPr>
          <a:lstStyle/>
          <a:p>
            <a:pPr algn="l">
              <a:lnSpc>
                <a:spcPct val="100000"/>
              </a:lnSpc>
              <a:spcAft>
                <a:spcPts val="400"/>
              </a:spcAft>
            </a:pPr>
            <a:r>
              <a:rPr sz="1600" b="1" i="0">
                <a:solidFill>
                  <a:srgbClr val="FFFFFF"/>
                </a:solidFill>
                <a:latin typeface="Calibri"/>
              </a:rPr>
              <a:t>E</a:t>
            </a:r>
          </a:p>
        </p:txBody>
      </p:sp>
      <p:sp>
        <p:nvSpPr>
          <p:cNvPr id="22" name="Rounded Rectangle 21"/>
          <p:cNvSpPr/>
          <p:nvPr/>
        </p:nvSpPr>
        <p:spPr>
          <a:xfrm>
            <a:off x="914400" y="4078224"/>
            <a:ext cx="2468880" cy="384048"/>
          </a:xfrm>
          <a:prstGeom prst="roundRect">
            <a:avLst/>
          </a:prstGeom>
          <a:solidFill>
            <a:srgbClr val="EA6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69264" y="4078224"/>
            <a:ext cx="2395728" cy="384048"/>
          </a:xfrm>
          <a:prstGeom prst="rect">
            <a:avLst/>
          </a:prstGeom>
          <a:noFill/>
        </p:spPr>
        <p:txBody>
          <a:bodyPr wrap="square" anchor="ctr" lIns="25400" rIns="25400" tIns="25400" bIns="25400">
            <a:spAutoFit/>
          </a:bodyPr>
          <a:lstStyle/>
          <a:p>
            <a:pPr algn="l">
              <a:lnSpc>
                <a:spcPct val="100000"/>
              </a:lnSpc>
              <a:spcAft>
                <a:spcPts val="400"/>
              </a:spcAft>
            </a:pPr>
            <a:r>
              <a:rPr sz="1600" b="1" i="0">
                <a:solidFill>
                  <a:srgbClr val="FFFFFF"/>
                </a:solidFill>
                <a:latin typeface="Calibri"/>
              </a:rPr>
              <a:t>F</a:t>
            </a:r>
          </a:p>
        </p:txBody>
      </p:sp>
      <p:sp>
        <p:nvSpPr>
          <p:cNvPr id="24" name="Rounded Rectangle 23"/>
          <p:cNvSpPr/>
          <p:nvPr/>
        </p:nvSpPr>
        <p:spPr>
          <a:xfrm>
            <a:off x="914400" y="4517136"/>
            <a:ext cx="2779776" cy="384048"/>
          </a:xfrm>
          <a:prstGeom prst="roundRect">
            <a:avLst/>
          </a:prstGeom>
          <a:solidFill>
            <a:srgbClr val="E2001A"/>
          </a:solidFill>
          <a:ln w="31750">
            <a:solidFill>
              <a:srgbClr val="26323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69264" y="4517136"/>
            <a:ext cx="2706624" cy="384048"/>
          </a:xfrm>
          <a:prstGeom prst="rect">
            <a:avLst/>
          </a:prstGeom>
          <a:noFill/>
        </p:spPr>
        <p:txBody>
          <a:bodyPr wrap="square" anchor="ctr" lIns="25400" rIns="25400" tIns="25400" bIns="25400">
            <a:spAutoFit/>
          </a:bodyPr>
          <a:lstStyle/>
          <a:p>
            <a:pPr algn="l">
              <a:lnSpc>
                <a:spcPct val="100000"/>
              </a:lnSpc>
              <a:spcAft>
                <a:spcPts val="400"/>
              </a:spcAft>
            </a:pPr>
            <a:r>
              <a:rPr sz="1600" b="1" i="0">
                <a:solidFill>
                  <a:srgbClr val="FFFFFF"/>
                </a:solidFill>
                <a:latin typeface="Calibri"/>
              </a:rPr>
              <a:t>G</a:t>
            </a:r>
          </a:p>
        </p:txBody>
      </p:sp>
      <p:sp>
        <p:nvSpPr>
          <p:cNvPr id="26" name="Pentagon 25"/>
          <p:cNvSpPr/>
          <p:nvPr/>
        </p:nvSpPr>
        <p:spPr>
          <a:xfrm>
            <a:off x="603504" y="4517136"/>
            <a:ext cx="274320" cy="384048"/>
          </a:xfrm>
          <a:prstGeom prst="homePlate">
            <a:avLst/>
          </a:prstGeom>
          <a:solidFill>
            <a:srgbClr val="263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206240" y="1554480"/>
            <a:ext cx="2779776" cy="274320"/>
          </a:xfrm>
          <a:prstGeom prst="rect">
            <a:avLst/>
          </a:prstGeom>
          <a:noFill/>
        </p:spPr>
        <p:txBody>
          <a:bodyPr wrap="square" anchor="t" lIns="25400" rIns="25400" tIns="25400" bIns="25400">
            <a:spAutoFit/>
          </a:bodyPr>
          <a:lstStyle/>
          <a:p>
            <a:pPr algn="l">
              <a:lnSpc>
                <a:spcPct val="100000"/>
              </a:lnSpc>
              <a:spcAft>
                <a:spcPts val="400"/>
              </a:spcAft>
            </a:pPr>
            <a:r>
              <a:rPr sz="1200" b="1" i="0">
                <a:solidFill>
                  <a:srgbClr val="37474F"/>
                </a:solidFill>
                <a:latin typeface="Calibri"/>
              </a:rPr>
              <a:t>Classe climat (GES)</a:t>
            </a:r>
          </a:p>
        </p:txBody>
      </p:sp>
      <p:sp>
        <p:nvSpPr>
          <p:cNvPr id="28" name="Rounded Rectangle 27"/>
          <p:cNvSpPr/>
          <p:nvPr/>
        </p:nvSpPr>
        <p:spPr>
          <a:xfrm>
            <a:off x="4206240" y="1883664"/>
            <a:ext cx="914400" cy="384048"/>
          </a:xfrm>
          <a:prstGeom prst="roundRect">
            <a:avLst/>
          </a:prstGeom>
          <a:solidFill>
            <a:srgbClr val="0083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261104" y="1883664"/>
            <a:ext cx="841248" cy="384048"/>
          </a:xfrm>
          <a:prstGeom prst="rect">
            <a:avLst/>
          </a:prstGeom>
          <a:noFill/>
        </p:spPr>
        <p:txBody>
          <a:bodyPr wrap="square" anchor="ctr" lIns="25400" rIns="25400" tIns="25400" bIns="25400">
            <a:spAutoFit/>
          </a:bodyPr>
          <a:lstStyle/>
          <a:p>
            <a:pPr algn="l">
              <a:lnSpc>
                <a:spcPct val="100000"/>
              </a:lnSpc>
              <a:spcAft>
                <a:spcPts val="400"/>
              </a:spcAft>
            </a:pPr>
            <a:r>
              <a:rPr sz="1600" b="1" i="0">
                <a:solidFill>
                  <a:srgbClr val="FFFFFF"/>
                </a:solidFill>
                <a:latin typeface="Calibri"/>
              </a:rPr>
              <a:t>A</a:t>
            </a:r>
          </a:p>
        </p:txBody>
      </p:sp>
      <p:sp>
        <p:nvSpPr>
          <p:cNvPr id="30" name="Rounded Rectangle 29"/>
          <p:cNvSpPr/>
          <p:nvPr/>
        </p:nvSpPr>
        <p:spPr>
          <a:xfrm>
            <a:off x="4206240" y="2322576"/>
            <a:ext cx="1225296" cy="384048"/>
          </a:xfrm>
          <a:prstGeom prst="roundRect">
            <a:avLst/>
          </a:prstGeom>
          <a:solidFill>
            <a:srgbClr val="57AA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261104" y="2322576"/>
            <a:ext cx="1152144" cy="384048"/>
          </a:xfrm>
          <a:prstGeom prst="rect">
            <a:avLst/>
          </a:prstGeom>
          <a:noFill/>
        </p:spPr>
        <p:txBody>
          <a:bodyPr wrap="square" anchor="ctr" lIns="25400" rIns="25400" tIns="25400" bIns="25400">
            <a:spAutoFit/>
          </a:bodyPr>
          <a:lstStyle/>
          <a:p>
            <a:pPr algn="l">
              <a:lnSpc>
                <a:spcPct val="100000"/>
              </a:lnSpc>
              <a:spcAft>
                <a:spcPts val="400"/>
              </a:spcAft>
            </a:pPr>
            <a:r>
              <a:rPr sz="1600" b="1" i="0">
                <a:solidFill>
                  <a:srgbClr val="FFFFFF"/>
                </a:solidFill>
                <a:latin typeface="Calibri"/>
              </a:rPr>
              <a:t>B</a:t>
            </a:r>
          </a:p>
        </p:txBody>
      </p:sp>
      <p:sp>
        <p:nvSpPr>
          <p:cNvPr id="32" name="Rounded Rectangle 31"/>
          <p:cNvSpPr/>
          <p:nvPr/>
        </p:nvSpPr>
        <p:spPr>
          <a:xfrm>
            <a:off x="4206240" y="2761488"/>
            <a:ext cx="1536192" cy="384048"/>
          </a:xfrm>
          <a:prstGeom prst="roundRect">
            <a:avLst/>
          </a:prstGeom>
          <a:solidFill>
            <a:srgbClr val="C3D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261104" y="2761488"/>
            <a:ext cx="1463040" cy="384048"/>
          </a:xfrm>
          <a:prstGeom prst="rect">
            <a:avLst/>
          </a:prstGeom>
          <a:noFill/>
        </p:spPr>
        <p:txBody>
          <a:bodyPr wrap="square" anchor="ctr" lIns="25400" rIns="25400" tIns="25400" bIns="25400">
            <a:spAutoFit/>
          </a:bodyPr>
          <a:lstStyle/>
          <a:p>
            <a:pPr algn="l">
              <a:lnSpc>
                <a:spcPct val="100000"/>
              </a:lnSpc>
              <a:spcAft>
                <a:spcPts val="400"/>
              </a:spcAft>
            </a:pPr>
            <a:r>
              <a:rPr sz="1600" b="1" i="0">
                <a:solidFill>
                  <a:srgbClr val="FFFFFF"/>
                </a:solidFill>
                <a:latin typeface="Calibri"/>
              </a:rPr>
              <a:t>C</a:t>
            </a:r>
          </a:p>
        </p:txBody>
      </p:sp>
      <p:sp>
        <p:nvSpPr>
          <p:cNvPr id="34" name="Rounded Rectangle 33"/>
          <p:cNvSpPr/>
          <p:nvPr/>
        </p:nvSpPr>
        <p:spPr>
          <a:xfrm>
            <a:off x="4206240" y="3200400"/>
            <a:ext cx="1847088" cy="384048"/>
          </a:xfrm>
          <a:prstGeom prst="roundRect">
            <a:avLst/>
          </a:prstGeom>
          <a:solidFill>
            <a:srgbClr val="FCEA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261104" y="3200400"/>
            <a:ext cx="1773936" cy="384048"/>
          </a:xfrm>
          <a:prstGeom prst="rect">
            <a:avLst/>
          </a:prstGeom>
          <a:noFill/>
        </p:spPr>
        <p:txBody>
          <a:bodyPr wrap="square" anchor="ctr" lIns="25400" rIns="25400" tIns="25400" bIns="25400">
            <a:spAutoFit/>
          </a:bodyPr>
          <a:lstStyle/>
          <a:p>
            <a:pPr algn="l">
              <a:lnSpc>
                <a:spcPct val="100000"/>
              </a:lnSpc>
              <a:spcAft>
                <a:spcPts val="400"/>
              </a:spcAft>
            </a:pPr>
            <a:r>
              <a:rPr sz="1600" b="1" i="0">
                <a:solidFill>
                  <a:srgbClr val="FFFFFF"/>
                </a:solidFill>
                <a:latin typeface="Calibri"/>
              </a:rPr>
              <a:t>D</a:t>
            </a:r>
          </a:p>
        </p:txBody>
      </p:sp>
      <p:sp>
        <p:nvSpPr>
          <p:cNvPr id="36" name="Rounded Rectangle 35"/>
          <p:cNvSpPr/>
          <p:nvPr/>
        </p:nvSpPr>
        <p:spPr>
          <a:xfrm>
            <a:off x="4206240" y="3639312"/>
            <a:ext cx="2157984" cy="384048"/>
          </a:xfrm>
          <a:prstGeom prst="roundRect">
            <a:avLst/>
          </a:prstGeom>
          <a:solidFill>
            <a:srgbClr val="F7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261104" y="3639312"/>
            <a:ext cx="2084832" cy="384048"/>
          </a:xfrm>
          <a:prstGeom prst="rect">
            <a:avLst/>
          </a:prstGeom>
          <a:noFill/>
        </p:spPr>
        <p:txBody>
          <a:bodyPr wrap="square" anchor="ctr" lIns="25400" rIns="25400" tIns="25400" bIns="25400">
            <a:spAutoFit/>
          </a:bodyPr>
          <a:lstStyle/>
          <a:p>
            <a:pPr algn="l">
              <a:lnSpc>
                <a:spcPct val="100000"/>
              </a:lnSpc>
              <a:spcAft>
                <a:spcPts val="400"/>
              </a:spcAft>
            </a:pPr>
            <a:r>
              <a:rPr sz="1600" b="1" i="0">
                <a:solidFill>
                  <a:srgbClr val="FFFFFF"/>
                </a:solidFill>
                <a:latin typeface="Calibri"/>
              </a:rPr>
              <a:t>E</a:t>
            </a:r>
          </a:p>
        </p:txBody>
      </p:sp>
      <p:sp>
        <p:nvSpPr>
          <p:cNvPr id="38" name="Rounded Rectangle 37"/>
          <p:cNvSpPr/>
          <p:nvPr/>
        </p:nvSpPr>
        <p:spPr>
          <a:xfrm>
            <a:off x="4206240" y="4078224"/>
            <a:ext cx="2468880" cy="384048"/>
          </a:xfrm>
          <a:prstGeom prst="roundRect">
            <a:avLst/>
          </a:prstGeom>
          <a:solidFill>
            <a:srgbClr val="EA6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261104" y="4078224"/>
            <a:ext cx="2395728" cy="384048"/>
          </a:xfrm>
          <a:prstGeom prst="rect">
            <a:avLst/>
          </a:prstGeom>
          <a:noFill/>
        </p:spPr>
        <p:txBody>
          <a:bodyPr wrap="square" anchor="ctr" lIns="25400" rIns="25400" tIns="25400" bIns="25400">
            <a:spAutoFit/>
          </a:bodyPr>
          <a:lstStyle/>
          <a:p>
            <a:pPr algn="l">
              <a:lnSpc>
                <a:spcPct val="100000"/>
              </a:lnSpc>
              <a:spcAft>
                <a:spcPts val="400"/>
              </a:spcAft>
            </a:pPr>
            <a:r>
              <a:rPr sz="1600" b="1" i="0">
                <a:solidFill>
                  <a:srgbClr val="FFFFFF"/>
                </a:solidFill>
                <a:latin typeface="Calibri"/>
              </a:rPr>
              <a:t>F</a:t>
            </a:r>
          </a:p>
        </p:txBody>
      </p:sp>
      <p:sp>
        <p:nvSpPr>
          <p:cNvPr id="40" name="Rounded Rectangle 39"/>
          <p:cNvSpPr/>
          <p:nvPr/>
        </p:nvSpPr>
        <p:spPr>
          <a:xfrm>
            <a:off x="4206240" y="4517136"/>
            <a:ext cx="2779776" cy="384048"/>
          </a:xfrm>
          <a:prstGeom prst="roundRect">
            <a:avLst/>
          </a:prstGeom>
          <a:solidFill>
            <a:srgbClr val="E2001A"/>
          </a:solidFill>
          <a:ln w="31750">
            <a:solidFill>
              <a:srgbClr val="26323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261104" y="4517136"/>
            <a:ext cx="2706624" cy="384048"/>
          </a:xfrm>
          <a:prstGeom prst="rect">
            <a:avLst/>
          </a:prstGeom>
          <a:noFill/>
        </p:spPr>
        <p:txBody>
          <a:bodyPr wrap="square" anchor="ctr" lIns="25400" rIns="25400" tIns="25400" bIns="25400">
            <a:spAutoFit/>
          </a:bodyPr>
          <a:lstStyle/>
          <a:p>
            <a:pPr algn="l">
              <a:lnSpc>
                <a:spcPct val="100000"/>
              </a:lnSpc>
              <a:spcAft>
                <a:spcPts val="400"/>
              </a:spcAft>
            </a:pPr>
            <a:r>
              <a:rPr sz="1600" b="1" i="0">
                <a:solidFill>
                  <a:srgbClr val="FFFFFF"/>
                </a:solidFill>
                <a:latin typeface="Calibri"/>
              </a:rPr>
              <a:t>G</a:t>
            </a:r>
          </a:p>
        </p:txBody>
      </p:sp>
      <p:sp>
        <p:nvSpPr>
          <p:cNvPr id="42" name="Pentagon 41"/>
          <p:cNvSpPr/>
          <p:nvPr/>
        </p:nvSpPr>
        <p:spPr>
          <a:xfrm>
            <a:off x="3895344" y="4517136"/>
            <a:ext cx="274320" cy="384048"/>
          </a:xfrm>
          <a:prstGeom prst="homePlate">
            <a:avLst/>
          </a:prstGeom>
          <a:solidFill>
            <a:srgbClr val="263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7498079" y="1691640"/>
            <a:ext cx="3749039" cy="1051560"/>
          </a:xfrm>
          <a:prstGeom prst="roundRect">
            <a:avLst/>
          </a:prstGeom>
          <a:solidFill>
            <a:srgbClr val="FFFFFF"/>
          </a:solidFill>
          <a:ln w="1270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7498079" y="1691640"/>
            <a:ext cx="3749039" cy="109728"/>
          </a:xfrm>
          <a:prstGeom prst="round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498079" y="1837944"/>
            <a:ext cx="3749039" cy="502920"/>
          </a:xfrm>
          <a:prstGeom prst="rect">
            <a:avLst/>
          </a:prstGeom>
          <a:noFill/>
        </p:spPr>
        <p:txBody>
          <a:bodyPr wrap="square" anchor="ctr" lIns="25400" rIns="25400" tIns="25400" bIns="25400">
            <a:spAutoFit/>
          </a:bodyPr>
          <a:lstStyle/>
          <a:p>
            <a:pPr algn="ctr">
              <a:lnSpc>
                <a:spcPct val="100000"/>
              </a:lnSpc>
              <a:spcAft>
                <a:spcPts val="400"/>
              </a:spcAft>
            </a:pPr>
            <a:r>
              <a:rPr sz="2100" b="1" i="0">
                <a:solidFill>
                  <a:srgbClr val="C62828"/>
                </a:solidFill>
                <a:latin typeface="Calibri"/>
              </a:rPr>
              <a:t>535 kWhEP/m².an</a:t>
            </a:r>
          </a:p>
        </p:txBody>
      </p:sp>
      <p:sp>
        <p:nvSpPr>
          <p:cNvPr id="46" name="TextBox 45"/>
          <p:cNvSpPr txBox="1"/>
          <p:nvPr/>
        </p:nvSpPr>
        <p:spPr>
          <a:xfrm>
            <a:off x="7498079" y="2267712"/>
            <a:ext cx="3749039" cy="438912"/>
          </a:xfrm>
          <a:prstGeom prst="rect">
            <a:avLst/>
          </a:prstGeom>
          <a:noFill/>
        </p:spPr>
        <p:txBody>
          <a:bodyPr wrap="square" anchor="ctr" lIns="25400" rIns="25400" tIns="25400" bIns="25400">
            <a:spAutoFit/>
          </a:bodyPr>
          <a:lstStyle/>
          <a:p>
            <a:pPr algn="ctr">
              <a:lnSpc>
                <a:spcPct val="100000"/>
              </a:lnSpc>
              <a:spcAft>
                <a:spcPts val="400"/>
              </a:spcAft>
            </a:pPr>
            <a:r>
              <a:rPr sz="1100" b="0" i="0">
                <a:solidFill>
                  <a:srgbClr val="37474F"/>
                </a:solidFill>
                <a:latin typeface="Calibri"/>
              </a:rPr>
              <a:t>Consommation énergétique</a:t>
            </a:r>
          </a:p>
        </p:txBody>
      </p:sp>
      <p:sp>
        <p:nvSpPr>
          <p:cNvPr id="47" name="Rounded Rectangle 46"/>
          <p:cNvSpPr/>
          <p:nvPr/>
        </p:nvSpPr>
        <p:spPr>
          <a:xfrm>
            <a:off x="7498079" y="2852928"/>
            <a:ext cx="3749039" cy="1051560"/>
          </a:xfrm>
          <a:prstGeom prst="roundRect">
            <a:avLst/>
          </a:prstGeom>
          <a:solidFill>
            <a:srgbClr val="FFFFFF"/>
          </a:solidFill>
          <a:ln w="1270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7498079" y="2852928"/>
            <a:ext cx="3749039" cy="109728"/>
          </a:xfrm>
          <a:prstGeom prst="round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498079" y="2999232"/>
            <a:ext cx="3749039" cy="502920"/>
          </a:xfrm>
          <a:prstGeom prst="rect">
            <a:avLst/>
          </a:prstGeom>
          <a:noFill/>
        </p:spPr>
        <p:txBody>
          <a:bodyPr wrap="square" anchor="ctr" lIns="25400" rIns="25400" tIns="25400" bIns="25400">
            <a:spAutoFit/>
          </a:bodyPr>
          <a:lstStyle/>
          <a:p>
            <a:pPr algn="ctr">
              <a:lnSpc>
                <a:spcPct val="100000"/>
              </a:lnSpc>
              <a:spcAft>
                <a:spcPts val="400"/>
              </a:spcAft>
            </a:pPr>
            <a:r>
              <a:rPr sz="2100" b="1" i="0">
                <a:solidFill>
                  <a:srgbClr val="C62828"/>
                </a:solidFill>
                <a:latin typeface="Calibri"/>
              </a:rPr>
              <a:t>156 kgCO₂/m².an</a:t>
            </a:r>
          </a:p>
        </p:txBody>
      </p:sp>
      <p:sp>
        <p:nvSpPr>
          <p:cNvPr id="50" name="TextBox 49"/>
          <p:cNvSpPr txBox="1"/>
          <p:nvPr/>
        </p:nvSpPr>
        <p:spPr>
          <a:xfrm>
            <a:off x="7498079" y="3429000"/>
            <a:ext cx="3749039" cy="438912"/>
          </a:xfrm>
          <a:prstGeom prst="rect">
            <a:avLst/>
          </a:prstGeom>
          <a:noFill/>
        </p:spPr>
        <p:txBody>
          <a:bodyPr wrap="square" anchor="ctr" lIns="25400" rIns="25400" tIns="25400" bIns="25400">
            <a:spAutoFit/>
          </a:bodyPr>
          <a:lstStyle/>
          <a:p>
            <a:pPr algn="ctr">
              <a:lnSpc>
                <a:spcPct val="100000"/>
              </a:lnSpc>
              <a:spcAft>
                <a:spcPts val="400"/>
              </a:spcAft>
            </a:pPr>
            <a:r>
              <a:rPr sz="1100" b="0" i="0">
                <a:solidFill>
                  <a:srgbClr val="37474F"/>
                </a:solidFill>
                <a:latin typeface="Calibri"/>
              </a:rPr>
              <a:t>Émissions de GES</a:t>
            </a:r>
          </a:p>
        </p:txBody>
      </p:sp>
      <p:sp>
        <p:nvSpPr>
          <p:cNvPr id="51" name="Rounded Rectangle 50"/>
          <p:cNvSpPr/>
          <p:nvPr/>
        </p:nvSpPr>
        <p:spPr>
          <a:xfrm>
            <a:off x="7498079" y="4014215"/>
            <a:ext cx="3749039" cy="1051560"/>
          </a:xfrm>
          <a:prstGeom prst="roundRect">
            <a:avLst/>
          </a:prstGeom>
          <a:solidFill>
            <a:srgbClr val="FFFFFF"/>
          </a:solidFill>
          <a:ln w="1270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ounded Rectangle 51"/>
          <p:cNvSpPr/>
          <p:nvPr/>
        </p:nvSpPr>
        <p:spPr>
          <a:xfrm>
            <a:off x="7498079" y="4014215"/>
            <a:ext cx="3749039" cy="109728"/>
          </a:xfrm>
          <a:prstGeom prst="round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7498079" y="4160519"/>
            <a:ext cx="3749039" cy="502920"/>
          </a:xfrm>
          <a:prstGeom prst="rect">
            <a:avLst/>
          </a:prstGeom>
          <a:noFill/>
        </p:spPr>
        <p:txBody>
          <a:bodyPr wrap="square" anchor="ctr" lIns="25400" rIns="25400" tIns="25400" bIns="25400">
            <a:spAutoFit/>
          </a:bodyPr>
          <a:lstStyle/>
          <a:p>
            <a:pPr algn="ctr">
              <a:lnSpc>
                <a:spcPct val="100000"/>
              </a:lnSpc>
              <a:spcAft>
                <a:spcPts val="400"/>
              </a:spcAft>
            </a:pPr>
            <a:r>
              <a:rPr sz="2100" b="1" i="0">
                <a:solidFill>
                  <a:srgbClr val="C62828"/>
                </a:solidFill>
                <a:latin typeface="Calibri"/>
              </a:rPr>
              <a:t>7 100 – 9 610 €/an</a:t>
            </a:r>
          </a:p>
        </p:txBody>
      </p:sp>
      <p:sp>
        <p:nvSpPr>
          <p:cNvPr id="54" name="TextBox 53"/>
          <p:cNvSpPr txBox="1"/>
          <p:nvPr/>
        </p:nvSpPr>
        <p:spPr>
          <a:xfrm>
            <a:off x="7498079" y="4590287"/>
            <a:ext cx="3749039" cy="438912"/>
          </a:xfrm>
          <a:prstGeom prst="rect">
            <a:avLst/>
          </a:prstGeom>
          <a:noFill/>
        </p:spPr>
        <p:txBody>
          <a:bodyPr wrap="square" anchor="ctr" lIns="25400" rIns="25400" tIns="25400" bIns="25400">
            <a:spAutoFit/>
          </a:bodyPr>
          <a:lstStyle/>
          <a:p>
            <a:pPr algn="ctr">
              <a:lnSpc>
                <a:spcPct val="100000"/>
              </a:lnSpc>
              <a:spcAft>
                <a:spcPts val="400"/>
              </a:spcAft>
            </a:pPr>
            <a:r>
              <a:rPr sz="1100" b="0" i="0">
                <a:solidFill>
                  <a:srgbClr val="37474F"/>
                </a:solidFill>
                <a:latin typeface="Calibri"/>
              </a:rPr>
              <a:t>Coût énergétique annuel</a:t>
            </a:r>
          </a:p>
        </p:txBody>
      </p:sp>
      <p:sp>
        <p:nvSpPr>
          <p:cNvPr id="55" name="TextBox 54"/>
          <p:cNvSpPr txBox="1"/>
          <p:nvPr/>
        </p:nvSpPr>
        <p:spPr>
          <a:xfrm>
            <a:off x="822960" y="5897880"/>
            <a:ext cx="10424160" cy="548640"/>
          </a:xfrm>
          <a:prstGeom prst="rect">
            <a:avLst/>
          </a:prstGeom>
          <a:noFill/>
        </p:spPr>
        <p:txBody>
          <a:bodyPr wrap="square" anchor="t" lIns="25400" rIns="25400" tIns="25400" bIns="25400">
            <a:spAutoFit/>
          </a:bodyPr>
          <a:lstStyle/>
          <a:p>
            <a:pPr algn="l">
              <a:lnSpc>
                <a:spcPct val="100000"/>
              </a:lnSpc>
              <a:spcAft>
                <a:spcPts val="400"/>
              </a:spcAft>
            </a:pPr>
            <a:r>
              <a:rPr sz="1500" b="1" i="0">
                <a:solidFill>
                  <a:srgbClr val="1B5E20"/>
                </a:solidFill>
                <a:latin typeface="Calibri"/>
              </a:rPr>
              <a:t>→ Classe G sur les deux étiquettes : la rénovation performante est pleinement justifiée.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4</a:t>
            </a:r>
          </a:p>
        </p:txBody>
      </p:sp>
      <p:sp>
        <p:nvSpPr>
          <p:cNvPr id="6" name="TextBox 5"/>
          <p:cNvSpPr txBox="1"/>
          <p:nvPr/>
        </p:nvSpPr>
        <p:spPr>
          <a:xfrm>
            <a:off x="1325880" y="365760"/>
            <a:ext cx="10332720" cy="731520"/>
          </a:xfrm>
          <a:prstGeom prst="rect">
            <a:avLst/>
          </a:prstGeom>
          <a:noFill/>
        </p:spPr>
        <p:txBody>
          <a:bodyPr wrap="square" anchor="ctr" lIns="25400" rIns="25400" tIns="25400" bIns="25400">
            <a:spAutoFit/>
          </a:bodyPr>
          <a:lstStyle/>
          <a:p>
            <a:pPr algn="l">
              <a:lnSpc>
                <a:spcPct val="100000"/>
              </a:lnSpc>
              <a:spcAft>
                <a:spcPts val="400"/>
              </a:spcAft>
            </a:pPr>
            <a:r>
              <a:rPr sz="2900" b="1" i="0">
                <a:solidFill>
                  <a:srgbClr val="1B5E20"/>
                </a:solidFill>
                <a:latin typeface="Calibri"/>
              </a:rPr>
              <a:t>Réglementation et urbanisme</a:t>
            </a:r>
          </a:p>
        </p:txBody>
      </p:sp>
      <p:sp>
        <p:nvSpPr>
          <p:cNvPr id="7" name="Rectangle 6"/>
          <p:cNvSpPr/>
          <p:nvPr/>
        </p:nvSpPr>
        <p:spPr>
          <a:xfrm>
            <a:off x="1325880" y="1170432"/>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Rénovation énergétique – Saint-Jean-de-Chevelu (73) – Bloc 1</a:t>
            </a:r>
          </a:p>
        </p:txBody>
      </p:sp>
      <p:sp>
        <p:nvSpPr>
          <p:cNvPr id="9" name="TextBox 8"/>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sp>
        <p:nvSpPr>
          <p:cNvPr id="10" name="TextBox 9"/>
          <p:cNvSpPr txBox="1"/>
          <p:nvPr/>
        </p:nvSpPr>
        <p:spPr>
          <a:xfrm>
            <a:off x="822960" y="1508760"/>
            <a:ext cx="10424160" cy="457200"/>
          </a:xfrm>
          <a:prstGeom prst="rect">
            <a:avLst/>
          </a:prstGeom>
          <a:noFill/>
        </p:spPr>
        <p:txBody>
          <a:bodyPr wrap="square" anchor="t" lIns="25400" rIns="25400" tIns="25400" bIns="25400">
            <a:spAutoFit/>
          </a:bodyPr>
          <a:lstStyle/>
          <a:p>
            <a:pPr algn="l">
              <a:lnSpc>
                <a:spcPct val="100000"/>
              </a:lnSpc>
              <a:spcAft>
                <a:spcPts val="400"/>
              </a:spcAft>
            </a:pPr>
            <a:r>
              <a:rPr sz="1500" b="0" i="1">
                <a:solidFill>
                  <a:srgbClr val="37474F"/>
                </a:solidFill>
                <a:latin typeface="Calibri"/>
              </a:rPr>
              <a:t>Les travaux respectent le cadre réglementaire et préservent le caractère de la ferme.</a:t>
            </a:r>
          </a:p>
        </p:txBody>
      </p:sp>
      <p:graphicFrame>
        <p:nvGraphicFramePr>
          <p:cNvPr id="11" name="Table 10"/>
          <p:cNvGraphicFramePr>
            <a:graphicFrameLocks noGrp="1"/>
          </p:cNvGraphicFramePr>
          <p:nvPr/>
        </p:nvGraphicFramePr>
        <p:xfrm>
          <a:off x="822960" y="2057400"/>
          <a:ext cx="10515600" cy="3520440"/>
        </p:xfrm>
        <a:graphic>
          <a:graphicData uri="http://schemas.openxmlformats.org/drawingml/2006/table">
            <a:tbl>
              <a:tblPr>
                <a:tableStyleId>{5C22544A-7EE6-4342-B048-85BDC9FD1C3A}</a:tableStyleId>
              </a:tblPr>
              <a:tblGrid>
                <a:gridCol w="4572000"/>
                <a:gridCol w="5943600"/>
              </a:tblGrid>
              <a:tr h="502920">
                <a:tc>
                  <a:txBody>
                    <a:bodyPr wrap="square"/>
                    <a:lstStyle/>
                    <a:p>
                      <a:pPr algn="l"/>
                      <a:r>
                        <a:rPr sz="1400" b="1">
                          <a:solidFill>
                            <a:srgbClr val="FFFFFF"/>
                          </a:solidFill>
                          <a:latin typeface="Calibri"/>
                        </a:rPr>
                        <a:t>Élément réglementaire</a:t>
                      </a:r>
                    </a:p>
                  </a:txBody>
                  <a:tcPr marL="88900" marR="88900" marT="12700" marB="12700" anchor="ctr">
                    <a:solidFill>
                      <a:srgbClr val="1B5E20"/>
                    </a:solidFill>
                  </a:tcPr>
                </a:tc>
                <a:tc>
                  <a:txBody>
                    <a:bodyPr wrap="square"/>
                    <a:lstStyle/>
                    <a:p>
                      <a:pPr algn="ctr"/>
                      <a:r>
                        <a:rPr sz="1400" b="1">
                          <a:solidFill>
                            <a:srgbClr val="FFFFFF"/>
                          </a:solidFill>
                          <a:latin typeface="Calibri"/>
                        </a:rPr>
                        <a:t>Impact sur le projet</a:t>
                      </a:r>
                    </a:p>
                  </a:txBody>
                  <a:tcPr marL="88900" marR="88900" marT="12700" marB="12700" anchor="ctr">
                    <a:solidFill>
                      <a:srgbClr val="1B5E20"/>
                    </a:solidFill>
                  </a:tcPr>
                </a:tc>
              </a:tr>
              <a:tr h="502920">
                <a:tc>
                  <a:txBody>
                    <a:bodyPr wrap="square"/>
                    <a:lstStyle/>
                    <a:p>
                      <a:pPr algn="l"/>
                      <a:r>
                        <a:rPr sz="1300" b="1">
                          <a:solidFill>
                            <a:srgbClr val="37474F"/>
                          </a:solidFill>
                          <a:latin typeface="Calibri"/>
                        </a:rPr>
                        <a:t>Plan Local d’Urbanisme (PLU)</a:t>
                      </a:r>
                    </a:p>
                  </a:txBody>
                  <a:tcPr marL="88900" marR="88900" marT="12700" marB="12700" anchor="ctr">
                    <a:solidFill>
                      <a:srgbClr val="FFFFFF"/>
                    </a:solidFill>
                  </a:tcPr>
                </a:tc>
                <a:tc>
                  <a:txBody>
                    <a:bodyPr wrap="square"/>
                    <a:lstStyle/>
                    <a:p>
                      <a:pPr algn="ctr"/>
                      <a:r>
                        <a:rPr sz="1300" b="0">
                          <a:solidFill>
                            <a:srgbClr val="37474F"/>
                          </a:solidFill>
                          <a:latin typeface="Calibri"/>
                        </a:rPr>
                        <a:t>Vérification des règles applicables</a:t>
                      </a:r>
                    </a:p>
                  </a:txBody>
                  <a:tcPr marL="88900" marR="88900" marT="12700" marB="12700" anchor="ctr">
                    <a:solidFill>
                      <a:srgbClr val="FFFFFF"/>
                    </a:solidFill>
                  </a:tcPr>
                </a:tc>
              </a:tr>
              <a:tr h="502920">
                <a:tc>
                  <a:txBody>
                    <a:bodyPr wrap="square"/>
                    <a:lstStyle/>
                    <a:p>
                      <a:pPr algn="l"/>
                      <a:r>
                        <a:rPr sz="1300" b="1">
                          <a:solidFill>
                            <a:srgbClr val="37474F"/>
                          </a:solidFill>
                          <a:latin typeface="Calibri"/>
                        </a:rPr>
                        <a:t>Isolation par l’extérieur (ITE)</a:t>
                      </a:r>
                    </a:p>
                  </a:txBody>
                  <a:tcPr marL="88900" marR="88900" marT="12700" marB="12700" anchor="ctr">
                    <a:solidFill>
                      <a:srgbClr val="E8F5E9"/>
                    </a:solidFill>
                  </a:tcPr>
                </a:tc>
                <a:tc>
                  <a:txBody>
                    <a:bodyPr wrap="square"/>
                    <a:lstStyle/>
                    <a:p>
                      <a:pPr algn="ctr"/>
                      <a:r>
                        <a:rPr sz="1300" b="0">
                          <a:solidFill>
                            <a:srgbClr val="37474F"/>
                          </a:solidFill>
                          <a:latin typeface="Calibri"/>
                        </a:rPr>
                        <a:t>Déclaration préalable de travaux</a:t>
                      </a:r>
                    </a:p>
                  </a:txBody>
                  <a:tcPr marL="88900" marR="88900" marT="12700" marB="12700" anchor="ctr">
                    <a:solidFill>
                      <a:srgbClr val="E8F5E9"/>
                    </a:solidFill>
                  </a:tcPr>
                </a:tc>
              </a:tr>
              <a:tr h="502920">
                <a:tc>
                  <a:txBody>
                    <a:bodyPr wrap="square"/>
                    <a:lstStyle/>
                    <a:p>
                      <a:pPr algn="l"/>
                      <a:r>
                        <a:rPr sz="1300" b="1">
                          <a:solidFill>
                            <a:srgbClr val="37474F"/>
                          </a:solidFill>
                          <a:latin typeface="Calibri"/>
                        </a:rPr>
                        <a:t>Modification des façades</a:t>
                      </a:r>
                    </a:p>
                  </a:txBody>
                  <a:tcPr marL="88900" marR="88900" marT="12700" marB="12700" anchor="ctr">
                    <a:solidFill>
                      <a:srgbClr val="FFFFFF"/>
                    </a:solidFill>
                  </a:tcPr>
                </a:tc>
                <a:tc>
                  <a:txBody>
                    <a:bodyPr wrap="square"/>
                    <a:lstStyle/>
                    <a:p>
                      <a:pPr algn="ctr"/>
                      <a:r>
                        <a:rPr sz="1300" b="0">
                          <a:solidFill>
                            <a:srgbClr val="37474F"/>
                          </a:solidFill>
                          <a:latin typeface="Calibri"/>
                        </a:rPr>
                        <a:t>Respect de l’aspect architectural existant</a:t>
                      </a:r>
                    </a:p>
                  </a:txBody>
                  <a:tcPr marL="88900" marR="88900" marT="12700" marB="12700" anchor="ctr">
                    <a:solidFill>
                      <a:srgbClr val="FFFFFF"/>
                    </a:solidFill>
                  </a:tcPr>
                </a:tc>
              </a:tr>
              <a:tr h="502920">
                <a:tc>
                  <a:txBody>
                    <a:bodyPr wrap="square"/>
                    <a:lstStyle/>
                    <a:p>
                      <a:pPr algn="l"/>
                      <a:r>
                        <a:rPr sz="1300" b="1">
                          <a:solidFill>
                            <a:srgbClr val="37474F"/>
                          </a:solidFill>
                          <a:latin typeface="Calibri"/>
                        </a:rPr>
                        <a:t>Rénovation performante (L.111-1 CCH)</a:t>
                      </a:r>
                    </a:p>
                  </a:txBody>
                  <a:tcPr marL="88900" marR="88900" marT="12700" marB="12700" anchor="ctr">
                    <a:solidFill>
                      <a:srgbClr val="E8F5E9"/>
                    </a:solidFill>
                  </a:tcPr>
                </a:tc>
                <a:tc>
                  <a:txBody>
                    <a:bodyPr wrap="square"/>
                    <a:lstStyle/>
                    <a:p>
                      <a:pPr algn="ctr"/>
                      <a:r>
                        <a:rPr sz="1300" b="0">
                          <a:solidFill>
                            <a:srgbClr val="37474F"/>
                          </a:solidFill>
                          <a:latin typeface="Calibri"/>
                        </a:rPr>
                        <a:t>Cadre du « bâtiment basse consommation »</a:t>
                      </a:r>
                    </a:p>
                  </a:txBody>
                  <a:tcPr marL="88900" marR="88900" marT="12700" marB="12700" anchor="ctr">
                    <a:solidFill>
                      <a:srgbClr val="E8F5E9"/>
                    </a:solidFill>
                  </a:tcPr>
                </a:tc>
              </a:tr>
              <a:tr h="502920">
                <a:tc>
                  <a:txBody>
                    <a:bodyPr wrap="square"/>
                    <a:lstStyle/>
                    <a:p>
                      <a:pPr algn="l"/>
                      <a:r>
                        <a:rPr sz="1300" b="1">
                          <a:solidFill>
                            <a:srgbClr val="37474F"/>
                          </a:solidFill>
                          <a:latin typeface="Calibri"/>
                        </a:rPr>
                        <a:t>Aides à la rénovation</a:t>
                      </a:r>
                    </a:p>
                  </a:txBody>
                  <a:tcPr marL="88900" marR="88900" marT="12700" marB="12700" anchor="ctr">
                    <a:solidFill>
                      <a:srgbClr val="FFFFFF"/>
                    </a:solidFill>
                  </a:tcPr>
                </a:tc>
                <a:tc>
                  <a:txBody>
                    <a:bodyPr wrap="square"/>
                    <a:lstStyle/>
                    <a:p>
                      <a:pPr algn="ctr"/>
                      <a:r>
                        <a:rPr sz="1300" b="0">
                          <a:solidFill>
                            <a:srgbClr val="37474F"/>
                          </a:solidFill>
                          <a:latin typeface="Calibri"/>
                        </a:rPr>
                        <a:t>Respect des critères techniques exigés</a:t>
                      </a:r>
                    </a:p>
                  </a:txBody>
                  <a:tcPr marL="88900" marR="88900" marT="12700" marB="12700" anchor="ctr">
                    <a:solidFill>
                      <a:srgbClr val="FFFFFF"/>
                    </a:solidFill>
                  </a:tcPr>
                </a:tc>
              </a:tr>
              <a:tr h="502920">
                <a:tc>
                  <a:txBody>
                    <a:bodyPr wrap="square"/>
                    <a:lstStyle/>
                    <a:p>
                      <a:pPr algn="l"/>
                      <a:r>
                        <a:rPr sz="1300" b="1">
                          <a:solidFill>
                            <a:srgbClr val="37474F"/>
                          </a:solidFill>
                          <a:latin typeface="Calibri"/>
                        </a:rPr>
                        <a:t>Normes &amp; DTU</a:t>
                      </a:r>
                    </a:p>
                  </a:txBody>
                  <a:tcPr marL="88900" marR="88900" marT="12700" marB="12700" anchor="ctr">
                    <a:solidFill>
                      <a:srgbClr val="E8F5E9"/>
                    </a:solidFill>
                  </a:tcPr>
                </a:tc>
                <a:tc>
                  <a:txBody>
                    <a:bodyPr wrap="square"/>
                    <a:lstStyle/>
                    <a:p>
                      <a:pPr algn="ctr"/>
                      <a:r>
                        <a:rPr sz="1300" b="0">
                          <a:solidFill>
                            <a:srgbClr val="37474F"/>
                          </a:solidFill>
                          <a:latin typeface="Calibri"/>
                        </a:rPr>
                        <a:t>Mise en œuvre conforme</a:t>
                      </a:r>
                    </a:p>
                  </a:txBody>
                  <a:tcPr marL="88900" marR="88900" marT="12700" marB="12700" anchor="ctr">
                    <a:solidFill>
                      <a:srgbClr val="E8F5E9"/>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4</a:t>
            </a:r>
          </a:p>
        </p:txBody>
      </p:sp>
      <p:sp>
        <p:nvSpPr>
          <p:cNvPr id="6" name="TextBox 5"/>
          <p:cNvSpPr txBox="1"/>
          <p:nvPr/>
        </p:nvSpPr>
        <p:spPr>
          <a:xfrm>
            <a:off x="1325880" y="365760"/>
            <a:ext cx="10332720" cy="731520"/>
          </a:xfrm>
          <a:prstGeom prst="rect">
            <a:avLst/>
          </a:prstGeom>
          <a:noFill/>
        </p:spPr>
        <p:txBody>
          <a:bodyPr wrap="square" anchor="ctr" lIns="25400" rIns="25400" tIns="25400" bIns="25400">
            <a:spAutoFit/>
          </a:bodyPr>
          <a:lstStyle/>
          <a:p>
            <a:pPr algn="l">
              <a:lnSpc>
                <a:spcPct val="100000"/>
              </a:lnSpc>
              <a:spcAft>
                <a:spcPts val="400"/>
              </a:spcAft>
            </a:pPr>
            <a:r>
              <a:rPr sz="2900" b="1" i="0">
                <a:solidFill>
                  <a:srgbClr val="1B5E20"/>
                </a:solidFill>
                <a:latin typeface="Calibri"/>
              </a:rPr>
              <a:t>Scénario 1 — Rénovation performante par étapes</a:t>
            </a:r>
          </a:p>
        </p:txBody>
      </p:sp>
      <p:sp>
        <p:nvSpPr>
          <p:cNvPr id="7" name="TextBox 6"/>
          <p:cNvSpPr txBox="1"/>
          <p:nvPr/>
        </p:nvSpPr>
        <p:spPr>
          <a:xfrm>
            <a:off x="1325880" y="1060704"/>
            <a:ext cx="10332720" cy="365760"/>
          </a:xfrm>
          <a:prstGeom prst="rect">
            <a:avLst/>
          </a:prstGeom>
          <a:noFill/>
        </p:spPr>
        <p:txBody>
          <a:bodyPr wrap="square" anchor="t" lIns="25400" rIns="25400" tIns="25400" bIns="25400">
            <a:spAutoFit/>
          </a:bodyPr>
          <a:lstStyle/>
          <a:p>
            <a:pPr algn="l">
              <a:lnSpc>
                <a:spcPct val="100000"/>
              </a:lnSpc>
              <a:spcAft>
                <a:spcPts val="400"/>
              </a:spcAft>
            </a:pPr>
            <a:r>
              <a:rPr sz="1400" b="0" i="1">
                <a:solidFill>
                  <a:srgbClr val="90A4AE"/>
                </a:solidFill>
                <a:latin typeface="Calibri"/>
              </a:rPr>
              <a:t>Étape 1 : l’enveloppe</a:t>
            </a:r>
          </a:p>
        </p:txBody>
      </p:sp>
      <p:sp>
        <p:nvSpPr>
          <p:cNvPr id="8" name="Rectangle 7"/>
          <p:cNvSpPr/>
          <p:nvPr/>
        </p:nvSpPr>
        <p:spPr>
          <a:xfrm>
            <a:off x="1325880" y="1170432"/>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Rénovation énergétique – Saint-Jean-de-Chevelu (73) – Bloc 1</a:t>
            </a:r>
          </a:p>
        </p:txBody>
      </p:sp>
      <p:sp>
        <p:nvSpPr>
          <p:cNvPr id="10" name="TextBox 9"/>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sp>
        <p:nvSpPr>
          <p:cNvPr id="11" name="TextBox 10"/>
          <p:cNvSpPr txBox="1"/>
          <p:nvPr/>
        </p:nvSpPr>
        <p:spPr>
          <a:xfrm>
            <a:off x="822960" y="1463040"/>
            <a:ext cx="10424160" cy="365760"/>
          </a:xfrm>
          <a:prstGeom prst="rect">
            <a:avLst/>
          </a:prstGeom>
          <a:noFill/>
        </p:spPr>
        <p:txBody>
          <a:bodyPr wrap="square" anchor="t" lIns="25400" rIns="25400" tIns="25400" bIns="25400">
            <a:spAutoFit/>
          </a:bodyPr>
          <a:lstStyle/>
          <a:p>
            <a:pPr algn="l">
              <a:lnSpc>
                <a:spcPct val="100000"/>
              </a:lnSpc>
              <a:spcAft>
                <a:spcPts val="400"/>
              </a:spcAft>
            </a:pPr>
            <a:r>
              <a:rPr sz="1350" b="0" i="1">
                <a:solidFill>
                  <a:srgbClr val="37474F"/>
                </a:solidFill>
                <a:latin typeface="Calibri"/>
              </a:rPr>
              <a:t>1ʳᵉ étape ciblée sur l’enveloppe : elle traite 2 postes d’isolation et fait gagner plusieurs classes (G → B).</a:t>
            </a:r>
          </a:p>
        </p:txBody>
      </p:sp>
      <p:graphicFrame>
        <p:nvGraphicFramePr>
          <p:cNvPr id="12" name="Table 11"/>
          <p:cNvGraphicFramePr>
            <a:graphicFrameLocks noGrp="1"/>
          </p:cNvGraphicFramePr>
          <p:nvPr/>
        </p:nvGraphicFramePr>
        <p:xfrm>
          <a:off x="822960" y="1920240"/>
          <a:ext cx="6492240" cy="2743200"/>
        </p:xfrm>
        <a:graphic>
          <a:graphicData uri="http://schemas.openxmlformats.org/drawingml/2006/table">
            <a:tbl>
              <a:tblPr>
                <a:tableStyleId>{5C22544A-7EE6-4342-B048-85BDC9FD1C3A}</a:tableStyleId>
              </a:tblPr>
              <a:tblGrid>
                <a:gridCol w="1737360"/>
                <a:gridCol w="4754880"/>
              </a:tblGrid>
              <a:tr h="457200">
                <a:tc>
                  <a:txBody>
                    <a:bodyPr wrap="square"/>
                    <a:lstStyle/>
                    <a:p>
                      <a:pPr algn="l"/>
                      <a:r>
                        <a:rPr sz="1300" b="1">
                          <a:solidFill>
                            <a:srgbClr val="FFFFFF"/>
                          </a:solidFill>
                          <a:latin typeface="Calibri"/>
                        </a:rPr>
                        <a:t>Poste</a:t>
                      </a:r>
                    </a:p>
                  </a:txBody>
                  <a:tcPr marL="88900" marR="88900" marT="12700" marB="12700" anchor="ctr">
                    <a:solidFill>
                      <a:srgbClr val="1B5E20"/>
                    </a:solidFill>
                  </a:tcPr>
                </a:tc>
                <a:tc>
                  <a:txBody>
                    <a:bodyPr wrap="square"/>
                    <a:lstStyle/>
                    <a:p>
                      <a:pPr algn="ctr"/>
                      <a:r>
                        <a:rPr sz="1300" b="1">
                          <a:solidFill>
                            <a:srgbClr val="FFFFFF"/>
                          </a:solidFill>
                          <a:latin typeface="Calibri"/>
                        </a:rPr>
                        <a:t>Solution — étape 1</a:t>
                      </a:r>
                    </a:p>
                  </a:txBody>
                  <a:tcPr marL="88900" marR="88900" marT="12700" marB="12700" anchor="ctr">
                    <a:solidFill>
                      <a:srgbClr val="1B5E20"/>
                    </a:solidFill>
                  </a:tcPr>
                </a:tc>
              </a:tr>
              <a:tr h="457200">
                <a:tc>
                  <a:txBody>
                    <a:bodyPr wrap="square"/>
                    <a:lstStyle/>
                    <a:p>
                      <a:pPr algn="l"/>
                      <a:r>
                        <a:rPr sz="1200" b="1">
                          <a:solidFill>
                            <a:srgbClr val="37474F"/>
                          </a:solidFill>
                          <a:latin typeface="Calibri"/>
                        </a:rPr>
                        <a:t>Murs</a:t>
                      </a:r>
                    </a:p>
                  </a:txBody>
                  <a:tcPr marL="88900" marR="88900" marT="12700" marB="12700" anchor="ctr">
                    <a:solidFill>
                      <a:srgbClr val="FFFFFF"/>
                    </a:solidFill>
                  </a:tcPr>
                </a:tc>
                <a:tc>
                  <a:txBody>
                    <a:bodyPr wrap="square"/>
                    <a:lstStyle/>
                    <a:p>
                      <a:pPr algn="ctr"/>
                      <a:r>
                        <a:rPr sz="1200" b="0">
                          <a:solidFill>
                            <a:srgbClr val="37474F"/>
                          </a:solidFill>
                          <a:latin typeface="Calibri"/>
                        </a:rPr>
                        <a:t>ITE laine de bois 200 mm</a:t>
                      </a:r>
                    </a:p>
                  </a:txBody>
                  <a:tcPr marL="88900" marR="88900" marT="12700" marB="12700" anchor="ctr">
                    <a:solidFill>
                      <a:srgbClr val="FFFFFF"/>
                    </a:solidFill>
                  </a:tcPr>
                </a:tc>
              </a:tr>
              <a:tr h="457200">
                <a:tc>
                  <a:txBody>
                    <a:bodyPr wrap="square"/>
                    <a:lstStyle/>
                    <a:p>
                      <a:pPr algn="l"/>
                      <a:r>
                        <a:rPr sz="1200" b="1">
                          <a:solidFill>
                            <a:srgbClr val="37474F"/>
                          </a:solidFill>
                          <a:latin typeface="Calibri"/>
                        </a:rPr>
                        <a:t>Combles</a:t>
                      </a:r>
                    </a:p>
                  </a:txBody>
                  <a:tcPr marL="88900" marR="88900" marT="12700" marB="12700" anchor="ctr">
                    <a:solidFill>
                      <a:srgbClr val="E8F5E9"/>
                    </a:solidFill>
                  </a:tcPr>
                </a:tc>
                <a:tc>
                  <a:txBody>
                    <a:bodyPr wrap="square"/>
                    <a:lstStyle/>
                    <a:p>
                      <a:pPr algn="ctr"/>
                      <a:r>
                        <a:rPr sz="1200" b="0">
                          <a:solidFill>
                            <a:srgbClr val="37474F"/>
                          </a:solidFill>
                          <a:latin typeface="Calibri"/>
                        </a:rPr>
                        <a:t>Ouate de cellulose 400 mm</a:t>
                      </a:r>
                    </a:p>
                  </a:txBody>
                  <a:tcPr marL="88900" marR="88900" marT="12700" marB="12700" anchor="ctr">
                    <a:solidFill>
                      <a:srgbClr val="E8F5E9"/>
                    </a:solidFill>
                  </a:tcPr>
                </a:tc>
              </a:tr>
              <a:tr h="457200">
                <a:tc>
                  <a:txBody>
                    <a:bodyPr wrap="square"/>
                    <a:lstStyle/>
                    <a:p>
                      <a:pPr algn="l"/>
                      <a:r>
                        <a:rPr sz="1200" b="1">
                          <a:solidFill>
                            <a:srgbClr val="37474F"/>
                          </a:solidFill>
                          <a:latin typeface="Calibri"/>
                        </a:rPr>
                        <a:t>Ventilation</a:t>
                      </a:r>
                    </a:p>
                  </a:txBody>
                  <a:tcPr marL="88900" marR="88900" marT="12700" marB="12700" anchor="ctr">
                    <a:solidFill>
                      <a:srgbClr val="FFFFFF"/>
                    </a:solidFill>
                  </a:tcPr>
                </a:tc>
                <a:tc>
                  <a:txBody>
                    <a:bodyPr wrap="square"/>
                    <a:lstStyle/>
                    <a:p>
                      <a:pPr algn="ctr"/>
                      <a:r>
                        <a:rPr sz="1200" b="0">
                          <a:solidFill>
                            <a:srgbClr val="37474F"/>
                          </a:solidFill>
                          <a:latin typeface="Calibri"/>
                        </a:rPr>
                        <a:t>VMC hygroréglable type B</a:t>
                      </a:r>
                    </a:p>
                  </a:txBody>
                  <a:tcPr marL="88900" marR="88900" marT="12700" marB="12700" anchor="ctr">
                    <a:solidFill>
                      <a:srgbClr val="FFFFFF"/>
                    </a:solidFill>
                  </a:tcPr>
                </a:tc>
              </a:tr>
              <a:tr h="457200">
                <a:tc>
                  <a:txBody>
                    <a:bodyPr wrap="square"/>
                    <a:lstStyle/>
                    <a:p>
                      <a:pPr algn="l"/>
                      <a:r>
                        <a:rPr sz="1200" b="1">
                          <a:solidFill>
                            <a:srgbClr val="37474F"/>
                          </a:solidFill>
                          <a:latin typeface="Calibri"/>
                        </a:rPr>
                        <a:t>Chauffage</a:t>
                      </a:r>
                    </a:p>
                  </a:txBody>
                  <a:tcPr marL="88900" marR="88900" marT="12700" marB="12700" anchor="ctr">
                    <a:solidFill>
                      <a:srgbClr val="E8F5E9"/>
                    </a:solidFill>
                  </a:tcPr>
                </a:tc>
                <a:tc>
                  <a:txBody>
                    <a:bodyPr wrap="square"/>
                    <a:lstStyle/>
                    <a:p>
                      <a:pPr algn="ctr"/>
                      <a:r>
                        <a:rPr sz="1200" b="0">
                          <a:solidFill>
                            <a:srgbClr val="37474F"/>
                          </a:solidFill>
                          <a:latin typeface="Calibri"/>
                        </a:rPr>
                        <a:t>Fioul conservé (étape ultérieure)</a:t>
                      </a:r>
                    </a:p>
                  </a:txBody>
                  <a:tcPr marL="88900" marR="88900" marT="12700" marB="12700" anchor="ctr">
                    <a:solidFill>
                      <a:srgbClr val="E8F5E9"/>
                    </a:solidFill>
                  </a:tcPr>
                </a:tc>
              </a:tr>
              <a:tr h="457200">
                <a:tc>
                  <a:txBody>
                    <a:bodyPr wrap="square"/>
                    <a:lstStyle/>
                    <a:p>
                      <a:pPr algn="l"/>
                      <a:r>
                        <a:rPr sz="1200" b="1">
                          <a:solidFill>
                            <a:srgbClr val="37474F"/>
                          </a:solidFill>
                          <a:latin typeface="Calibri"/>
                        </a:rPr>
                        <a:t>ECS</a:t>
                      </a:r>
                    </a:p>
                  </a:txBody>
                  <a:tcPr marL="88900" marR="88900" marT="12700" marB="12700" anchor="ctr">
                    <a:solidFill>
                      <a:srgbClr val="FFFFFF"/>
                    </a:solidFill>
                  </a:tcPr>
                </a:tc>
                <a:tc>
                  <a:txBody>
                    <a:bodyPr wrap="square"/>
                    <a:lstStyle/>
                    <a:p>
                      <a:pPr algn="ctr"/>
                      <a:r>
                        <a:rPr sz="1200" b="0">
                          <a:solidFill>
                            <a:srgbClr val="37474F"/>
                          </a:solidFill>
                          <a:latin typeface="Calibri"/>
                        </a:rPr>
                        <a:t>Ballon conservé (étape ultérieure)</a:t>
                      </a:r>
                    </a:p>
                  </a:txBody>
                  <a:tcPr marL="88900" marR="88900" marT="12700" marB="12700" anchor="ctr">
                    <a:solidFill>
                      <a:srgbClr val="FFFFFF"/>
                    </a:solidFill>
                  </a:tcPr>
                </a:tc>
              </a:tr>
            </a:tbl>
          </a:graphicData>
        </a:graphic>
      </p:graphicFrame>
      <p:sp>
        <p:nvSpPr>
          <p:cNvPr id="13" name="TextBox 12"/>
          <p:cNvSpPr txBox="1"/>
          <p:nvPr/>
        </p:nvSpPr>
        <p:spPr>
          <a:xfrm>
            <a:off x="7955279" y="1783080"/>
            <a:ext cx="1380744" cy="274320"/>
          </a:xfrm>
          <a:prstGeom prst="rect">
            <a:avLst/>
          </a:prstGeom>
          <a:noFill/>
        </p:spPr>
        <p:txBody>
          <a:bodyPr wrap="square" anchor="t" lIns="25400" rIns="25400" tIns="25400" bIns="25400">
            <a:spAutoFit/>
          </a:bodyPr>
          <a:lstStyle/>
          <a:p>
            <a:pPr algn="l">
              <a:lnSpc>
                <a:spcPct val="100000"/>
              </a:lnSpc>
              <a:spcAft>
                <a:spcPts val="400"/>
              </a:spcAft>
            </a:pPr>
            <a:r>
              <a:rPr sz="1100" b="1" i="0">
                <a:solidFill>
                  <a:srgbClr val="37474F"/>
                </a:solidFill>
                <a:latin typeface="Calibri"/>
              </a:rPr>
              <a:t>Énergie</a:t>
            </a:r>
          </a:p>
        </p:txBody>
      </p:sp>
      <p:sp>
        <p:nvSpPr>
          <p:cNvPr id="14" name="Rounded Rectangle 13"/>
          <p:cNvSpPr/>
          <p:nvPr/>
        </p:nvSpPr>
        <p:spPr>
          <a:xfrm>
            <a:off x="7955279" y="2112264"/>
            <a:ext cx="502920" cy="274320"/>
          </a:xfrm>
          <a:prstGeom prst="roundRect">
            <a:avLst/>
          </a:prstGeom>
          <a:solidFill>
            <a:srgbClr val="0083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10143" y="2112264"/>
            <a:ext cx="429768" cy="274320"/>
          </a:xfrm>
          <a:prstGeom prst="rect">
            <a:avLst/>
          </a:prstGeom>
          <a:noFill/>
        </p:spPr>
        <p:txBody>
          <a:bodyPr wrap="square" anchor="ctr" lIns="25400" rIns="25400" tIns="25400" bIns="25400">
            <a:spAutoFit/>
          </a:bodyPr>
          <a:lstStyle/>
          <a:p>
            <a:pPr algn="l">
              <a:lnSpc>
                <a:spcPct val="100000"/>
              </a:lnSpc>
              <a:spcAft>
                <a:spcPts val="400"/>
              </a:spcAft>
            </a:pPr>
            <a:r>
              <a:rPr sz="1200" b="1" i="0">
                <a:solidFill>
                  <a:srgbClr val="FFFFFF"/>
                </a:solidFill>
                <a:latin typeface="Calibri"/>
              </a:rPr>
              <a:t>A</a:t>
            </a:r>
          </a:p>
        </p:txBody>
      </p:sp>
      <p:sp>
        <p:nvSpPr>
          <p:cNvPr id="16" name="Rounded Rectangle 15"/>
          <p:cNvSpPr/>
          <p:nvPr/>
        </p:nvSpPr>
        <p:spPr>
          <a:xfrm>
            <a:off x="7955279" y="2441448"/>
            <a:ext cx="649224" cy="274320"/>
          </a:xfrm>
          <a:prstGeom prst="roundRect">
            <a:avLst/>
          </a:prstGeom>
          <a:solidFill>
            <a:srgbClr val="57AA27"/>
          </a:solidFill>
          <a:ln w="31750">
            <a:solidFill>
              <a:srgbClr val="26323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10143" y="2441448"/>
            <a:ext cx="576072" cy="274320"/>
          </a:xfrm>
          <a:prstGeom prst="rect">
            <a:avLst/>
          </a:prstGeom>
          <a:noFill/>
        </p:spPr>
        <p:txBody>
          <a:bodyPr wrap="square" anchor="ctr" lIns="25400" rIns="25400" tIns="25400" bIns="25400">
            <a:spAutoFit/>
          </a:bodyPr>
          <a:lstStyle/>
          <a:p>
            <a:pPr algn="l">
              <a:lnSpc>
                <a:spcPct val="100000"/>
              </a:lnSpc>
              <a:spcAft>
                <a:spcPts val="400"/>
              </a:spcAft>
            </a:pPr>
            <a:r>
              <a:rPr sz="1200" b="1" i="0">
                <a:solidFill>
                  <a:srgbClr val="FFFFFF"/>
                </a:solidFill>
                <a:latin typeface="Calibri"/>
              </a:rPr>
              <a:t>B</a:t>
            </a:r>
          </a:p>
        </p:txBody>
      </p:sp>
      <p:sp>
        <p:nvSpPr>
          <p:cNvPr id="18" name="Pentagon 17"/>
          <p:cNvSpPr/>
          <p:nvPr/>
        </p:nvSpPr>
        <p:spPr>
          <a:xfrm>
            <a:off x="7644383" y="2441448"/>
            <a:ext cx="274320" cy="274320"/>
          </a:xfrm>
          <a:prstGeom prst="homePlate">
            <a:avLst/>
          </a:prstGeom>
          <a:solidFill>
            <a:srgbClr val="263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955279" y="2770632"/>
            <a:ext cx="795528" cy="274320"/>
          </a:xfrm>
          <a:prstGeom prst="roundRect">
            <a:avLst/>
          </a:prstGeom>
          <a:solidFill>
            <a:srgbClr val="C3D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10143" y="2770632"/>
            <a:ext cx="722376" cy="274320"/>
          </a:xfrm>
          <a:prstGeom prst="rect">
            <a:avLst/>
          </a:prstGeom>
          <a:noFill/>
        </p:spPr>
        <p:txBody>
          <a:bodyPr wrap="square" anchor="ctr" lIns="25400" rIns="25400" tIns="25400" bIns="25400">
            <a:spAutoFit/>
          </a:bodyPr>
          <a:lstStyle/>
          <a:p>
            <a:pPr algn="l">
              <a:lnSpc>
                <a:spcPct val="100000"/>
              </a:lnSpc>
              <a:spcAft>
                <a:spcPts val="400"/>
              </a:spcAft>
            </a:pPr>
            <a:r>
              <a:rPr sz="1200" b="1" i="0">
                <a:solidFill>
                  <a:srgbClr val="FFFFFF"/>
                </a:solidFill>
                <a:latin typeface="Calibri"/>
              </a:rPr>
              <a:t>C</a:t>
            </a:r>
          </a:p>
        </p:txBody>
      </p:sp>
      <p:sp>
        <p:nvSpPr>
          <p:cNvPr id="21" name="Rounded Rectangle 20"/>
          <p:cNvSpPr/>
          <p:nvPr/>
        </p:nvSpPr>
        <p:spPr>
          <a:xfrm>
            <a:off x="7955279" y="3099816"/>
            <a:ext cx="941832" cy="274320"/>
          </a:xfrm>
          <a:prstGeom prst="roundRect">
            <a:avLst/>
          </a:prstGeom>
          <a:solidFill>
            <a:srgbClr val="FCEA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10143" y="3099816"/>
            <a:ext cx="868680" cy="274320"/>
          </a:xfrm>
          <a:prstGeom prst="rect">
            <a:avLst/>
          </a:prstGeom>
          <a:noFill/>
        </p:spPr>
        <p:txBody>
          <a:bodyPr wrap="square" anchor="ctr" lIns="25400" rIns="25400" tIns="25400" bIns="25400">
            <a:spAutoFit/>
          </a:bodyPr>
          <a:lstStyle/>
          <a:p>
            <a:pPr algn="l">
              <a:lnSpc>
                <a:spcPct val="100000"/>
              </a:lnSpc>
              <a:spcAft>
                <a:spcPts val="400"/>
              </a:spcAft>
            </a:pPr>
            <a:r>
              <a:rPr sz="1200" b="1" i="0">
                <a:solidFill>
                  <a:srgbClr val="FFFFFF"/>
                </a:solidFill>
                <a:latin typeface="Calibri"/>
              </a:rPr>
              <a:t>D</a:t>
            </a:r>
          </a:p>
        </p:txBody>
      </p:sp>
      <p:sp>
        <p:nvSpPr>
          <p:cNvPr id="23" name="Rounded Rectangle 22"/>
          <p:cNvSpPr/>
          <p:nvPr/>
        </p:nvSpPr>
        <p:spPr>
          <a:xfrm>
            <a:off x="7955279" y="3429000"/>
            <a:ext cx="1088136" cy="274320"/>
          </a:xfrm>
          <a:prstGeom prst="roundRect">
            <a:avLst/>
          </a:prstGeom>
          <a:solidFill>
            <a:srgbClr val="F7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10143" y="3429000"/>
            <a:ext cx="1014984" cy="274320"/>
          </a:xfrm>
          <a:prstGeom prst="rect">
            <a:avLst/>
          </a:prstGeom>
          <a:noFill/>
        </p:spPr>
        <p:txBody>
          <a:bodyPr wrap="square" anchor="ctr" lIns="25400" rIns="25400" tIns="25400" bIns="25400">
            <a:spAutoFit/>
          </a:bodyPr>
          <a:lstStyle/>
          <a:p>
            <a:pPr algn="l">
              <a:lnSpc>
                <a:spcPct val="100000"/>
              </a:lnSpc>
              <a:spcAft>
                <a:spcPts val="400"/>
              </a:spcAft>
            </a:pPr>
            <a:r>
              <a:rPr sz="1200" b="1" i="0">
                <a:solidFill>
                  <a:srgbClr val="FFFFFF"/>
                </a:solidFill>
                <a:latin typeface="Calibri"/>
              </a:rPr>
              <a:t>E</a:t>
            </a:r>
          </a:p>
        </p:txBody>
      </p:sp>
      <p:sp>
        <p:nvSpPr>
          <p:cNvPr id="25" name="Rounded Rectangle 24"/>
          <p:cNvSpPr/>
          <p:nvPr/>
        </p:nvSpPr>
        <p:spPr>
          <a:xfrm>
            <a:off x="7955279" y="3758184"/>
            <a:ext cx="1234440" cy="274320"/>
          </a:xfrm>
          <a:prstGeom prst="roundRect">
            <a:avLst/>
          </a:prstGeom>
          <a:solidFill>
            <a:srgbClr val="EA6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10143" y="3758184"/>
            <a:ext cx="1161288" cy="274320"/>
          </a:xfrm>
          <a:prstGeom prst="rect">
            <a:avLst/>
          </a:prstGeom>
          <a:noFill/>
        </p:spPr>
        <p:txBody>
          <a:bodyPr wrap="square" anchor="ctr" lIns="25400" rIns="25400" tIns="25400" bIns="25400">
            <a:spAutoFit/>
          </a:bodyPr>
          <a:lstStyle/>
          <a:p>
            <a:pPr algn="l">
              <a:lnSpc>
                <a:spcPct val="100000"/>
              </a:lnSpc>
              <a:spcAft>
                <a:spcPts val="400"/>
              </a:spcAft>
            </a:pPr>
            <a:r>
              <a:rPr sz="1200" b="1" i="0">
                <a:solidFill>
                  <a:srgbClr val="FFFFFF"/>
                </a:solidFill>
                <a:latin typeface="Calibri"/>
              </a:rPr>
              <a:t>F</a:t>
            </a:r>
          </a:p>
        </p:txBody>
      </p:sp>
      <p:sp>
        <p:nvSpPr>
          <p:cNvPr id="27" name="Rounded Rectangle 26"/>
          <p:cNvSpPr/>
          <p:nvPr/>
        </p:nvSpPr>
        <p:spPr>
          <a:xfrm>
            <a:off x="7955279" y="4087368"/>
            <a:ext cx="1380744" cy="274320"/>
          </a:xfrm>
          <a:prstGeom prst="roundRect">
            <a:avLst/>
          </a:prstGeom>
          <a:solidFill>
            <a:srgbClr val="E2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10143" y="4087368"/>
            <a:ext cx="1307592" cy="274320"/>
          </a:xfrm>
          <a:prstGeom prst="rect">
            <a:avLst/>
          </a:prstGeom>
          <a:noFill/>
        </p:spPr>
        <p:txBody>
          <a:bodyPr wrap="square" anchor="ctr" lIns="25400" rIns="25400" tIns="25400" bIns="25400">
            <a:spAutoFit/>
          </a:bodyPr>
          <a:lstStyle/>
          <a:p>
            <a:pPr algn="l">
              <a:lnSpc>
                <a:spcPct val="100000"/>
              </a:lnSpc>
              <a:spcAft>
                <a:spcPts val="400"/>
              </a:spcAft>
            </a:pPr>
            <a:r>
              <a:rPr sz="1200" b="1" i="0">
                <a:solidFill>
                  <a:srgbClr val="FFFFFF"/>
                </a:solidFill>
                <a:latin typeface="Calibri"/>
              </a:rPr>
              <a:t>G</a:t>
            </a:r>
          </a:p>
        </p:txBody>
      </p:sp>
      <p:sp>
        <p:nvSpPr>
          <p:cNvPr id="29" name="TextBox 28"/>
          <p:cNvSpPr txBox="1"/>
          <p:nvPr/>
        </p:nvSpPr>
        <p:spPr>
          <a:xfrm>
            <a:off x="9966960" y="1783080"/>
            <a:ext cx="1380744" cy="274320"/>
          </a:xfrm>
          <a:prstGeom prst="rect">
            <a:avLst/>
          </a:prstGeom>
          <a:noFill/>
        </p:spPr>
        <p:txBody>
          <a:bodyPr wrap="square" anchor="t" lIns="25400" rIns="25400" tIns="25400" bIns="25400">
            <a:spAutoFit/>
          </a:bodyPr>
          <a:lstStyle/>
          <a:p>
            <a:pPr algn="l">
              <a:lnSpc>
                <a:spcPct val="100000"/>
              </a:lnSpc>
              <a:spcAft>
                <a:spcPts val="400"/>
              </a:spcAft>
            </a:pPr>
            <a:r>
              <a:rPr sz="1100" b="1" i="0">
                <a:solidFill>
                  <a:srgbClr val="37474F"/>
                </a:solidFill>
                <a:latin typeface="Calibri"/>
              </a:rPr>
              <a:t>Climat</a:t>
            </a:r>
          </a:p>
        </p:txBody>
      </p:sp>
      <p:sp>
        <p:nvSpPr>
          <p:cNvPr id="30" name="Rounded Rectangle 29"/>
          <p:cNvSpPr/>
          <p:nvPr/>
        </p:nvSpPr>
        <p:spPr>
          <a:xfrm>
            <a:off x="9966960" y="2112264"/>
            <a:ext cx="502920" cy="274320"/>
          </a:xfrm>
          <a:prstGeom prst="roundRect">
            <a:avLst/>
          </a:prstGeom>
          <a:solidFill>
            <a:srgbClr val="0083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21824" y="2112264"/>
            <a:ext cx="429768" cy="274320"/>
          </a:xfrm>
          <a:prstGeom prst="rect">
            <a:avLst/>
          </a:prstGeom>
          <a:noFill/>
        </p:spPr>
        <p:txBody>
          <a:bodyPr wrap="square" anchor="ctr" lIns="25400" rIns="25400" tIns="25400" bIns="25400">
            <a:spAutoFit/>
          </a:bodyPr>
          <a:lstStyle/>
          <a:p>
            <a:pPr algn="l">
              <a:lnSpc>
                <a:spcPct val="100000"/>
              </a:lnSpc>
              <a:spcAft>
                <a:spcPts val="400"/>
              </a:spcAft>
            </a:pPr>
            <a:r>
              <a:rPr sz="1200" b="1" i="0">
                <a:solidFill>
                  <a:srgbClr val="FFFFFF"/>
                </a:solidFill>
                <a:latin typeface="Calibri"/>
              </a:rPr>
              <a:t>A</a:t>
            </a:r>
          </a:p>
        </p:txBody>
      </p:sp>
      <p:sp>
        <p:nvSpPr>
          <p:cNvPr id="32" name="Rounded Rectangle 31"/>
          <p:cNvSpPr/>
          <p:nvPr/>
        </p:nvSpPr>
        <p:spPr>
          <a:xfrm>
            <a:off x="9966960" y="2441448"/>
            <a:ext cx="649224" cy="274320"/>
          </a:xfrm>
          <a:prstGeom prst="roundRect">
            <a:avLst/>
          </a:prstGeom>
          <a:solidFill>
            <a:srgbClr val="57AA27"/>
          </a:solidFill>
          <a:ln w="31750">
            <a:solidFill>
              <a:srgbClr val="26323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021824" y="2441448"/>
            <a:ext cx="576072" cy="274320"/>
          </a:xfrm>
          <a:prstGeom prst="rect">
            <a:avLst/>
          </a:prstGeom>
          <a:noFill/>
        </p:spPr>
        <p:txBody>
          <a:bodyPr wrap="square" anchor="ctr" lIns="25400" rIns="25400" tIns="25400" bIns="25400">
            <a:spAutoFit/>
          </a:bodyPr>
          <a:lstStyle/>
          <a:p>
            <a:pPr algn="l">
              <a:lnSpc>
                <a:spcPct val="100000"/>
              </a:lnSpc>
              <a:spcAft>
                <a:spcPts val="400"/>
              </a:spcAft>
            </a:pPr>
            <a:r>
              <a:rPr sz="1200" b="1" i="0">
                <a:solidFill>
                  <a:srgbClr val="FFFFFF"/>
                </a:solidFill>
                <a:latin typeface="Calibri"/>
              </a:rPr>
              <a:t>B</a:t>
            </a:r>
          </a:p>
        </p:txBody>
      </p:sp>
      <p:sp>
        <p:nvSpPr>
          <p:cNvPr id="34" name="Pentagon 33"/>
          <p:cNvSpPr/>
          <p:nvPr/>
        </p:nvSpPr>
        <p:spPr>
          <a:xfrm>
            <a:off x="9656064" y="2441448"/>
            <a:ext cx="274320" cy="274320"/>
          </a:xfrm>
          <a:prstGeom prst="homePlate">
            <a:avLst/>
          </a:prstGeom>
          <a:solidFill>
            <a:srgbClr val="263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9966960" y="2770632"/>
            <a:ext cx="795528" cy="274320"/>
          </a:xfrm>
          <a:prstGeom prst="roundRect">
            <a:avLst/>
          </a:prstGeom>
          <a:solidFill>
            <a:srgbClr val="C3D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021824" y="2770632"/>
            <a:ext cx="722376" cy="274320"/>
          </a:xfrm>
          <a:prstGeom prst="rect">
            <a:avLst/>
          </a:prstGeom>
          <a:noFill/>
        </p:spPr>
        <p:txBody>
          <a:bodyPr wrap="square" anchor="ctr" lIns="25400" rIns="25400" tIns="25400" bIns="25400">
            <a:spAutoFit/>
          </a:bodyPr>
          <a:lstStyle/>
          <a:p>
            <a:pPr algn="l">
              <a:lnSpc>
                <a:spcPct val="100000"/>
              </a:lnSpc>
              <a:spcAft>
                <a:spcPts val="400"/>
              </a:spcAft>
            </a:pPr>
            <a:r>
              <a:rPr sz="1200" b="1" i="0">
                <a:solidFill>
                  <a:srgbClr val="FFFFFF"/>
                </a:solidFill>
                <a:latin typeface="Calibri"/>
              </a:rPr>
              <a:t>C</a:t>
            </a:r>
          </a:p>
        </p:txBody>
      </p:sp>
      <p:sp>
        <p:nvSpPr>
          <p:cNvPr id="37" name="Rounded Rectangle 36"/>
          <p:cNvSpPr/>
          <p:nvPr/>
        </p:nvSpPr>
        <p:spPr>
          <a:xfrm>
            <a:off x="9966960" y="3099816"/>
            <a:ext cx="941832" cy="274320"/>
          </a:xfrm>
          <a:prstGeom prst="roundRect">
            <a:avLst/>
          </a:prstGeom>
          <a:solidFill>
            <a:srgbClr val="FCEA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021824" y="3099816"/>
            <a:ext cx="868680" cy="274320"/>
          </a:xfrm>
          <a:prstGeom prst="rect">
            <a:avLst/>
          </a:prstGeom>
          <a:noFill/>
        </p:spPr>
        <p:txBody>
          <a:bodyPr wrap="square" anchor="ctr" lIns="25400" rIns="25400" tIns="25400" bIns="25400">
            <a:spAutoFit/>
          </a:bodyPr>
          <a:lstStyle/>
          <a:p>
            <a:pPr algn="l">
              <a:lnSpc>
                <a:spcPct val="100000"/>
              </a:lnSpc>
              <a:spcAft>
                <a:spcPts val="400"/>
              </a:spcAft>
            </a:pPr>
            <a:r>
              <a:rPr sz="1200" b="1" i="0">
                <a:solidFill>
                  <a:srgbClr val="FFFFFF"/>
                </a:solidFill>
                <a:latin typeface="Calibri"/>
              </a:rPr>
              <a:t>D</a:t>
            </a:r>
          </a:p>
        </p:txBody>
      </p:sp>
      <p:sp>
        <p:nvSpPr>
          <p:cNvPr id="39" name="Rounded Rectangle 38"/>
          <p:cNvSpPr/>
          <p:nvPr/>
        </p:nvSpPr>
        <p:spPr>
          <a:xfrm>
            <a:off x="9966960" y="3429000"/>
            <a:ext cx="1088136" cy="274320"/>
          </a:xfrm>
          <a:prstGeom prst="roundRect">
            <a:avLst/>
          </a:prstGeom>
          <a:solidFill>
            <a:srgbClr val="F7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021824" y="3429000"/>
            <a:ext cx="1014984" cy="274320"/>
          </a:xfrm>
          <a:prstGeom prst="rect">
            <a:avLst/>
          </a:prstGeom>
          <a:noFill/>
        </p:spPr>
        <p:txBody>
          <a:bodyPr wrap="square" anchor="ctr" lIns="25400" rIns="25400" tIns="25400" bIns="25400">
            <a:spAutoFit/>
          </a:bodyPr>
          <a:lstStyle/>
          <a:p>
            <a:pPr algn="l">
              <a:lnSpc>
                <a:spcPct val="100000"/>
              </a:lnSpc>
              <a:spcAft>
                <a:spcPts val="400"/>
              </a:spcAft>
            </a:pPr>
            <a:r>
              <a:rPr sz="1200" b="1" i="0">
                <a:solidFill>
                  <a:srgbClr val="FFFFFF"/>
                </a:solidFill>
                <a:latin typeface="Calibri"/>
              </a:rPr>
              <a:t>E</a:t>
            </a:r>
          </a:p>
        </p:txBody>
      </p:sp>
      <p:sp>
        <p:nvSpPr>
          <p:cNvPr id="41" name="Rounded Rectangle 40"/>
          <p:cNvSpPr/>
          <p:nvPr/>
        </p:nvSpPr>
        <p:spPr>
          <a:xfrm>
            <a:off x="9966960" y="3758184"/>
            <a:ext cx="1234440" cy="274320"/>
          </a:xfrm>
          <a:prstGeom prst="roundRect">
            <a:avLst/>
          </a:prstGeom>
          <a:solidFill>
            <a:srgbClr val="EA6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021824" y="3758184"/>
            <a:ext cx="1161288" cy="274320"/>
          </a:xfrm>
          <a:prstGeom prst="rect">
            <a:avLst/>
          </a:prstGeom>
          <a:noFill/>
        </p:spPr>
        <p:txBody>
          <a:bodyPr wrap="square" anchor="ctr" lIns="25400" rIns="25400" tIns="25400" bIns="25400">
            <a:spAutoFit/>
          </a:bodyPr>
          <a:lstStyle/>
          <a:p>
            <a:pPr algn="l">
              <a:lnSpc>
                <a:spcPct val="100000"/>
              </a:lnSpc>
              <a:spcAft>
                <a:spcPts val="400"/>
              </a:spcAft>
            </a:pPr>
            <a:r>
              <a:rPr sz="1200" b="1" i="0">
                <a:solidFill>
                  <a:srgbClr val="FFFFFF"/>
                </a:solidFill>
                <a:latin typeface="Calibri"/>
              </a:rPr>
              <a:t>F</a:t>
            </a:r>
          </a:p>
        </p:txBody>
      </p:sp>
      <p:sp>
        <p:nvSpPr>
          <p:cNvPr id="43" name="Rounded Rectangle 42"/>
          <p:cNvSpPr/>
          <p:nvPr/>
        </p:nvSpPr>
        <p:spPr>
          <a:xfrm>
            <a:off x="9966960" y="4087368"/>
            <a:ext cx="1380744" cy="274320"/>
          </a:xfrm>
          <a:prstGeom prst="roundRect">
            <a:avLst/>
          </a:prstGeom>
          <a:solidFill>
            <a:srgbClr val="E2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021824" y="4087368"/>
            <a:ext cx="1307592" cy="274320"/>
          </a:xfrm>
          <a:prstGeom prst="rect">
            <a:avLst/>
          </a:prstGeom>
          <a:noFill/>
        </p:spPr>
        <p:txBody>
          <a:bodyPr wrap="square" anchor="ctr" lIns="25400" rIns="25400" tIns="25400" bIns="25400">
            <a:spAutoFit/>
          </a:bodyPr>
          <a:lstStyle/>
          <a:p>
            <a:pPr algn="l">
              <a:lnSpc>
                <a:spcPct val="100000"/>
              </a:lnSpc>
              <a:spcAft>
                <a:spcPts val="400"/>
              </a:spcAft>
            </a:pPr>
            <a:r>
              <a:rPr sz="1200" b="1" i="0">
                <a:solidFill>
                  <a:srgbClr val="FFFFFF"/>
                </a:solidFill>
                <a:latin typeface="Calibri"/>
              </a:rPr>
              <a:t>G</a:t>
            </a:r>
          </a:p>
        </p:txBody>
      </p:sp>
      <p:sp>
        <p:nvSpPr>
          <p:cNvPr id="45" name="Rounded Rectangle 44"/>
          <p:cNvSpPr/>
          <p:nvPr/>
        </p:nvSpPr>
        <p:spPr>
          <a:xfrm>
            <a:off x="822960" y="4617720"/>
            <a:ext cx="10515600" cy="1417320"/>
          </a:xfrm>
          <a:prstGeom prst="roundRect">
            <a:avLst/>
          </a:prstGeom>
          <a:solidFill>
            <a:srgbClr val="E8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051560" y="4709160"/>
            <a:ext cx="10058400" cy="365760"/>
          </a:xfrm>
          <a:prstGeom prst="rect">
            <a:avLst/>
          </a:prstGeom>
          <a:noFill/>
        </p:spPr>
        <p:txBody>
          <a:bodyPr wrap="square" anchor="t" lIns="25400" rIns="25400" tIns="25400" bIns="25400">
            <a:spAutoFit/>
          </a:bodyPr>
          <a:lstStyle/>
          <a:p>
            <a:pPr algn="l">
              <a:lnSpc>
                <a:spcPct val="100000"/>
              </a:lnSpc>
              <a:spcAft>
                <a:spcPts val="400"/>
              </a:spcAft>
            </a:pPr>
            <a:r>
              <a:rPr sz="1400" b="1" i="0">
                <a:solidFill>
                  <a:srgbClr val="1B5E20"/>
                </a:solidFill>
                <a:latin typeface="Calibri"/>
              </a:rPr>
              <a:t>Avantages &amp; cohérence des étapes</a:t>
            </a:r>
          </a:p>
        </p:txBody>
      </p:sp>
      <p:sp>
        <p:nvSpPr>
          <p:cNvPr id="47" name="TextBox 46"/>
          <p:cNvSpPr txBox="1"/>
          <p:nvPr/>
        </p:nvSpPr>
        <p:spPr>
          <a:xfrm>
            <a:off x="1051560" y="5120640"/>
            <a:ext cx="5029200" cy="914400"/>
          </a:xfrm>
          <a:prstGeom prst="rect">
            <a:avLst/>
          </a:prstGeom>
          <a:noFill/>
        </p:spPr>
        <p:txBody>
          <a:bodyPr wrap="square">
            <a:spAutoFit/>
          </a:bodyPr>
          <a:lstStyle/>
          <a:p>
            <a:pPr>
              <a:lnSpc>
                <a:spcPct val="105000"/>
              </a:lnSpc>
              <a:spcAft>
                <a:spcPts val="500"/>
              </a:spcAft>
            </a:pPr>
            <a:r>
              <a:rPr sz="1200" b="1">
                <a:solidFill>
                  <a:srgbClr val="2E7D32"/>
                </a:solidFill>
                <a:latin typeface="Calibri"/>
              </a:rPr>
              <a:t>●  </a:t>
            </a:r>
            <a:r>
              <a:rPr sz="1200">
                <a:solidFill>
                  <a:srgbClr val="37474F"/>
                </a:solidFill>
                <a:latin typeface="Calibri"/>
              </a:rPr>
              <a:t>Traite les 2 premiers postes de pertes (murs + toiture)</a:t>
            </a:r>
          </a:p>
          <a:p>
            <a:pPr>
              <a:lnSpc>
                <a:spcPct val="105000"/>
              </a:lnSpc>
              <a:spcAft>
                <a:spcPts val="500"/>
              </a:spcAft>
            </a:pPr>
            <a:r>
              <a:rPr sz="1200" b="1">
                <a:solidFill>
                  <a:srgbClr val="2E7D32"/>
                </a:solidFill>
                <a:latin typeface="Calibri"/>
              </a:rPr>
              <a:t>●  </a:t>
            </a:r>
            <a:r>
              <a:rPr sz="1200">
                <a:solidFill>
                  <a:srgbClr val="37474F"/>
                </a:solidFill>
                <a:latin typeface="Calibri"/>
              </a:rPr>
              <a:t>Ne compromet pas le futur changement de chauffage</a:t>
            </a:r>
          </a:p>
          <a:p>
            <a:pPr>
              <a:lnSpc>
                <a:spcPct val="105000"/>
              </a:lnSpc>
              <a:spcAft>
                <a:spcPts val="500"/>
              </a:spcAft>
            </a:pPr>
            <a:r>
              <a:rPr sz="1200" b="1">
                <a:solidFill>
                  <a:srgbClr val="2E7D32"/>
                </a:solidFill>
                <a:latin typeface="Calibri"/>
              </a:rPr>
              <a:t>●  </a:t>
            </a:r>
            <a:r>
              <a:rPr sz="1200">
                <a:solidFill>
                  <a:srgbClr val="37474F"/>
                </a:solidFill>
                <a:latin typeface="Calibri"/>
              </a:rPr>
              <a:t>Investissement maîtrisé : ≈ 24 000 €</a:t>
            </a:r>
          </a:p>
        </p:txBody>
      </p:sp>
      <p:sp>
        <p:nvSpPr>
          <p:cNvPr id="48" name="TextBox 47"/>
          <p:cNvSpPr txBox="1"/>
          <p:nvPr/>
        </p:nvSpPr>
        <p:spPr>
          <a:xfrm>
            <a:off x="6309360" y="5120640"/>
            <a:ext cx="4846320" cy="914400"/>
          </a:xfrm>
          <a:prstGeom prst="rect">
            <a:avLst/>
          </a:prstGeom>
          <a:noFill/>
        </p:spPr>
        <p:txBody>
          <a:bodyPr wrap="square">
            <a:spAutoFit/>
          </a:bodyPr>
          <a:lstStyle/>
          <a:p>
            <a:pPr>
              <a:lnSpc>
                <a:spcPct val="105000"/>
              </a:lnSpc>
              <a:spcAft>
                <a:spcPts val="500"/>
              </a:spcAft>
            </a:pPr>
            <a:r>
              <a:rPr sz="1200" b="1">
                <a:solidFill>
                  <a:srgbClr val="2E7D32"/>
                </a:solidFill>
                <a:latin typeface="Calibri"/>
              </a:rPr>
              <a:t>●  </a:t>
            </a:r>
            <a:r>
              <a:rPr sz="1200">
                <a:solidFill>
                  <a:srgbClr val="37474F"/>
                </a:solidFill>
                <a:latin typeface="Calibri"/>
              </a:rPr>
              <a:t>Confort d’hiver et d’été améliorés</a:t>
            </a:r>
          </a:p>
          <a:p>
            <a:pPr>
              <a:lnSpc>
                <a:spcPct val="105000"/>
              </a:lnSpc>
              <a:spcAft>
                <a:spcPts val="500"/>
              </a:spcAft>
            </a:pPr>
            <a:r>
              <a:rPr sz="1200" b="1">
                <a:solidFill>
                  <a:srgbClr val="2E7D32"/>
                </a:solidFill>
                <a:latin typeface="Calibri"/>
              </a:rPr>
              <a:t>●  </a:t>
            </a:r>
            <a:r>
              <a:rPr sz="1200">
                <a:solidFill>
                  <a:srgbClr val="37474F"/>
                </a:solidFill>
                <a:latin typeface="Calibri"/>
              </a:rPr>
              <a:t>Inertie des murs en pierre conservée</a:t>
            </a:r>
          </a:p>
          <a:p>
            <a:pPr>
              <a:lnSpc>
                <a:spcPct val="105000"/>
              </a:lnSpc>
              <a:spcAft>
                <a:spcPts val="500"/>
              </a:spcAft>
            </a:pPr>
            <a:r>
              <a:rPr sz="1200" b="1">
                <a:solidFill>
                  <a:srgbClr val="2E7D32"/>
                </a:solidFill>
                <a:latin typeface="Calibri"/>
              </a:rPr>
              <a:t>●  </a:t>
            </a:r>
            <a:r>
              <a:rPr sz="1200">
                <a:solidFill>
                  <a:srgbClr val="37474F"/>
                </a:solidFill>
                <a:latin typeface="Calibri"/>
              </a:rPr>
              <a:t>Étiquette DPE : G → B / B</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4</a:t>
            </a:r>
          </a:p>
        </p:txBody>
      </p:sp>
      <p:sp>
        <p:nvSpPr>
          <p:cNvPr id="6" name="TextBox 5"/>
          <p:cNvSpPr txBox="1"/>
          <p:nvPr/>
        </p:nvSpPr>
        <p:spPr>
          <a:xfrm>
            <a:off x="1325880" y="365760"/>
            <a:ext cx="10332720" cy="731520"/>
          </a:xfrm>
          <a:prstGeom prst="rect">
            <a:avLst/>
          </a:prstGeom>
          <a:noFill/>
        </p:spPr>
        <p:txBody>
          <a:bodyPr wrap="square" anchor="ctr" lIns="25400" rIns="25400" tIns="25400" bIns="25400">
            <a:spAutoFit/>
          </a:bodyPr>
          <a:lstStyle/>
          <a:p>
            <a:pPr algn="l">
              <a:lnSpc>
                <a:spcPct val="100000"/>
              </a:lnSpc>
              <a:spcAft>
                <a:spcPts val="400"/>
              </a:spcAft>
            </a:pPr>
            <a:r>
              <a:rPr sz="2900" b="1" i="0">
                <a:solidFill>
                  <a:srgbClr val="1B5E20"/>
                </a:solidFill>
                <a:latin typeface="Calibri"/>
              </a:rPr>
              <a:t>Scénario 2 — Rénovation performante globale</a:t>
            </a:r>
          </a:p>
        </p:txBody>
      </p:sp>
      <p:sp>
        <p:nvSpPr>
          <p:cNvPr id="7" name="TextBox 6"/>
          <p:cNvSpPr txBox="1"/>
          <p:nvPr/>
        </p:nvSpPr>
        <p:spPr>
          <a:xfrm>
            <a:off x="1325880" y="1060704"/>
            <a:ext cx="10332720" cy="365760"/>
          </a:xfrm>
          <a:prstGeom prst="rect">
            <a:avLst/>
          </a:prstGeom>
          <a:noFill/>
        </p:spPr>
        <p:txBody>
          <a:bodyPr wrap="square" anchor="t" lIns="25400" rIns="25400" tIns="25400" bIns="25400">
            <a:spAutoFit/>
          </a:bodyPr>
          <a:lstStyle/>
          <a:p>
            <a:pPr algn="l">
              <a:lnSpc>
                <a:spcPct val="100000"/>
              </a:lnSpc>
              <a:spcAft>
                <a:spcPts val="400"/>
              </a:spcAft>
            </a:pPr>
            <a:r>
              <a:rPr sz="1400" b="0" i="1">
                <a:solidFill>
                  <a:srgbClr val="90A4AE"/>
                </a:solidFill>
                <a:latin typeface="Calibri"/>
              </a:rPr>
              <a:t>Enveloppe + remplacement du chauffage</a:t>
            </a:r>
          </a:p>
        </p:txBody>
      </p:sp>
      <p:sp>
        <p:nvSpPr>
          <p:cNvPr id="8" name="Rectangle 7"/>
          <p:cNvSpPr/>
          <p:nvPr/>
        </p:nvSpPr>
        <p:spPr>
          <a:xfrm>
            <a:off x="1325880" y="1170432"/>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Rénovation énergétique – Saint-Jean-de-Chevelu (73) – Bloc 1</a:t>
            </a:r>
          </a:p>
        </p:txBody>
      </p:sp>
      <p:sp>
        <p:nvSpPr>
          <p:cNvPr id="10" name="TextBox 9"/>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sp>
        <p:nvSpPr>
          <p:cNvPr id="11" name="TextBox 10"/>
          <p:cNvSpPr txBox="1"/>
          <p:nvPr/>
        </p:nvSpPr>
        <p:spPr>
          <a:xfrm>
            <a:off x="822960" y="1417320"/>
            <a:ext cx="10424160" cy="365760"/>
          </a:xfrm>
          <a:prstGeom prst="rect">
            <a:avLst/>
          </a:prstGeom>
          <a:noFill/>
        </p:spPr>
        <p:txBody>
          <a:bodyPr wrap="square" anchor="t" lIns="25400" rIns="25400" tIns="25400" bIns="25400">
            <a:spAutoFit/>
          </a:bodyPr>
          <a:lstStyle/>
          <a:p>
            <a:pPr algn="l">
              <a:lnSpc>
                <a:spcPct val="100000"/>
              </a:lnSpc>
              <a:spcAft>
                <a:spcPts val="400"/>
              </a:spcAft>
            </a:pPr>
            <a:r>
              <a:rPr sz="1350" b="0" i="1">
                <a:solidFill>
                  <a:srgbClr val="37474F"/>
                </a:solidFill>
                <a:latin typeface="Calibri"/>
              </a:rPr>
              <a:t>Toute l’isolation du scénario 1 + sortie du fioul. Deux solutions de chauffage comparées :</a:t>
            </a:r>
          </a:p>
        </p:txBody>
      </p:sp>
      <p:graphicFrame>
        <p:nvGraphicFramePr>
          <p:cNvPr id="12" name="Table 11"/>
          <p:cNvGraphicFramePr>
            <a:graphicFrameLocks noGrp="1"/>
          </p:cNvGraphicFramePr>
          <p:nvPr/>
        </p:nvGraphicFramePr>
        <p:xfrm>
          <a:off x="822960" y="1874519"/>
          <a:ext cx="6858000" cy="2743200"/>
        </p:xfrm>
        <a:graphic>
          <a:graphicData uri="http://schemas.openxmlformats.org/drawingml/2006/table">
            <a:tbl>
              <a:tblPr>
                <a:tableStyleId>{5C22544A-7EE6-4342-B048-85BDC9FD1C3A}</a:tableStyleId>
              </a:tblPr>
              <a:tblGrid>
                <a:gridCol w="2651760"/>
                <a:gridCol w="2103120"/>
                <a:gridCol w="2103120"/>
              </a:tblGrid>
              <a:tr h="457200">
                <a:tc>
                  <a:txBody>
                    <a:bodyPr wrap="square"/>
                    <a:lstStyle/>
                    <a:p>
                      <a:pPr algn="l"/>
                      <a:r>
                        <a:rPr sz="1200" b="1">
                          <a:solidFill>
                            <a:srgbClr val="FFFFFF"/>
                          </a:solidFill>
                          <a:latin typeface="Calibri"/>
                        </a:rPr>
                        <a:t>Critère</a:t>
                      </a:r>
                    </a:p>
                  </a:txBody>
                  <a:tcPr marL="88900" marR="88900" marT="12700" marB="12700" anchor="ctr">
                    <a:solidFill>
                      <a:srgbClr val="1B5E20"/>
                    </a:solidFill>
                  </a:tcPr>
                </a:tc>
                <a:tc>
                  <a:txBody>
                    <a:bodyPr wrap="square"/>
                    <a:lstStyle/>
                    <a:p>
                      <a:pPr algn="ctr"/>
                      <a:r>
                        <a:rPr sz="1200" b="1">
                          <a:solidFill>
                            <a:srgbClr val="FFFFFF"/>
                          </a:solidFill>
                          <a:latin typeface="Calibri"/>
                        </a:rPr>
                        <a:t>PAC Air/Eau</a:t>
                      </a:r>
                    </a:p>
                  </a:txBody>
                  <a:tcPr marL="88900" marR="88900" marT="12700" marB="12700" anchor="ctr">
                    <a:solidFill>
                      <a:srgbClr val="1B5E20"/>
                    </a:solidFill>
                  </a:tcPr>
                </a:tc>
                <a:tc>
                  <a:txBody>
                    <a:bodyPr wrap="square"/>
                    <a:lstStyle/>
                    <a:p>
                      <a:pPr algn="ctr"/>
                      <a:r>
                        <a:rPr sz="1200" b="1">
                          <a:solidFill>
                            <a:srgbClr val="FFFFFF"/>
                          </a:solidFill>
                          <a:latin typeface="Calibri"/>
                        </a:rPr>
                        <a:t>Chaudière granulés</a:t>
                      </a:r>
                    </a:p>
                  </a:txBody>
                  <a:tcPr marL="88900" marR="88900" marT="12700" marB="12700" anchor="ctr">
                    <a:solidFill>
                      <a:srgbClr val="1B5E20"/>
                    </a:solidFill>
                  </a:tcPr>
                </a:tc>
              </a:tr>
              <a:tr h="457200">
                <a:tc>
                  <a:txBody>
                    <a:bodyPr wrap="square"/>
                    <a:lstStyle/>
                    <a:p>
                      <a:pPr algn="l"/>
                      <a:r>
                        <a:rPr sz="1150" b="1">
                          <a:solidFill>
                            <a:srgbClr val="37474F"/>
                          </a:solidFill>
                          <a:latin typeface="Calibri"/>
                        </a:rPr>
                        <a:t>Rendement</a:t>
                      </a:r>
                    </a:p>
                  </a:txBody>
                  <a:tcPr marL="88900" marR="88900" marT="12700" marB="12700" anchor="ctr">
                    <a:solidFill>
                      <a:srgbClr val="FFFFFF"/>
                    </a:solidFill>
                  </a:tcPr>
                </a:tc>
                <a:tc>
                  <a:txBody>
                    <a:bodyPr wrap="square"/>
                    <a:lstStyle/>
                    <a:p>
                      <a:pPr algn="ctr"/>
                      <a:r>
                        <a:rPr sz="1150" b="0">
                          <a:solidFill>
                            <a:srgbClr val="37474F"/>
                          </a:solidFill>
                          <a:latin typeface="Calibri"/>
                        </a:rPr>
                        <a:t>COP &gt; 3</a:t>
                      </a:r>
                    </a:p>
                  </a:txBody>
                  <a:tcPr marL="88900" marR="88900" marT="12700" marB="12700" anchor="ctr">
                    <a:solidFill>
                      <a:srgbClr val="FFFFFF"/>
                    </a:solidFill>
                  </a:tcPr>
                </a:tc>
                <a:tc>
                  <a:txBody>
                    <a:bodyPr wrap="square"/>
                    <a:lstStyle/>
                    <a:p>
                      <a:pPr algn="ctr"/>
                      <a:r>
                        <a:rPr sz="1150" b="0">
                          <a:solidFill>
                            <a:srgbClr val="37474F"/>
                          </a:solidFill>
                          <a:latin typeface="Calibri"/>
                        </a:rPr>
                        <a:t>&gt; 90 %</a:t>
                      </a:r>
                    </a:p>
                  </a:txBody>
                  <a:tcPr marL="88900" marR="88900" marT="12700" marB="12700" anchor="ctr">
                    <a:solidFill>
                      <a:srgbClr val="FFFFFF"/>
                    </a:solidFill>
                  </a:tcPr>
                </a:tc>
              </a:tr>
              <a:tr h="457200">
                <a:tc>
                  <a:txBody>
                    <a:bodyPr wrap="square"/>
                    <a:lstStyle/>
                    <a:p>
                      <a:pPr algn="l"/>
                      <a:r>
                        <a:rPr sz="1150" b="1">
                          <a:solidFill>
                            <a:srgbClr val="37474F"/>
                          </a:solidFill>
                          <a:latin typeface="Calibri"/>
                        </a:rPr>
                        <a:t>Émissions CO₂</a:t>
                      </a:r>
                    </a:p>
                  </a:txBody>
                  <a:tcPr marL="88900" marR="88900" marT="12700" marB="12700" anchor="ctr">
                    <a:solidFill>
                      <a:srgbClr val="E8F5E9"/>
                    </a:solidFill>
                  </a:tcPr>
                </a:tc>
                <a:tc>
                  <a:txBody>
                    <a:bodyPr wrap="square"/>
                    <a:lstStyle/>
                    <a:p>
                      <a:pPr algn="ctr"/>
                      <a:r>
                        <a:rPr sz="1150" b="0">
                          <a:solidFill>
                            <a:srgbClr val="37474F"/>
                          </a:solidFill>
                          <a:latin typeface="Calibri"/>
                        </a:rPr>
                        <a:t>Très faibles</a:t>
                      </a:r>
                    </a:p>
                  </a:txBody>
                  <a:tcPr marL="88900" marR="88900" marT="12700" marB="12700" anchor="ctr">
                    <a:solidFill>
                      <a:srgbClr val="E8F5E9"/>
                    </a:solidFill>
                  </a:tcPr>
                </a:tc>
                <a:tc>
                  <a:txBody>
                    <a:bodyPr wrap="square"/>
                    <a:lstStyle/>
                    <a:p>
                      <a:pPr algn="ctr"/>
                      <a:r>
                        <a:rPr sz="1150" b="0">
                          <a:solidFill>
                            <a:srgbClr val="37474F"/>
                          </a:solidFill>
                          <a:latin typeface="Calibri"/>
                        </a:rPr>
                        <a:t>Très faibles</a:t>
                      </a:r>
                    </a:p>
                  </a:txBody>
                  <a:tcPr marL="88900" marR="88900" marT="12700" marB="12700" anchor="ctr">
                    <a:solidFill>
                      <a:srgbClr val="E8F5E9"/>
                    </a:solidFill>
                  </a:tcPr>
                </a:tc>
              </a:tr>
              <a:tr h="457200">
                <a:tc>
                  <a:txBody>
                    <a:bodyPr wrap="square"/>
                    <a:lstStyle/>
                    <a:p>
                      <a:pPr algn="l"/>
                      <a:r>
                        <a:rPr sz="1150" b="1">
                          <a:solidFill>
                            <a:srgbClr val="37474F"/>
                          </a:solidFill>
                          <a:latin typeface="Calibri"/>
                        </a:rPr>
                        <a:t>Stockage</a:t>
                      </a:r>
                    </a:p>
                  </a:txBody>
                  <a:tcPr marL="88900" marR="88900" marT="12700" marB="12700" anchor="ctr">
                    <a:solidFill>
                      <a:srgbClr val="FFFFFF"/>
                    </a:solidFill>
                  </a:tcPr>
                </a:tc>
                <a:tc>
                  <a:txBody>
                    <a:bodyPr wrap="square"/>
                    <a:lstStyle/>
                    <a:p>
                      <a:pPr algn="ctr"/>
                      <a:r>
                        <a:rPr sz="1150" b="0">
                          <a:solidFill>
                            <a:srgbClr val="37474F"/>
                          </a:solidFill>
                          <a:latin typeface="Calibri"/>
                        </a:rPr>
                        <a:t>Aucun</a:t>
                      </a:r>
                    </a:p>
                  </a:txBody>
                  <a:tcPr marL="88900" marR="88900" marT="12700" marB="12700" anchor="ctr">
                    <a:solidFill>
                      <a:srgbClr val="FFFFFF"/>
                    </a:solidFill>
                  </a:tcPr>
                </a:tc>
                <a:tc>
                  <a:txBody>
                    <a:bodyPr wrap="square"/>
                    <a:lstStyle/>
                    <a:p>
                      <a:pPr algn="ctr"/>
                      <a:r>
                        <a:rPr sz="1150" b="0">
                          <a:solidFill>
                            <a:srgbClr val="37474F"/>
                          </a:solidFill>
                          <a:latin typeface="Calibri"/>
                        </a:rPr>
                        <a:t>Silo nécessaire</a:t>
                      </a:r>
                    </a:p>
                  </a:txBody>
                  <a:tcPr marL="88900" marR="88900" marT="12700" marB="12700" anchor="ctr">
                    <a:solidFill>
                      <a:srgbClr val="FFFFFF"/>
                    </a:solidFill>
                  </a:tcPr>
                </a:tc>
              </a:tr>
              <a:tr h="457200">
                <a:tc>
                  <a:txBody>
                    <a:bodyPr wrap="square"/>
                    <a:lstStyle/>
                    <a:p>
                      <a:pPr algn="l"/>
                      <a:r>
                        <a:rPr sz="1150" b="1">
                          <a:solidFill>
                            <a:srgbClr val="37474F"/>
                          </a:solidFill>
                          <a:latin typeface="Calibri"/>
                        </a:rPr>
                        <a:t>Radiateurs fonte (haute T°)</a:t>
                      </a:r>
                    </a:p>
                  </a:txBody>
                  <a:tcPr marL="88900" marR="88900" marT="12700" marB="12700" anchor="ctr">
                    <a:solidFill>
                      <a:srgbClr val="E8F5E9"/>
                    </a:solidFill>
                  </a:tcPr>
                </a:tc>
                <a:tc>
                  <a:txBody>
                    <a:bodyPr wrap="square"/>
                    <a:lstStyle/>
                    <a:p>
                      <a:pPr algn="ctr"/>
                      <a:r>
                        <a:rPr sz="1150" b="0">
                          <a:solidFill>
                            <a:srgbClr val="37474F"/>
                          </a:solidFill>
                          <a:latin typeface="Calibri"/>
                        </a:rPr>
                        <a:t>Moins adaptée</a:t>
                      </a:r>
                    </a:p>
                  </a:txBody>
                  <a:tcPr marL="88900" marR="88900" marT="12700" marB="12700" anchor="ctr">
                    <a:solidFill>
                      <a:srgbClr val="E8F5E9"/>
                    </a:solidFill>
                  </a:tcPr>
                </a:tc>
                <a:tc>
                  <a:txBody>
                    <a:bodyPr wrap="square"/>
                    <a:lstStyle/>
                    <a:p>
                      <a:pPr algn="ctr"/>
                      <a:r>
                        <a:rPr sz="1150" b="0">
                          <a:solidFill>
                            <a:srgbClr val="37474F"/>
                          </a:solidFill>
                          <a:latin typeface="Calibri"/>
                        </a:rPr>
                        <a:t>Très adaptée</a:t>
                      </a:r>
                    </a:p>
                  </a:txBody>
                  <a:tcPr marL="88900" marR="88900" marT="12700" marB="12700" anchor="ctr">
                    <a:solidFill>
                      <a:srgbClr val="E8F5E9"/>
                    </a:solidFill>
                  </a:tcPr>
                </a:tc>
              </a:tr>
              <a:tr h="457200">
                <a:tc>
                  <a:txBody>
                    <a:bodyPr wrap="square"/>
                    <a:lstStyle/>
                    <a:p>
                      <a:pPr algn="l"/>
                      <a:r>
                        <a:rPr sz="1150" b="1">
                          <a:solidFill>
                            <a:srgbClr val="37474F"/>
                          </a:solidFill>
                          <a:latin typeface="Calibri"/>
                        </a:rPr>
                        <a:t>Bâti ancien savoyard</a:t>
                      </a:r>
                    </a:p>
                  </a:txBody>
                  <a:tcPr marL="88900" marR="88900" marT="12700" marB="12700" anchor="ctr">
                    <a:solidFill>
                      <a:srgbClr val="FFFFFF"/>
                    </a:solidFill>
                  </a:tcPr>
                </a:tc>
                <a:tc>
                  <a:txBody>
                    <a:bodyPr wrap="square"/>
                    <a:lstStyle/>
                    <a:p>
                      <a:pPr algn="ctr"/>
                      <a:r>
                        <a:rPr sz="1150" b="0">
                          <a:solidFill>
                            <a:srgbClr val="37474F"/>
                          </a:solidFill>
                          <a:latin typeface="Calibri"/>
                        </a:rPr>
                        <a:t>Bonne</a:t>
                      </a:r>
                    </a:p>
                  </a:txBody>
                  <a:tcPr marL="88900" marR="88900" marT="12700" marB="12700" anchor="ctr">
                    <a:solidFill>
                      <a:srgbClr val="FFFFFF"/>
                    </a:solidFill>
                  </a:tcPr>
                </a:tc>
                <a:tc>
                  <a:txBody>
                    <a:bodyPr wrap="square"/>
                    <a:lstStyle/>
                    <a:p>
                      <a:pPr algn="ctr"/>
                      <a:r>
                        <a:rPr sz="1150" b="0">
                          <a:solidFill>
                            <a:srgbClr val="37474F"/>
                          </a:solidFill>
                          <a:latin typeface="Calibri"/>
                        </a:rPr>
                        <a:t>Très adaptée</a:t>
                      </a:r>
                    </a:p>
                  </a:txBody>
                  <a:tcPr marL="88900" marR="88900" marT="12700" marB="12700" anchor="ctr">
                    <a:solidFill>
                      <a:srgbClr val="FFFFFF"/>
                    </a:solidFill>
                  </a:tcPr>
                </a:tc>
              </a:tr>
            </a:tbl>
          </a:graphicData>
        </a:graphic>
      </p:graphicFrame>
      <p:sp>
        <p:nvSpPr>
          <p:cNvPr id="13" name="TextBox 12"/>
          <p:cNvSpPr txBox="1"/>
          <p:nvPr/>
        </p:nvSpPr>
        <p:spPr>
          <a:xfrm>
            <a:off x="8229600" y="1783080"/>
            <a:ext cx="1380744" cy="274320"/>
          </a:xfrm>
          <a:prstGeom prst="rect">
            <a:avLst/>
          </a:prstGeom>
          <a:noFill/>
        </p:spPr>
        <p:txBody>
          <a:bodyPr wrap="square" anchor="t" lIns="25400" rIns="25400" tIns="25400" bIns="25400">
            <a:spAutoFit/>
          </a:bodyPr>
          <a:lstStyle/>
          <a:p>
            <a:pPr algn="l">
              <a:lnSpc>
                <a:spcPct val="100000"/>
              </a:lnSpc>
              <a:spcAft>
                <a:spcPts val="400"/>
              </a:spcAft>
            </a:pPr>
            <a:r>
              <a:rPr sz="1100" b="1" i="0">
                <a:solidFill>
                  <a:srgbClr val="37474F"/>
                </a:solidFill>
                <a:latin typeface="Calibri"/>
              </a:rPr>
              <a:t>Énergie</a:t>
            </a:r>
          </a:p>
        </p:txBody>
      </p:sp>
      <p:sp>
        <p:nvSpPr>
          <p:cNvPr id="14" name="Rounded Rectangle 13"/>
          <p:cNvSpPr/>
          <p:nvPr/>
        </p:nvSpPr>
        <p:spPr>
          <a:xfrm>
            <a:off x="8229600" y="2112264"/>
            <a:ext cx="502920" cy="256032"/>
          </a:xfrm>
          <a:prstGeom prst="roundRect">
            <a:avLst/>
          </a:prstGeom>
          <a:solidFill>
            <a:srgbClr val="008336"/>
          </a:solidFill>
          <a:ln w="31750">
            <a:solidFill>
              <a:srgbClr val="26323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84464" y="2112264"/>
            <a:ext cx="429768" cy="256032"/>
          </a:xfrm>
          <a:prstGeom prst="rect">
            <a:avLst/>
          </a:prstGeom>
          <a:noFill/>
        </p:spPr>
        <p:txBody>
          <a:bodyPr wrap="square" anchor="ctr" lIns="25400" rIns="25400" tIns="25400" bIns="25400">
            <a:spAutoFit/>
          </a:bodyPr>
          <a:lstStyle/>
          <a:p>
            <a:pPr algn="l">
              <a:lnSpc>
                <a:spcPct val="100000"/>
              </a:lnSpc>
              <a:spcAft>
                <a:spcPts val="400"/>
              </a:spcAft>
            </a:pPr>
            <a:r>
              <a:rPr sz="1200" b="1" i="0">
                <a:solidFill>
                  <a:srgbClr val="FFFFFF"/>
                </a:solidFill>
                <a:latin typeface="Calibri"/>
              </a:rPr>
              <a:t>A</a:t>
            </a:r>
          </a:p>
        </p:txBody>
      </p:sp>
      <p:sp>
        <p:nvSpPr>
          <p:cNvPr id="16" name="Pentagon 15"/>
          <p:cNvSpPr/>
          <p:nvPr/>
        </p:nvSpPr>
        <p:spPr>
          <a:xfrm>
            <a:off x="7918704" y="2112264"/>
            <a:ext cx="274320" cy="256032"/>
          </a:xfrm>
          <a:prstGeom prst="homePlate">
            <a:avLst/>
          </a:prstGeom>
          <a:solidFill>
            <a:srgbClr val="263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229600" y="2423160"/>
            <a:ext cx="649224" cy="256032"/>
          </a:xfrm>
          <a:prstGeom prst="roundRect">
            <a:avLst/>
          </a:prstGeom>
          <a:solidFill>
            <a:srgbClr val="57AA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84464" y="2423160"/>
            <a:ext cx="576072" cy="256032"/>
          </a:xfrm>
          <a:prstGeom prst="rect">
            <a:avLst/>
          </a:prstGeom>
          <a:noFill/>
        </p:spPr>
        <p:txBody>
          <a:bodyPr wrap="square" anchor="ctr" lIns="25400" rIns="25400" tIns="25400" bIns="25400">
            <a:spAutoFit/>
          </a:bodyPr>
          <a:lstStyle/>
          <a:p>
            <a:pPr algn="l">
              <a:lnSpc>
                <a:spcPct val="100000"/>
              </a:lnSpc>
              <a:spcAft>
                <a:spcPts val="400"/>
              </a:spcAft>
            </a:pPr>
            <a:r>
              <a:rPr sz="1200" b="1" i="0">
                <a:solidFill>
                  <a:srgbClr val="FFFFFF"/>
                </a:solidFill>
                <a:latin typeface="Calibri"/>
              </a:rPr>
              <a:t>B</a:t>
            </a:r>
          </a:p>
        </p:txBody>
      </p:sp>
      <p:sp>
        <p:nvSpPr>
          <p:cNvPr id="19" name="Rounded Rectangle 18"/>
          <p:cNvSpPr/>
          <p:nvPr/>
        </p:nvSpPr>
        <p:spPr>
          <a:xfrm>
            <a:off x="8229600" y="2734056"/>
            <a:ext cx="795528" cy="256032"/>
          </a:xfrm>
          <a:prstGeom prst="roundRect">
            <a:avLst/>
          </a:prstGeom>
          <a:solidFill>
            <a:srgbClr val="C3D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84464" y="2734056"/>
            <a:ext cx="722376" cy="256032"/>
          </a:xfrm>
          <a:prstGeom prst="rect">
            <a:avLst/>
          </a:prstGeom>
          <a:noFill/>
        </p:spPr>
        <p:txBody>
          <a:bodyPr wrap="square" anchor="ctr" lIns="25400" rIns="25400" tIns="25400" bIns="25400">
            <a:spAutoFit/>
          </a:bodyPr>
          <a:lstStyle/>
          <a:p>
            <a:pPr algn="l">
              <a:lnSpc>
                <a:spcPct val="100000"/>
              </a:lnSpc>
              <a:spcAft>
                <a:spcPts val="400"/>
              </a:spcAft>
            </a:pPr>
            <a:r>
              <a:rPr sz="1200" b="1" i="0">
                <a:solidFill>
                  <a:srgbClr val="FFFFFF"/>
                </a:solidFill>
                <a:latin typeface="Calibri"/>
              </a:rPr>
              <a:t>C</a:t>
            </a:r>
          </a:p>
        </p:txBody>
      </p:sp>
      <p:sp>
        <p:nvSpPr>
          <p:cNvPr id="21" name="Rounded Rectangle 20"/>
          <p:cNvSpPr/>
          <p:nvPr/>
        </p:nvSpPr>
        <p:spPr>
          <a:xfrm>
            <a:off x="8229600" y="3044952"/>
            <a:ext cx="941832" cy="256032"/>
          </a:xfrm>
          <a:prstGeom prst="roundRect">
            <a:avLst/>
          </a:prstGeom>
          <a:solidFill>
            <a:srgbClr val="FCEA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84464" y="3044952"/>
            <a:ext cx="868680" cy="256032"/>
          </a:xfrm>
          <a:prstGeom prst="rect">
            <a:avLst/>
          </a:prstGeom>
          <a:noFill/>
        </p:spPr>
        <p:txBody>
          <a:bodyPr wrap="square" anchor="ctr" lIns="25400" rIns="25400" tIns="25400" bIns="25400">
            <a:spAutoFit/>
          </a:bodyPr>
          <a:lstStyle/>
          <a:p>
            <a:pPr algn="l">
              <a:lnSpc>
                <a:spcPct val="100000"/>
              </a:lnSpc>
              <a:spcAft>
                <a:spcPts val="400"/>
              </a:spcAft>
            </a:pPr>
            <a:r>
              <a:rPr sz="1200" b="1" i="0">
                <a:solidFill>
                  <a:srgbClr val="FFFFFF"/>
                </a:solidFill>
                <a:latin typeface="Calibri"/>
              </a:rPr>
              <a:t>D</a:t>
            </a:r>
          </a:p>
        </p:txBody>
      </p:sp>
      <p:sp>
        <p:nvSpPr>
          <p:cNvPr id="23" name="Rounded Rectangle 22"/>
          <p:cNvSpPr/>
          <p:nvPr/>
        </p:nvSpPr>
        <p:spPr>
          <a:xfrm>
            <a:off x="8229600" y="3355848"/>
            <a:ext cx="1088136" cy="256032"/>
          </a:xfrm>
          <a:prstGeom prst="roundRect">
            <a:avLst/>
          </a:prstGeom>
          <a:solidFill>
            <a:srgbClr val="F7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84464" y="3355848"/>
            <a:ext cx="1014984" cy="256032"/>
          </a:xfrm>
          <a:prstGeom prst="rect">
            <a:avLst/>
          </a:prstGeom>
          <a:noFill/>
        </p:spPr>
        <p:txBody>
          <a:bodyPr wrap="square" anchor="ctr" lIns="25400" rIns="25400" tIns="25400" bIns="25400">
            <a:spAutoFit/>
          </a:bodyPr>
          <a:lstStyle/>
          <a:p>
            <a:pPr algn="l">
              <a:lnSpc>
                <a:spcPct val="100000"/>
              </a:lnSpc>
              <a:spcAft>
                <a:spcPts val="400"/>
              </a:spcAft>
            </a:pPr>
            <a:r>
              <a:rPr sz="1200" b="1" i="0">
                <a:solidFill>
                  <a:srgbClr val="FFFFFF"/>
                </a:solidFill>
                <a:latin typeface="Calibri"/>
              </a:rPr>
              <a:t>E</a:t>
            </a:r>
          </a:p>
        </p:txBody>
      </p:sp>
      <p:sp>
        <p:nvSpPr>
          <p:cNvPr id="25" name="Rounded Rectangle 24"/>
          <p:cNvSpPr/>
          <p:nvPr/>
        </p:nvSpPr>
        <p:spPr>
          <a:xfrm>
            <a:off x="8229600" y="3666744"/>
            <a:ext cx="1234440" cy="256032"/>
          </a:xfrm>
          <a:prstGeom prst="roundRect">
            <a:avLst/>
          </a:prstGeom>
          <a:solidFill>
            <a:srgbClr val="EA6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84464" y="3666744"/>
            <a:ext cx="1161288" cy="256032"/>
          </a:xfrm>
          <a:prstGeom prst="rect">
            <a:avLst/>
          </a:prstGeom>
          <a:noFill/>
        </p:spPr>
        <p:txBody>
          <a:bodyPr wrap="square" anchor="ctr" lIns="25400" rIns="25400" tIns="25400" bIns="25400">
            <a:spAutoFit/>
          </a:bodyPr>
          <a:lstStyle/>
          <a:p>
            <a:pPr algn="l">
              <a:lnSpc>
                <a:spcPct val="100000"/>
              </a:lnSpc>
              <a:spcAft>
                <a:spcPts val="400"/>
              </a:spcAft>
            </a:pPr>
            <a:r>
              <a:rPr sz="1200" b="1" i="0">
                <a:solidFill>
                  <a:srgbClr val="FFFFFF"/>
                </a:solidFill>
                <a:latin typeface="Calibri"/>
              </a:rPr>
              <a:t>F</a:t>
            </a:r>
          </a:p>
        </p:txBody>
      </p:sp>
      <p:sp>
        <p:nvSpPr>
          <p:cNvPr id="27" name="Rounded Rectangle 26"/>
          <p:cNvSpPr/>
          <p:nvPr/>
        </p:nvSpPr>
        <p:spPr>
          <a:xfrm>
            <a:off x="8229600" y="3977640"/>
            <a:ext cx="1380744" cy="256032"/>
          </a:xfrm>
          <a:prstGeom prst="roundRect">
            <a:avLst/>
          </a:prstGeom>
          <a:solidFill>
            <a:srgbClr val="E2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84464" y="3977640"/>
            <a:ext cx="1307592" cy="256032"/>
          </a:xfrm>
          <a:prstGeom prst="rect">
            <a:avLst/>
          </a:prstGeom>
          <a:noFill/>
        </p:spPr>
        <p:txBody>
          <a:bodyPr wrap="square" anchor="ctr" lIns="25400" rIns="25400" tIns="25400" bIns="25400">
            <a:spAutoFit/>
          </a:bodyPr>
          <a:lstStyle/>
          <a:p>
            <a:pPr algn="l">
              <a:lnSpc>
                <a:spcPct val="100000"/>
              </a:lnSpc>
              <a:spcAft>
                <a:spcPts val="400"/>
              </a:spcAft>
            </a:pPr>
            <a:r>
              <a:rPr sz="1200" b="1" i="0">
                <a:solidFill>
                  <a:srgbClr val="FFFFFF"/>
                </a:solidFill>
                <a:latin typeface="Calibri"/>
              </a:rPr>
              <a:t>G</a:t>
            </a:r>
          </a:p>
        </p:txBody>
      </p:sp>
      <p:sp>
        <p:nvSpPr>
          <p:cNvPr id="29" name="TextBox 28"/>
          <p:cNvSpPr txBox="1"/>
          <p:nvPr/>
        </p:nvSpPr>
        <p:spPr>
          <a:xfrm>
            <a:off x="10149840" y="1783080"/>
            <a:ext cx="1380744" cy="274320"/>
          </a:xfrm>
          <a:prstGeom prst="rect">
            <a:avLst/>
          </a:prstGeom>
          <a:noFill/>
        </p:spPr>
        <p:txBody>
          <a:bodyPr wrap="square" anchor="t" lIns="25400" rIns="25400" tIns="25400" bIns="25400">
            <a:spAutoFit/>
          </a:bodyPr>
          <a:lstStyle/>
          <a:p>
            <a:pPr algn="l">
              <a:lnSpc>
                <a:spcPct val="100000"/>
              </a:lnSpc>
              <a:spcAft>
                <a:spcPts val="400"/>
              </a:spcAft>
            </a:pPr>
            <a:r>
              <a:rPr sz="1100" b="1" i="0">
                <a:solidFill>
                  <a:srgbClr val="37474F"/>
                </a:solidFill>
                <a:latin typeface="Calibri"/>
              </a:rPr>
              <a:t>Climat</a:t>
            </a:r>
          </a:p>
        </p:txBody>
      </p:sp>
      <p:sp>
        <p:nvSpPr>
          <p:cNvPr id="30" name="Rounded Rectangle 29"/>
          <p:cNvSpPr/>
          <p:nvPr/>
        </p:nvSpPr>
        <p:spPr>
          <a:xfrm>
            <a:off x="10149840" y="2112264"/>
            <a:ext cx="502920" cy="256032"/>
          </a:xfrm>
          <a:prstGeom prst="roundRect">
            <a:avLst/>
          </a:prstGeom>
          <a:solidFill>
            <a:srgbClr val="0083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204704" y="2112264"/>
            <a:ext cx="429768" cy="256032"/>
          </a:xfrm>
          <a:prstGeom prst="rect">
            <a:avLst/>
          </a:prstGeom>
          <a:noFill/>
        </p:spPr>
        <p:txBody>
          <a:bodyPr wrap="square" anchor="ctr" lIns="25400" rIns="25400" tIns="25400" bIns="25400">
            <a:spAutoFit/>
          </a:bodyPr>
          <a:lstStyle/>
          <a:p>
            <a:pPr algn="l">
              <a:lnSpc>
                <a:spcPct val="100000"/>
              </a:lnSpc>
              <a:spcAft>
                <a:spcPts val="400"/>
              </a:spcAft>
            </a:pPr>
            <a:r>
              <a:rPr sz="1200" b="1" i="0">
                <a:solidFill>
                  <a:srgbClr val="FFFFFF"/>
                </a:solidFill>
                <a:latin typeface="Calibri"/>
              </a:rPr>
              <a:t>A</a:t>
            </a:r>
          </a:p>
        </p:txBody>
      </p:sp>
      <p:sp>
        <p:nvSpPr>
          <p:cNvPr id="32" name="Rounded Rectangle 31"/>
          <p:cNvSpPr/>
          <p:nvPr/>
        </p:nvSpPr>
        <p:spPr>
          <a:xfrm>
            <a:off x="10149840" y="2423160"/>
            <a:ext cx="649224" cy="256032"/>
          </a:xfrm>
          <a:prstGeom prst="roundRect">
            <a:avLst/>
          </a:prstGeom>
          <a:solidFill>
            <a:srgbClr val="57AA27"/>
          </a:solidFill>
          <a:ln w="31750">
            <a:solidFill>
              <a:srgbClr val="26323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204704" y="2423160"/>
            <a:ext cx="576072" cy="256032"/>
          </a:xfrm>
          <a:prstGeom prst="rect">
            <a:avLst/>
          </a:prstGeom>
          <a:noFill/>
        </p:spPr>
        <p:txBody>
          <a:bodyPr wrap="square" anchor="ctr" lIns="25400" rIns="25400" tIns="25400" bIns="25400">
            <a:spAutoFit/>
          </a:bodyPr>
          <a:lstStyle/>
          <a:p>
            <a:pPr algn="l">
              <a:lnSpc>
                <a:spcPct val="100000"/>
              </a:lnSpc>
              <a:spcAft>
                <a:spcPts val="400"/>
              </a:spcAft>
            </a:pPr>
            <a:r>
              <a:rPr sz="1200" b="1" i="0">
                <a:solidFill>
                  <a:srgbClr val="FFFFFF"/>
                </a:solidFill>
                <a:latin typeface="Calibri"/>
              </a:rPr>
              <a:t>B</a:t>
            </a:r>
          </a:p>
        </p:txBody>
      </p:sp>
      <p:sp>
        <p:nvSpPr>
          <p:cNvPr id="34" name="Pentagon 33"/>
          <p:cNvSpPr/>
          <p:nvPr/>
        </p:nvSpPr>
        <p:spPr>
          <a:xfrm>
            <a:off x="9838944" y="2423160"/>
            <a:ext cx="274320" cy="256032"/>
          </a:xfrm>
          <a:prstGeom prst="homePlate">
            <a:avLst/>
          </a:prstGeom>
          <a:solidFill>
            <a:srgbClr val="263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10149840" y="2734056"/>
            <a:ext cx="795528" cy="256032"/>
          </a:xfrm>
          <a:prstGeom prst="roundRect">
            <a:avLst/>
          </a:prstGeom>
          <a:solidFill>
            <a:srgbClr val="C3D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204704" y="2734056"/>
            <a:ext cx="722376" cy="256032"/>
          </a:xfrm>
          <a:prstGeom prst="rect">
            <a:avLst/>
          </a:prstGeom>
          <a:noFill/>
        </p:spPr>
        <p:txBody>
          <a:bodyPr wrap="square" anchor="ctr" lIns="25400" rIns="25400" tIns="25400" bIns="25400">
            <a:spAutoFit/>
          </a:bodyPr>
          <a:lstStyle/>
          <a:p>
            <a:pPr algn="l">
              <a:lnSpc>
                <a:spcPct val="100000"/>
              </a:lnSpc>
              <a:spcAft>
                <a:spcPts val="400"/>
              </a:spcAft>
            </a:pPr>
            <a:r>
              <a:rPr sz="1200" b="1" i="0">
                <a:solidFill>
                  <a:srgbClr val="FFFFFF"/>
                </a:solidFill>
                <a:latin typeface="Calibri"/>
              </a:rPr>
              <a:t>C</a:t>
            </a:r>
          </a:p>
        </p:txBody>
      </p:sp>
      <p:sp>
        <p:nvSpPr>
          <p:cNvPr id="37" name="Rounded Rectangle 36"/>
          <p:cNvSpPr/>
          <p:nvPr/>
        </p:nvSpPr>
        <p:spPr>
          <a:xfrm>
            <a:off x="10149840" y="3044952"/>
            <a:ext cx="941832" cy="256032"/>
          </a:xfrm>
          <a:prstGeom prst="roundRect">
            <a:avLst/>
          </a:prstGeom>
          <a:solidFill>
            <a:srgbClr val="FCEA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04704" y="3044952"/>
            <a:ext cx="868680" cy="256032"/>
          </a:xfrm>
          <a:prstGeom prst="rect">
            <a:avLst/>
          </a:prstGeom>
          <a:noFill/>
        </p:spPr>
        <p:txBody>
          <a:bodyPr wrap="square" anchor="ctr" lIns="25400" rIns="25400" tIns="25400" bIns="25400">
            <a:spAutoFit/>
          </a:bodyPr>
          <a:lstStyle/>
          <a:p>
            <a:pPr algn="l">
              <a:lnSpc>
                <a:spcPct val="100000"/>
              </a:lnSpc>
              <a:spcAft>
                <a:spcPts val="400"/>
              </a:spcAft>
            </a:pPr>
            <a:r>
              <a:rPr sz="1200" b="1" i="0">
                <a:solidFill>
                  <a:srgbClr val="FFFFFF"/>
                </a:solidFill>
                <a:latin typeface="Calibri"/>
              </a:rPr>
              <a:t>D</a:t>
            </a:r>
          </a:p>
        </p:txBody>
      </p:sp>
      <p:sp>
        <p:nvSpPr>
          <p:cNvPr id="39" name="Rounded Rectangle 38"/>
          <p:cNvSpPr/>
          <p:nvPr/>
        </p:nvSpPr>
        <p:spPr>
          <a:xfrm>
            <a:off x="10149840" y="3355848"/>
            <a:ext cx="1088136" cy="256032"/>
          </a:xfrm>
          <a:prstGeom prst="roundRect">
            <a:avLst/>
          </a:prstGeom>
          <a:solidFill>
            <a:srgbClr val="F7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204704" y="3355848"/>
            <a:ext cx="1014984" cy="256032"/>
          </a:xfrm>
          <a:prstGeom prst="rect">
            <a:avLst/>
          </a:prstGeom>
          <a:noFill/>
        </p:spPr>
        <p:txBody>
          <a:bodyPr wrap="square" anchor="ctr" lIns="25400" rIns="25400" tIns="25400" bIns="25400">
            <a:spAutoFit/>
          </a:bodyPr>
          <a:lstStyle/>
          <a:p>
            <a:pPr algn="l">
              <a:lnSpc>
                <a:spcPct val="100000"/>
              </a:lnSpc>
              <a:spcAft>
                <a:spcPts val="400"/>
              </a:spcAft>
            </a:pPr>
            <a:r>
              <a:rPr sz="1200" b="1" i="0">
                <a:solidFill>
                  <a:srgbClr val="FFFFFF"/>
                </a:solidFill>
                <a:latin typeface="Calibri"/>
              </a:rPr>
              <a:t>E</a:t>
            </a:r>
          </a:p>
        </p:txBody>
      </p:sp>
      <p:sp>
        <p:nvSpPr>
          <p:cNvPr id="41" name="Rounded Rectangle 40"/>
          <p:cNvSpPr/>
          <p:nvPr/>
        </p:nvSpPr>
        <p:spPr>
          <a:xfrm>
            <a:off x="10149840" y="3666744"/>
            <a:ext cx="1234440" cy="256032"/>
          </a:xfrm>
          <a:prstGeom prst="roundRect">
            <a:avLst/>
          </a:prstGeom>
          <a:solidFill>
            <a:srgbClr val="EA6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204704" y="3666744"/>
            <a:ext cx="1161288" cy="256032"/>
          </a:xfrm>
          <a:prstGeom prst="rect">
            <a:avLst/>
          </a:prstGeom>
          <a:noFill/>
        </p:spPr>
        <p:txBody>
          <a:bodyPr wrap="square" anchor="ctr" lIns="25400" rIns="25400" tIns="25400" bIns="25400">
            <a:spAutoFit/>
          </a:bodyPr>
          <a:lstStyle/>
          <a:p>
            <a:pPr algn="l">
              <a:lnSpc>
                <a:spcPct val="100000"/>
              </a:lnSpc>
              <a:spcAft>
                <a:spcPts val="400"/>
              </a:spcAft>
            </a:pPr>
            <a:r>
              <a:rPr sz="1200" b="1" i="0">
                <a:solidFill>
                  <a:srgbClr val="FFFFFF"/>
                </a:solidFill>
                <a:latin typeface="Calibri"/>
              </a:rPr>
              <a:t>F</a:t>
            </a:r>
          </a:p>
        </p:txBody>
      </p:sp>
      <p:sp>
        <p:nvSpPr>
          <p:cNvPr id="43" name="Rounded Rectangle 42"/>
          <p:cNvSpPr/>
          <p:nvPr/>
        </p:nvSpPr>
        <p:spPr>
          <a:xfrm>
            <a:off x="10149840" y="3977640"/>
            <a:ext cx="1380744" cy="256032"/>
          </a:xfrm>
          <a:prstGeom prst="roundRect">
            <a:avLst/>
          </a:prstGeom>
          <a:solidFill>
            <a:srgbClr val="E2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204704" y="3977640"/>
            <a:ext cx="1307592" cy="256032"/>
          </a:xfrm>
          <a:prstGeom prst="rect">
            <a:avLst/>
          </a:prstGeom>
          <a:noFill/>
        </p:spPr>
        <p:txBody>
          <a:bodyPr wrap="square" anchor="ctr" lIns="25400" rIns="25400" tIns="25400" bIns="25400">
            <a:spAutoFit/>
          </a:bodyPr>
          <a:lstStyle/>
          <a:p>
            <a:pPr algn="l">
              <a:lnSpc>
                <a:spcPct val="100000"/>
              </a:lnSpc>
              <a:spcAft>
                <a:spcPts val="400"/>
              </a:spcAft>
            </a:pPr>
            <a:r>
              <a:rPr sz="1200" b="1" i="0">
                <a:solidFill>
                  <a:srgbClr val="FFFFFF"/>
                </a:solidFill>
                <a:latin typeface="Calibri"/>
              </a:rPr>
              <a:t>G</a:t>
            </a:r>
          </a:p>
        </p:txBody>
      </p:sp>
      <p:sp>
        <p:nvSpPr>
          <p:cNvPr id="45" name="Rounded Rectangle 44"/>
          <p:cNvSpPr/>
          <p:nvPr/>
        </p:nvSpPr>
        <p:spPr>
          <a:xfrm>
            <a:off x="822960" y="4892040"/>
            <a:ext cx="6858000" cy="1188720"/>
          </a:xfrm>
          <a:prstGeom prst="round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051560" y="4983480"/>
            <a:ext cx="6400800" cy="1005840"/>
          </a:xfrm>
          <a:prstGeom prst="rect">
            <a:avLst/>
          </a:prstGeom>
          <a:noFill/>
        </p:spPr>
        <p:txBody>
          <a:bodyPr wrap="square" anchor="t" lIns="25400" rIns="25400" tIns="25400" bIns="25400">
            <a:spAutoFit/>
          </a:bodyPr>
          <a:lstStyle/>
          <a:p>
            <a:pPr algn="l">
              <a:lnSpc>
                <a:spcPct val="105000"/>
              </a:lnSpc>
              <a:spcAft>
                <a:spcPts val="400"/>
              </a:spcAft>
            </a:pPr>
            <a:r>
              <a:rPr sz="1400" b="1" i="0">
                <a:solidFill>
                  <a:srgbClr val="FFFFFF"/>
                </a:solidFill>
                <a:latin typeface="Calibri"/>
              </a:rPr>
              <a:t>✔ Solution retenue : chaudière à granulés 12 kW + silo</a:t>
            </a:r>
          </a:p>
          <a:p>
            <a:pPr algn="l">
              <a:lnSpc>
                <a:spcPct val="105000"/>
              </a:lnSpc>
              <a:spcAft>
                <a:spcPts val="400"/>
              </a:spcAft>
            </a:pPr>
            <a:r>
              <a:rPr sz="1150" b="0" i="0">
                <a:solidFill>
                  <a:srgbClr val="C8E6C9"/>
                </a:solidFill>
                <a:latin typeface="Calibri"/>
              </a:rPr>
              <a:t>Conserve les radiateurs fonte existants · énergie renouvelable locale · approvisionnement facile en Savoie.</a:t>
            </a:r>
          </a:p>
        </p:txBody>
      </p:sp>
      <p:sp>
        <p:nvSpPr>
          <p:cNvPr id="47" name="Rounded Rectangle 46"/>
          <p:cNvSpPr/>
          <p:nvPr/>
        </p:nvSpPr>
        <p:spPr>
          <a:xfrm>
            <a:off x="7955279" y="4892040"/>
            <a:ext cx="3383280" cy="1188720"/>
          </a:xfrm>
          <a:prstGeom prst="roundRect">
            <a:avLst/>
          </a:prstGeom>
          <a:solidFill>
            <a:srgbClr val="E8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138160" y="4983480"/>
            <a:ext cx="3017520" cy="1005840"/>
          </a:xfrm>
          <a:prstGeom prst="rect">
            <a:avLst/>
          </a:prstGeom>
          <a:noFill/>
        </p:spPr>
        <p:txBody>
          <a:bodyPr wrap="square" anchor="t" lIns="25400" rIns="25400" tIns="25400" bIns="25400">
            <a:spAutoFit/>
          </a:bodyPr>
          <a:lstStyle/>
          <a:p>
            <a:pPr algn="l">
              <a:lnSpc>
                <a:spcPct val="100000"/>
              </a:lnSpc>
              <a:spcAft>
                <a:spcPts val="400"/>
              </a:spcAft>
            </a:pPr>
            <a:r>
              <a:rPr sz="1200" b="1" i="0">
                <a:solidFill>
                  <a:srgbClr val="1B5E20"/>
                </a:solidFill>
                <a:latin typeface="Calibri"/>
              </a:rPr>
              <a:t>Étiquette DPE</a:t>
            </a:r>
          </a:p>
          <a:p>
            <a:pPr algn="l">
              <a:lnSpc>
                <a:spcPct val="100000"/>
              </a:lnSpc>
              <a:spcAft>
                <a:spcPts val="400"/>
              </a:spcAft>
            </a:pPr>
            <a:r>
              <a:rPr sz="2200" b="1" i="0">
                <a:solidFill>
                  <a:srgbClr val="008336"/>
                </a:solidFill>
                <a:latin typeface="Calibri"/>
              </a:rPr>
              <a:t>G → A / B</a:t>
            </a:r>
          </a:p>
          <a:p>
            <a:pPr algn="l">
              <a:lnSpc>
                <a:spcPct val="100000"/>
              </a:lnSpc>
              <a:spcAft>
                <a:spcPts val="400"/>
              </a:spcAft>
            </a:pPr>
            <a:r>
              <a:rPr sz="1200" b="0" i="0">
                <a:solidFill>
                  <a:srgbClr val="37474F"/>
                </a:solidFill>
                <a:latin typeface="Calibri"/>
              </a:rPr>
              <a:t>Investissement ≈ 40 000 €</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5</a:t>
            </a:r>
          </a:p>
        </p:txBody>
      </p:sp>
      <p:sp>
        <p:nvSpPr>
          <p:cNvPr id="6" name="TextBox 5"/>
          <p:cNvSpPr txBox="1"/>
          <p:nvPr/>
        </p:nvSpPr>
        <p:spPr>
          <a:xfrm>
            <a:off x="1325880" y="365760"/>
            <a:ext cx="10332720" cy="731520"/>
          </a:xfrm>
          <a:prstGeom prst="rect">
            <a:avLst/>
          </a:prstGeom>
          <a:noFill/>
        </p:spPr>
        <p:txBody>
          <a:bodyPr wrap="square" anchor="ctr" lIns="25400" rIns="25400" tIns="25400" bIns="25400">
            <a:spAutoFit/>
          </a:bodyPr>
          <a:lstStyle/>
          <a:p>
            <a:pPr algn="l">
              <a:lnSpc>
                <a:spcPct val="100000"/>
              </a:lnSpc>
              <a:spcAft>
                <a:spcPts val="400"/>
              </a:spcAft>
            </a:pPr>
            <a:r>
              <a:rPr sz="2900" b="1" i="0">
                <a:solidFill>
                  <a:srgbClr val="1B5E20"/>
                </a:solidFill>
                <a:latin typeface="Calibri"/>
              </a:rPr>
              <a:t>Optimisation des systèmes</a:t>
            </a:r>
          </a:p>
        </p:txBody>
      </p:sp>
      <p:sp>
        <p:nvSpPr>
          <p:cNvPr id="7" name="TextBox 6"/>
          <p:cNvSpPr txBox="1"/>
          <p:nvPr/>
        </p:nvSpPr>
        <p:spPr>
          <a:xfrm>
            <a:off x="1325880" y="1060704"/>
            <a:ext cx="10332720" cy="365760"/>
          </a:xfrm>
          <a:prstGeom prst="rect">
            <a:avLst/>
          </a:prstGeom>
          <a:noFill/>
        </p:spPr>
        <p:txBody>
          <a:bodyPr wrap="square" anchor="t" lIns="25400" rIns="25400" tIns="25400" bIns="25400">
            <a:spAutoFit/>
          </a:bodyPr>
          <a:lstStyle/>
          <a:p>
            <a:pPr algn="l">
              <a:lnSpc>
                <a:spcPct val="100000"/>
              </a:lnSpc>
              <a:spcAft>
                <a:spcPts val="400"/>
              </a:spcAft>
            </a:pPr>
            <a:r>
              <a:rPr sz="1400" b="0" i="1">
                <a:solidFill>
                  <a:srgbClr val="90A4AE"/>
                </a:solidFill>
                <a:latin typeface="Calibri"/>
              </a:rPr>
              <a:t>Régulation du chauffage &amp; production d’ECS</a:t>
            </a:r>
          </a:p>
        </p:txBody>
      </p:sp>
      <p:sp>
        <p:nvSpPr>
          <p:cNvPr id="8" name="Rectangle 7"/>
          <p:cNvSpPr/>
          <p:nvPr/>
        </p:nvSpPr>
        <p:spPr>
          <a:xfrm>
            <a:off x="1325880" y="1170432"/>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Rénovation énergétique – Saint-Jean-de-Chevelu (73) – Bloc 1</a:t>
            </a:r>
          </a:p>
        </p:txBody>
      </p:sp>
      <p:sp>
        <p:nvSpPr>
          <p:cNvPr id="10" name="TextBox 9"/>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sp>
        <p:nvSpPr>
          <p:cNvPr id="11" name="Rounded Rectangle 10"/>
          <p:cNvSpPr/>
          <p:nvPr/>
        </p:nvSpPr>
        <p:spPr>
          <a:xfrm>
            <a:off x="822960" y="1600200"/>
            <a:ext cx="5212080" cy="4206240"/>
          </a:xfrm>
          <a:prstGeom prst="roundRect">
            <a:avLst/>
          </a:prstGeom>
          <a:solidFill>
            <a:srgbClr val="FFFFFF"/>
          </a:solidFill>
          <a:ln w="1270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22960" y="1600200"/>
            <a:ext cx="5212080" cy="548640"/>
          </a:xfrm>
          <a:prstGeom prst="round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1600200"/>
            <a:ext cx="5212080" cy="548640"/>
          </a:xfrm>
          <a:prstGeom prst="rect">
            <a:avLst/>
          </a:prstGeom>
          <a:noFill/>
        </p:spPr>
        <p:txBody>
          <a:bodyPr wrap="square" anchor="ctr" lIns="25400" rIns="25400" tIns="25400" bIns="25400">
            <a:spAutoFit/>
          </a:bodyPr>
          <a:lstStyle/>
          <a:p>
            <a:pPr algn="ctr">
              <a:lnSpc>
                <a:spcPct val="100000"/>
              </a:lnSpc>
              <a:spcAft>
                <a:spcPts val="400"/>
              </a:spcAft>
            </a:pPr>
            <a:r>
              <a:rPr sz="1600" b="1" i="0">
                <a:solidFill>
                  <a:srgbClr val="FFFFFF"/>
                </a:solidFill>
                <a:latin typeface="Calibri"/>
              </a:rPr>
              <a:t>Régulation du chauffage</a:t>
            </a:r>
          </a:p>
        </p:txBody>
      </p:sp>
      <p:sp>
        <p:nvSpPr>
          <p:cNvPr id="14" name="TextBox 13"/>
          <p:cNvSpPr txBox="1"/>
          <p:nvPr/>
        </p:nvSpPr>
        <p:spPr>
          <a:xfrm>
            <a:off x="1051560" y="2331720"/>
            <a:ext cx="4800600" cy="3291840"/>
          </a:xfrm>
          <a:prstGeom prst="rect">
            <a:avLst/>
          </a:prstGeom>
          <a:noFill/>
        </p:spPr>
        <p:txBody>
          <a:bodyPr wrap="square">
            <a:spAutoFit/>
          </a:bodyPr>
          <a:lstStyle/>
          <a:p>
            <a:pPr>
              <a:lnSpc>
                <a:spcPct val="105000"/>
              </a:lnSpc>
              <a:spcAft>
                <a:spcPts val="1100"/>
              </a:spcAft>
            </a:pPr>
            <a:r>
              <a:rPr sz="1350" b="1">
                <a:solidFill>
                  <a:srgbClr val="2E7D32"/>
                </a:solidFill>
                <a:latin typeface="Calibri"/>
              </a:rPr>
              <a:t>●  </a:t>
            </a:r>
            <a:r>
              <a:rPr sz="1350" b="1">
                <a:solidFill>
                  <a:srgbClr val="37474F"/>
                </a:solidFill>
                <a:latin typeface="Calibri"/>
              </a:rPr>
              <a:t>Sonde de température extérieure </a:t>
            </a:r>
            <a:r>
              <a:rPr sz="1350">
                <a:solidFill>
                  <a:srgbClr val="37474F"/>
                </a:solidFill>
                <a:latin typeface="Calibri"/>
              </a:rPr>
              <a:t>→ pilotage par loi d’eau</a:t>
            </a:r>
          </a:p>
          <a:p>
            <a:pPr>
              <a:lnSpc>
                <a:spcPct val="105000"/>
              </a:lnSpc>
              <a:spcAft>
                <a:spcPts val="1100"/>
              </a:spcAft>
            </a:pPr>
            <a:r>
              <a:rPr sz="1350" b="1">
                <a:solidFill>
                  <a:srgbClr val="2E7D32"/>
                </a:solidFill>
                <a:latin typeface="Calibri"/>
              </a:rPr>
              <a:t>●  </a:t>
            </a:r>
            <a:r>
              <a:rPr sz="1350" b="1">
                <a:solidFill>
                  <a:srgbClr val="37474F"/>
                </a:solidFill>
                <a:latin typeface="Calibri"/>
              </a:rPr>
              <a:t>Robinets thermostatiques </a:t>
            </a:r>
            <a:r>
              <a:rPr sz="1350">
                <a:solidFill>
                  <a:srgbClr val="37474F"/>
                </a:solidFill>
                <a:latin typeface="Calibri"/>
              </a:rPr>
              <a:t>sur les radiateurs fonte (régulation pièce par pièce)</a:t>
            </a:r>
          </a:p>
          <a:p>
            <a:pPr>
              <a:lnSpc>
                <a:spcPct val="105000"/>
              </a:lnSpc>
              <a:spcAft>
                <a:spcPts val="1100"/>
              </a:spcAft>
            </a:pPr>
            <a:r>
              <a:rPr sz="1350" b="1">
                <a:solidFill>
                  <a:srgbClr val="2E7D32"/>
                </a:solidFill>
                <a:latin typeface="Calibri"/>
              </a:rPr>
              <a:t>●  </a:t>
            </a:r>
            <a:r>
              <a:rPr sz="1350" b="1">
                <a:solidFill>
                  <a:srgbClr val="37474F"/>
                </a:solidFill>
                <a:latin typeface="Calibri"/>
              </a:rPr>
              <a:t>Thermostat programmable </a:t>
            </a:r>
            <a:r>
              <a:rPr sz="1350">
                <a:solidFill>
                  <a:srgbClr val="37474F"/>
                </a:solidFill>
                <a:latin typeface="Calibri"/>
              </a:rPr>
              <a:t>(réduit en absence / nuit)</a:t>
            </a:r>
          </a:p>
          <a:p>
            <a:pPr>
              <a:lnSpc>
                <a:spcPct val="105000"/>
              </a:lnSpc>
              <a:spcAft>
                <a:spcPts val="1100"/>
              </a:spcAft>
            </a:pPr>
            <a:r>
              <a:rPr sz="1350" b="1">
                <a:solidFill>
                  <a:srgbClr val="2E7D32"/>
                </a:solidFill>
                <a:latin typeface="Calibri"/>
              </a:rPr>
              <a:t>●  </a:t>
            </a:r>
            <a:r>
              <a:rPr sz="1350" b="1">
                <a:solidFill>
                  <a:srgbClr val="37474F"/>
                </a:solidFill>
                <a:latin typeface="Calibri"/>
              </a:rPr>
              <a:t>Rendement global </a:t>
            </a:r>
            <a:r>
              <a:rPr sz="1350">
                <a:solidFill>
                  <a:srgbClr val="37474F"/>
                </a:solidFill>
                <a:latin typeface="Calibri"/>
              </a:rPr>
              <a:t>amélioré : générateur récent + émetteurs régulés</a:t>
            </a:r>
          </a:p>
        </p:txBody>
      </p:sp>
      <p:sp>
        <p:nvSpPr>
          <p:cNvPr id="15" name="Rounded Rectangle 14"/>
          <p:cNvSpPr/>
          <p:nvPr/>
        </p:nvSpPr>
        <p:spPr>
          <a:xfrm>
            <a:off x="6309360" y="1600200"/>
            <a:ext cx="5029200" cy="4206240"/>
          </a:xfrm>
          <a:prstGeom prst="roundRect">
            <a:avLst/>
          </a:prstGeom>
          <a:solidFill>
            <a:srgbClr val="FFFFFF"/>
          </a:solidFill>
          <a:ln w="1270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309360" y="1600200"/>
            <a:ext cx="5029200" cy="548640"/>
          </a:xfrm>
          <a:prstGeom prst="roundRect">
            <a:avLst/>
          </a:prstGeom>
          <a:solidFill>
            <a:srgbClr val="1565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09360" y="1600200"/>
            <a:ext cx="5029200" cy="548640"/>
          </a:xfrm>
          <a:prstGeom prst="rect">
            <a:avLst/>
          </a:prstGeom>
          <a:noFill/>
        </p:spPr>
        <p:txBody>
          <a:bodyPr wrap="square" anchor="ctr" lIns="25400" rIns="25400" tIns="25400" bIns="25400">
            <a:spAutoFit/>
          </a:bodyPr>
          <a:lstStyle/>
          <a:p>
            <a:pPr algn="ctr">
              <a:lnSpc>
                <a:spcPct val="100000"/>
              </a:lnSpc>
              <a:spcAft>
                <a:spcPts val="400"/>
              </a:spcAft>
            </a:pPr>
            <a:r>
              <a:rPr sz="1600" b="1" i="0">
                <a:solidFill>
                  <a:srgbClr val="FFFFFF"/>
                </a:solidFill>
                <a:latin typeface="Calibri"/>
              </a:rPr>
              <a:t>Production d’eau chaude (ECS)</a:t>
            </a:r>
          </a:p>
        </p:txBody>
      </p:sp>
      <p:sp>
        <p:nvSpPr>
          <p:cNvPr id="18" name="TextBox 17"/>
          <p:cNvSpPr txBox="1"/>
          <p:nvPr/>
        </p:nvSpPr>
        <p:spPr>
          <a:xfrm>
            <a:off x="6537960" y="2331720"/>
            <a:ext cx="4617720" cy="3291840"/>
          </a:xfrm>
          <a:prstGeom prst="rect">
            <a:avLst/>
          </a:prstGeom>
          <a:noFill/>
        </p:spPr>
        <p:txBody>
          <a:bodyPr wrap="square">
            <a:spAutoFit/>
          </a:bodyPr>
          <a:lstStyle/>
          <a:p>
            <a:pPr>
              <a:lnSpc>
                <a:spcPct val="105000"/>
              </a:lnSpc>
              <a:spcAft>
                <a:spcPts val="1100"/>
              </a:spcAft>
            </a:pPr>
            <a:r>
              <a:rPr sz="1350" b="1">
                <a:solidFill>
                  <a:srgbClr val="2E7D32"/>
                </a:solidFill>
                <a:latin typeface="Calibri"/>
              </a:rPr>
              <a:t>●  </a:t>
            </a:r>
            <a:r>
              <a:rPr sz="1350" b="1">
                <a:solidFill>
                  <a:srgbClr val="37474F"/>
                </a:solidFill>
                <a:latin typeface="Calibri"/>
              </a:rPr>
              <a:t>Existant : </a:t>
            </a:r>
            <a:r>
              <a:rPr sz="1350">
                <a:solidFill>
                  <a:srgbClr val="37474F"/>
                </a:solidFill>
                <a:latin typeface="Calibri"/>
              </a:rPr>
              <a:t>vieux ballon élec. 200 L hors volume chauffé (pertes)</a:t>
            </a:r>
          </a:p>
          <a:p>
            <a:pPr>
              <a:lnSpc>
                <a:spcPct val="105000"/>
              </a:lnSpc>
              <a:spcAft>
                <a:spcPts val="1100"/>
              </a:spcAft>
            </a:pPr>
            <a:r>
              <a:rPr sz="1350" b="1">
                <a:solidFill>
                  <a:srgbClr val="2E7D32"/>
                </a:solidFill>
                <a:latin typeface="Calibri"/>
              </a:rPr>
              <a:t>●  </a:t>
            </a:r>
            <a:r>
              <a:rPr sz="1350" b="1">
                <a:solidFill>
                  <a:srgbClr val="37474F"/>
                </a:solidFill>
                <a:latin typeface="Calibri"/>
              </a:rPr>
              <a:t>Sc. 1 : </a:t>
            </a:r>
            <a:r>
              <a:rPr sz="1350">
                <a:solidFill>
                  <a:srgbClr val="37474F"/>
                </a:solidFill>
                <a:latin typeface="Calibri"/>
              </a:rPr>
              <a:t>chauffe-eau thermodynamique (÷3 sur la conso ECS)</a:t>
            </a:r>
          </a:p>
          <a:p>
            <a:pPr>
              <a:lnSpc>
                <a:spcPct val="105000"/>
              </a:lnSpc>
              <a:spcAft>
                <a:spcPts val="1100"/>
              </a:spcAft>
            </a:pPr>
            <a:r>
              <a:rPr sz="1350" b="1">
                <a:solidFill>
                  <a:srgbClr val="2E7D32"/>
                </a:solidFill>
                <a:latin typeface="Calibri"/>
              </a:rPr>
              <a:t>●  </a:t>
            </a:r>
            <a:r>
              <a:rPr sz="1350" b="1">
                <a:solidFill>
                  <a:srgbClr val="37474F"/>
                </a:solidFill>
                <a:latin typeface="Calibri"/>
              </a:rPr>
              <a:t>Sc. 2 : </a:t>
            </a:r>
            <a:r>
              <a:rPr sz="1350">
                <a:solidFill>
                  <a:srgbClr val="37474F"/>
                </a:solidFill>
                <a:latin typeface="Calibri"/>
              </a:rPr>
              <a:t>ECS couplée à la chaudière granulés (ballon tampon)</a:t>
            </a:r>
          </a:p>
          <a:p>
            <a:pPr>
              <a:lnSpc>
                <a:spcPct val="105000"/>
              </a:lnSpc>
              <a:spcAft>
                <a:spcPts val="1100"/>
              </a:spcAft>
            </a:pPr>
            <a:r>
              <a:rPr sz="1350" b="1">
                <a:solidFill>
                  <a:srgbClr val="2E7D32"/>
                </a:solidFill>
                <a:latin typeface="Calibri"/>
              </a:rPr>
              <a:t>●  </a:t>
            </a:r>
            <a:r>
              <a:rPr sz="1350" b="1">
                <a:solidFill>
                  <a:srgbClr val="37474F"/>
                </a:solidFill>
                <a:latin typeface="Calibri"/>
              </a:rPr>
              <a:t>Ballon repositionné </a:t>
            </a:r>
            <a:r>
              <a:rPr sz="1350">
                <a:solidFill>
                  <a:srgbClr val="37474F"/>
                </a:solidFill>
                <a:latin typeface="Calibri"/>
              </a:rPr>
              <a:t>dans le volume chauffé</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5</a:t>
            </a:r>
          </a:p>
        </p:txBody>
      </p:sp>
      <p:sp>
        <p:nvSpPr>
          <p:cNvPr id="6" name="TextBox 5"/>
          <p:cNvSpPr txBox="1"/>
          <p:nvPr/>
        </p:nvSpPr>
        <p:spPr>
          <a:xfrm>
            <a:off x="1325880" y="365760"/>
            <a:ext cx="10332720" cy="731520"/>
          </a:xfrm>
          <a:prstGeom prst="rect">
            <a:avLst/>
          </a:prstGeom>
          <a:noFill/>
        </p:spPr>
        <p:txBody>
          <a:bodyPr wrap="square" anchor="ctr" lIns="25400" rIns="25400" tIns="25400" bIns="25400">
            <a:spAutoFit/>
          </a:bodyPr>
          <a:lstStyle/>
          <a:p>
            <a:pPr algn="l">
              <a:lnSpc>
                <a:spcPct val="100000"/>
              </a:lnSpc>
              <a:spcAft>
                <a:spcPts val="400"/>
              </a:spcAft>
            </a:pPr>
            <a:r>
              <a:rPr sz="2900" b="1" i="0">
                <a:solidFill>
                  <a:srgbClr val="1B5E20"/>
                </a:solidFill>
                <a:latin typeface="Calibri"/>
              </a:rPr>
              <a:t>Solutions à faible impact carbone</a:t>
            </a:r>
          </a:p>
        </p:txBody>
      </p:sp>
      <p:sp>
        <p:nvSpPr>
          <p:cNvPr id="7" name="TextBox 6"/>
          <p:cNvSpPr txBox="1"/>
          <p:nvPr/>
        </p:nvSpPr>
        <p:spPr>
          <a:xfrm>
            <a:off x="1325880" y="1060704"/>
            <a:ext cx="10332720" cy="365760"/>
          </a:xfrm>
          <a:prstGeom prst="rect">
            <a:avLst/>
          </a:prstGeom>
          <a:noFill/>
        </p:spPr>
        <p:txBody>
          <a:bodyPr wrap="square" anchor="t" lIns="25400" rIns="25400" tIns="25400" bIns="25400">
            <a:spAutoFit/>
          </a:bodyPr>
          <a:lstStyle/>
          <a:p>
            <a:pPr algn="l">
              <a:lnSpc>
                <a:spcPct val="100000"/>
              </a:lnSpc>
              <a:spcAft>
                <a:spcPts val="400"/>
              </a:spcAft>
            </a:pPr>
            <a:r>
              <a:rPr sz="1400" b="0" i="1">
                <a:solidFill>
                  <a:srgbClr val="90A4AE"/>
                </a:solidFill>
                <a:latin typeface="Calibri"/>
              </a:rPr>
              <a:t>Le choix des matériaux biosourcés</a:t>
            </a:r>
          </a:p>
        </p:txBody>
      </p:sp>
      <p:sp>
        <p:nvSpPr>
          <p:cNvPr id="8" name="Rectangle 7"/>
          <p:cNvSpPr/>
          <p:nvPr/>
        </p:nvSpPr>
        <p:spPr>
          <a:xfrm>
            <a:off x="1325880" y="1170432"/>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Rénovation énergétique – Saint-Jean-de-Chevelu (73) – Bloc 1</a:t>
            </a:r>
          </a:p>
        </p:txBody>
      </p:sp>
      <p:sp>
        <p:nvSpPr>
          <p:cNvPr id="10" name="TextBox 9"/>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graphicFrame>
        <p:nvGraphicFramePr>
          <p:cNvPr id="11" name="Table 10"/>
          <p:cNvGraphicFramePr>
            <a:graphicFrameLocks noGrp="1"/>
          </p:cNvGraphicFramePr>
          <p:nvPr/>
        </p:nvGraphicFramePr>
        <p:xfrm>
          <a:off x="822960" y="1691640"/>
          <a:ext cx="7315200" cy="3017520"/>
        </p:xfrm>
        <a:graphic>
          <a:graphicData uri="http://schemas.openxmlformats.org/drawingml/2006/table">
            <a:tbl>
              <a:tblPr>
                <a:tableStyleId>{5C22544A-7EE6-4342-B048-85BDC9FD1C3A}</a:tableStyleId>
              </a:tblPr>
              <a:tblGrid>
                <a:gridCol w="2743200"/>
                <a:gridCol w="2286000"/>
                <a:gridCol w="2286000"/>
              </a:tblGrid>
              <a:tr h="502920">
                <a:tc>
                  <a:txBody>
                    <a:bodyPr wrap="square"/>
                    <a:lstStyle/>
                    <a:p>
                      <a:pPr algn="l"/>
                      <a:r>
                        <a:rPr sz="1200" b="1">
                          <a:solidFill>
                            <a:srgbClr val="FFFFFF"/>
                          </a:solidFill>
                          <a:latin typeface="Calibri"/>
                        </a:rPr>
                        <a:t>Critère</a:t>
                      </a:r>
                    </a:p>
                  </a:txBody>
                  <a:tcPr marL="88900" marR="88900" marT="12700" marB="12700" anchor="ctr">
                    <a:solidFill>
                      <a:srgbClr val="1B5E20"/>
                    </a:solidFill>
                  </a:tcPr>
                </a:tc>
                <a:tc>
                  <a:txBody>
                    <a:bodyPr wrap="square"/>
                    <a:lstStyle/>
                    <a:p>
                      <a:pPr algn="ctr"/>
                      <a:r>
                        <a:rPr sz="1200" b="1">
                          <a:solidFill>
                            <a:srgbClr val="FFFFFF"/>
                          </a:solidFill>
                          <a:latin typeface="Calibri"/>
                        </a:rPr>
                        <a:t>Laine de bois</a:t>
                      </a:r>
                    </a:p>
                  </a:txBody>
                  <a:tcPr marL="88900" marR="88900" marT="12700" marB="12700" anchor="ctr">
                    <a:solidFill>
                      <a:srgbClr val="1B5E20"/>
                    </a:solidFill>
                  </a:tcPr>
                </a:tc>
                <a:tc>
                  <a:txBody>
                    <a:bodyPr wrap="square"/>
                    <a:lstStyle/>
                    <a:p>
                      <a:pPr algn="ctr"/>
                      <a:r>
                        <a:rPr sz="1200" b="1">
                          <a:solidFill>
                            <a:srgbClr val="FFFFFF"/>
                          </a:solidFill>
                          <a:latin typeface="Calibri"/>
                        </a:rPr>
                        <a:t>Ouate de cellulose</a:t>
                      </a:r>
                    </a:p>
                  </a:txBody>
                  <a:tcPr marL="88900" marR="88900" marT="12700" marB="12700" anchor="ctr">
                    <a:solidFill>
                      <a:srgbClr val="1B5E20"/>
                    </a:solidFill>
                  </a:tcPr>
                </a:tc>
              </a:tr>
              <a:tr h="502920">
                <a:tc>
                  <a:txBody>
                    <a:bodyPr wrap="square"/>
                    <a:lstStyle/>
                    <a:p>
                      <a:pPr algn="l"/>
                      <a:r>
                        <a:rPr sz="1200" b="1">
                          <a:solidFill>
                            <a:srgbClr val="37474F"/>
                          </a:solidFill>
                          <a:latin typeface="Calibri"/>
                        </a:rPr>
                        <a:t>Origine</a:t>
                      </a:r>
                    </a:p>
                  </a:txBody>
                  <a:tcPr marL="88900" marR="88900" marT="12700" marB="12700" anchor="ctr">
                    <a:solidFill>
                      <a:srgbClr val="FFFFFF"/>
                    </a:solidFill>
                  </a:tcPr>
                </a:tc>
                <a:tc>
                  <a:txBody>
                    <a:bodyPr wrap="square"/>
                    <a:lstStyle/>
                    <a:p>
                      <a:pPr algn="ctr"/>
                      <a:r>
                        <a:rPr sz="1200" b="0">
                          <a:solidFill>
                            <a:srgbClr val="37474F"/>
                          </a:solidFill>
                          <a:latin typeface="Calibri"/>
                        </a:rPr>
                        <a:t>Fibres de bois</a:t>
                      </a:r>
                    </a:p>
                  </a:txBody>
                  <a:tcPr marL="88900" marR="88900" marT="12700" marB="12700" anchor="ctr">
                    <a:solidFill>
                      <a:srgbClr val="FFFFFF"/>
                    </a:solidFill>
                  </a:tcPr>
                </a:tc>
                <a:tc>
                  <a:txBody>
                    <a:bodyPr wrap="square"/>
                    <a:lstStyle/>
                    <a:p>
                      <a:pPr algn="ctr"/>
                      <a:r>
                        <a:rPr sz="1200" b="0">
                          <a:solidFill>
                            <a:srgbClr val="37474F"/>
                          </a:solidFill>
                          <a:latin typeface="Calibri"/>
                        </a:rPr>
                        <a:t>Papier recyclé</a:t>
                      </a:r>
                    </a:p>
                  </a:txBody>
                  <a:tcPr marL="88900" marR="88900" marT="12700" marB="12700" anchor="ctr">
                    <a:solidFill>
                      <a:srgbClr val="FFFFFF"/>
                    </a:solidFill>
                  </a:tcPr>
                </a:tc>
              </a:tr>
              <a:tr h="502920">
                <a:tc>
                  <a:txBody>
                    <a:bodyPr wrap="square"/>
                    <a:lstStyle/>
                    <a:p>
                      <a:pPr algn="l"/>
                      <a:r>
                        <a:rPr sz="1200" b="1">
                          <a:solidFill>
                            <a:srgbClr val="37474F"/>
                          </a:solidFill>
                          <a:latin typeface="Calibri"/>
                        </a:rPr>
                        <a:t>Type</a:t>
                      </a:r>
                    </a:p>
                  </a:txBody>
                  <a:tcPr marL="88900" marR="88900" marT="12700" marB="12700" anchor="ctr">
                    <a:solidFill>
                      <a:srgbClr val="E8F5E9"/>
                    </a:solidFill>
                  </a:tcPr>
                </a:tc>
                <a:tc>
                  <a:txBody>
                    <a:bodyPr wrap="square"/>
                    <a:lstStyle/>
                    <a:p>
                      <a:pPr algn="ctr"/>
                      <a:r>
                        <a:rPr sz="1200" b="0">
                          <a:solidFill>
                            <a:srgbClr val="37474F"/>
                          </a:solidFill>
                          <a:latin typeface="Calibri"/>
                        </a:rPr>
                        <a:t>Biosourcé</a:t>
                      </a:r>
                    </a:p>
                  </a:txBody>
                  <a:tcPr marL="88900" marR="88900" marT="12700" marB="12700" anchor="ctr">
                    <a:solidFill>
                      <a:srgbClr val="E8F5E9"/>
                    </a:solidFill>
                  </a:tcPr>
                </a:tc>
                <a:tc>
                  <a:txBody>
                    <a:bodyPr wrap="square"/>
                    <a:lstStyle/>
                    <a:p>
                      <a:pPr algn="ctr"/>
                      <a:r>
                        <a:rPr sz="1200" b="0">
                          <a:solidFill>
                            <a:srgbClr val="37474F"/>
                          </a:solidFill>
                          <a:latin typeface="Calibri"/>
                        </a:rPr>
                        <a:t>Biosourcé</a:t>
                      </a:r>
                    </a:p>
                  </a:txBody>
                  <a:tcPr marL="88900" marR="88900" marT="12700" marB="12700" anchor="ctr">
                    <a:solidFill>
                      <a:srgbClr val="E8F5E9"/>
                    </a:solidFill>
                  </a:tcPr>
                </a:tc>
              </a:tr>
              <a:tr h="502920">
                <a:tc>
                  <a:txBody>
                    <a:bodyPr wrap="square"/>
                    <a:lstStyle/>
                    <a:p>
                      <a:pPr algn="l"/>
                      <a:r>
                        <a:rPr sz="1200" b="1">
                          <a:solidFill>
                            <a:srgbClr val="37474F"/>
                          </a:solidFill>
                          <a:latin typeface="Calibri"/>
                        </a:rPr>
                        <a:t>Performance thermique</a:t>
                      </a:r>
                    </a:p>
                  </a:txBody>
                  <a:tcPr marL="88900" marR="88900" marT="12700" marB="12700" anchor="ctr">
                    <a:solidFill>
                      <a:srgbClr val="FFFFFF"/>
                    </a:solidFill>
                  </a:tcPr>
                </a:tc>
                <a:tc>
                  <a:txBody>
                    <a:bodyPr wrap="square"/>
                    <a:lstStyle/>
                    <a:p>
                      <a:pPr algn="ctr"/>
                      <a:r>
                        <a:rPr sz="1200" b="0">
                          <a:solidFill>
                            <a:srgbClr val="37474F"/>
                          </a:solidFill>
                          <a:latin typeface="Calibri"/>
                        </a:rPr>
                        <a:t>Très bonne</a:t>
                      </a:r>
                    </a:p>
                  </a:txBody>
                  <a:tcPr marL="88900" marR="88900" marT="12700" marB="12700" anchor="ctr">
                    <a:solidFill>
                      <a:srgbClr val="FFFFFF"/>
                    </a:solidFill>
                  </a:tcPr>
                </a:tc>
                <a:tc>
                  <a:txBody>
                    <a:bodyPr wrap="square"/>
                    <a:lstStyle/>
                    <a:p>
                      <a:pPr algn="ctr"/>
                      <a:r>
                        <a:rPr sz="1200" b="0">
                          <a:solidFill>
                            <a:srgbClr val="37474F"/>
                          </a:solidFill>
                          <a:latin typeface="Calibri"/>
                        </a:rPr>
                        <a:t>Très bonne</a:t>
                      </a:r>
                    </a:p>
                  </a:txBody>
                  <a:tcPr marL="88900" marR="88900" marT="12700" marB="12700" anchor="ctr">
                    <a:solidFill>
                      <a:srgbClr val="FFFFFF"/>
                    </a:solidFill>
                  </a:tcPr>
                </a:tc>
              </a:tr>
              <a:tr h="502920">
                <a:tc>
                  <a:txBody>
                    <a:bodyPr wrap="square"/>
                    <a:lstStyle/>
                    <a:p>
                      <a:pPr algn="l"/>
                      <a:r>
                        <a:rPr sz="1200" b="1">
                          <a:solidFill>
                            <a:srgbClr val="37474F"/>
                          </a:solidFill>
                          <a:latin typeface="Calibri"/>
                        </a:rPr>
                        <a:t>Impact environnemental</a:t>
                      </a:r>
                    </a:p>
                  </a:txBody>
                  <a:tcPr marL="88900" marR="88900" marT="12700" marB="12700" anchor="ctr">
                    <a:solidFill>
                      <a:srgbClr val="E8F5E9"/>
                    </a:solidFill>
                  </a:tcPr>
                </a:tc>
                <a:tc>
                  <a:txBody>
                    <a:bodyPr wrap="square"/>
                    <a:lstStyle/>
                    <a:p>
                      <a:pPr algn="ctr"/>
                      <a:r>
                        <a:rPr sz="1200" b="0">
                          <a:solidFill>
                            <a:srgbClr val="37474F"/>
                          </a:solidFill>
                          <a:latin typeface="Calibri"/>
                        </a:rPr>
                        <a:t>Faible</a:t>
                      </a:r>
                    </a:p>
                  </a:txBody>
                  <a:tcPr marL="88900" marR="88900" marT="12700" marB="12700" anchor="ctr">
                    <a:solidFill>
                      <a:srgbClr val="E8F5E9"/>
                    </a:solidFill>
                  </a:tcPr>
                </a:tc>
                <a:tc>
                  <a:txBody>
                    <a:bodyPr wrap="square"/>
                    <a:lstStyle/>
                    <a:p>
                      <a:pPr algn="ctr"/>
                      <a:r>
                        <a:rPr sz="1200" b="0">
                          <a:solidFill>
                            <a:srgbClr val="37474F"/>
                          </a:solidFill>
                          <a:latin typeface="Calibri"/>
                        </a:rPr>
                        <a:t>Très faible</a:t>
                      </a:r>
                    </a:p>
                  </a:txBody>
                  <a:tcPr marL="88900" marR="88900" marT="12700" marB="12700" anchor="ctr">
                    <a:solidFill>
                      <a:srgbClr val="E8F5E9"/>
                    </a:solidFill>
                  </a:tcPr>
                </a:tc>
              </a:tr>
              <a:tr h="502920">
                <a:tc>
                  <a:txBody>
                    <a:bodyPr wrap="square"/>
                    <a:lstStyle/>
                    <a:p>
                      <a:pPr algn="l"/>
                      <a:r>
                        <a:rPr sz="1200" b="1">
                          <a:solidFill>
                            <a:srgbClr val="37474F"/>
                          </a:solidFill>
                          <a:latin typeface="Calibri"/>
                        </a:rPr>
                        <a:t>Utilisation retenue</a:t>
                      </a:r>
                    </a:p>
                  </a:txBody>
                  <a:tcPr marL="88900" marR="88900" marT="12700" marB="12700" anchor="ctr">
                    <a:solidFill>
                      <a:srgbClr val="FFFFFF"/>
                    </a:solidFill>
                  </a:tcPr>
                </a:tc>
                <a:tc>
                  <a:txBody>
                    <a:bodyPr wrap="square"/>
                    <a:lstStyle/>
                    <a:p>
                      <a:pPr algn="ctr"/>
                      <a:r>
                        <a:rPr sz="1200" b="0">
                          <a:solidFill>
                            <a:srgbClr val="37474F"/>
                          </a:solidFill>
                          <a:latin typeface="Calibri"/>
                        </a:rPr>
                        <a:t>ITE des murs</a:t>
                      </a:r>
                    </a:p>
                  </a:txBody>
                  <a:tcPr marL="88900" marR="88900" marT="12700" marB="12700" anchor="ctr">
                    <a:solidFill>
                      <a:srgbClr val="FFFFFF"/>
                    </a:solidFill>
                  </a:tcPr>
                </a:tc>
                <a:tc>
                  <a:txBody>
                    <a:bodyPr wrap="square"/>
                    <a:lstStyle/>
                    <a:p>
                      <a:pPr algn="ctr"/>
                      <a:r>
                        <a:rPr sz="1200" b="0">
                          <a:solidFill>
                            <a:srgbClr val="37474F"/>
                          </a:solidFill>
                          <a:latin typeface="Calibri"/>
                        </a:rPr>
                        <a:t>Isolation des combles</a:t>
                      </a:r>
                    </a:p>
                  </a:txBody>
                  <a:tcPr marL="88900" marR="88900" marT="12700" marB="12700" anchor="ctr">
                    <a:solidFill>
                      <a:srgbClr val="FFFFFF"/>
                    </a:solidFill>
                  </a:tcPr>
                </a:tc>
              </a:tr>
            </a:tbl>
          </a:graphicData>
        </a:graphic>
      </p:graphicFrame>
      <p:sp>
        <p:nvSpPr>
          <p:cNvPr id="12" name="Rounded Rectangle 11"/>
          <p:cNvSpPr/>
          <p:nvPr/>
        </p:nvSpPr>
        <p:spPr>
          <a:xfrm>
            <a:off x="8412480" y="1691640"/>
            <a:ext cx="2926080" cy="3017520"/>
          </a:xfrm>
          <a:prstGeom prst="roundRect">
            <a:avLst/>
          </a:prstGeom>
          <a:solidFill>
            <a:srgbClr val="E8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828800"/>
            <a:ext cx="2560320" cy="2834640"/>
          </a:xfrm>
          <a:prstGeom prst="rect">
            <a:avLst/>
          </a:prstGeom>
          <a:noFill/>
        </p:spPr>
        <p:txBody>
          <a:bodyPr wrap="square" anchor="t" lIns="25400" rIns="25400" tIns="25400" bIns="25400">
            <a:spAutoFit/>
          </a:bodyPr>
          <a:lstStyle/>
          <a:p>
            <a:pPr algn="l">
              <a:lnSpc>
                <a:spcPct val="115000"/>
              </a:lnSpc>
              <a:spcAft>
                <a:spcPts val="400"/>
              </a:spcAft>
            </a:pPr>
            <a:r>
              <a:rPr sz="1300" b="1" i="0">
                <a:solidFill>
                  <a:srgbClr val="1B5E20"/>
                </a:solidFill>
                <a:latin typeface="Calibri"/>
              </a:rPr>
              <a:t>Pourquoi le biosourcé ?</a:t>
            </a:r>
          </a:p>
          <a:p>
            <a:pPr algn="l">
              <a:lnSpc>
                <a:spcPct val="115000"/>
              </a:lnSpc>
              <a:spcAft>
                <a:spcPts val="400"/>
              </a:spcAft>
            </a:pPr>
            <a:r>
              <a:rPr sz="600" b="0" i="0">
                <a:solidFill>
                  <a:srgbClr val="1B5E20"/>
                </a:solidFill>
                <a:latin typeface="Calibri"/>
              </a:rPr>
              <a:t/>
            </a:r>
          </a:p>
          <a:p>
            <a:pPr algn="l">
              <a:lnSpc>
                <a:spcPct val="115000"/>
              </a:lnSpc>
              <a:spcAft>
                <a:spcPts val="400"/>
              </a:spcAft>
            </a:pPr>
            <a:r>
              <a:rPr sz="1200" b="0" i="0">
                <a:solidFill>
                  <a:srgbClr val="37474F"/>
                </a:solidFill>
                <a:latin typeface="Calibri"/>
              </a:rPr>
              <a:t>• Faible impact carbone</a:t>
            </a:r>
          </a:p>
          <a:p>
            <a:pPr algn="l">
              <a:lnSpc>
                <a:spcPct val="115000"/>
              </a:lnSpc>
              <a:spcAft>
                <a:spcPts val="400"/>
              </a:spcAft>
            </a:pPr>
            <a:r>
              <a:rPr sz="1200" b="0" i="0">
                <a:solidFill>
                  <a:srgbClr val="37474F"/>
                </a:solidFill>
                <a:latin typeface="Calibri"/>
              </a:rPr>
              <a:t>• Excellent déphasage</a:t>
            </a:r>
          </a:p>
          <a:p>
            <a:pPr algn="l">
              <a:lnSpc>
                <a:spcPct val="115000"/>
              </a:lnSpc>
              <a:spcAft>
                <a:spcPts val="400"/>
              </a:spcAft>
            </a:pPr>
            <a:r>
              <a:rPr sz="1100" b="0" i="1">
                <a:solidFill>
                  <a:srgbClr val="90A4AE"/>
                </a:solidFill>
                <a:latin typeface="Calibri"/>
              </a:rPr>
              <a:t>  → confort d’été</a:t>
            </a:r>
          </a:p>
          <a:p>
            <a:pPr algn="l">
              <a:lnSpc>
                <a:spcPct val="115000"/>
              </a:lnSpc>
              <a:spcAft>
                <a:spcPts val="400"/>
              </a:spcAft>
            </a:pPr>
            <a:r>
              <a:rPr sz="1200" b="0" i="0">
                <a:solidFill>
                  <a:srgbClr val="37474F"/>
                </a:solidFill>
                <a:latin typeface="Calibri"/>
              </a:rPr>
              <a:t>• Murs perspirants</a:t>
            </a:r>
          </a:p>
          <a:p>
            <a:pPr algn="l">
              <a:lnSpc>
                <a:spcPct val="115000"/>
              </a:lnSpc>
              <a:spcAft>
                <a:spcPts val="400"/>
              </a:spcAft>
            </a:pPr>
            <a:r>
              <a:rPr sz="1100" b="0" i="1">
                <a:solidFill>
                  <a:srgbClr val="90A4AE"/>
                </a:solidFill>
                <a:latin typeface="Calibri"/>
              </a:rPr>
              <a:t>  → gestion de l’humidité</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5</a:t>
            </a:r>
          </a:p>
        </p:txBody>
      </p:sp>
      <p:sp>
        <p:nvSpPr>
          <p:cNvPr id="6" name="TextBox 5"/>
          <p:cNvSpPr txBox="1"/>
          <p:nvPr/>
        </p:nvSpPr>
        <p:spPr>
          <a:xfrm>
            <a:off x="1325880" y="365760"/>
            <a:ext cx="10332720" cy="731520"/>
          </a:xfrm>
          <a:prstGeom prst="rect">
            <a:avLst/>
          </a:prstGeom>
          <a:noFill/>
        </p:spPr>
        <p:txBody>
          <a:bodyPr wrap="square" anchor="ctr" lIns="25400" rIns="25400" tIns="25400" bIns="25400">
            <a:spAutoFit/>
          </a:bodyPr>
          <a:lstStyle/>
          <a:p>
            <a:pPr algn="l">
              <a:lnSpc>
                <a:spcPct val="100000"/>
              </a:lnSpc>
              <a:spcAft>
                <a:spcPts val="400"/>
              </a:spcAft>
            </a:pPr>
            <a:r>
              <a:rPr sz="2900" b="1" i="0">
                <a:solidFill>
                  <a:srgbClr val="1B5E20"/>
                </a:solidFill>
                <a:latin typeface="Calibri"/>
              </a:rPr>
              <a:t>Dimensionnement des installations</a:t>
            </a:r>
          </a:p>
        </p:txBody>
      </p:sp>
      <p:sp>
        <p:nvSpPr>
          <p:cNvPr id="7" name="TextBox 6"/>
          <p:cNvSpPr txBox="1"/>
          <p:nvPr/>
        </p:nvSpPr>
        <p:spPr>
          <a:xfrm>
            <a:off x="1325880" y="1060704"/>
            <a:ext cx="10332720" cy="365760"/>
          </a:xfrm>
          <a:prstGeom prst="rect">
            <a:avLst/>
          </a:prstGeom>
          <a:noFill/>
        </p:spPr>
        <p:txBody>
          <a:bodyPr wrap="square" anchor="t" lIns="25400" rIns="25400" tIns="25400" bIns="25400">
            <a:spAutoFit/>
          </a:bodyPr>
          <a:lstStyle/>
          <a:p>
            <a:pPr algn="l">
              <a:lnSpc>
                <a:spcPct val="100000"/>
              </a:lnSpc>
              <a:spcAft>
                <a:spcPts val="400"/>
              </a:spcAft>
            </a:pPr>
            <a:r>
              <a:rPr sz="1400" b="0" i="1">
                <a:solidFill>
                  <a:srgbClr val="90A4AE"/>
                </a:solidFill>
                <a:latin typeface="Calibri"/>
              </a:rPr>
              <a:t>Du calcul au choix des équipements</a:t>
            </a:r>
          </a:p>
        </p:txBody>
      </p:sp>
      <p:sp>
        <p:nvSpPr>
          <p:cNvPr id="8" name="Rectangle 7"/>
          <p:cNvSpPr/>
          <p:nvPr/>
        </p:nvSpPr>
        <p:spPr>
          <a:xfrm>
            <a:off x="1325880" y="1170432"/>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Rénovation énergétique – Saint-Jean-de-Chevelu (73) – Bloc 1</a:t>
            </a:r>
          </a:p>
        </p:txBody>
      </p:sp>
      <p:sp>
        <p:nvSpPr>
          <p:cNvPr id="10" name="TextBox 9"/>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sp>
        <p:nvSpPr>
          <p:cNvPr id="11" name="Rounded Rectangle 10"/>
          <p:cNvSpPr/>
          <p:nvPr/>
        </p:nvSpPr>
        <p:spPr>
          <a:xfrm>
            <a:off x="822960" y="1554480"/>
            <a:ext cx="5212080" cy="2148840"/>
          </a:xfrm>
          <a:prstGeom prst="roundRect">
            <a:avLst/>
          </a:prstGeom>
          <a:solidFill>
            <a:srgbClr val="FFFFFF"/>
          </a:solidFill>
          <a:ln w="1270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1645920"/>
            <a:ext cx="4846320" cy="2057400"/>
          </a:xfrm>
          <a:prstGeom prst="rect">
            <a:avLst/>
          </a:prstGeom>
          <a:noFill/>
        </p:spPr>
        <p:txBody>
          <a:bodyPr wrap="square" anchor="t" lIns="25400" rIns="25400" tIns="25400" bIns="25400">
            <a:spAutoFit/>
          </a:bodyPr>
          <a:lstStyle/>
          <a:p>
            <a:pPr algn="l">
              <a:lnSpc>
                <a:spcPct val="110000"/>
              </a:lnSpc>
              <a:spcAft>
                <a:spcPts val="400"/>
              </a:spcAft>
            </a:pPr>
            <a:r>
              <a:rPr sz="1300" b="1" i="0">
                <a:solidFill>
                  <a:srgbClr val="1B5E20"/>
                </a:solidFill>
                <a:latin typeface="Calibri"/>
              </a:rPr>
              <a:t>Résistance des isolants  (R = e / λ)</a:t>
            </a:r>
          </a:p>
          <a:p>
            <a:pPr algn="l">
              <a:lnSpc>
                <a:spcPct val="110000"/>
              </a:lnSpc>
              <a:spcAft>
                <a:spcPts val="400"/>
              </a:spcAft>
            </a:pPr>
            <a:r>
              <a:rPr sz="500" b="0" i="0">
                <a:solidFill>
                  <a:srgbClr val="1B5E20"/>
                </a:solidFill>
                <a:latin typeface="Calibri"/>
              </a:rPr>
              <a:t/>
            </a:r>
          </a:p>
          <a:p>
            <a:pPr algn="l">
              <a:lnSpc>
                <a:spcPct val="110000"/>
              </a:lnSpc>
              <a:spcAft>
                <a:spcPts val="400"/>
              </a:spcAft>
            </a:pPr>
            <a:r>
              <a:rPr sz="1200" b="1" i="0">
                <a:solidFill>
                  <a:srgbClr val="37474F"/>
                </a:solidFill>
                <a:latin typeface="Calibri"/>
              </a:rPr>
              <a:t>Murs — laine de bois 200 mm (λ=0,038) :</a:t>
            </a:r>
          </a:p>
          <a:p>
            <a:pPr algn="l">
              <a:lnSpc>
                <a:spcPct val="110000"/>
              </a:lnSpc>
              <a:spcAft>
                <a:spcPts val="400"/>
              </a:spcAft>
            </a:pPr>
            <a:r>
              <a:rPr sz="1300" b="0" i="0">
                <a:solidFill>
                  <a:srgbClr val="1565C0"/>
                </a:solidFill>
                <a:latin typeface="Calibri"/>
              </a:rPr>
              <a:t>R = 0,20 / 0,038 = 5,26 m².K/W</a:t>
            </a:r>
          </a:p>
          <a:p>
            <a:pPr algn="l">
              <a:lnSpc>
                <a:spcPct val="110000"/>
              </a:lnSpc>
              <a:spcAft>
                <a:spcPts val="400"/>
              </a:spcAft>
            </a:pPr>
            <a:r>
              <a:rPr sz="400" b="0" i="0">
                <a:solidFill>
                  <a:srgbClr val="1B5E20"/>
                </a:solidFill>
                <a:latin typeface="Calibri"/>
              </a:rPr>
              <a:t/>
            </a:r>
          </a:p>
          <a:p>
            <a:pPr algn="l">
              <a:lnSpc>
                <a:spcPct val="110000"/>
              </a:lnSpc>
              <a:spcAft>
                <a:spcPts val="400"/>
              </a:spcAft>
            </a:pPr>
            <a:r>
              <a:rPr sz="1200" b="1" i="0">
                <a:solidFill>
                  <a:srgbClr val="37474F"/>
                </a:solidFill>
                <a:latin typeface="Calibri"/>
              </a:rPr>
              <a:t>Combles — ouate 400 mm (λ=0,039) :</a:t>
            </a:r>
          </a:p>
          <a:p>
            <a:pPr algn="l">
              <a:lnSpc>
                <a:spcPct val="110000"/>
              </a:lnSpc>
              <a:spcAft>
                <a:spcPts val="400"/>
              </a:spcAft>
            </a:pPr>
            <a:r>
              <a:rPr sz="1300" b="0" i="0">
                <a:solidFill>
                  <a:srgbClr val="1565C0"/>
                </a:solidFill>
                <a:latin typeface="Calibri"/>
              </a:rPr>
              <a:t>R = 0,40 / 0,039 = 10,26 m².K/W</a:t>
            </a:r>
          </a:p>
        </p:txBody>
      </p:sp>
      <p:sp>
        <p:nvSpPr>
          <p:cNvPr id="13" name="Rounded Rectangle 12"/>
          <p:cNvSpPr/>
          <p:nvPr/>
        </p:nvSpPr>
        <p:spPr>
          <a:xfrm>
            <a:off x="6217920" y="1554480"/>
            <a:ext cx="5120640" cy="2148840"/>
          </a:xfrm>
          <a:prstGeom prst="roundRect">
            <a:avLst/>
          </a:prstGeom>
          <a:solidFill>
            <a:srgbClr val="FFFFFF"/>
          </a:solidFill>
          <a:ln w="1270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645920"/>
            <a:ext cx="4754880" cy="2057400"/>
          </a:xfrm>
          <a:prstGeom prst="rect">
            <a:avLst/>
          </a:prstGeom>
          <a:noFill/>
        </p:spPr>
        <p:txBody>
          <a:bodyPr wrap="square" anchor="t" lIns="25400" rIns="25400" tIns="25400" bIns="25400">
            <a:spAutoFit/>
          </a:bodyPr>
          <a:lstStyle/>
          <a:p>
            <a:pPr algn="l">
              <a:lnSpc>
                <a:spcPct val="110000"/>
              </a:lnSpc>
              <a:spcAft>
                <a:spcPts val="400"/>
              </a:spcAft>
            </a:pPr>
            <a:r>
              <a:rPr sz="1300" b="1" i="0">
                <a:solidFill>
                  <a:srgbClr val="1B5E20"/>
                </a:solidFill>
                <a:latin typeface="Calibri"/>
              </a:rPr>
              <a:t>Puissance de chauffage après travaux</a:t>
            </a:r>
          </a:p>
          <a:p>
            <a:pPr algn="l">
              <a:lnSpc>
                <a:spcPct val="110000"/>
              </a:lnSpc>
              <a:spcAft>
                <a:spcPts val="400"/>
              </a:spcAft>
            </a:pPr>
            <a:r>
              <a:rPr sz="500" b="0" i="0">
                <a:solidFill>
                  <a:srgbClr val="1B5E20"/>
                </a:solidFill>
                <a:latin typeface="Calibri"/>
              </a:rPr>
              <a:t/>
            </a:r>
          </a:p>
          <a:p>
            <a:pPr algn="l">
              <a:lnSpc>
                <a:spcPct val="110000"/>
              </a:lnSpc>
              <a:spcAft>
                <a:spcPts val="400"/>
              </a:spcAft>
            </a:pPr>
            <a:r>
              <a:rPr sz="1200" b="1" i="0">
                <a:solidFill>
                  <a:srgbClr val="37474F"/>
                </a:solidFill>
                <a:latin typeface="Calibri"/>
              </a:rPr>
              <a:t>Réduction des besoins estimée : 55 %</a:t>
            </a:r>
          </a:p>
          <a:p>
            <a:pPr algn="l">
              <a:lnSpc>
                <a:spcPct val="110000"/>
              </a:lnSpc>
              <a:spcAft>
                <a:spcPts val="400"/>
              </a:spcAft>
            </a:pPr>
            <a:r>
              <a:rPr sz="1300" b="0" i="0">
                <a:solidFill>
                  <a:srgbClr val="1565C0"/>
                </a:solidFill>
                <a:latin typeface="Calibri"/>
              </a:rPr>
              <a:t>P = 21,3 × (1 − 0,55) = 9,6 kW ≈ 10 kW</a:t>
            </a:r>
          </a:p>
          <a:p>
            <a:pPr algn="l">
              <a:lnSpc>
                <a:spcPct val="110000"/>
              </a:lnSpc>
              <a:spcAft>
                <a:spcPts val="400"/>
              </a:spcAft>
            </a:pPr>
            <a:r>
              <a:rPr sz="400" b="0" i="0">
                <a:solidFill>
                  <a:srgbClr val="1B5E20"/>
                </a:solidFill>
                <a:latin typeface="Calibri"/>
              </a:rPr>
              <a:t/>
            </a:r>
          </a:p>
          <a:p>
            <a:pPr algn="l">
              <a:lnSpc>
                <a:spcPct val="110000"/>
              </a:lnSpc>
              <a:spcAft>
                <a:spcPts val="400"/>
              </a:spcAft>
            </a:pPr>
            <a:r>
              <a:rPr sz="1200" b="1" i="0">
                <a:solidFill>
                  <a:srgbClr val="37474F"/>
                </a:solidFill>
                <a:latin typeface="Calibri"/>
              </a:rPr>
              <a:t>Avec marge de sécurité :</a:t>
            </a:r>
          </a:p>
          <a:p>
            <a:pPr algn="l">
              <a:lnSpc>
                <a:spcPct val="110000"/>
              </a:lnSpc>
              <a:spcAft>
                <a:spcPts val="400"/>
              </a:spcAft>
            </a:pPr>
            <a:r>
              <a:rPr sz="1400" b="1" i="0">
                <a:solidFill>
                  <a:srgbClr val="1B5E20"/>
                </a:solidFill>
                <a:latin typeface="Calibri"/>
              </a:rPr>
              <a:t>→ Chaudière à granulés de 12 kW</a:t>
            </a:r>
          </a:p>
        </p:txBody>
      </p:sp>
      <p:graphicFrame>
        <p:nvGraphicFramePr>
          <p:cNvPr id="15" name="Table 14"/>
          <p:cNvGraphicFramePr>
            <a:graphicFrameLocks noGrp="1"/>
          </p:cNvGraphicFramePr>
          <p:nvPr/>
        </p:nvGraphicFramePr>
        <p:xfrm>
          <a:off x="822960" y="4023360"/>
          <a:ext cx="5212080" cy="1920240"/>
        </p:xfrm>
        <a:graphic>
          <a:graphicData uri="http://schemas.openxmlformats.org/drawingml/2006/table">
            <a:tbl>
              <a:tblPr>
                <a:tableStyleId>{5C22544A-7EE6-4342-B048-85BDC9FD1C3A}</a:tableStyleId>
              </a:tblPr>
              <a:tblGrid>
                <a:gridCol w="2926080"/>
                <a:gridCol w="2286000"/>
              </a:tblGrid>
              <a:tr h="384048">
                <a:tc>
                  <a:txBody>
                    <a:bodyPr wrap="square"/>
                    <a:lstStyle/>
                    <a:p>
                      <a:pPr algn="l"/>
                      <a:r>
                        <a:rPr sz="1200" b="1">
                          <a:solidFill>
                            <a:srgbClr val="FFFFFF"/>
                          </a:solidFill>
                          <a:latin typeface="Calibri"/>
                        </a:rPr>
                        <a:t>Combustible granulés</a:t>
                      </a:r>
                    </a:p>
                  </a:txBody>
                  <a:tcPr marL="88900" marR="88900" marT="12700" marB="12700" anchor="ctr">
                    <a:solidFill>
                      <a:srgbClr val="1B5E20"/>
                    </a:solidFill>
                  </a:tcPr>
                </a:tc>
                <a:tc>
                  <a:txBody>
                    <a:bodyPr wrap="square"/>
                    <a:lstStyle/>
                    <a:p>
                      <a:pPr algn="ctr"/>
                      <a:r>
                        <a:rPr sz="1200" b="1">
                          <a:solidFill>
                            <a:srgbClr val="FFFFFF"/>
                          </a:solidFill>
                          <a:latin typeface="Calibri"/>
                        </a:rPr>
                        <a:t>Valeur</a:t>
                      </a:r>
                    </a:p>
                  </a:txBody>
                  <a:tcPr marL="88900" marR="88900" marT="12700" marB="12700" anchor="ctr">
                    <a:solidFill>
                      <a:srgbClr val="1B5E20"/>
                    </a:solidFill>
                  </a:tcPr>
                </a:tc>
              </a:tr>
              <a:tr h="384048">
                <a:tc>
                  <a:txBody>
                    <a:bodyPr wrap="square"/>
                    <a:lstStyle/>
                    <a:p>
                      <a:pPr algn="l"/>
                      <a:r>
                        <a:rPr sz="1100" b="0">
                          <a:solidFill>
                            <a:srgbClr val="37474F"/>
                          </a:solidFill>
                          <a:latin typeface="Calibri"/>
                        </a:rPr>
                        <a:t>Besoin après travaux</a:t>
                      </a:r>
                    </a:p>
                  </a:txBody>
                  <a:tcPr marL="88900" marR="88900" marT="12700" marB="12700" anchor="ctr">
                    <a:solidFill>
                      <a:srgbClr val="FFFFFF"/>
                    </a:solidFill>
                  </a:tcPr>
                </a:tc>
                <a:tc>
                  <a:txBody>
                    <a:bodyPr wrap="square"/>
                    <a:lstStyle/>
                    <a:p>
                      <a:pPr algn="ctr"/>
                      <a:r>
                        <a:rPr sz="1100" b="0">
                          <a:solidFill>
                            <a:srgbClr val="37474F"/>
                          </a:solidFill>
                          <a:latin typeface="Calibri"/>
                        </a:rPr>
                        <a:t>7 020 kWh/an</a:t>
                      </a:r>
                    </a:p>
                  </a:txBody>
                  <a:tcPr marL="88900" marR="88900" marT="12700" marB="12700" anchor="ctr">
                    <a:solidFill>
                      <a:srgbClr val="FFFFFF"/>
                    </a:solidFill>
                  </a:tcPr>
                </a:tc>
              </a:tr>
              <a:tr h="384048">
                <a:tc>
                  <a:txBody>
                    <a:bodyPr wrap="square"/>
                    <a:lstStyle/>
                    <a:p>
                      <a:pPr algn="l"/>
                      <a:r>
                        <a:rPr sz="1100" b="0">
                          <a:solidFill>
                            <a:srgbClr val="37474F"/>
                          </a:solidFill>
                          <a:latin typeface="Calibri"/>
                        </a:rPr>
                        <a:t>PCI granulés</a:t>
                      </a:r>
                    </a:p>
                  </a:txBody>
                  <a:tcPr marL="88900" marR="88900" marT="12700" marB="12700" anchor="ctr">
                    <a:solidFill>
                      <a:srgbClr val="E8F5E9"/>
                    </a:solidFill>
                  </a:tcPr>
                </a:tc>
                <a:tc>
                  <a:txBody>
                    <a:bodyPr wrap="square"/>
                    <a:lstStyle/>
                    <a:p>
                      <a:pPr algn="ctr"/>
                      <a:r>
                        <a:rPr sz="1100" b="0">
                          <a:solidFill>
                            <a:srgbClr val="37474F"/>
                          </a:solidFill>
                          <a:latin typeface="Calibri"/>
                        </a:rPr>
                        <a:t>4,8 kWh/kg</a:t>
                      </a:r>
                    </a:p>
                  </a:txBody>
                  <a:tcPr marL="88900" marR="88900" marT="12700" marB="12700" anchor="ctr">
                    <a:solidFill>
                      <a:srgbClr val="E8F5E9"/>
                    </a:solidFill>
                  </a:tcPr>
                </a:tc>
              </a:tr>
              <a:tr h="384048">
                <a:tc>
                  <a:txBody>
                    <a:bodyPr wrap="square"/>
                    <a:lstStyle/>
                    <a:p>
                      <a:pPr algn="l"/>
                      <a:r>
                        <a:rPr sz="1100" b="0">
                          <a:solidFill>
                            <a:srgbClr val="37474F"/>
                          </a:solidFill>
                          <a:latin typeface="Calibri"/>
                        </a:rPr>
                        <a:t>Conso annuelle</a:t>
                      </a:r>
                    </a:p>
                  </a:txBody>
                  <a:tcPr marL="88900" marR="88900" marT="12700" marB="12700" anchor="ctr">
                    <a:solidFill>
                      <a:srgbClr val="FFFFFF"/>
                    </a:solidFill>
                  </a:tcPr>
                </a:tc>
                <a:tc>
                  <a:txBody>
                    <a:bodyPr wrap="square"/>
                    <a:lstStyle/>
                    <a:p>
                      <a:pPr algn="ctr"/>
                      <a:r>
                        <a:rPr sz="1100" b="0">
                          <a:solidFill>
                            <a:srgbClr val="37474F"/>
                          </a:solidFill>
                          <a:latin typeface="Calibri"/>
                        </a:rPr>
                        <a:t>≈ 1,5 t/an</a:t>
                      </a:r>
                    </a:p>
                  </a:txBody>
                  <a:tcPr marL="88900" marR="88900" marT="12700" marB="12700" anchor="ctr">
                    <a:solidFill>
                      <a:srgbClr val="FFFFFF"/>
                    </a:solidFill>
                  </a:tcPr>
                </a:tc>
              </a:tr>
              <a:tr h="384048">
                <a:tc>
                  <a:txBody>
                    <a:bodyPr wrap="square"/>
                    <a:lstStyle/>
                    <a:p>
                      <a:pPr algn="l"/>
                      <a:r>
                        <a:rPr sz="1100" b="0">
                          <a:solidFill>
                            <a:srgbClr val="37474F"/>
                          </a:solidFill>
                          <a:latin typeface="Calibri"/>
                        </a:rPr>
                        <a:t>Silo retenu</a:t>
                      </a:r>
                    </a:p>
                  </a:txBody>
                  <a:tcPr marL="88900" marR="88900" marT="12700" marB="12700" anchor="ctr">
                    <a:solidFill>
                      <a:srgbClr val="E8F5E9"/>
                    </a:solidFill>
                  </a:tcPr>
                </a:tc>
                <a:tc>
                  <a:txBody>
                    <a:bodyPr wrap="square"/>
                    <a:lstStyle/>
                    <a:p>
                      <a:pPr algn="ctr"/>
                      <a:r>
                        <a:rPr sz="1100" b="0">
                          <a:solidFill>
                            <a:srgbClr val="37474F"/>
                          </a:solidFill>
                          <a:latin typeface="Calibri"/>
                        </a:rPr>
                        <a:t>2 tonnes</a:t>
                      </a:r>
                    </a:p>
                  </a:txBody>
                  <a:tcPr marL="88900" marR="88900" marT="12700" marB="12700" anchor="ctr">
                    <a:solidFill>
                      <a:srgbClr val="E8F5E9"/>
                    </a:solidFill>
                  </a:tcPr>
                </a:tc>
              </a:tr>
            </a:tbl>
          </a:graphicData>
        </a:graphic>
      </p:graphicFrame>
      <p:graphicFrame>
        <p:nvGraphicFramePr>
          <p:cNvPr id="16" name="Table 15"/>
          <p:cNvGraphicFramePr>
            <a:graphicFrameLocks noGrp="1"/>
          </p:cNvGraphicFramePr>
          <p:nvPr/>
        </p:nvGraphicFramePr>
        <p:xfrm>
          <a:off x="6217920" y="4023360"/>
          <a:ext cx="5120640" cy="1920240"/>
        </p:xfrm>
        <a:graphic>
          <a:graphicData uri="http://schemas.openxmlformats.org/drawingml/2006/table">
            <a:tbl>
              <a:tblPr>
                <a:tableStyleId>{5C22544A-7EE6-4342-B048-85BDC9FD1C3A}</a:tableStyleId>
              </a:tblPr>
              <a:tblGrid>
                <a:gridCol w="3017520"/>
                <a:gridCol w="2103120"/>
              </a:tblGrid>
              <a:tr h="384048">
                <a:tc>
                  <a:txBody>
                    <a:bodyPr wrap="square"/>
                    <a:lstStyle/>
                    <a:p>
                      <a:pPr algn="l"/>
                      <a:r>
                        <a:rPr sz="1200" b="1">
                          <a:solidFill>
                            <a:srgbClr val="FFFFFF"/>
                          </a:solidFill>
                          <a:latin typeface="Calibri"/>
                        </a:rPr>
                        <a:t>VMC Hygro B — débits</a:t>
                      </a:r>
                    </a:p>
                  </a:txBody>
                  <a:tcPr marL="88900" marR="88900" marT="12700" marB="12700" anchor="ctr">
                    <a:solidFill>
                      <a:srgbClr val="1B5E20"/>
                    </a:solidFill>
                  </a:tcPr>
                </a:tc>
                <a:tc>
                  <a:txBody>
                    <a:bodyPr wrap="square"/>
                    <a:lstStyle/>
                    <a:p>
                      <a:pPr algn="ctr"/>
                      <a:r>
                        <a:rPr sz="1200" b="1">
                          <a:solidFill>
                            <a:srgbClr val="FFFFFF"/>
                          </a:solidFill>
                          <a:latin typeface="Calibri"/>
                        </a:rPr>
                        <a:t>m³/h</a:t>
                      </a:r>
                    </a:p>
                  </a:txBody>
                  <a:tcPr marL="88900" marR="88900" marT="12700" marB="12700" anchor="ctr">
                    <a:solidFill>
                      <a:srgbClr val="1B5E20"/>
                    </a:solidFill>
                  </a:tcPr>
                </a:tc>
              </a:tr>
              <a:tr h="384048">
                <a:tc>
                  <a:txBody>
                    <a:bodyPr wrap="square"/>
                    <a:lstStyle/>
                    <a:p>
                      <a:pPr algn="l"/>
                      <a:r>
                        <a:rPr sz="1100" b="0">
                          <a:solidFill>
                            <a:srgbClr val="37474F"/>
                          </a:solidFill>
                          <a:latin typeface="Calibri"/>
                        </a:rPr>
                        <a:t>Cuisine</a:t>
                      </a:r>
                    </a:p>
                  </a:txBody>
                  <a:tcPr marL="88900" marR="88900" marT="12700" marB="12700" anchor="ctr">
                    <a:solidFill>
                      <a:srgbClr val="FFFFFF"/>
                    </a:solidFill>
                  </a:tcPr>
                </a:tc>
                <a:tc>
                  <a:txBody>
                    <a:bodyPr wrap="square"/>
                    <a:lstStyle/>
                    <a:p>
                      <a:pPr algn="ctr"/>
                      <a:r>
                        <a:rPr sz="1100" b="0">
                          <a:solidFill>
                            <a:srgbClr val="37474F"/>
                          </a:solidFill>
                          <a:latin typeface="Calibri"/>
                        </a:rPr>
                        <a:t>45 à 135</a:t>
                      </a:r>
                    </a:p>
                  </a:txBody>
                  <a:tcPr marL="88900" marR="88900" marT="12700" marB="12700" anchor="ctr">
                    <a:solidFill>
                      <a:srgbClr val="FFFFFF"/>
                    </a:solidFill>
                  </a:tcPr>
                </a:tc>
              </a:tr>
              <a:tr h="384048">
                <a:tc>
                  <a:txBody>
                    <a:bodyPr wrap="square"/>
                    <a:lstStyle/>
                    <a:p>
                      <a:pPr algn="l"/>
                      <a:r>
                        <a:rPr sz="1100" b="0">
                          <a:solidFill>
                            <a:srgbClr val="37474F"/>
                          </a:solidFill>
                          <a:latin typeface="Calibri"/>
                        </a:rPr>
                        <a:t>Salle de bain</a:t>
                      </a:r>
                    </a:p>
                  </a:txBody>
                  <a:tcPr marL="88900" marR="88900" marT="12700" marB="12700" anchor="ctr">
                    <a:solidFill>
                      <a:srgbClr val="E8F5E9"/>
                    </a:solidFill>
                  </a:tcPr>
                </a:tc>
                <a:tc>
                  <a:txBody>
                    <a:bodyPr wrap="square"/>
                    <a:lstStyle/>
                    <a:p>
                      <a:pPr algn="ctr"/>
                      <a:r>
                        <a:rPr sz="1100" b="0">
                          <a:solidFill>
                            <a:srgbClr val="37474F"/>
                          </a:solidFill>
                          <a:latin typeface="Calibri"/>
                        </a:rPr>
                        <a:t>30</a:t>
                      </a:r>
                    </a:p>
                  </a:txBody>
                  <a:tcPr marL="88900" marR="88900" marT="12700" marB="12700" anchor="ctr">
                    <a:solidFill>
                      <a:srgbClr val="E8F5E9"/>
                    </a:solidFill>
                  </a:tcPr>
                </a:tc>
              </a:tr>
              <a:tr h="384048">
                <a:tc>
                  <a:txBody>
                    <a:bodyPr wrap="square"/>
                    <a:lstStyle/>
                    <a:p>
                      <a:pPr algn="l"/>
                      <a:r>
                        <a:rPr sz="1100" b="0">
                          <a:solidFill>
                            <a:srgbClr val="37474F"/>
                          </a:solidFill>
                          <a:latin typeface="Calibri"/>
                        </a:rPr>
                        <a:t>WC</a:t>
                      </a:r>
                    </a:p>
                  </a:txBody>
                  <a:tcPr marL="88900" marR="88900" marT="12700" marB="12700" anchor="ctr">
                    <a:solidFill>
                      <a:srgbClr val="FFFFFF"/>
                    </a:solidFill>
                  </a:tcPr>
                </a:tc>
                <a:tc>
                  <a:txBody>
                    <a:bodyPr wrap="square"/>
                    <a:lstStyle/>
                    <a:p>
                      <a:pPr algn="ctr"/>
                      <a:r>
                        <a:rPr sz="1100" b="0">
                          <a:solidFill>
                            <a:srgbClr val="37474F"/>
                          </a:solidFill>
                          <a:latin typeface="Calibri"/>
                        </a:rPr>
                        <a:t>15</a:t>
                      </a:r>
                    </a:p>
                  </a:txBody>
                  <a:tcPr marL="88900" marR="88900" marT="12700" marB="12700" anchor="ctr">
                    <a:solidFill>
                      <a:srgbClr val="FFFFFF"/>
                    </a:solidFill>
                  </a:tcPr>
                </a:tc>
              </a:tr>
              <a:tr h="384048">
                <a:tc>
                  <a:txBody>
                    <a:bodyPr wrap="square"/>
                    <a:lstStyle/>
                    <a:p>
                      <a:pPr algn="l"/>
                      <a:r>
                        <a:rPr sz="1100" b="0">
                          <a:solidFill>
                            <a:srgbClr val="37474F"/>
                          </a:solidFill>
                          <a:latin typeface="Calibri"/>
                        </a:rPr>
                        <a:t>Total maximal</a:t>
                      </a:r>
                    </a:p>
                  </a:txBody>
                  <a:tcPr marL="88900" marR="88900" marT="12700" marB="12700" anchor="ctr">
                    <a:solidFill>
                      <a:srgbClr val="E8F5E9"/>
                    </a:solidFill>
                  </a:tcPr>
                </a:tc>
                <a:tc>
                  <a:txBody>
                    <a:bodyPr wrap="square"/>
                    <a:lstStyle/>
                    <a:p>
                      <a:pPr algn="ctr"/>
                      <a:r>
                        <a:rPr sz="1100" b="0">
                          <a:solidFill>
                            <a:srgbClr val="37474F"/>
                          </a:solidFill>
                          <a:latin typeface="Calibri"/>
                        </a:rPr>
                        <a:t>180</a:t>
                      </a:r>
                    </a:p>
                  </a:txBody>
                  <a:tcPr marL="88900" marR="88900" marT="12700" marB="12700" anchor="ctr">
                    <a:solidFill>
                      <a:srgbClr val="E8F5E9"/>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6</a:t>
            </a:r>
          </a:p>
        </p:txBody>
      </p:sp>
      <p:sp>
        <p:nvSpPr>
          <p:cNvPr id="6" name="TextBox 5"/>
          <p:cNvSpPr txBox="1"/>
          <p:nvPr/>
        </p:nvSpPr>
        <p:spPr>
          <a:xfrm>
            <a:off x="1325880" y="365760"/>
            <a:ext cx="10332720" cy="731520"/>
          </a:xfrm>
          <a:prstGeom prst="rect">
            <a:avLst/>
          </a:prstGeom>
          <a:noFill/>
        </p:spPr>
        <p:txBody>
          <a:bodyPr wrap="square" anchor="ctr" lIns="25400" rIns="25400" tIns="25400" bIns="25400">
            <a:spAutoFit/>
          </a:bodyPr>
          <a:lstStyle/>
          <a:p>
            <a:pPr algn="l">
              <a:lnSpc>
                <a:spcPct val="100000"/>
              </a:lnSpc>
              <a:spcAft>
                <a:spcPts val="400"/>
              </a:spcAft>
            </a:pPr>
            <a:r>
              <a:rPr sz="2900" b="1" i="0">
                <a:solidFill>
                  <a:srgbClr val="1B5E20"/>
                </a:solidFill>
                <a:latin typeface="Calibri"/>
              </a:rPr>
              <a:t>Chiffrage des travaux</a:t>
            </a:r>
          </a:p>
        </p:txBody>
      </p:sp>
      <p:sp>
        <p:nvSpPr>
          <p:cNvPr id="7" name="TextBox 6"/>
          <p:cNvSpPr txBox="1"/>
          <p:nvPr/>
        </p:nvSpPr>
        <p:spPr>
          <a:xfrm>
            <a:off x="1325880" y="1060704"/>
            <a:ext cx="10332720" cy="365760"/>
          </a:xfrm>
          <a:prstGeom prst="rect">
            <a:avLst/>
          </a:prstGeom>
          <a:noFill/>
        </p:spPr>
        <p:txBody>
          <a:bodyPr wrap="square" anchor="t" lIns="25400" rIns="25400" tIns="25400" bIns="25400">
            <a:spAutoFit/>
          </a:bodyPr>
          <a:lstStyle/>
          <a:p>
            <a:pPr algn="l">
              <a:lnSpc>
                <a:spcPct val="100000"/>
              </a:lnSpc>
              <a:spcAft>
                <a:spcPts val="400"/>
              </a:spcAft>
            </a:pPr>
            <a:r>
              <a:rPr sz="1400" b="0" i="1">
                <a:solidFill>
                  <a:srgbClr val="90A4AE"/>
                </a:solidFill>
                <a:latin typeface="Calibri"/>
              </a:rPr>
              <a:t>Estimation HT par poste</a:t>
            </a:r>
          </a:p>
        </p:txBody>
      </p:sp>
      <p:sp>
        <p:nvSpPr>
          <p:cNvPr id="8" name="Rectangle 7"/>
          <p:cNvSpPr/>
          <p:nvPr/>
        </p:nvSpPr>
        <p:spPr>
          <a:xfrm>
            <a:off x="1325880" y="1170432"/>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Rénovation énergétique – Saint-Jean-de-Chevelu (73) – Bloc 1</a:t>
            </a:r>
          </a:p>
        </p:txBody>
      </p:sp>
      <p:sp>
        <p:nvSpPr>
          <p:cNvPr id="10" name="TextBox 9"/>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sp>
        <p:nvSpPr>
          <p:cNvPr id="11" name="TextBox 10"/>
          <p:cNvSpPr txBox="1"/>
          <p:nvPr/>
        </p:nvSpPr>
        <p:spPr>
          <a:xfrm>
            <a:off x="822960" y="1554480"/>
            <a:ext cx="5029200" cy="365760"/>
          </a:xfrm>
          <a:prstGeom prst="rect">
            <a:avLst/>
          </a:prstGeom>
          <a:noFill/>
        </p:spPr>
        <p:txBody>
          <a:bodyPr wrap="square" anchor="t" lIns="25400" rIns="25400" tIns="25400" bIns="25400">
            <a:spAutoFit/>
          </a:bodyPr>
          <a:lstStyle/>
          <a:p>
            <a:pPr algn="l">
              <a:lnSpc>
                <a:spcPct val="100000"/>
              </a:lnSpc>
              <a:spcAft>
                <a:spcPts val="400"/>
              </a:spcAft>
            </a:pPr>
            <a:r>
              <a:rPr sz="1600" b="1" i="0">
                <a:solidFill>
                  <a:srgbClr val="1565C0"/>
                </a:solidFill>
                <a:latin typeface="Calibri"/>
              </a:rPr>
              <a:t>Scénario 1 — 24 000 €</a:t>
            </a:r>
          </a:p>
        </p:txBody>
      </p:sp>
      <p:graphicFrame>
        <p:nvGraphicFramePr>
          <p:cNvPr id="12" name="Table 11"/>
          <p:cNvGraphicFramePr>
            <a:graphicFrameLocks noGrp="1"/>
          </p:cNvGraphicFramePr>
          <p:nvPr/>
        </p:nvGraphicFramePr>
        <p:xfrm>
          <a:off x="822960" y="1965960"/>
          <a:ext cx="5029200" cy="2743200"/>
        </p:xfrm>
        <a:graphic>
          <a:graphicData uri="http://schemas.openxmlformats.org/drawingml/2006/table">
            <a:tbl>
              <a:tblPr>
                <a:tableStyleId>{5C22544A-7EE6-4342-B048-85BDC9FD1C3A}</a:tableStyleId>
              </a:tblPr>
              <a:tblGrid>
                <a:gridCol w="3383280"/>
                <a:gridCol w="1645920"/>
              </a:tblGrid>
              <a:tr h="457200">
                <a:tc>
                  <a:txBody>
                    <a:bodyPr wrap="square"/>
                    <a:lstStyle/>
                    <a:p>
                      <a:pPr algn="l"/>
                      <a:r>
                        <a:rPr sz="1200" b="1">
                          <a:solidFill>
                            <a:srgbClr val="FFFFFF"/>
                          </a:solidFill>
                          <a:latin typeface="Calibri"/>
                        </a:rPr>
                        <a:t>Poste</a:t>
                      </a:r>
                    </a:p>
                  </a:txBody>
                  <a:tcPr marL="88900" marR="88900" marT="12700" marB="12700" anchor="ctr">
                    <a:solidFill>
                      <a:srgbClr val="1B5E20"/>
                    </a:solidFill>
                  </a:tcPr>
                </a:tc>
                <a:tc>
                  <a:txBody>
                    <a:bodyPr wrap="square"/>
                    <a:lstStyle/>
                    <a:p>
                      <a:pPr algn="ctr"/>
                      <a:r>
                        <a:rPr sz="1200" b="1">
                          <a:solidFill>
                            <a:srgbClr val="FFFFFF"/>
                          </a:solidFill>
                          <a:latin typeface="Calibri"/>
                        </a:rPr>
                        <a:t>Coût HT</a:t>
                      </a:r>
                    </a:p>
                  </a:txBody>
                  <a:tcPr marL="88900" marR="88900" marT="12700" marB="12700" anchor="ctr">
                    <a:solidFill>
                      <a:srgbClr val="1B5E20"/>
                    </a:solidFill>
                  </a:tcPr>
                </a:tc>
              </a:tr>
              <a:tr h="457200">
                <a:tc>
                  <a:txBody>
                    <a:bodyPr wrap="square"/>
                    <a:lstStyle/>
                    <a:p>
                      <a:pPr algn="l"/>
                      <a:r>
                        <a:rPr sz="1200" b="0">
                          <a:solidFill>
                            <a:srgbClr val="37474F"/>
                          </a:solidFill>
                          <a:latin typeface="Calibri"/>
                        </a:rPr>
                        <a:t>ITE laine de bois 200 mm</a:t>
                      </a:r>
                    </a:p>
                  </a:txBody>
                  <a:tcPr marL="88900" marR="88900" marT="12700" marB="12700" anchor="ctr">
                    <a:solidFill>
                      <a:srgbClr val="FFFFFF"/>
                    </a:solidFill>
                  </a:tcPr>
                </a:tc>
                <a:tc>
                  <a:txBody>
                    <a:bodyPr wrap="square"/>
                    <a:lstStyle/>
                    <a:p>
                      <a:pPr algn="ctr"/>
                      <a:r>
                        <a:rPr sz="1200" b="0">
                          <a:solidFill>
                            <a:srgbClr val="37474F"/>
                          </a:solidFill>
                          <a:latin typeface="Calibri"/>
                        </a:rPr>
                        <a:t>18 000 €</a:t>
                      </a:r>
                    </a:p>
                  </a:txBody>
                  <a:tcPr marL="88900" marR="88900" marT="12700" marB="12700" anchor="ctr">
                    <a:solidFill>
                      <a:srgbClr val="FFFFFF"/>
                    </a:solidFill>
                  </a:tcPr>
                </a:tc>
              </a:tr>
              <a:tr h="457200">
                <a:tc>
                  <a:txBody>
                    <a:bodyPr wrap="square"/>
                    <a:lstStyle/>
                    <a:p>
                      <a:pPr algn="l"/>
                      <a:r>
                        <a:rPr sz="1200" b="0">
                          <a:solidFill>
                            <a:srgbClr val="37474F"/>
                          </a:solidFill>
                          <a:latin typeface="Calibri"/>
                        </a:rPr>
                        <a:t>Isolation combles ouate 400 mm</a:t>
                      </a:r>
                    </a:p>
                  </a:txBody>
                  <a:tcPr marL="88900" marR="88900" marT="12700" marB="12700" anchor="ctr">
                    <a:solidFill>
                      <a:srgbClr val="E8F5E9"/>
                    </a:solidFill>
                  </a:tcPr>
                </a:tc>
                <a:tc>
                  <a:txBody>
                    <a:bodyPr wrap="square"/>
                    <a:lstStyle/>
                    <a:p>
                      <a:pPr algn="ctr"/>
                      <a:r>
                        <a:rPr sz="1200" b="0">
                          <a:solidFill>
                            <a:srgbClr val="37474F"/>
                          </a:solidFill>
                          <a:latin typeface="Calibri"/>
                        </a:rPr>
                        <a:t>2 500 €</a:t>
                      </a:r>
                    </a:p>
                  </a:txBody>
                  <a:tcPr marL="88900" marR="88900" marT="12700" marB="12700" anchor="ctr">
                    <a:solidFill>
                      <a:srgbClr val="E8F5E9"/>
                    </a:solidFill>
                  </a:tcPr>
                </a:tc>
              </a:tr>
              <a:tr h="457200">
                <a:tc>
                  <a:txBody>
                    <a:bodyPr wrap="square"/>
                    <a:lstStyle/>
                    <a:p>
                      <a:pPr algn="l"/>
                      <a:r>
                        <a:rPr sz="1200" b="0">
                          <a:solidFill>
                            <a:srgbClr val="37474F"/>
                          </a:solidFill>
                          <a:latin typeface="Calibri"/>
                        </a:rPr>
                        <a:t>VMC Hygro B</a:t>
                      </a:r>
                    </a:p>
                  </a:txBody>
                  <a:tcPr marL="88900" marR="88900" marT="12700" marB="12700" anchor="ctr">
                    <a:solidFill>
                      <a:srgbClr val="FFFFFF"/>
                    </a:solidFill>
                  </a:tcPr>
                </a:tc>
                <a:tc>
                  <a:txBody>
                    <a:bodyPr wrap="square"/>
                    <a:lstStyle/>
                    <a:p>
                      <a:pPr algn="ctr"/>
                      <a:r>
                        <a:rPr sz="1200" b="0">
                          <a:solidFill>
                            <a:srgbClr val="37474F"/>
                          </a:solidFill>
                          <a:latin typeface="Calibri"/>
                        </a:rPr>
                        <a:t>2 000 €</a:t>
                      </a:r>
                    </a:p>
                  </a:txBody>
                  <a:tcPr marL="88900" marR="88900" marT="12700" marB="12700" anchor="ctr">
                    <a:solidFill>
                      <a:srgbClr val="FFFFFF"/>
                    </a:solidFill>
                  </a:tcPr>
                </a:tc>
              </a:tr>
              <a:tr h="457200">
                <a:tc>
                  <a:txBody>
                    <a:bodyPr wrap="square"/>
                    <a:lstStyle/>
                    <a:p>
                      <a:pPr algn="l"/>
                      <a:r>
                        <a:rPr sz="1200" b="0">
                          <a:solidFill>
                            <a:srgbClr val="37474F"/>
                          </a:solidFill>
                          <a:latin typeface="Calibri"/>
                        </a:rPr>
                        <a:t>Divers et raccordements</a:t>
                      </a:r>
                    </a:p>
                  </a:txBody>
                  <a:tcPr marL="88900" marR="88900" marT="12700" marB="12700" anchor="ctr">
                    <a:solidFill>
                      <a:srgbClr val="E8F5E9"/>
                    </a:solidFill>
                  </a:tcPr>
                </a:tc>
                <a:tc>
                  <a:txBody>
                    <a:bodyPr wrap="square"/>
                    <a:lstStyle/>
                    <a:p>
                      <a:pPr algn="ctr"/>
                      <a:r>
                        <a:rPr sz="1200" b="0">
                          <a:solidFill>
                            <a:srgbClr val="37474F"/>
                          </a:solidFill>
                          <a:latin typeface="Calibri"/>
                        </a:rPr>
                        <a:t>1 500 €</a:t>
                      </a:r>
                    </a:p>
                  </a:txBody>
                  <a:tcPr marL="88900" marR="88900" marT="12700" marB="12700" anchor="ctr">
                    <a:solidFill>
                      <a:srgbClr val="E8F5E9"/>
                    </a:solidFill>
                  </a:tcPr>
                </a:tc>
              </a:tr>
              <a:tr h="457200">
                <a:tc>
                  <a:txBody>
                    <a:bodyPr wrap="square"/>
                    <a:lstStyle/>
                    <a:p>
                      <a:pPr algn="l"/>
                      <a:r>
                        <a:rPr sz="1200" b="0">
                          <a:solidFill>
                            <a:srgbClr val="37474F"/>
                          </a:solidFill>
                          <a:latin typeface="Calibri"/>
                        </a:rPr>
                        <a:t>Total</a:t>
                      </a:r>
                    </a:p>
                  </a:txBody>
                  <a:tcPr marL="88900" marR="88900" marT="12700" marB="12700" anchor="ctr">
                    <a:solidFill>
                      <a:srgbClr val="FFFFFF"/>
                    </a:solidFill>
                  </a:tcPr>
                </a:tc>
                <a:tc>
                  <a:txBody>
                    <a:bodyPr wrap="square"/>
                    <a:lstStyle/>
                    <a:p>
                      <a:pPr algn="ctr"/>
                      <a:r>
                        <a:rPr sz="1200" b="0">
                          <a:solidFill>
                            <a:srgbClr val="37474F"/>
                          </a:solidFill>
                          <a:latin typeface="Calibri"/>
                        </a:rPr>
                        <a:t>24 000 €</a:t>
                      </a:r>
                    </a:p>
                  </a:txBody>
                  <a:tcPr marL="88900" marR="88900" marT="12700" marB="12700" anchor="ctr">
                    <a:solidFill>
                      <a:srgbClr val="FFFFFF"/>
                    </a:solidFill>
                  </a:tcPr>
                </a:tc>
              </a:tr>
            </a:tbl>
          </a:graphicData>
        </a:graphic>
      </p:graphicFrame>
      <p:sp>
        <p:nvSpPr>
          <p:cNvPr id="13" name="TextBox 12"/>
          <p:cNvSpPr txBox="1"/>
          <p:nvPr/>
        </p:nvSpPr>
        <p:spPr>
          <a:xfrm>
            <a:off x="6217920" y="1554480"/>
            <a:ext cx="5029200" cy="365760"/>
          </a:xfrm>
          <a:prstGeom prst="rect">
            <a:avLst/>
          </a:prstGeom>
          <a:noFill/>
        </p:spPr>
        <p:txBody>
          <a:bodyPr wrap="square" anchor="t" lIns="25400" rIns="25400" tIns="25400" bIns="25400">
            <a:spAutoFit/>
          </a:bodyPr>
          <a:lstStyle/>
          <a:p>
            <a:pPr algn="l">
              <a:lnSpc>
                <a:spcPct val="100000"/>
              </a:lnSpc>
              <a:spcAft>
                <a:spcPts val="400"/>
              </a:spcAft>
            </a:pPr>
            <a:r>
              <a:rPr sz="1600" b="1" i="0">
                <a:solidFill>
                  <a:srgbClr val="1B5E20"/>
                </a:solidFill>
                <a:latin typeface="Calibri"/>
              </a:rPr>
              <a:t>Scénario 2 — 40 000 €</a:t>
            </a:r>
          </a:p>
        </p:txBody>
      </p:sp>
      <p:graphicFrame>
        <p:nvGraphicFramePr>
          <p:cNvPr id="14" name="Table 13"/>
          <p:cNvGraphicFramePr>
            <a:graphicFrameLocks noGrp="1"/>
          </p:cNvGraphicFramePr>
          <p:nvPr/>
        </p:nvGraphicFramePr>
        <p:xfrm>
          <a:off x="6217920" y="1965960"/>
          <a:ext cx="5120640" cy="3438144"/>
        </p:xfrm>
        <a:graphic>
          <a:graphicData uri="http://schemas.openxmlformats.org/drawingml/2006/table">
            <a:tbl>
              <a:tblPr>
                <a:tableStyleId>{5C22544A-7EE6-4342-B048-85BDC9FD1C3A}</a:tableStyleId>
              </a:tblPr>
              <a:tblGrid>
                <a:gridCol w="3474720"/>
                <a:gridCol w="1645920"/>
              </a:tblGrid>
              <a:tr h="429768">
                <a:tc>
                  <a:txBody>
                    <a:bodyPr wrap="square"/>
                    <a:lstStyle/>
                    <a:p>
                      <a:pPr algn="l"/>
                      <a:r>
                        <a:rPr sz="1200" b="1">
                          <a:solidFill>
                            <a:srgbClr val="FFFFFF"/>
                          </a:solidFill>
                          <a:latin typeface="Calibri"/>
                        </a:rPr>
                        <a:t>Poste</a:t>
                      </a:r>
                    </a:p>
                  </a:txBody>
                  <a:tcPr marL="88900" marR="88900" marT="12700" marB="12700" anchor="ctr">
                    <a:solidFill>
                      <a:srgbClr val="1B5E20"/>
                    </a:solidFill>
                  </a:tcPr>
                </a:tc>
                <a:tc>
                  <a:txBody>
                    <a:bodyPr wrap="square"/>
                    <a:lstStyle/>
                    <a:p>
                      <a:pPr algn="ctr"/>
                      <a:r>
                        <a:rPr sz="1200" b="1">
                          <a:solidFill>
                            <a:srgbClr val="FFFFFF"/>
                          </a:solidFill>
                          <a:latin typeface="Calibri"/>
                        </a:rPr>
                        <a:t>Coût HT</a:t>
                      </a:r>
                    </a:p>
                  </a:txBody>
                  <a:tcPr marL="88900" marR="88900" marT="12700" marB="12700" anchor="ctr">
                    <a:solidFill>
                      <a:srgbClr val="1B5E20"/>
                    </a:solidFill>
                  </a:tcPr>
                </a:tc>
              </a:tr>
              <a:tr h="429768">
                <a:tc>
                  <a:txBody>
                    <a:bodyPr wrap="square"/>
                    <a:lstStyle/>
                    <a:p>
                      <a:pPr algn="l"/>
                      <a:r>
                        <a:rPr sz="1150" b="0">
                          <a:solidFill>
                            <a:srgbClr val="37474F"/>
                          </a:solidFill>
                          <a:latin typeface="Calibri"/>
                        </a:rPr>
                        <a:t>ITE laine de bois 200 mm</a:t>
                      </a:r>
                    </a:p>
                  </a:txBody>
                  <a:tcPr marL="88900" marR="88900" marT="12700" marB="12700" anchor="ctr">
                    <a:solidFill>
                      <a:srgbClr val="FFFFFF"/>
                    </a:solidFill>
                  </a:tcPr>
                </a:tc>
                <a:tc>
                  <a:txBody>
                    <a:bodyPr wrap="square"/>
                    <a:lstStyle/>
                    <a:p>
                      <a:pPr algn="ctr"/>
                      <a:r>
                        <a:rPr sz="1150" b="0">
                          <a:solidFill>
                            <a:srgbClr val="37474F"/>
                          </a:solidFill>
                          <a:latin typeface="Calibri"/>
                        </a:rPr>
                        <a:t>18 000 €</a:t>
                      </a:r>
                    </a:p>
                  </a:txBody>
                  <a:tcPr marL="88900" marR="88900" marT="12700" marB="12700" anchor="ctr">
                    <a:solidFill>
                      <a:srgbClr val="FFFFFF"/>
                    </a:solidFill>
                  </a:tcPr>
                </a:tc>
              </a:tr>
              <a:tr h="429768">
                <a:tc>
                  <a:txBody>
                    <a:bodyPr wrap="square"/>
                    <a:lstStyle/>
                    <a:p>
                      <a:pPr algn="l"/>
                      <a:r>
                        <a:rPr sz="1150" b="0">
                          <a:solidFill>
                            <a:srgbClr val="37474F"/>
                          </a:solidFill>
                          <a:latin typeface="Calibri"/>
                        </a:rPr>
                        <a:t>Isolation combles ouate 400 mm</a:t>
                      </a:r>
                    </a:p>
                  </a:txBody>
                  <a:tcPr marL="88900" marR="88900" marT="12700" marB="12700" anchor="ctr">
                    <a:solidFill>
                      <a:srgbClr val="E8F5E9"/>
                    </a:solidFill>
                  </a:tcPr>
                </a:tc>
                <a:tc>
                  <a:txBody>
                    <a:bodyPr wrap="square"/>
                    <a:lstStyle/>
                    <a:p>
                      <a:pPr algn="ctr"/>
                      <a:r>
                        <a:rPr sz="1150" b="0">
                          <a:solidFill>
                            <a:srgbClr val="37474F"/>
                          </a:solidFill>
                          <a:latin typeface="Calibri"/>
                        </a:rPr>
                        <a:t>2 500 €</a:t>
                      </a:r>
                    </a:p>
                  </a:txBody>
                  <a:tcPr marL="88900" marR="88900" marT="12700" marB="12700" anchor="ctr">
                    <a:solidFill>
                      <a:srgbClr val="E8F5E9"/>
                    </a:solidFill>
                  </a:tcPr>
                </a:tc>
              </a:tr>
              <a:tr h="429768">
                <a:tc>
                  <a:txBody>
                    <a:bodyPr wrap="square"/>
                    <a:lstStyle/>
                    <a:p>
                      <a:pPr algn="l"/>
                      <a:r>
                        <a:rPr sz="1150" b="0">
                          <a:solidFill>
                            <a:srgbClr val="37474F"/>
                          </a:solidFill>
                          <a:latin typeface="Calibri"/>
                        </a:rPr>
                        <a:t>VMC Hygro B</a:t>
                      </a:r>
                    </a:p>
                  </a:txBody>
                  <a:tcPr marL="88900" marR="88900" marT="12700" marB="12700" anchor="ctr">
                    <a:solidFill>
                      <a:srgbClr val="FFFFFF"/>
                    </a:solidFill>
                  </a:tcPr>
                </a:tc>
                <a:tc>
                  <a:txBody>
                    <a:bodyPr wrap="square"/>
                    <a:lstStyle/>
                    <a:p>
                      <a:pPr algn="ctr"/>
                      <a:r>
                        <a:rPr sz="1150" b="0">
                          <a:solidFill>
                            <a:srgbClr val="37474F"/>
                          </a:solidFill>
                          <a:latin typeface="Calibri"/>
                        </a:rPr>
                        <a:t>2 000 €</a:t>
                      </a:r>
                    </a:p>
                  </a:txBody>
                  <a:tcPr marL="88900" marR="88900" marT="12700" marB="12700" anchor="ctr">
                    <a:solidFill>
                      <a:srgbClr val="FFFFFF"/>
                    </a:solidFill>
                  </a:tcPr>
                </a:tc>
              </a:tr>
              <a:tr h="429768">
                <a:tc>
                  <a:txBody>
                    <a:bodyPr wrap="square"/>
                    <a:lstStyle/>
                    <a:p>
                      <a:pPr algn="l"/>
                      <a:r>
                        <a:rPr sz="1150" b="0">
                          <a:solidFill>
                            <a:srgbClr val="37474F"/>
                          </a:solidFill>
                          <a:latin typeface="Calibri"/>
                        </a:rPr>
                        <a:t>Chaudière à granulés 12 kW</a:t>
                      </a:r>
                    </a:p>
                  </a:txBody>
                  <a:tcPr marL="88900" marR="88900" marT="12700" marB="12700" anchor="ctr">
                    <a:solidFill>
                      <a:srgbClr val="E8F5E9"/>
                    </a:solidFill>
                  </a:tcPr>
                </a:tc>
                <a:tc>
                  <a:txBody>
                    <a:bodyPr wrap="square"/>
                    <a:lstStyle/>
                    <a:p>
                      <a:pPr algn="ctr"/>
                      <a:r>
                        <a:rPr sz="1150" b="0">
                          <a:solidFill>
                            <a:srgbClr val="37474F"/>
                          </a:solidFill>
                          <a:latin typeface="Calibri"/>
                        </a:rPr>
                        <a:t>13 000 €</a:t>
                      </a:r>
                    </a:p>
                  </a:txBody>
                  <a:tcPr marL="88900" marR="88900" marT="12700" marB="12700" anchor="ctr">
                    <a:solidFill>
                      <a:srgbClr val="E8F5E9"/>
                    </a:solidFill>
                  </a:tcPr>
                </a:tc>
              </a:tr>
              <a:tr h="429768">
                <a:tc>
                  <a:txBody>
                    <a:bodyPr wrap="square"/>
                    <a:lstStyle/>
                    <a:p>
                      <a:pPr algn="l"/>
                      <a:r>
                        <a:rPr sz="1150" b="0">
                          <a:solidFill>
                            <a:srgbClr val="37474F"/>
                          </a:solidFill>
                          <a:latin typeface="Calibri"/>
                        </a:rPr>
                        <a:t>Silo de stockage</a:t>
                      </a:r>
                    </a:p>
                  </a:txBody>
                  <a:tcPr marL="88900" marR="88900" marT="12700" marB="12700" anchor="ctr">
                    <a:solidFill>
                      <a:srgbClr val="FFFFFF"/>
                    </a:solidFill>
                  </a:tcPr>
                </a:tc>
                <a:tc>
                  <a:txBody>
                    <a:bodyPr wrap="square"/>
                    <a:lstStyle/>
                    <a:p>
                      <a:pPr algn="ctr"/>
                      <a:r>
                        <a:rPr sz="1150" b="0">
                          <a:solidFill>
                            <a:srgbClr val="37474F"/>
                          </a:solidFill>
                          <a:latin typeface="Calibri"/>
                        </a:rPr>
                        <a:t>2 500 €</a:t>
                      </a:r>
                    </a:p>
                  </a:txBody>
                  <a:tcPr marL="88900" marR="88900" marT="12700" marB="12700" anchor="ctr">
                    <a:solidFill>
                      <a:srgbClr val="FFFFFF"/>
                    </a:solidFill>
                  </a:tcPr>
                </a:tc>
              </a:tr>
              <a:tr h="429768">
                <a:tc>
                  <a:txBody>
                    <a:bodyPr wrap="square"/>
                    <a:lstStyle/>
                    <a:p>
                      <a:pPr algn="l"/>
                      <a:r>
                        <a:rPr sz="1150" b="0">
                          <a:solidFill>
                            <a:srgbClr val="37474F"/>
                          </a:solidFill>
                          <a:latin typeface="Calibri"/>
                        </a:rPr>
                        <a:t>Divers et raccordements</a:t>
                      </a:r>
                    </a:p>
                  </a:txBody>
                  <a:tcPr marL="88900" marR="88900" marT="12700" marB="12700" anchor="ctr">
                    <a:solidFill>
                      <a:srgbClr val="E8F5E9"/>
                    </a:solidFill>
                  </a:tcPr>
                </a:tc>
                <a:tc>
                  <a:txBody>
                    <a:bodyPr wrap="square"/>
                    <a:lstStyle/>
                    <a:p>
                      <a:pPr algn="ctr"/>
                      <a:r>
                        <a:rPr sz="1150" b="0">
                          <a:solidFill>
                            <a:srgbClr val="37474F"/>
                          </a:solidFill>
                          <a:latin typeface="Calibri"/>
                        </a:rPr>
                        <a:t>2 000 €</a:t>
                      </a:r>
                    </a:p>
                  </a:txBody>
                  <a:tcPr marL="88900" marR="88900" marT="12700" marB="12700" anchor="ctr">
                    <a:solidFill>
                      <a:srgbClr val="E8F5E9"/>
                    </a:solidFill>
                  </a:tcPr>
                </a:tc>
              </a:tr>
              <a:tr h="429768">
                <a:tc>
                  <a:txBody>
                    <a:bodyPr wrap="square"/>
                    <a:lstStyle/>
                    <a:p>
                      <a:pPr algn="l"/>
                      <a:r>
                        <a:rPr sz="1150" b="0">
                          <a:solidFill>
                            <a:srgbClr val="37474F"/>
                          </a:solidFill>
                          <a:latin typeface="Calibri"/>
                        </a:rPr>
                        <a:t>Total</a:t>
                      </a:r>
                    </a:p>
                  </a:txBody>
                  <a:tcPr marL="88900" marR="88900" marT="12700" marB="12700" anchor="ctr">
                    <a:solidFill>
                      <a:srgbClr val="FFFFFF"/>
                    </a:solidFill>
                  </a:tcPr>
                </a:tc>
                <a:tc>
                  <a:txBody>
                    <a:bodyPr wrap="square"/>
                    <a:lstStyle/>
                    <a:p>
                      <a:pPr algn="ctr"/>
                      <a:r>
                        <a:rPr sz="1150" b="0">
                          <a:solidFill>
                            <a:srgbClr val="37474F"/>
                          </a:solidFill>
                          <a:latin typeface="Calibri"/>
                        </a:rPr>
                        <a:t>40 000 €</a:t>
                      </a:r>
                    </a:p>
                  </a:txBody>
                  <a:tcPr marL="88900" marR="88900" marT="12700" marB="12700" anchor="ctr">
                    <a:solidFill>
                      <a:srgbClr val="FFFFFF"/>
                    </a:solidFill>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6</a:t>
            </a:r>
          </a:p>
        </p:txBody>
      </p:sp>
      <p:sp>
        <p:nvSpPr>
          <p:cNvPr id="6" name="TextBox 5"/>
          <p:cNvSpPr txBox="1"/>
          <p:nvPr/>
        </p:nvSpPr>
        <p:spPr>
          <a:xfrm>
            <a:off x="1325880" y="365760"/>
            <a:ext cx="10332720" cy="731520"/>
          </a:xfrm>
          <a:prstGeom prst="rect">
            <a:avLst/>
          </a:prstGeom>
          <a:noFill/>
        </p:spPr>
        <p:txBody>
          <a:bodyPr wrap="square" anchor="ctr" lIns="25400" rIns="25400" tIns="25400" bIns="25400">
            <a:spAutoFit/>
          </a:bodyPr>
          <a:lstStyle/>
          <a:p>
            <a:pPr algn="l">
              <a:lnSpc>
                <a:spcPct val="100000"/>
              </a:lnSpc>
              <a:spcAft>
                <a:spcPts val="400"/>
              </a:spcAft>
            </a:pPr>
            <a:r>
              <a:rPr sz="2900" b="1" i="0">
                <a:solidFill>
                  <a:srgbClr val="1B5E20"/>
                </a:solidFill>
                <a:latin typeface="Calibri"/>
              </a:rPr>
              <a:t>Plan de financement</a:t>
            </a:r>
          </a:p>
        </p:txBody>
      </p:sp>
      <p:sp>
        <p:nvSpPr>
          <p:cNvPr id="7" name="TextBox 6"/>
          <p:cNvSpPr txBox="1"/>
          <p:nvPr/>
        </p:nvSpPr>
        <p:spPr>
          <a:xfrm>
            <a:off x="1325880" y="1060704"/>
            <a:ext cx="10332720" cy="365760"/>
          </a:xfrm>
          <a:prstGeom prst="rect">
            <a:avLst/>
          </a:prstGeom>
          <a:noFill/>
        </p:spPr>
        <p:txBody>
          <a:bodyPr wrap="square" anchor="t" lIns="25400" rIns="25400" tIns="25400" bIns="25400">
            <a:spAutoFit/>
          </a:bodyPr>
          <a:lstStyle/>
          <a:p>
            <a:pPr algn="l">
              <a:lnSpc>
                <a:spcPct val="100000"/>
              </a:lnSpc>
              <a:spcAft>
                <a:spcPts val="400"/>
              </a:spcAft>
            </a:pPr>
            <a:r>
              <a:rPr sz="1400" b="0" i="1">
                <a:solidFill>
                  <a:srgbClr val="90A4AE"/>
                </a:solidFill>
                <a:latin typeface="Calibri"/>
              </a:rPr>
              <a:t>Aides mobilisables &amp; reste à charge</a:t>
            </a:r>
          </a:p>
        </p:txBody>
      </p:sp>
      <p:sp>
        <p:nvSpPr>
          <p:cNvPr id="8" name="Rectangle 7"/>
          <p:cNvSpPr/>
          <p:nvPr/>
        </p:nvSpPr>
        <p:spPr>
          <a:xfrm>
            <a:off x="1325880" y="1170432"/>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Rénovation énergétique – Saint-Jean-de-Chevelu (73) – Bloc 1</a:t>
            </a:r>
          </a:p>
        </p:txBody>
      </p:sp>
      <p:sp>
        <p:nvSpPr>
          <p:cNvPr id="10" name="TextBox 9"/>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graphicFrame>
        <p:nvGraphicFramePr>
          <p:cNvPr id="11" name="Table 10"/>
          <p:cNvGraphicFramePr>
            <a:graphicFrameLocks noGrp="1"/>
          </p:cNvGraphicFramePr>
          <p:nvPr/>
        </p:nvGraphicFramePr>
        <p:xfrm>
          <a:off x="822960" y="1737360"/>
          <a:ext cx="5029200" cy="2514600"/>
        </p:xfrm>
        <a:graphic>
          <a:graphicData uri="http://schemas.openxmlformats.org/drawingml/2006/table">
            <a:tbl>
              <a:tblPr>
                <a:tableStyleId>{5C22544A-7EE6-4342-B048-85BDC9FD1C3A}</a:tableStyleId>
              </a:tblPr>
              <a:tblGrid>
                <a:gridCol w="3200400"/>
                <a:gridCol w="1828800"/>
              </a:tblGrid>
              <a:tr h="502920">
                <a:tc>
                  <a:txBody>
                    <a:bodyPr wrap="square"/>
                    <a:lstStyle/>
                    <a:p>
                      <a:pPr algn="l"/>
                      <a:r>
                        <a:rPr sz="1300" b="1">
                          <a:solidFill>
                            <a:srgbClr val="FFFFFF"/>
                          </a:solidFill>
                          <a:latin typeface="Calibri"/>
                        </a:rPr>
                        <a:t>Scénario 1</a:t>
                      </a:r>
                    </a:p>
                  </a:txBody>
                  <a:tcPr marL="88900" marR="88900" marT="12700" marB="12700" anchor="ctr">
                    <a:solidFill>
                      <a:srgbClr val="1B5E20"/>
                    </a:solidFill>
                  </a:tcPr>
                </a:tc>
                <a:tc>
                  <a:txBody>
                    <a:bodyPr wrap="square"/>
                    <a:lstStyle/>
                    <a:p>
                      <a:pPr algn="ctr"/>
                      <a:r>
                        <a:rPr sz="1300" b="1">
                          <a:solidFill>
                            <a:srgbClr val="FFFFFF"/>
                          </a:solidFill>
                          <a:latin typeface="Calibri"/>
                        </a:rPr>
                        <a:t>Montant</a:t>
                      </a:r>
                    </a:p>
                  </a:txBody>
                  <a:tcPr marL="88900" marR="88900" marT="12700" marB="12700" anchor="ctr">
                    <a:solidFill>
                      <a:srgbClr val="1B5E20"/>
                    </a:solidFill>
                  </a:tcPr>
                </a:tc>
              </a:tr>
              <a:tr h="502920">
                <a:tc>
                  <a:txBody>
                    <a:bodyPr wrap="square"/>
                    <a:lstStyle/>
                    <a:p>
                      <a:pPr algn="l"/>
                      <a:r>
                        <a:rPr sz="1200" b="0">
                          <a:solidFill>
                            <a:srgbClr val="37474F"/>
                          </a:solidFill>
                          <a:latin typeface="Calibri"/>
                        </a:rPr>
                        <a:t>Coût total des travaux</a:t>
                      </a:r>
                    </a:p>
                  </a:txBody>
                  <a:tcPr marL="88900" marR="88900" marT="12700" marB="12700" anchor="ctr">
                    <a:solidFill>
                      <a:srgbClr val="FFFFFF"/>
                    </a:solidFill>
                  </a:tcPr>
                </a:tc>
                <a:tc>
                  <a:txBody>
                    <a:bodyPr wrap="square"/>
                    <a:lstStyle/>
                    <a:p>
                      <a:pPr algn="ctr"/>
                      <a:r>
                        <a:rPr sz="1200" b="0">
                          <a:solidFill>
                            <a:srgbClr val="37474F"/>
                          </a:solidFill>
                          <a:latin typeface="Calibri"/>
                        </a:rPr>
                        <a:t>24 000 €</a:t>
                      </a:r>
                    </a:p>
                  </a:txBody>
                  <a:tcPr marL="88900" marR="88900" marT="12700" marB="12700" anchor="ctr">
                    <a:solidFill>
                      <a:srgbClr val="FFFFFF"/>
                    </a:solidFill>
                  </a:tcPr>
                </a:tc>
              </a:tr>
              <a:tr h="502920">
                <a:tc>
                  <a:txBody>
                    <a:bodyPr wrap="square"/>
                    <a:lstStyle/>
                    <a:p>
                      <a:pPr algn="l"/>
                      <a:r>
                        <a:rPr sz="1200" b="0">
                          <a:solidFill>
                            <a:srgbClr val="37474F"/>
                          </a:solidFill>
                          <a:latin typeface="Calibri"/>
                        </a:rPr>
                        <a:t>MaPrimeRénov’</a:t>
                      </a:r>
                    </a:p>
                  </a:txBody>
                  <a:tcPr marL="88900" marR="88900" marT="12700" marB="12700" anchor="ctr">
                    <a:solidFill>
                      <a:srgbClr val="E8F5E9"/>
                    </a:solidFill>
                  </a:tcPr>
                </a:tc>
                <a:tc>
                  <a:txBody>
                    <a:bodyPr wrap="square"/>
                    <a:lstStyle/>
                    <a:p>
                      <a:pPr algn="ctr"/>
                      <a:r>
                        <a:rPr sz="1200" b="0">
                          <a:solidFill>
                            <a:srgbClr val="37474F"/>
                          </a:solidFill>
                          <a:latin typeface="Calibri"/>
                        </a:rPr>
                        <a:t>− 5 000 €</a:t>
                      </a:r>
                    </a:p>
                  </a:txBody>
                  <a:tcPr marL="88900" marR="88900" marT="12700" marB="12700" anchor="ctr">
                    <a:solidFill>
                      <a:srgbClr val="E8F5E9"/>
                    </a:solidFill>
                  </a:tcPr>
                </a:tc>
              </a:tr>
              <a:tr h="502920">
                <a:tc>
                  <a:txBody>
                    <a:bodyPr wrap="square"/>
                    <a:lstStyle/>
                    <a:p>
                      <a:pPr algn="l"/>
                      <a:r>
                        <a:rPr sz="1200" b="0">
                          <a:solidFill>
                            <a:srgbClr val="37474F"/>
                          </a:solidFill>
                          <a:latin typeface="Calibri"/>
                        </a:rPr>
                        <a:t>CEE</a:t>
                      </a:r>
                    </a:p>
                  </a:txBody>
                  <a:tcPr marL="88900" marR="88900" marT="12700" marB="12700" anchor="ctr">
                    <a:solidFill>
                      <a:srgbClr val="FFFFFF"/>
                    </a:solidFill>
                  </a:tcPr>
                </a:tc>
                <a:tc>
                  <a:txBody>
                    <a:bodyPr wrap="square"/>
                    <a:lstStyle/>
                    <a:p>
                      <a:pPr algn="ctr"/>
                      <a:r>
                        <a:rPr sz="1200" b="0">
                          <a:solidFill>
                            <a:srgbClr val="37474F"/>
                          </a:solidFill>
                          <a:latin typeface="Calibri"/>
                        </a:rPr>
                        <a:t>− 2 000 €</a:t>
                      </a:r>
                    </a:p>
                  </a:txBody>
                  <a:tcPr marL="88900" marR="88900" marT="12700" marB="12700" anchor="ctr">
                    <a:solidFill>
                      <a:srgbClr val="FFFFFF"/>
                    </a:solidFill>
                  </a:tcPr>
                </a:tc>
              </a:tr>
              <a:tr h="502920">
                <a:tc>
                  <a:txBody>
                    <a:bodyPr wrap="square"/>
                    <a:lstStyle/>
                    <a:p>
                      <a:pPr algn="l"/>
                      <a:r>
                        <a:rPr sz="1200" b="0">
                          <a:solidFill>
                            <a:srgbClr val="37474F"/>
                          </a:solidFill>
                          <a:latin typeface="Calibri"/>
                        </a:rPr>
                        <a:t>Reste à charge</a:t>
                      </a:r>
                    </a:p>
                  </a:txBody>
                  <a:tcPr marL="88900" marR="88900" marT="12700" marB="12700" anchor="ctr">
                    <a:solidFill>
                      <a:srgbClr val="E8F5E9"/>
                    </a:solidFill>
                  </a:tcPr>
                </a:tc>
                <a:tc>
                  <a:txBody>
                    <a:bodyPr wrap="square"/>
                    <a:lstStyle/>
                    <a:p>
                      <a:pPr algn="ctr"/>
                      <a:r>
                        <a:rPr sz="1200" b="0">
                          <a:solidFill>
                            <a:srgbClr val="37474F"/>
                          </a:solidFill>
                          <a:latin typeface="Calibri"/>
                        </a:rPr>
                        <a:t>17 000 €</a:t>
                      </a:r>
                    </a:p>
                  </a:txBody>
                  <a:tcPr marL="88900" marR="88900" marT="12700" marB="12700" anchor="ctr">
                    <a:solidFill>
                      <a:srgbClr val="E8F5E9"/>
                    </a:solidFill>
                  </a:tcPr>
                </a:tc>
              </a:tr>
            </a:tbl>
          </a:graphicData>
        </a:graphic>
      </p:graphicFrame>
      <p:graphicFrame>
        <p:nvGraphicFramePr>
          <p:cNvPr id="12" name="Table 11"/>
          <p:cNvGraphicFramePr>
            <a:graphicFrameLocks noGrp="1"/>
          </p:cNvGraphicFramePr>
          <p:nvPr/>
        </p:nvGraphicFramePr>
        <p:xfrm>
          <a:off x="6217920" y="1737360"/>
          <a:ext cx="5029200" cy="2743200"/>
        </p:xfrm>
        <a:graphic>
          <a:graphicData uri="http://schemas.openxmlformats.org/drawingml/2006/table">
            <a:tbl>
              <a:tblPr>
                <a:tableStyleId>{5C22544A-7EE6-4342-B048-85BDC9FD1C3A}</a:tableStyleId>
              </a:tblPr>
              <a:tblGrid>
                <a:gridCol w="3200400"/>
                <a:gridCol w="1828800"/>
              </a:tblGrid>
              <a:tr h="457200">
                <a:tc>
                  <a:txBody>
                    <a:bodyPr wrap="square"/>
                    <a:lstStyle/>
                    <a:p>
                      <a:pPr algn="l"/>
                      <a:r>
                        <a:rPr sz="1300" b="1">
                          <a:solidFill>
                            <a:srgbClr val="FFFFFF"/>
                          </a:solidFill>
                          <a:latin typeface="Calibri"/>
                        </a:rPr>
                        <a:t>Scénario 2</a:t>
                      </a:r>
                    </a:p>
                  </a:txBody>
                  <a:tcPr marL="88900" marR="88900" marT="12700" marB="12700" anchor="ctr">
                    <a:solidFill>
                      <a:srgbClr val="1B5E20"/>
                    </a:solidFill>
                  </a:tcPr>
                </a:tc>
                <a:tc>
                  <a:txBody>
                    <a:bodyPr wrap="square"/>
                    <a:lstStyle/>
                    <a:p>
                      <a:pPr algn="ctr"/>
                      <a:r>
                        <a:rPr sz="1300" b="1">
                          <a:solidFill>
                            <a:srgbClr val="FFFFFF"/>
                          </a:solidFill>
                          <a:latin typeface="Calibri"/>
                        </a:rPr>
                        <a:t>Montant</a:t>
                      </a:r>
                    </a:p>
                  </a:txBody>
                  <a:tcPr marL="88900" marR="88900" marT="12700" marB="12700" anchor="ctr">
                    <a:solidFill>
                      <a:srgbClr val="1B5E20"/>
                    </a:solidFill>
                  </a:tcPr>
                </a:tc>
              </a:tr>
              <a:tr h="457200">
                <a:tc>
                  <a:txBody>
                    <a:bodyPr wrap="square"/>
                    <a:lstStyle/>
                    <a:p>
                      <a:pPr algn="l"/>
                      <a:r>
                        <a:rPr sz="1200" b="0">
                          <a:solidFill>
                            <a:srgbClr val="37474F"/>
                          </a:solidFill>
                          <a:latin typeface="Calibri"/>
                        </a:rPr>
                        <a:t>Coût total des travaux</a:t>
                      </a:r>
                    </a:p>
                  </a:txBody>
                  <a:tcPr marL="88900" marR="88900" marT="12700" marB="12700" anchor="ctr">
                    <a:solidFill>
                      <a:srgbClr val="FFFFFF"/>
                    </a:solidFill>
                  </a:tcPr>
                </a:tc>
                <a:tc>
                  <a:txBody>
                    <a:bodyPr wrap="square"/>
                    <a:lstStyle/>
                    <a:p>
                      <a:pPr algn="ctr"/>
                      <a:r>
                        <a:rPr sz="1200" b="0">
                          <a:solidFill>
                            <a:srgbClr val="37474F"/>
                          </a:solidFill>
                          <a:latin typeface="Calibri"/>
                        </a:rPr>
                        <a:t>40 000 €</a:t>
                      </a:r>
                    </a:p>
                  </a:txBody>
                  <a:tcPr marL="88900" marR="88900" marT="12700" marB="12700" anchor="ctr">
                    <a:solidFill>
                      <a:srgbClr val="FFFFFF"/>
                    </a:solidFill>
                  </a:tcPr>
                </a:tc>
              </a:tr>
              <a:tr h="457200">
                <a:tc>
                  <a:txBody>
                    <a:bodyPr wrap="square"/>
                    <a:lstStyle/>
                    <a:p>
                      <a:pPr algn="l"/>
                      <a:r>
                        <a:rPr sz="1200" b="0">
                          <a:solidFill>
                            <a:srgbClr val="37474F"/>
                          </a:solidFill>
                          <a:latin typeface="Calibri"/>
                        </a:rPr>
                        <a:t>MaPrimeRénov’</a:t>
                      </a:r>
                    </a:p>
                  </a:txBody>
                  <a:tcPr marL="88900" marR="88900" marT="12700" marB="12700" anchor="ctr">
                    <a:solidFill>
                      <a:srgbClr val="E8F5E9"/>
                    </a:solidFill>
                  </a:tcPr>
                </a:tc>
                <a:tc>
                  <a:txBody>
                    <a:bodyPr wrap="square"/>
                    <a:lstStyle/>
                    <a:p>
                      <a:pPr algn="ctr"/>
                      <a:r>
                        <a:rPr sz="1200" b="0">
                          <a:solidFill>
                            <a:srgbClr val="37474F"/>
                          </a:solidFill>
                          <a:latin typeface="Calibri"/>
                        </a:rPr>
                        <a:t>− 8 000 €</a:t>
                      </a:r>
                    </a:p>
                  </a:txBody>
                  <a:tcPr marL="88900" marR="88900" marT="12700" marB="12700" anchor="ctr">
                    <a:solidFill>
                      <a:srgbClr val="E8F5E9"/>
                    </a:solidFill>
                  </a:tcPr>
                </a:tc>
              </a:tr>
              <a:tr h="457200">
                <a:tc>
                  <a:txBody>
                    <a:bodyPr wrap="square"/>
                    <a:lstStyle/>
                    <a:p>
                      <a:pPr algn="l"/>
                      <a:r>
                        <a:rPr sz="1200" b="0">
                          <a:solidFill>
                            <a:srgbClr val="37474F"/>
                          </a:solidFill>
                          <a:latin typeface="Calibri"/>
                        </a:rPr>
                        <a:t>CEE</a:t>
                      </a:r>
                    </a:p>
                  </a:txBody>
                  <a:tcPr marL="88900" marR="88900" marT="12700" marB="12700" anchor="ctr">
                    <a:solidFill>
                      <a:srgbClr val="FFFFFF"/>
                    </a:solidFill>
                  </a:tcPr>
                </a:tc>
                <a:tc>
                  <a:txBody>
                    <a:bodyPr wrap="square"/>
                    <a:lstStyle/>
                    <a:p>
                      <a:pPr algn="ctr"/>
                      <a:r>
                        <a:rPr sz="1200" b="0">
                          <a:solidFill>
                            <a:srgbClr val="37474F"/>
                          </a:solidFill>
                          <a:latin typeface="Calibri"/>
                        </a:rPr>
                        <a:t>− 4 000 €</a:t>
                      </a:r>
                    </a:p>
                  </a:txBody>
                  <a:tcPr marL="88900" marR="88900" marT="12700" marB="12700" anchor="ctr">
                    <a:solidFill>
                      <a:srgbClr val="FFFFFF"/>
                    </a:solidFill>
                  </a:tcPr>
                </a:tc>
              </a:tr>
              <a:tr h="457200">
                <a:tc>
                  <a:txBody>
                    <a:bodyPr wrap="square"/>
                    <a:lstStyle/>
                    <a:p>
                      <a:pPr algn="l"/>
                      <a:r>
                        <a:rPr sz="1200" b="0">
                          <a:solidFill>
                            <a:srgbClr val="37474F"/>
                          </a:solidFill>
                          <a:latin typeface="Calibri"/>
                        </a:rPr>
                        <a:t>Aides locales</a:t>
                      </a:r>
                    </a:p>
                  </a:txBody>
                  <a:tcPr marL="88900" marR="88900" marT="12700" marB="12700" anchor="ctr">
                    <a:solidFill>
                      <a:srgbClr val="E8F5E9"/>
                    </a:solidFill>
                  </a:tcPr>
                </a:tc>
                <a:tc>
                  <a:txBody>
                    <a:bodyPr wrap="square"/>
                    <a:lstStyle/>
                    <a:p>
                      <a:pPr algn="ctr"/>
                      <a:r>
                        <a:rPr sz="1200" b="0">
                          <a:solidFill>
                            <a:srgbClr val="37474F"/>
                          </a:solidFill>
                          <a:latin typeface="Calibri"/>
                        </a:rPr>
                        <a:t>− 1 000 €</a:t>
                      </a:r>
                    </a:p>
                  </a:txBody>
                  <a:tcPr marL="88900" marR="88900" marT="12700" marB="12700" anchor="ctr">
                    <a:solidFill>
                      <a:srgbClr val="E8F5E9"/>
                    </a:solidFill>
                  </a:tcPr>
                </a:tc>
              </a:tr>
              <a:tr h="457200">
                <a:tc>
                  <a:txBody>
                    <a:bodyPr wrap="square"/>
                    <a:lstStyle/>
                    <a:p>
                      <a:pPr algn="l"/>
                      <a:r>
                        <a:rPr sz="1200" b="0">
                          <a:solidFill>
                            <a:srgbClr val="37474F"/>
                          </a:solidFill>
                          <a:latin typeface="Calibri"/>
                        </a:rPr>
                        <a:t>Reste à charge</a:t>
                      </a:r>
                    </a:p>
                  </a:txBody>
                  <a:tcPr marL="88900" marR="88900" marT="12700" marB="12700" anchor="ctr">
                    <a:solidFill>
                      <a:srgbClr val="FFFFFF"/>
                    </a:solidFill>
                  </a:tcPr>
                </a:tc>
                <a:tc>
                  <a:txBody>
                    <a:bodyPr wrap="square"/>
                    <a:lstStyle/>
                    <a:p>
                      <a:pPr algn="ctr"/>
                      <a:r>
                        <a:rPr sz="1200" b="0">
                          <a:solidFill>
                            <a:srgbClr val="37474F"/>
                          </a:solidFill>
                          <a:latin typeface="Calibri"/>
                        </a:rPr>
                        <a:t>27 000 €</a:t>
                      </a:r>
                    </a:p>
                  </a:txBody>
                  <a:tcPr marL="88900" marR="88900" marT="12700" marB="12700" anchor="ctr">
                    <a:solidFill>
                      <a:srgbClr val="FFFFFF"/>
                    </a:solidFill>
                  </a:tcPr>
                </a:tc>
              </a:tr>
            </a:tbl>
          </a:graphicData>
        </a:graphic>
      </p:graphicFrame>
      <p:sp>
        <p:nvSpPr>
          <p:cNvPr id="13" name="Rounded Rectangle 12"/>
          <p:cNvSpPr/>
          <p:nvPr/>
        </p:nvSpPr>
        <p:spPr>
          <a:xfrm>
            <a:off x="822960" y="5029200"/>
            <a:ext cx="10515600" cy="914400"/>
          </a:xfrm>
          <a:prstGeom prst="roundRect">
            <a:avLst/>
          </a:prstGeom>
          <a:solidFill>
            <a:srgbClr val="E8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5120640"/>
            <a:ext cx="10058400" cy="731520"/>
          </a:xfrm>
          <a:prstGeom prst="rect">
            <a:avLst/>
          </a:prstGeom>
          <a:noFill/>
        </p:spPr>
        <p:txBody>
          <a:bodyPr wrap="square" anchor="ctr" lIns="25400" rIns="25400" tIns="25400" bIns="25400">
            <a:spAutoFit/>
          </a:bodyPr>
          <a:lstStyle/>
          <a:p>
            <a:pPr algn="l">
              <a:lnSpc>
                <a:spcPct val="100000"/>
              </a:lnSpc>
              <a:spcAft>
                <a:spcPts val="400"/>
              </a:spcAft>
            </a:pPr>
            <a:r>
              <a:rPr sz="1400" b="0" i="0">
                <a:solidFill>
                  <a:srgbClr val="37474F"/>
                </a:solidFill>
                <a:latin typeface="Calibri"/>
              </a:rPr>
              <a:t>MaPrimeRénov’, CEE et aides locales réduisent fortement le reste à charge — sous réserve du respect des critères techniques des travaux et selon les revenus du ménage.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6</a:t>
            </a:r>
          </a:p>
        </p:txBody>
      </p:sp>
      <p:sp>
        <p:nvSpPr>
          <p:cNvPr id="6" name="TextBox 5"/>
          <p:cNvSpPr txBox="1"/>
          <p:nvPr/>
        </p:nvSpPr>
        <p:spPr>
          <a:xfrm>
            <a:off x="1325880" y="365760"/>
            <a:ext cx="10332720" cy="731520"/>
          </a:xfrm>
          <a:prstGeom prst="rect">
            <a:avLst/>
          </a:prstGeom>
          <a:noFill/>
        </p:spPr>
        <p:txBody>
          <a:bodyPr wrap="square" anchor="ctr" lIns="25400" rIns="25400" tIns="25400" bIns="25400">
            <a:spAutoFit/>
          </a:bodyPr>
          <a:lstStyle/>
          <a:p>
            <a:pPr algn="l">
              <a:lnSpc>
                <a:spcPct val="100000"/>
              </a:lnSpc>
              <a:spcAft>
                <a:spcPts val="400"/>
              </a:spcAft>
            </a:pPr>
            <a:r>
              <a:rPr sz="2900" b="1" i="0">
                <a:solidFill>
                  <a:srgbClr val="1B5E20"/>
                </a:solidFill>
                <a:latin typeface="Calibri"/>
              </a:rPr>
              <a:t>Analyse en coût global &amp; rentabilité</a:t>
            </a:r>
          </a:p>
        </p:txBody>
      </p:sp>
      <p:sp>
        <p:nvSpPr>
          <p:cNvPr id="7" name="Rectangle 6"/>
          <p:cNvSpPr/>
          <p:nvPr/>
        </p:nvSpPr>
        <p:spPr>
          <a:xfrm>
            <a:off x="1325880" y="1170432"/>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Rénovation énergétique – Saint-Jean-de-Chevelu (73) – Bloc 1</a:t>
            </a:r>
          </a:p>
        </p:txBody>
      </p:sp>
      <p:sp>
        <p:nvSpPr>
          <p:cNvPr id="9" name="TextBox 8"/>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graphicFrame>
        <p:nvGraphicFramePr>
          <p:cNvPr id="10" name="Chart 9"/>
          <p:cNvGraphicFramePr>
            <a:graphicFrameLocks noGrp="1"/>
          </p:cNvGraphicFramePr>
          <p:nvPr/>
        </p:nvGraphicFramePr>
        <p:xfrm>
          <a:off x="822960" y="1600200"/>
          <a:ext cx="6035040" cy="3108960"/>
        </p:xfrm>
        <a:graphic>
          <a:graphicData uri="http://schemas.openxmlformats.org/drawingml/2006/chart">
            <c:chart xmlns:c="http://schemas.openxmlformats.org/drawingml/2006/chart" r:id="rId2"/>
          </a:graphicData>
        </a:graphic>
      </p:graphicFrame>
      <p:sp>
        <p:nvSpPr>
          <p:cNvPr id="11" name="TextBox 10"/>
          <p:cNvSpPr txBox="1"/>
          <p:nvPr/>
        </p:nvSpPr>
        <p:spPr>
          <a:xfrm>
            <a:off x="7223760" y="1554480"/>
            <a:ext cx="4114800" cy="365760"/>
          </a:xfrm>
          <a:prstGeom prst="rect">
            <a:avLst/>
          </a:prstGeom>
          <a:noFill/>
        </p:spPr>
        <p:txBody>
          <a:bodyPr wrap="square" anchor="t" lIns="25400" rIns="25400" tIns="25400" bIns="25400">
            <a:spAutoFit/>
          </a:bodyPr>
          <a:lstStyle/>
          <a:p>
            <a:pPr algn="l">
              <a:lnSpc>
                <a:spcPct val="100000"/>
              </a:lnSpc>
              <a:spcAft>
                <a:spcPts val="400"/>
              </a:spcAft>
            </a:pPr>
            <a:r>
              <a:rPr sz="1300" b="1" i="0">
                <a:solidFill>
                  <a:srgbClr val="1B5E20"/>
                </a:solidFill>
                <a:latin typeface="Calibri"/>
              </a:rPr>
              <a:t>Coûts mensuels &amp; ROI</a:t>
            </a:r>
          </a:p>
        </p:txBody>
      </p:sp>
      <p:graphicFrame>
        <p:nvGraphicFramePr>
          <p:cNvPr id="12" name="Table 11"/>
          <p:cNvGraphicFramePr>
            <a:graphicFrameLocks noGrp="1"/>
          </p:cNvGraphicFramePr>
          <p:nvPr/>
        </p:nvGraphicFramePr>
        <p:xfrm>
          <a:off x="7223760" y="2011680"/>
          <a:ext cx="4114800" cy="1719072"/>
        </p:xfrm>
        <a:graphic>
          <a:graphicData uri="http://schemas.openxmlformats.org/drawingml/2006/table">
            <a:tbl>
              <a:tblPr>
                <a:tableStyleId>{5C22544A-7EE6-4342-B048-85BDC9FD1C3A}</a:tableStyleId>
              </a:tblPr>
              <a:tblGrid>
                <a:gridCol w="1737360"/>
                <a:gridCol w="1188720"/>
                <a:gridCol w="1188720"/>
              </a:tblGrid>
              <a:tr h="429768">
                <a:tc>
                  <a:txBody>
                    <a:bodyPr wrap="square"/>
                    <a:lstStyle/>
                    <a:p>
                      <a:pPr algn="l"/>
                      <a:r>
                        <a:rPr sz="1150" b="1">
                          <a:solidFill>
                            <a:srgbClr val="FFFFFF"/>
                          </a:solidFill>
                          <a:latin typeface="Calibri"/>
                        </a:rPr>
                        <a:t>Situation</a:t>
                      </a:r>
                    </a:p>
                  </a:txBody>
                  <a:tcPr marL="88900" marR="88900" marT="12700" marB="12700" anchor="ctr">
                    <a:solidFill>
                      <a:srgbClr val="1B5E20"/>
                    </a:solidFill>
                  </a:tcPr>
                </a:tc>
                <a:tc>
                  <a:txBody>
                    <a:bodyPr wrap="square"/>
                    <a:lstStyle/>
                    <a:p>
                      <a:pPr algn="ctr"/>
                      <a:r>
                        <a:rPr sz="1150" b="1">
                          <a:solidFill>
                            <a:srgbClr val="FFFFFF"/>
                          </a:solidFill>
                          <a:latin typeface="Calibri"/>
                        </a:rPr>
                        <a:t>€/an</a:t>
                      </a:r>
                    </a:p>
                  </a:txBody>
                  <a:tcPr marL="88900" marR="88900" marT="12700" marB="12700" anchor="ctr">
                    <a:solidFill>
                      <a:srgbClr val="1B5E20"/>
                    </a:solidFill>
                  </a:tcPr>
                </a:tc>
                <a:tc>
                  <a:txBody>
                    <a:bodyPr wrap="square"/>
                    <a:lstStyle/>
                    <a:p>
                      <a:pPr algn="ctr"/>
                      <a:r>
                        <a:rPr sz="1150" b="1">
                          <a:solidFill>
                            <a:srgbClr val="FFFFFF"/>
                          </a:solidFill>
                          <a:latin typeface="Calibri"/>
                        </a:rPr>
                        <a:t>€/mois</a:t>
                      </a:r>
                    </a:p>
                  </a:txBody>
                  <a:tcPr marL="88900" marR="88900" marT="12700" marB="12700" anchor="ctr">
                    <a:solidFill>
                      <a:srgbClr val="1B5E20"/>
                    </a:solidFill>
                  </a:tcPr>
                </a:tc>
              </a:tr>
              <a:tr h="429768">
                <a:tc>
                  <a:txBody>
                    <a:bodyPr wrap="square"/>
                    <a:lstStyle/>
                    <a:p>
                      <a:pPr algn="l"/>
                      <a:r>
                        <a:rPr sz="1100" b="0">
                          <a:solidFill>
                            <a:srgbClr val="37474F"/>
                          </a:solidFill>
                          <a:latin typeface="Calibri"/>
                        </a:rPr>
                        <a:t>Avant travaux</a:t>
                      </a:r>
                    </a:p>
                  </a:txBody>
                  <a:tcPr marL="88900" marR="88900" marT="12700" marB="12700" anchor="ctr">
                    <a:solidFill>
                      <a:srgbClr val="FFFFFF"/>
                    </a:solidFill>
                  </a:tcPr>
                </a:tc>
                <a:tc>
                  <a:txBody>
                    <a:bodyPr wrap="square"/>
                    <a:lstStyle/>
                    <a:p>
                      <a:pPr algn="ctr"/>
                      <a:r>
                        <a:rPr sz="1100" b="0">
                          <a:solidFill>
                            <a:srgbClr val="37474F"/>
                          </a:solidFill>
                          <a:latin typeface="Calibri"/>
                        </a:rPr>
                        <a:t>8 355</a:t>
                      </a:r>
                    </a:p>
                  </a:txBody>
                  <a:tcPr marL="88900" marR="88900" marT="12700" marB="12700" anchor="ctr">
                    <a:solidFill>
                      <a:srgbClr val="FFFFFF"/>
                    </a:solidFill>
                  </a:tcPr>
                </a:tc>
                <a:tc>
                  <a:txBody>
                    <a:bodyPr wrap="square"/>
                    <a:lstStyle/>
                    <a:p>
                      <a:pPr algn="ctr"/>
                      <a:r>
                        <a:rPr sz="1100" b="0">
                          <a:solidFill>
                            <a:srgbClr val="37474F"/>
                          </a:solidFill>
                          <a:latin typeface="Calibri"/>
                        </a:rPr>
                        <a:t>696</a:t>
                      </a:r>
                    </a:p>
                  </a:txBody>
                  <a:tcPr marL="88900" marR="88900" marT="12700" marB="12700" anchor="ctr">
                    <a:solidFill>
                      <a:srgbClr val="FFFFFF"/>
                    </a:solidFill>
                  </a:tcPr>
                </a:tc>
              </a:tr>
              <a:tr h="429768">
                <a:tc>
                  <a:txBody>
                    <a:bodyPr wrap="square"/>
                    <a:lstStyle/>
                    <a:p>
                      <a:pPr algn="l"/>
                      <a:r>
                        <a:rPr sz="1100" b="0">
                          <a:solidFill>
                            <a:srgbClr val="37474F"/>
                          </a:solidFill>
                          <a:latin typeface="Calibri"/>
                        </a:rPr>
                        <a:t>Scénario 1</a:t>
                      </a:r>
                    </a:p>
                  </a:txBody>
                  <a:tcPr marL="88900" marR="88900" marT="12700" marB="12700" anchor="ctr">
                    <a:solidFill>
                      <a:srgbClr val="E8F5E9"/>
                    </a:solidFill>
                  </a:tcPr>
                </a:tc>
                <a:tc>
                  <a:txBody>
                    <a:bodyPr wrap="square"/>
                    <a:lstStyle/>
                    <a:p>
                      <a:pPr algn="ctr"/>
                      <a:r>
                        <a:rPr sz="1100" b="0">
                          <a:solidFill>
                            <a:srgbClr val="37474F"/>
                          </a:solidFill>
                          <a:latin typeface="Calibri"/>
                        </a:rPr>
                        <a:t>4 500</a:t>
                      </a:r>
                    </a:p>
                  </a:txBody>
                  <a:tcPr marL="88900" marR="88900" marT="12700" marB="12700" anchor="ctr">
                    <a:solidFill>
                      <a:srgbClr val="E8F5E9"/>
                    </a:solidFill>
                  </a:tcPr>
                </a:tc>
                <a:tc>
                  <a:txBody>
                    <a:bodyPr wrap="square"/>
                    <a:lstStyle/>
                    <a:p>
                      <a:pPr algn="ctr"/>
                      <a:r>
                        <a:rPr sz="1100" b="0">
                          <a:solidFill>
                            <a:srgbClr val="37474F"/>
                          </a:solidFill>
                          <a:latin typeface="Calibri"/>
                        </a:rPr>
                        <a:t>375</a:t>
                      </a:r>
                    </a:p>
                  </a:txBody>
                  <a:tcPr marL="88900" marR="88900" marT="12700" marB="12700" anchor="ctr">
                    <a:solidFill>
                      <a:srgbClr val="E8F5E9"/>
                    </a:solidFill>
                  </a:tcPr>
                </a:tc>
              </a:tr>
              <a:tr h="429768">
                <a:tc>
                  <a:txBody>
                    <a:bodyPr wrap="square"/>
                    <a:lstStyle/>
                    <a:p>
                      <a:pPr algn="l"/>
                      <a:r>
                        <a:rPr sz="1100" b="0">
                          <a:solidFill>
                            <a:srgbClr val="37474F"/>
                          </a:solidFill>
                          <a:latin typeface="Calibri"/>
                        </a:rPr>
                        <a:t>Scénario 2</a:t>
                      </a:r>
                    </a:p>
                  </a:txBody>
                  <a:tcPr marL="88900" marR="88900" marT="12700" marB="12700" anchor="ctr">
                    <a:solidFill>
                      <a:srgbClr val="FFFFFF"/>
                    </a:solidFill>
                  </a:tcPr>
                </a:tc>
                <a:tc>
                  <a:txBody>
                    <a:bodyPr wrap="square"/>
                    <a:lstStyle/>
                    <a:p>
                      <a:pPr algn="ctr"/>
                      <a:r>
                        <a:rPr sz="1100" b="0">
                          <a:solidFill>
                            <a:srgbClr val="37474F"/>
                          </a:solidFill>
                          <a:latin typeface="Calibri"/>
                        </a:rPr>
                        <a:t>3 000</a:t>
                      </a:r>
                    </a:p>
                  </a:txBody>
                  <a:tcPr marL="88900" marR="88900" marT="12700" marB="12700" anchor="ctr">
                    <a:solidFill>
                      <a:srgbClr val="FFFFFF"/>
                    </a:solidFill>
                  </a:tcPr>
                </a:tc>
                <a:tc>
                  <a:txBody>
                    <a:bodyPr wrap="square"/>
                    <a:lstStyle/>
                    <a:p>
                      <a:pPr algn="ctr"/>
                      <a:r>
                        <a:rPr sz="1100" b="0">
                          <a:solidFill>
                            <a:srgbClr val="37474F"/>
                          </a:solidFill>
                          <a:latin typeface="Calibri"/>
                        </a:rPr>
                        <a:t>250</a:t>
                      </a:r>
                    </a:p>
                  </a:txBody>
                  <a:tcPr marL="88900" marR="88900" marT="12700" marB="12700" anchor="ctr">
                    <a:solidFill>
                      <a:srgbClr val="FFFFFF"/>
                    </a:solidFill>
                  </a:tcPr>
                </a:tc>
              </a:tr>
            </a:tbl>
          </a:graphicData>
        </a:graphic>
      </p:graphicFrame>
      <p:graphicFrame>
        <p:nvGraphicFramePr>
          <p:cNvPr id="13" name="Table 12"/>
          <p:cNvGraphicFramePr>
            <a:graphicFrameLocks noGrp="1"/>
          </p:cNvGraphicFramePr>
          <p:nvPr/>
        </p:nvGraphicFramePr>
        <p:xfrm>
          <a:off x="7223760" y="4160520"/>
          <a:ext cx="4114800" cy="1719072"/>
        </p:xfrm>
        <a:graphic>
          <a:graphicData uri="http://schemas.openxmlformats.org/drawingml/2006/table">
            <a:tbl>
              <a:tblPr>
                <a:tableStyleId>{5C22544A-7EE6-4342-B048-85BDC9FD1C3A}</a:tableStyleId>
              </a:tblPr>
              <a:tblGrid>
                <a:gridCol w="1737360"/>
                <a:gridCol w="1188720"/>
                <a:gridCol w="1188720"/>
              </a:tblGrid>
              <a:tr h="429768">
                <a:tc>
                  <a:txBody>
                    <a:bodyPr wrap="square"/>
                    <a:lstStyle/>
                    <a:p>
                      <a:pPr algn="l"/>
                      <a:r>
                        <a:rPr sz="1150" b="1">
                          <a:solidFill>
                            <a:srgbClr val="FFFFFF"/>
                          </a:solidFill>
                          <a:latin typeface="Calibri"/>
                        </a:rPr>
                        <a:t>ROI</a:t>
                      </a:r>
                    </a:p>
                  </a:txBody>
                  <a:tcPr marL="88900" marR="88900" marT="12700" marB="12700" anchor="ctr">
                    <a:solidFill>
                      <a:srgbClr val="1B5E20"/>
                    </a:solidFill>
                  </a:tcPr>
                </a:tc>
                <a:tc>
                  <a:txBody>
                    <a:bodyPr wrap="square"/>
                    <a:lstStyle/>
                    <a:p>
                      <a:pPr algn="ctr"/>
                      <a:r>
                        <a:rPr sz="1150" b="1">
                          <a:solidFill>
                            <a:srgbClr val="FFFFFF"/>
                          </a:solidFill>
                          <a:latin typeface="Calibri"/>
                        </a:rPr>
                        <a:t>Sc. 1</a:t>
                      </a:r>
                    </a:p>
                  </a:txBody>
                  <a:tcPr marL="88900" marR="88900" marT="12700" marB="12700" anchor="ctr">
                    <a:solidFill>
                      <a:srgbClr val="1B5E20"/>
                    </a:solidFill>
                  </a:tcPr>
                </a:tc>
                <a:tc>
                  <a:txBody>
                    <a:bodyPr wrap="square"/>
                    <a:lstStyle/>
                    <a:p>
                      <a:pPr algn="ctr"/>
                      <a:r>
                        <a:rPr sz="1150" b="1">
                          <a:solidFill>
                            <a:srgbClr val="FFFFFF"/>
                          </a:solidFill>
                          <a:latin typeface="Calibri"/>
                        </a:rPr>
                        <a:t>Sc. 2</a:t>
                      </a:r>
                    </a:p>
                  </a:txBody>
                  <a:tcPr marL="88900" marR="88900" marT="12700" marB="12700" anchor="ctr">
                    <a:solidFill>
                      <a:srgbClr val="1B5E20"/>
                    </a:solidFill>
                  </a:tcPr>
                </a:tc>
              </a:tr>
              <a:tr h="429768">
                <a:tc>
                  <a:txBody>
                    <a:bodyPr wrap="square"/>
                    <a:lstStyle/>
                    <a:p>
                      <a:pPr algn="l"/>
                      <a:r>
                        <a:rPr sz="1100" b="0">
                          <a:solidFill>
                            <a:srgbClr val="37474F"/>
                          </a:solidFill>
                          <a:latin typeface="Calibri"/>
                        </a:rPr>
                        <a:t>Reste à charge</a:t>
                      </a:r>
                    </a:p>
                  </a:txBody>
                  <a:tcPr marL="88900" marR="88900" marT="12700" marB="12700" anchor="ctr">
                    <a:solidFill>
                      <a:srgbClr val="FFFFFF"/>
                    </a:solidFill>
                  </a:tcPr>
                </a:tc>
                <a:tc>
                  <a:txBody>
                    <a:bodyPr wrap="square"/>
                    <a:lstStyle/>
                    <a:p>
                      <a:pPr algn="ctr"/>
                      <a:r>
                        <a:rPr sz="1100" b="0">
                          <a:solidFill>
                            <a:srgbClr val="37474F"/>
                          </a:solidFill>
                          <a:latin typeface="Calibri"/>
                        </a:rPr>
                        <a:t>17 000 €</a:t>
                      </a:r>
                    </a:p>
                  </a:txBody>
                  <a:tcPr marL="88900" marR="88900" marT="12700" marB="12700" anchor="ctr">
                    <a:solidFill>
                      <a:srgbClr val="FFFFFF"/>
                    </a:solidFill>
                  </a:tcPr>
                </a:tc>
                <a:tc>
                  <a:txBody>
                    <a:bodyPr wrap="square"/>
                    <a:lstStyle/>
                    <a:p>
                      <a:pPr algn="ctr"/>
                      <a:r>
                        <a:rPr sz="1100" b="0">
                          <a:solidFill>
                            <a:srgbClr val="37474F"/>
                          </a:solidFill>
                          <a:latin typeface="Calibri"/>
                        </a:rPr>
                        <a:t>27 000 €</a:t>
                      </a:r>
                    </a:p>
                  </a:txBody>
                  <a:tcPr marL="88900" marR="88900" marT="12700" marB="12700" anchor="ctr">
                    <a:solidFill>
                      <a:srgbClr val="FFFFFF"/>
                    </a:solidFill>
                  </a:tcPr>
                </a:tc>
              </a:tr>
              <a:tr h="429768">
                <a:tc>
                  <a:txBody>
                    <a:bodyPr wrap="square"/>
                    <a:lstStyle/>
                    <a:p>
                      <a:pPr algn="l"/>
                      <a:r>
                        <a:rPr sz="1100" b="0">
                          <a:solidFill>
                            <a:srgbClr val="37474F"/>
                          </a:solidFill>
                          <a:latin typeface="Calibri"/>
                        </a:rPr>
                        <a:t>Économies/an</a:t>
                      </a:r>
                    </a:p>
                  </a:txBody>
                  <a:tcPr marL="88900" marR="88900" marT="12700" marB="12700" anchor="ctr">
                    <a:solidFill>
                      <a:srgbClr val="E8F5E9"/>
                    </a:solidFill>
                  </a:tcPr>
                </a:tc>
                <a:tc>
                  <a:txBody>
                    <a:bodyPr wrap="square"/>
                    <a:lstStyle/>
                    <a:p>
                      <a:pPr algn="ctr"/>
                      <a:r>
                        <a:rPr sz="1100" b="0">
                          <a:solidFill>
                            <a:srgbClr val="37474F"/>
                          </a:solidFill>
                          <a:latin typeface="Calibri"/>
                        </a:rPr>
                        <a:t>3 000 €</a:t>
                      </a:r>
                    </a:p>
                  </a:txBody>
                  <a:tcPr marL="88900" marR="88900" marT="12700" marB="12700" anchor="ctr">
                    <a:solidFill>
                      <a:srgbClr val="E8F5E9"/>
                    </a:solidFill>
                  </a:tcPr>
                </a:tc>
                <a:tc>
                  <a:txBody>
                    <a:bodyPr wrap="square"/>
                    <a:lstStyle/>
                    <a:p>
                      <a:pPr algn="ctr"/>
                      <a:r>
                        <a:rPr sz="1100" b="0">
                          <a:solidFill>
                            <a:srgbClr val="37474F"/>
                          </a:solidFill>
                          <a:latin typeface="Calibri"/>
                        </a:rPr>
                        <a:t>5 000 €</a:t>
                      </a:r>
                    </a:p>
                  </a:txBody>
                  <a:tcPr marL="88900" marR="88900" marT="12700" marB="12700" anchor="ctr">
                    <a:solidFill>
                      <a:srgbClr val="E8F5E9"/>
                    </a:solidFill>
                  </a:tcPr>
                </a:tc>
              </a:tr>
              <a:tr h="429768">
                <a:tc>
                  <a:txBody>
                    <a:bodyPr wrap="square"/>
                    <a:lstStyle/>
                    <a:p>
                      <a:pPr algn="l"/>
                      <a:r>
                        <a:rPr sz="1100" b="0">
                          <a:solidFill>
                            <a:srgbClr val="37474F"/>
                          </a:solidFill>
                          <a:latin typeface="Calibri"/>
                        </a:rPr>
                        <a:t>Amortissement</a:t>
                      </a:r>
                    </a:p>
                  </a:txBody>
                  <a:tcPr marL="88900" marR="88900" marT="12700" marB="12700" anchor="ctr">
                    <a:solidFill>
                      <a:srgbClr val="FFFFFF"/>
                    </a:solidFill>
                  </a:tcPr>
                </a:tc>
                <a:tc>
                  <a:txBody>
                    <a:bodyPr wrap="square"/>
                    <a:lstStyle/>
                    <a:p>
                      <a:pPr algn="ctr"/>
                      <a:r>
                        <a:rPr sz="1100" b="0">
                          <a:solidFill>
                            <a:srgbClr val="37474F"/>
                          </a:solidFill>
                          <a:latin typeface="Calibri"/>
                        </a:rPr>
                        <a:t>5,7 ans</a:t>
                      </a:r>
                    </a:p>
                  </a:txBody>
                  <a:tcPr marL="88900" marR="88900" marT="12700" marB="12700" anchor="ctr">
                    <a:solidFill>
                      <a:srgbClr val="FFFFFF"/>
                    </a:solidFill>
                  </a:tcPr>
                </a:tc>
                <a:tc>
                  <a:txBody>
                    <a:bodyPr wrap="square"/>
                    <a:lstStyle/>
                    <a:p>
                      <a:pPr algn="ctr"/>
                      <a:r>
                        <a:rPr sz="1100" b="0">
                          <a:solidFill>
                            <a:srgbClr val="37474F"/>
                          </a:solidFill>
                          <a:latin typeface="Calibri"/>
                        </a:rPr>
                        <a:t>5,4 ans</a:t>
                      </a:r>
                    </a:p>
                  </a:txBody>
                  <a:tcPr marL="88900" marR="88900" marT="12700" marB="12700" anchor="ctr">
                    <a:solidFill>
                      <a:srgbClr val="FFFFFF"/>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7</a:t>
            </a:r>
          </a:p>
        </p:txBody>
      </p:sp>
      <p:sp>
        <p:nvSpPr>
          <p:cNvPr id="6" name="TextBox 5"/>
          <p:cNvSpPr txBox="1"/>
          <p:nvPr/>
        </p:nvSpPr>
        <p:spPr>
          <a:xfrm>
            <a:off x="1325880" y="365760"/>
            <a:ext cx="10332720" cy="731520"/>
          </a:xfrm>
          <a:prstGeom prst="rect">
            <a:avLst/>
          </a:prstGeom>
          <a:noFill/>
        </p:spPr>
        <p:txBody>
          <a:bodyPr wrap="square" anchor="ctr" lIns="25400" rIns="25400" tIns="25400" bIns="25400">
            <a:spAutoFit/>
          </a:bodyPr>
          <a:lstStyle/>
          <a:p>
            <a:pPr algn="l">
              <a:lnSpc>
                <a:spcPct val="100000"/>
              </a:lnSpc>
              <a:spcAft>
                <a:spcPts val="400"/>
              </a:spcAft>
            </a:pPr>
            <a:r>
              <a:rPr sz="2900" b="1" i="0">
                <a:solidFill>
                  <a:srgbClr val="1B5E20"/>
                </a:solidFill>
                <a:latin typeface="Calibri"/>
              </a:rPr>
              <a:t>Plan de sobriété</a:t>
            </a:r>
          </a:p>
        </p:txBody>
      </p:sp>
      <p:sp>
        <p:nvSpPr>
          <p:cNvPr id="7" name="TextBox 6"/>
          <p:cNvSpPr txBox="1"/>
          <p:nvPr/>
        </p:nvSpPr>
        <p:spPr>
          <a:xfrm>
            <a:off x="1325880" y="1060704"/>
            <a:ext cx="10332720" cy="365760"/>
          </a:xfrm>
          <a:prstGeom prst="rect">
            <a:avLst/>
          </a:prstGeom>
          <a:noFill/>
        </p:spPr>
        <p:txBody>
          <a:bodyPr wrap="square" anchor="t" lIns="25400" rIns="25400" tIns="25400" bIns="25400">
            <a:spAutoFit/>
          </a:bodyPr>
          <a:lstStyle/>
          <a:p>
            <a:pPr algn="l">
              <a:lnSpc>
                <a:spcPct val="100000"/>
              </a:lnSpc>
              <a:spcAft>
                <a:spcPts val="400"/>
              </a:spcAft>
            </a:pPr>
            <a:r>
              <a:rPr sz="1400" b="0" i="1">
                <a:solidFill>
                  <a:srgbClr val="90A4AE"/>
                </a:solidFill>
                <a:latin typeface="Calibri"/>
              </a:rPr>
              <a:t>Conseils aux occupants</a:t>
            </a:r>
          </a:p>
        </p:txBody>
      </p:sp>
      <p:sp>
        <p:nvSpPr>
          <p:cNvPr id="8" name="Rectangle 7"/>
          <p:cNvSpPr/>
          <p:nvPr/>
        </p:nvSpPr>
        <p:spPr>
          <a:xfrm>
            <a:off x="1325880" y="1170432"/>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Rénovation énergétique – Saint-Jean-de-Chevelu (73) – Bloc 1</a:t>
            </a:r>
          </a:p>
        </p:txBody>
      </p:sp>
      <p:sp>
        <p:nvSpPr>
          <p:cNvPr id="10" name="TextBox 9"/>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sp>
        <p:nvSpPr>
          <p:cNvPr id="11" name="TextBox 10"/>
          <p:cNvSpPr txBox="1"/>
          <p:nvPr/>
        </p:nvSpPr>
        <p:spPr>
          <a:xfrm>
            <a:off x="822960" y="1691640"/>
            <a:ext cx="5212080" cy="4114800"/>
          </a:xfrm>
          <a:prstGeom prst="rect">
            <a:avLst/>
          </a:prstGeom>
          <a:noFill/>
        </p:spPr>
        <p:txBody>
          <a:bodyPr wrap="square">
            <a:spAutoFit/>
          </a:bodyPr>
          <a:lstStyle/>
          <a:p>
            <a:pPr>
              <a:lnSpc>
                <a:spcPct val="105000"/>
              </a:lnSpc>
              <a:spcAft>
                <a:spcPts val="1200"/>
              </a:spcAft>
            </a:pPr>
            <a:r>
              <a:rPr sz="1500" b="1">
                <a:solidFill>
                  <a:srgbClr val="2E7D32"/>
                </a:solidFill>
                <a:latin typeface="Calibri"/>
              </a:rPr>
              <a:t>●  </a:t>
            </a:r>
            <a:r>
              <a:rPr sz="1500">
                <a:solidFill>
                  <a:srgbClr val="37474F"/>
                </a:solidFill>
                <a:latin typeface="Calibri"/>
              </a:rPr>
              <a:t>Chauffer entre 19 °C et 20 °C dans les pièces de vie</a:t>
            </a:r>
          </a:p>
          <a:p>
            <a:pPr>
              <a:lnSpc>
                <a:spcPct val="105000"/>
              </a:lnSpc>
              <a:spcAft>
                <a:spcPts val="1200"/>
              </a:spcAft>
            </a:pPr>
            <a:r>
              <a:rPr sz="1500" b="1">
                <a:solidFill>
                  <a:srgbClr val="2E7D32"/>
                </a:solidFill>
                <a:latin typeface="Calibri"/>
              </a:rPr>
              <a:t>●  </a:t>
            </a:r>
            <a:r>
              <a:rPr sz="1500">
                <a:solidFill>
                  <a:srgbClr val="37474F"/>
                </a:solidFill>
                <a:latin typeface="Calibri"/>
              </a:rPr>
              <a:t>Réduire la température durant les absences</a:t>
            </a:r>
          </a:p>
          <a:p>
            <a:pPr>
              <a:lnSpc>
                <a:spcPct val="105000"/>
              </a:lnSpc>
              <a:spcAft>
                <a:spcPts val="1200"/>
              </a:spcAft>
            </a:pPr>
            <a:r>
              <a:rPr sz="1500" b="1">
                <a:solidFill>
                  <a:srgbClr val="2E7D32"/>
                </a:solidFill>
                <a:latin typeface="Calibri"/>
              </a:rPr>
              <a:t>●  </a:t>
            </a:r>
            <a:r>
              <a:rPr sz="1500">
                <a:solidFill>
                  <a:srgbClr val="37474F"/>
                </a:solidFill>
                <a:latin typeface="Calibri"/>
              </a:rPr>
              <a:t>Entretien régulier de la chaudière et de la VMC</a:t>
            </a:r>
          </a:p>
          <a:p>
            <a:pPr>
              <a:lnSpc>
                <a:spcPct val="105000"/>
              </a:lnSpc>
              <a:spcAft>
                <a:spcPts val="1200"/>
              </a:spcAft>
            </a:pPr>
            <a:r>
              <a:rPr sz="1500" b="1">
                <a:solidFill>
                  <a:srgbClr val="2E7D32"/>
                </a:solidFill>
                <a:latin typeface="Calibri"/>
              </a:rPr>
              <a:t>●  </a:t>
            </a:r>
            <a:r>
              <a:rPr sz="1500">
                <a:solidFill>
                  <a:srgbClr val="37474F"/>
                </a:solidFill>
                <a:latin typeface="Calibri"/>
              </a:rPr>
              <a:t>Limiter les consommations d’eau chaude sanitaire</a:t>
            </a:r>
          </a:p>
        </p:txBody>
      </p:sp>
      <p:sp>
        <p:nvSpPr>
          <p:cNvPr id="12" name="TextBox 11"/>
          <p:cNvSpPr txBox="1"/>
          <p:nvPr/>
        </p:nvSpPr>
        <p:spPr>
          <a:xfrm>
            <a:off x="6309360" y="1691640"/>
            <a:ext cx="5029200" cy="4114800"/>
          </a:xfrm>
          <a:prstGeom prst="rect">
            <a:avLst/>
          </a:prstGeom>
          <a:noFill/>
        </p:spPr>
        <p:txBody>
          <a:bodyPr wrap="square">
            <a:spAutoFit/>
          </a:bodyPr>
          <a:lstStyle/>
          <a:p>
            <a:pPr>
              <a:lnSpc>
                <a:spcPct val="105000"/>
              </a:lnSpc>
              <a:spcAft>
                <a:spcPts val="1200"/>
              </a:spcAft>
            </a:pPr>
            <a:r>
              <a:rPr sz="1500" b="1">
                <a:solidFill>
                  <a:srgbClr val="2E7D32"/>
                </a:solidFill>
                <a:latin typeface="Calibri"/>
              </a:rPr>
              <a:t>●  </a:t>
            </a:r>
            <a:r>
              <a:rPr sz="1500">
                <a:solidFill>
                  <a:srgbClr val="37474F"/>
                </a:solidFill>
                <a:latin typeface="Calibri"/>
              </a:rPr>
              <a:t>Fermer les volets la nuit en hiver</a:t>
            </a:r>
          </a:p>
          <a:p>
            <a:pPr>
              <a:lnSpc>
                <a:spcPct val="105000"/>
              </a:lnSpc>
              <a:spcAft>
                <a:spcPts val="1200"/>
              </a:spcAft>
            </a:pPr>
            <a:r>
              <a:rPr sz="1500" b="1">
                <a:solidFill>
                  <a:srgbClr val="2E7D32"/>
                </a:solidFill>
                <a:latin typeface="Calibri"/>
              </a:rPr>
              <a:t>●  </a:t>
            </a:r>
            <a:r>
              <a:rPr sz="1500">
                <a:solidFill>
                  <a:srgbClr val="37474F"/>
                </a:solidFill>
                <a:latin typeface="Calibri"/>
              </a:rPr>
              <a:t>Privilégier l’électroménager performant</a:t>
            </a:r>
          </a:p>
          <a:p>
            <a:pPr>
              <a:lnSpc>
                <a:spcPct val="105000"/>
              </a:lnSpc>
              <a:spcAft>
                <a:spcPts val="1200"/>
              </a:spcAft>
            </a:pPr>
            <a:r>
              <a:rPr sz="1500" b="1">
                <a:solidFill>
                  <a:srgbClr val="2E7D32"/>
                </a:solidFill>
                <a:latin typeface="Calibri"/>
              </a:rPr>
              <a:t>●  </a:t>
            </a:r>
            <a:r>
              <a:rPr sz="1500">
                <a:solidFill>
                  <a:srgbClr val="37474F"/>
                </a:solidFill>
                <a:latin typeface="Calibri"/>
              </a:rPr>
              <a:t>Éteindre les appareils en veille</a:t>
            </a:r>
          </a:p>
          <a:p>
            <a:pPr>
              <a:lnSpc>
                <a:spcPct val="105000"/>
              </a:lnSpc>
              <a:spcAft>
                <a:spcPts val="1200"/>
              </a:spcAft>
            </a:pPr>
            <a:r>
              <a:rPr sz="1500" b="1">
                <a:solidFill>
                  <a:srgbClr val="2E7D32"/>
                </a:solidFill>
                <a:latin typeface="Calibri"/>
              </a:rPr>
              <a:t>●  </a:t>
            </a:r>
            <a:r>
              <a:rPr sz="1500">
                <a:solidFill>
                  <a:srgbClr val="37474F"/>
                </a:solidFill>
                <a:latin typeface="Calibri"/>
              </a:rPr>
              <a:t>Suivre régulièrement ses consommations</a:t>
            </a:r>
          </a:p>
        </p:txBody>
      </p:sp>
      <p:sp>
        <p:nvSpPr>
          <p:cNvPr id="13" name="Rounded Rectangle 12"/>
          <p:cNvSpPr/>
          <p:nvPr/>
        </p:nvSpPr>
        <p:spPr>
          <a:xfrm>
            <a:off x="822960" y="5349240"/>
            <a:ext cx="10515600" cy="777240"/>
          </a:xfrm>
          <a:prstGeom prst="roundRect">
            <a:avLst/>
          </a:prstGeom>
          <a:solidFill>
            <a:srgbClr val="E8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5440680"/>
            <a:ext cx="10058400" cy="594360"/>
          </a:xfrm>
          <a:prstGeom prst="rect">
            <a:avLst/>
          </a:prstGeom>
          <a:noFill/>
        </p:spPr>
        <p:txBody>
          <a:bodyPr wrap="square" anchor="ctr" lIns="25400" rIns="25400" tIns="25400" bIns="25400">
            <a:spAutoFit/>
          </a:bodyPr>
          <a:lstStyle/>
          <a:p>
            <a:pPr algn="l">
              <a:lnSpc>
                <a:spcPct val="100000"/>
              </a:lnSpc>
              <a:spcAft>
                <a:spcPts val="400"/>
              </a:spcAft>
            </a:pPr>
            <a:r>
              <a:rPr sz="1400" b="1" i="0">
                <a:solidFill>
                  <a:srgbClr val="1B5E20"/>
                </a:solidFill>
                <a:latin typeface="Calibri"/>
              </a:rPr>
              <a:t>Des conseils simples, accessibles à des non-spécialistes, qui amplifient les économies des travaux.</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7</a:t>
            </a:r>
          </a:p>
        </p:txBody>
      </p:sp>
      <p:sp>
        <p:nvSpPr>
          <p:cNvPr id="6" name="TextBox 5"/>
          <p:cNvSpPr txBox="1"/>
          <p:nvPr/>
        </p:nvSpPr>
        <p:spPr>
          <a:xfrm>
            <a:off x="1325880" y="365760"/>
            <a:ext cx="10332720" cy="731520"/>
          </a:xfrm>
          <a:prstGeom prst="rect">
            <a:avLst/>
          </a:prstGeom>
          <a:noFill/>
        </p:spPr>
        <p:txBody>
          <a:bodyPr wrap="square" anchor="ctr" lIns="25400" rIns="25400" tIns="25400" bIns="25400">
            <a:spAutoFit/>
          </a:bodyPr>
          <a:lstStyle/>
          <a:p>
            <a:pPr algn="l">
              <a:lnSpc>
                <a:spcPct val="100000"/>
              </a:lnSpc>
              <a:spcAft>
                <a:spcPts val="400"/>
              </a:spcAft>
            </a:pPr>
            <a:r>
              <a:rPr sz="2900" b="1" i="0">
                <a:solidFill>
                  <a:srgbClr val="1B5E20"/>
                </a:solidFill>
                <a:latin typeface="Calibri"/>
              </a:rPr>
              <a:t>Synthèse comparative des scénarios</a:t>
            </a:r>
          </a:p>
        </p:txBody>
      </p:sp>
      <p:sp>
        <p:nvSpPr>
          <p:cNvPr id="7" name="Rectangle 6"/>
          <p:cNvSpPr/>
          <p:nvPr/>
        </p:nvSpPr>
        <p:spPr>
          <a:xfrm>
            <a:off x="1325880" y="1170432"/>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Rénovation énergétique – Saint-Jean-de-Chevelu (73) – Bloc 1</a:t>
            </a:r>
          </a:p>
        </p:txBody>
      </p:sp>
      <p:sp>
        <p:nvSpPr>
          <p:cNvPr id="9" name="TextBox 8"/>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graphicFrame>
        <p:nvGraphicFramePr>
          <p:cNvPr id="10" name="Table 9"/>
          <p:cNvGraphicFramePr>
            <a:graphicFrameLocks noGrp="1"/>
          </p:cNvGraphicFramePr>
          <p:nvPr/>
        </p:nvGraphicFramePr>
        <p:xfrm>
          <a:off x="822960" y="1691640"/>
          <a:ext cx="10515600" cy="3803904"/>
        </p:xfrm>
        <a:graphic>
          <a:graphicData uri="http://schemas.openxmlformats.org/drawingml/2006/table">
            <a:tbl>
              <a:tblPr>
                <a:tableStyleId>{5C22544A-7EE6-4342-B048-85BDC9FD1C3A}</a:tableStyleId>
              </a:tblPr>
              <a:tblGrid>
                <a:gridCol w="2743200"/>
                <a:gridCol w="2194560"/>
                <a:gridCol w="2788920"/>
                <a:gridCol w="2788920"/>
              </a:tblGrid>
              <a:tr h="475488">
                <a:tc>
                  <a:txBody>
                    <a:bodyPr wrap="square"/>
                    <a:lstStyle/>
                    <a:p>
                      <a:pPr algn="l"/>
                      <a:r>
                        <a:rPr sz="1250" b="1">
                          <a:solidFill>
                            <a:srgbClr val="FFFFFF"/>
                          </a:solidFill>
                          <a:latin typeface="Calibri"/>
                        </a:rPr>
                        <a:t>Critère</a:t>
                      </a:r>
                    </a:p>
                  </a:txBody>
                  <a:tcPr marL="88900" marR="88900" marT="12700" marB="12700" anchor="ctr">
                    <a:solidFill>
                      <a:srgbClr val="1B5E20"/>
                    </a:solidFill>
                  </a:tcPr>
                </a:tc>
                <a:tc>
                  <a:txBody>
                    <a:bodyPr wrap="square"/>
                    <a:lstStyle/>
                    <a:p>
                      <a:pPr algn="ctr"/>
                      <a:r>
                        <a:rPr sz="1250" b="1">
                          <a:solidFill>
                            <a:srgbClr val="FFFFFF"/>
                          </a:solidFill>
                          <a:latin typeface="Calibri"/>
                        </a:rPr>
                        <a:t>État initial</a:t>
                      </a:r>
                    </a:p>
                  </a:txBody>
                  <a:tcPr marL="88900" marR="88900" marT="12700" marB="12700" anchor="ctr">
                    <a:solidFill>
                      <a:srgbClr val="1B5E20"/>
                    </a:solidFill>
                  </a:tcPr>
                </a:tc>
                <a:tc>
                  <a:txBody>
                    <a:bodyPr wrap="square"/>
                    <a:lstStyle/>
                    <a:p>
                      <a:pPr algn="ctr"/>
                      <a:r>
                        <a:rPr sz="1250" b="1">
                          <a:solidFill>
                            <a:srgbClr val="FFFFFF"/>
                          </a:solidFill>
                          <a:latin typeface="Calibri"/>
                        </a:rPr>
                        <a:t>Scénario 1 (par étapes)</a:t>
                      </a:r>
                    </a:p>
                  </a:txBody>
                  <a:tcPr marL="88900" marR="88900" marT="12700" marB="12700" anchor="ctr">
                    <a:solidFill>
                      <a:srgbClr val="1B5E20"/>
                    </a:solidFill>
                  </a:tcPr>
                </a:tc>
                <a:tc>
                  <a:txBody>
                    <a:bodyPr wrap="square"/>
                    <a:lstStyle/>
                    <a:p>
                      <a:pPr algn="ctr"/>
                      <a:r>
                        <a:rPr sz="1250" b="1">
                          <a:solidFill>
                            <a:srgbClr val="FFFFFF"/>
                          </a:solidFill>
                          <a:latin typeface="Calibri"/>
                        </a:rPr>
                        <a:t>Scénario 2 (global)</a:t>
                      </a:r>
                    </a:p>
                  </a:txBody>
                  <a:tcPr marL="88900" marR="88900" marT="12700" marB="12700" anchor="ctr">
                    <a:solidFill>
                      <a:srgbClr val="1B5E20"/>
                    </a:solidFill>
                  </a:tcPr>
                </a:tc>
              </a:tr>
              <a:tr h="475488">
                <a:tc>
                  <a:txBody>
                    <a:bodyPr wrap="square"/>
                    <a:lstStyle/>
                    <a:p>
                      <a:pPr algn="l"/>
                      <a:r>
                        <a:rPr sz="1200" b="1">
                          <a:solidFill>
                            <a:srgbClr val="37474F"/>
                          </a:solidFill>
                          <a:latin typeface="Calibri"/>
                        </a:rPr>
                        <a:t>Étiquette DPE</a:t>
                      </a:r>
                    </a:p>
                  </a:txBody>
                  <a:tcPr marL="88900" marR="88900" marT="12700" marB="12700" anchor="ctr">
                    <a:solidFill>
                      <a:srgbClr val="FFFFFF"/>
                    </a:solidFill>
                  </a:tcPr>
                </a:tc>
                <a:tc>
                  <a:txBody>
                    <a:bodyPr wrap="square"/>
                    <a:lstStyle/>
                    <a:p>
                      <a:pPr algn="ctr"/>
                      <a:r>
                        <a:rPr sz="1200" b="0">
                          <a:solidFill>
                            <a:srgbClr val="37474F"/>
                          </a:solidFill>
                          <a:latin typeface="Calibri"/>
                        </a:rPr>
                        <a:t>G / G</a:t>
                      </a:r>
                    </a:p>
                  </a:txBody>
                  <a:tcPr marL="88900" marR="88900" marT="12700" marB="12700" anchor="ctr">
                    <a:solidFill>
                      <a:srgbClr val="FFFFFF"/>
                    </a:solidFill>
                  </a:tcPr>
                </a:tc>
                <a:tc>
                  <a:txBody>
                    <a:bodyPr wrap="square"/>
                    <a:lstStyle/>
                    <a:p>
                      <a:pPr algn="ctr"/>
                      <a:r>
                        <a:rPr sz="1200" b="0">
                          <a:solidFill>
                            <a:srgbClr val="37474F"/>
                          </a:solidFill>
                          <a:latin typeface="Calibri"/>
                        </a:rPr>
                        <a:t>B / B</a:t>
                      </a:r>
                    </a:p>
                  </a:txBody>
                  <a:tcPr marL="88900" marR="88900" marT="12700" marB="12700" anchor="ctr">
                    <a:solidFill>
                      <a:srgbClr val="FFFFFF"/>
                    </a:solidFill>
                  </a:tcPr>
                </a:tc>
                <a:tc>
                  <a:txBody>
                    <a:bodyPr wrap="square"/>
                    <a:lstStyle/>
                    <a:p>
                      <a:pPr algn="ctr"/>
                      <a:r>
                        <a:rPr sz="1200" b="0">
                          <a:solidFill>
                            <a:srgbClr val="37474F"/>
                          </a:solidFill>
                          <a:latin typeface="Calibri"/>
                        </a:rPr>
                        <a:t>A / B</a:t>
                      </a:r>
                    </a:p>
                  </a:txBody>
                  <a:tcPr marL="88900" marR="88900" marT="12700" marB="12700" anchor="ctr">
                    <a:solidFill>
                      <a:srgbClr val="FFFFFF"/>
                    </a:solidFill>
                  </a:tcPr>
                </a:tc>
              </a:tr>
              <a:tr h="475488">
                <a:tc>
                  <a:txBody>
                    <a:bodyPr wrap="square"/>
                    <a:lstStyle/>
                    <a:p>
                      <a:pPr algn="l"/>
                      <a:r>
                        <a:rPr sz="1200" b="1">
                          <a:solidFill>
                            <a:srgbClr val="37474F"/>
                          </a:solidFill>
                          <a:latin typeface="Calibri"/>
                        </a:rPr>
                        <a:t>Chauffage</a:t>
                      </a:r>
                    </a:p>
                  </a:txBody>
                  <a:tcPr marL="88900" marR="88900" marT="12700" marB="12700" anchor="ctr">
                    <a:solidFill>
                      <a:srgbClr val="E8F5E9"/>
                    </a:solidFill>
                  </a:tcPr>
                </a:tc>
                <a:tc>
                  <a:txBody>
                    <a:bodyPr wrap="square"/>
                    <a:lstStyle/>
                    <a:p>
                      <a:pPr algn="ctr"/>
                      <a:r>
                        <a:rPr sz="1200" b="0">
                          <a:solidFill>
                            <a:srgbClr val="37474F"/>
                          </a:solidFill>
                          <a:latin typeface="Calibri"/>
                        </a:rPr>
                        <a:t>Fioul (1991)</a:t>
                      </a:r>
                    </a:p>
                  </a:txBody>
                  <a:tcPr marL="88900" marR="88900" marT="12700" marB="12700" anchor="ctr">
                    <a:solidFill>
                      <a:srgbClr val="E8F5E9"/>
                    </a:solidFill>
                  </a:tcPr>
                </a:tc>
                <a:tc>
                  <a:txBody>
                    <a:bodyPr wrap="square"/>
                    <a:lstStyle/>
                    <a:p>
                      <a:pPr algn="ctr"/>
                      <a:r>
                        <a:rPr sz="1200" b="0">
                          <a:solidFill>
                            <a:srgbClr val="37474F"/>
                          </a:solidFill>
                          <a:latin typeface="Calibri"/>
                        </a:rPr>
                        <a:t>Fioul conservé (étape 1)</a:t>
                      </a:r>
                    </a:p>
                  </a:txBody>
                  <a:tcPr marL="88900" marR="88900" marT="12700" marB="12700" anchor="ctr">
                    <a:solidFill>
                      <a:srgbClr val="E8F5E9"/>
                    </a:solidFill>
                  </a:tcPr>
                </a:tc>
                <a:tc>
                  <a:txBody>
                    <a:bodyPr wrap="square"/>
                    <a:lstStyle/>
                    <a:p>
                      <a:pPr algn="ctr"/>
                      <a:r>
                        <a:rPr sz="1200" b="0">
                          <a:solidFill>
                            <a:srgbClr val="37474F"/>
                          </a:solidFill>
                          <a:latin typeface="Calibri"/>
                        </a:rPr>
                        <a:t>Granulés 12 kW</a:t>
                      </a:r>
                    </a:p>
                  </a:txBody>
                  <a:tcPr marL="88900" marR="88900" marT="12700" marB="12700" anchor="ctr">
                    <a:solidFill>
                      <a:srgbClr val="E8F5E9"/>
                    </a:solidFill>
                  </a:tcPr>
                </a:tc>
              </a:tr>
              <a:tr h="475488">
                <a:tc>
                  <a:txBody>
                    <a:bodyPr wrap="square"/>
                    <a:lstStyle/>
                    <a:p>
                      <a:pPr algn="l"/>
                      <a:r>
                        <a:rPr sz="1200" b="1">
                          <a:solidFill>
                            <a:srgbClr val="37474F"/>
                          </a:solidFill>
                          <a:latin typeface="Calibri"/>
                        </a:rPr>
                        <a:t>Coût des travaux</a:t>
                      </a:r>
                    </a:p>
                  </a:txBody>
                  <a:tcPr marL="88900" marR="88900" marT="12700" marB="12700" anchor="ctr">
                    <a:solidFill>
                      <a:srgbClr val="FFFFFF"/>
                    </a:solidFill>
                  </a:tcPr>
                </a:tc>
                <a:tc>
                  <a:txBody>
                    <a:bodyPr wrap="square"/>
                    <a:lstStyle/>
                    <a:p>
                      <a:pPr algn="ctr"/>
                      <a:r>
                        <a:rPr sz="1200" b="0">
                          <a:solidFill>
                            <a:srgbClr val="37474F"/>
                          </a:solidFill>
                          <a:latin typeface="Calibri"/>
                        </a:rPr>
                        <a:t>—</a:t>
                      </a:r>
                    </a:p>
                  </a:txBody>
                  <a:tcPr marL="88900" marR="88900" marT="12700" marB="12700" anchor="ctr">
                    <a:solidFill>
                      <a:srgbClr val="FFFFFF"/>
                    </a:solidFill>
                  </a:tcPr>
                </a:tc>
                <a:tc>
                  <a:txBody>
                    <a:bodyPr wrap="square"/>
                    <a:lstStyle/>
                    <a:p>
                      <a:pPr algn="ctr"/>
                      <a:r>
                        <a:rPr sz="1200" b="0">
                          <a:solidFill>
                            <a:srgbClr val="37474F"/>
                          </a:solidFill>
                          <a:latin typeface="Calibri"/>
                        </a:rPr>
                        <a:t>24 000 €</a:t>
                      </a:r>
                    </a:p>
                  </a:txBody>
                  <a:tcPr marL="88900" marR="88900" marT="12700" marB="12700" anchor="ctr">
                    <a:solidFill>
                      <a:srgbClr val="FFFFFF"/>
                    </a:solidFill>
                  </a:tcPr>
                </a:tc>
                <a:tc>
                  <a:txBody>
                    <a:bodyPr wrap="square"/>
                    <a:lstStyle/>
                    <a:p>
                      <a:pPr algn="ctr"/>
                      <a:r>
                        <a:rPr sz="1200" b="0">
                          <a:solidFill>
                            <a:srgbClr val="37474F"/>
                          </a:solidFill>
                          <a:latin typeface="Calibri"/>
                        </a:rPr>
                        <a:t>40 000 €</a:t>
                      </a:r>
                    </a:p>
                  </a:txBody>
                  <a:tcPr marL="88900" marR="88900" marT="12700" marB="12700" anchor="ctr">
                    <a:solidFill>
                      <a:srgbClr val="FFFFFF"/>
                    </a:solidFill>
                  </a:tcPr>
                </a:tc>
              </a:tr>
              <a:tr h="475488">
                <a:tc>
                  <a:txBody>
                    <a:bodyPr wrap="square"/>
                    <a:lstStyle/>
                    <a:p>
                      <a:pPr algn="l"/>
                      <a:r>
                        <a:rPr sz="1200" b="1">
                          <a:solidFill>
                            <a:srgbClr val="37474F"/>
                          </a:solidFill>
                          <a:latin typeface="Calibri"/>
                        </a:rPr>
                        <a:t>Reste à charge</a:t>
                      </a:r>
                    </a:p>
                  </a:txBody>
                  <a:tcPr marL="88900" marR="88900" marT="12700" marB="12700" anchor="ctr">
                    <a:solidFill>
                      <a:srgbClr val="E8F5E9"/>
                    </a:solidFill>
                  </a:tcPr>
                </a:tc>
                <a:tc>
                  <a:txBody>
                    <a:bodyPr wrap="square"/>
                    <a:lstStyle/>
                    <a:p>
                      <a:pPr algn="ctr"/>
                      <a:r>
                        <a:rPr sz="1200" b="0">
                          <a:solidFill>
                            <a:srgbClr val="37474F"/>
                          </a:solidFill>
                          <a:latin typeface="Calibri"/>
                        </a:rPr>
                        <a:t>—</a:t>
                      </a:r>
                    </a:p>
                  </a:txBody>
                  <a:tcPr marL="88900" marR="88900" marT="12700" marB="12700" anchor="ctr">
                    <a:solidFill>
                      <a:srgbClr val="E8F5E9"/>
                    </a:solidFill>
                  </a:tcPr>
                </a:tc>
                <a:tc>
                  <a:txBody>
                    <a:bodyPr wrap="square"/>
                    <a:lstStyle/>
                    <a:p>
                      <a:pPr algn="ctr"/>
                      <a:r>
                        <a:rPr sz="1200" b="0">
                          <a:solidFill>
                            <a:srgbClr val="37474F"/>
                          </a:solidFill>
                          <a:latin typeface="Calibri"/>
                        </a:rPr>
                        <a:t>17 000 €</a:t>
                      </a:r>
                    </a:p>
                  </a:txBody>
                  <a:tcPr marL="88900" marR="88900" marT="12700" marB="12700" anchor="ctr">
                    <a:solidFill>
                      <a:srgbClr val="E8F5E9"/>
                    </a:solidFill>
                  </a:tcPr>
                </a:tc>
                <a:tc>
                  <a:txBody>
                    <a:bodyPr wrap="square"/>
                    <a:lstStyle/>
                    <a:p>
                      <a:pPr algn="ctr"/>
                      <a:r>
                        <a:rPr sz="1200" b="0">
                          <a:solidFill>
                            <a:srgbClr val="37474F"/>
                          </a:solidFill>
                          <a:latin typeface="Calibri"/>
                        </a:rPr>
                        <a:t>27 000 €</a:t>
                      </a:r>
                    </a:p>
                  </a:txBody>
                  <a:tcPr marL="88900" marR="88900" marT="12700" marB="12700" anchor="ctr">
                    <a:solidFill>
                      <a:srgbClr val="E8F5E9"/>
                    </a:solidFill>
                  </a:tcPr>
                </a:tc>
              </a:tr>
              <a:tr h="475488">
                <a:tc>
                  <a:txBody>
                    <a:bodyPr wrap="square"/>
                    <a:lstStyle/>
                    <a:p>
                      <a:pPr algn="l"/>
                      <a:r>
                        <a:rPr sz="1200" b="1">
                          <a:solidFill>
                            <a:srgbClr val="37474F"/>
                          </a:solidFill>
                          <a:latin typeface="Calibri"/>
                        </a:rPr>
                        <a:t>Coût annuel</a:t>
                      </a:r>
                    </a:p>
                  </a:txBody>
                  <a:tcPr marL="88900" marR="88900" marT="12700" marB="12700" anchor="ctr">
                    <a:solidFill>
                      <a:srgbClr val="FFFFFF"/>
                    </a:solidFill>
                  </a:tcPr>
                </a:tc>
                <a:tc>
                  <a:txBody>
                    <a:bodyPr wrap="square"/>
                    <a:lstStyle/>
                    <a:p>
                      <a:pPr algn="ctr"/>
                      <a:r>
                        <a:rPr sz="1200" b="0">
                          <a:solidFill>
                            <a:srgbClr val="37474F"/>
                          </a:solidFill>
                          <a:latin typeface="Calibri"/>
                        </a:rPr>
                        <a:t>8 355 €</a:t>
                      </a:r>
                    </a:p>
                  </a:txBody>
                  <a:tcPr marL="88900" marR="88900" marT="12700" marB="12700" anchor="ctr">
                    <a:solidFill>
                      <a:srgbClr val="FFFFFF"/>
                    </a:solidFill>
                  </a:tcPr>
                </a:tc>
                <a:tc>
                  <a:txBody>
                    <a:bodyPr wrap="square"/>
                    <a:lstStyle/>
                    <a:p>
                      <a:pPr algn="ctr"/>
                      <a:r>
                        <a:rPr sz="1200" b="0">
                          <a:solidFill>
                            <a:srgbClr val="37474F"/>
                          </a:solidFill>
                          <a:latin typeface="Calibri"/>
                        </a:rPr>
                        <a:t>4 500 €</a:t>
                      </a:r>
                    </a:p>
                  </a:txBody>
                  <a:tcPr marL="88900" marR="88900" marT="12700" marB="12700" anchor="ctr">
                    <a:solidFill>
                      <a:srgbClr val="FFFFFF"/>
                    </a:solidFill>
                  </a:tcPr>
                </a:tc>
                <a:tc>
                  <a:txBody>
                    <a:bodyPr wrap="square"/>
                    <a:lstStyle/>
                    <a:p>
                      <a:pPr algn="ctr"/>
                      <a:r>
                        <a:rPr sz="1200" b="0">
                          <a:solidFill>
                            <a:srgbClr val="37474F"/>
                          </a:solidFill>
                          <a:latin typeface="Calibri"/>
                        </a:rPr>
                        <a:t>3 000 €</a:t>
                      </a:r>
                    </a:p>
                  </a:txBody>
                  <a:tcPr marL="88900" marR="88900" marT="12700" marB="12700" anchor="ctr">
                    <a:solidFill>
                      <a:srgbClr val="FFFFFF"/>
                    </a:solidFill>
                  </a:tcPr>
                </a:tc>
              </a:tr>
              <a:tr h="475488">
                <a:tc>
                  <a:txBody>
                    <a:bodyPr wrap="square"/>
                    <a:lstStyle/>
                    <a:p>
                      <a:pPr algn="l"/>
                      <a:r>
                        <a:rPr sz="1200" b="1">
                          <a:solidFill>
                            <a:srgbClr val="37474F"/>
                          </a:solidFill>
                          <a:latin typeface="Calibri"/>
                        </a:rPr>
                        <a:t>Coût global 30 ans</a:t>
                      </a:r>
                    </a:p>
                  </a:txBody>
                  <a:tcPr marL="88900" marR="88900" marT="12700" marB="12700" anchor="ctr">
                    <a:solidFill>
                      <a:srgbClr val="E8F5E9"/>
                    </a:solidFill>
                  </a:tcPr>
                </a:tc>
                <a:tc>
                  <a:txBody>
                    <a:bodyPr wrap="square"/>
                    <a:lstStyle/>
                    <a:p>
                      <a:pPr algn="ctr"/>
                      <a:r>
                        <a:rPr sz="1200" b="0">
                          <a:solidFill>
                            <a:srgbClr val="37474F"/>
                          </a:solidFill>
                          <a:latin typeface="Calibri"/>
                        </a:rPr>
                        <a:t>250 650 €</a:t>
                      </a:r>
                    </a:p>
                  </a:txBody>
                  <a:tcPr marL="88900" marR="88900" marT="12700" marB="12700" anchor="ctr">
                    <a:solidFill>
                      <a:srgbClr val="E8F5E9"/>
                    </a:solidFill>
                  </a:tcPr>
                </a:tc>
                <a:tc>
                  <a:txBody>
                    <a:bodyPr wrap="square"/>
                    <a:lstStyle/>
                    <a:p>
                      <a:pPr algn="ctr"/>
                      <a:r>
                        <a:rPr sz="1200" b="0">
                          <a:solidFill>
                            <a:srgbClr val="37474F"/>
                          </a:solidFill>
                          <a:latin typeface="Calibri"/>
                        </a:rPr>
                        <a:t>159 000 €</a:t>
                      </a:r>
                    </a:p>
                  </a:txBody>
                  <a:tcPr marL="88900" marR="88900" marT="12700" marB="12700" anchor="ctr">
                    <a:solidFill>
                      <a:srgbClr val="E8F5E9"/>
                    </a:solidFill>
                  </a:tcPr>
                </a:tc>
                <a:tc>
                  <a:txBody>
                    <a:bodyPr wrap="square"/>
                    <a:lstStyle/>
                    <a:p>
                      <a:pPr algn="ctr"/>
                      <a:r>
                        <a:rPr sz="1200" b="0">
                          <a:solidFill>
                            <a:srgbClr val="37474F"/>
                          </a:solidFill>
                          <a:latin typeface="Calibri"/>
                        </a:rPr>
                        <a:t>130 000 €</a:t>
                      </a:r>
                    </a:p>
                  </a:txBody>
                  <a:tcPr marL="88900" marR="88900" marT="12700" marB="12700" anchor="ctr">
                    <a:solidFill>
                      <a:srgbClr val="E8F5E9"/>
                    </a:solidFill>
                  </a:tcPr>
                </a:tc>
              </a:tr>
              <a:tr h="475488">
                <a:tc>
                  <a:txBody>
                    <a:bodyPr wrap="square"/>
                    <a:lstStyle/>
                    <a:p>
                      <a:pPr algn="l"/>
                      <a:r>
                        <a:rPr sz="1200" b="1">
                          <a:solidFill>
                            <a:srgbClr val="37474F"/>
                          </a:solidFill>
                          <a:latin typeface="Calibri"/>
                        </a:rPr>
                        <a:t>Retour sur investissement</a:t>
                      </a:r>
                    </a:p>
                  </a:txBody>
                  <a:tcPr marL="88900" marR="88900" marT="12700" marB="12700" anchor="ctr">
                    <a:solidFill>
                      <a:srgbClr val="FFFFFF"/>
                    </a:solidFill>
                  </a:tcPr>
                </a:tc>
                <a:tc>
                  <a:txBody>
                    <a:bodyPr wrap="square"/>
                    <a:lstStyle/>
                    <a:p>
                      <a:pPr algn="ctr"/>
                      <a:r>
                        <a:rPr sz="1200" b="0">
                          <a:solidFill>
                            <a:srgbClr val="37474F"/>
                          </a:solidFill>
                          <a:latin typeface="Calibri"/>
                        </a:rPr>
                        <a:t>—</a:t>
                      </a:r>
                    </a:p>
                  </a:txBody>
                  <a:tcPr marL="88900" marR="88900" marT="12700" marB="12700" anchor="ctr">
                    <a:solidFill>
                      <a:srgbClr val="FFFFFF"/>
                    </a:solidFill>
                  </a:tcPr>
                </a:tc>
                <a:tc>
                  <a:txBody>
                    <a:bodyPr wrap="square"/>
                    <a:lstStyle/>
                    <a:p>
                      <a:pPr algn="ctr"/>
                      <a:r>
                        <a:rPr sz="1200" b="0">
                          <a:solidFill>
                            <a:srgbClr val="37474F"/>
                          </a:solidFill>
                          <a:latin typeface="Calibri"/>
                        </a:rPr>
                        <a:t>5,7 ans</a:t>
                      </a:r>
                    </a:p>
                  </a:txBody>
                  <a:tcPr marL="88900" marR="88900" marT="12700" marB="12700" anchor="ctr">
                    <a:solidFill>
                      <a:srgbClr val="FFFFFF"/>
                    </a:solidFill>
                  </a:tcPr>
                </a:tc>
                <a:tc>
                  <a:txBody>
                    <a:bodyPr wrap="square"/>
                    <a:lstStyle/>
                    <a:p>
                      <a:pPr algn="ctr"/>
                      <a:r>
                        <a:rPr sz="1200" b="0">
                          <a:solidFill>
                            <a:srgbClr val="37474F"/>
                          </a:solidFill>
                          <a:latin typeface="Calibri"/>
                        </a:rPr>
                        <a:t>5,4 ans</a:t>
                      </a:r>
                    </a:p>
                  </a:txBody>
                  <a:tcPr marL="88900" marR="88900" marT="12700" marB="12700" anchor="ctr">
                    <a:solidFill>
                      <a:srgbClr val="FFFFFF"/>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3716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365760"/>
            <a:ext cx="10515600" cy="822960"/>
          </a:xfrm>
          <a:prstGeom prst="rect">
            <a:avLst/>
          </a:prstGeom>
          <a:noFill/>
        </p:spPr>
        <p:txBody>
          <a:bodyPr wrap="square" anchor="ctr" lIns="25400" rIns="25400" tIns="25400" bIns="25400">
            <a:spAutoFit/>
          </a:bodyPr>
          <a:lstStyle/>
          <a:p>
            <a:pPr algn="l">
              <a:lnSpc>
                <a:spcPct val="100000"/>
              </a:lnSpc>
              <a:spcAft>
                <a:spcPts val="400"/>
              </a:spcAft>
            </a:pPr>
            <a:r>
              <a:rPr sz="3200" b="1" i="0">
                <a:solidFill>
                  <a:srgbClr val="FFFFFF"/>
                </a:solidFill>
                <a:latin typeface="Calibri"/>
              </a:rPr>
              <a:t>Conclusion &amp; recommandation</a:t>
            </a:r>
          </a:p>
        </p:txBody>
      </p:sp>
      <p:sp>
        <p:nvSpPr>
          <p:cNvPr id="5" name="Rounded Rectangle 4"/>
          <p:cNvSpPr/>
          <p:nvPr/>
        </p:nvSpPr>
        <p:spPr>
          <a:xfrm>
            <a:off x="822960" y="1737360"/>
            <a:ext cx="10515600" cy="22860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1874519"/>
            <a:ext cx="10058400" cy="457200"/>
          </a:xfrm>
          <a:prstGeom prst="rect">
            <a:avLst/>
          </a:prstGeom>
          <a:noFill/>
        </p:spPr>
        <p:txBody>
          <a:bodyPr wrap="square" anchor="t" lIns="25400" rIns="25400" tIns="25400" bIns="25400">
            <a:spAutoFit/>
          </a:bodyPr>
          <a:lstStyle/>
          <a:p>
            <a:pPr algn="l">
              <a:lnSpc>
                <a:spcPct val="100000"/>
              </a:lnSpc>
              <a:spcAft>
                <a:spcPts val="400"/>
              </a:spcAft>
            </a:pPr>
            <a:r>
              <a:rPr sz="2200" b="1" i="0">
                <a:solidFill>
                  <a:srgbClr val="1B5E20"/>
                </a:solidFill>
                <a:latin typeface="Calibri"/>
              </a:rPr>
              <a:t>→ Je recommande le Scénario 2 (rénovation globale)</a:t>
            </a:r>
          </a:p>
        </p:txBody>
      </p:sp>
      <p:sp>
        <p:nvSpPr>
          <p:cNvPr id="7" name="TextBox 6"/>
          <p:cNvSpPr txBox="1"/>
          <p:nvPr/>
        </p:nvSpPr>
        <p:spPr>
          <a:xfrm>
            <a:off x="1097280" y="2468880"/>
            <a:ext cx="10058400" cy="1463040"/>
          </a:xfrm>
          <a:prstGeom prst="rect">
            <a:avLst/>
          </a:prstGeom>
          <a:noFill/>
        </p:spPr>
        <p:txBody>
          <a:bodyPr wrap="square">
            <a:spAutoFit/>
          </a:bodyPr>
          <a:lstStyle/>
          <a:p>
            <a:pPr>
              <a:lnSpc>
                <a:spcPct val="105000"/>
              </a:lnSpc>
              <a:spcAft>
                <a:spcPts val="700"/>
              </a:spcAft>
            </a:pPr>
            <a:r>
              <a:rPr sz="1400" b="1">
                <a:solidFill>
                  <a:srgbClr val="2E7D32"/>
                </a:solidFill>
                <a:latin typeface="Calibri"/>
              </a:rPr>
              <a:t>●  </a:t>
            </a:r>
            <a:r>
              <a:rPr sz="1400" b="1">
                <a:solidFill>
                  <a:srgbClr val="37474F"/>
                </a:solidFill>
                <a:latin typeface="Calibri"/>
              </a:rPr>
              <a:t>Performance maximale : </a:t>
            </a:r>
            <a:r>
              <a:rPr sz="1400">
                <a:solidFill>
                  <a:srgbClr val="37474F"/>
                </a:solidFill>
                <a:latin typeface="Calibri"/>
              </a:rPr>
              <a:t>de G à A / B (énergie / climat)</a:t>
            </a:r>
          </a:p>
          <a:p>
            <a:pPr>
              <a:lnSpc>
                <a:spcPct val="105000"/>
              </a:lnSpc>
              <a:spcAft>
                <a:spcPts val="700"/>
              </a:spcAft>
            </a:pPr>
            <a:r>
              <a:rPr sz="1400" b="1">
                <a:solidFill>
                  <a:srgbClr val="2E7D32"/>
                </a:solidFill>
                <a:latin typeface="Calibri"/>
              </a:rPr>
              <a:t>●  </a:t>
            </a:r>
            <a:r>
              <a:rPr sz="1400" b="1">
                <a:solidFill>
                  <a:srgbClr val="37474F"/>
                </a:solidFill>
                <a:latin typeface="Calibri"/>
              </a:rPr>
              <a:t>Sortie du fioul : </a:t>
            </a:r>
            <a:r>
              <a:rPr sz="1400">
                <a:solidFill>
                  <a:srgbClr val="37474F"/>
                </a:solidFill>
                <a:latin typeface="Calibri"/>
              </a:rPr>
              <a:t>énergie renouvelable et locale (granulés savoyards)</a:t>
            </a:r>
          </a:p>
          <a:p>
            <a:pPr>
              <a:lnSpc>
                <a:spcPct val="105000"/>
              </a:lnSpc>
              <a:spcAft>
                <a:spcPts val="700"/>
              </a:spcAft>
            </a:pPr>
            <a:r>
              <a:rPr sz="1400" b="1">
                <a:solidFill>
                  <a:srgbClr val="2E7D32"/>
                </a:solidFill>
                <a:latin typeface="Calibri"/>
              </a:rPr>
              <a:t>●  </a:t>
            </a:r>
            <a:r>
              <a:rPr sz="1400" b="1">
                <a:solidFill>
                  <a:srgbClr val="37474F"/>
                </a:solidFill>
                <a:latin typeface="Calibri"/>
              </a:rPr>
              <a:t>Meilleure rentabilité long terme : </a:t>
            </a:r>
            <a:r>
              <a:rPr sz="1400">
                <a:solidFill>
                  <a:srgbClr val="37474F"/>
                </a:solidFill>
                <a:latin typeface="Calibri"/>
              </a:rPr>
              <a:t>coût global le plus bas, ROI 5,4 ans</a:t>
            </a:r>
          </a:p>
          <a:p>
            <a:pPr>
              <a:lnSpc>
                <a:spcPct val="105000"/>
              </a:lnSpc>
              <a:spcAft>
                <a:spcPts val="700"/>
              </a:spcAft>
            </a:pPr>
            <a:r>
              <a:rPr sz="1400" b="1">
                <a:solidFill>
                  <a:srgbClr val="2E7D32"/>
                </a:solidFill>
                <a:latin typeface="Calibri"/>
              </a:rPr>
              <a:t>●  </a:t>
            </a:r>
            <a:r>
              <a:rPr sz="1400" b="1">
                <a:solidFill>
                  <a:srgbClr val="37474F"/>
                </a:solidFill>
                <a:latin typeface="Calibri"/>
              </a:rPr>
              <a:t>Compatible avec le bâti : </a:t>
            </a:r>
            <a:r>
              <a:rPr sz="1400">
                <a:solidFill>
                  <a:srgbClr val="37474F"/>
                </a:solidFill>
                <a:latin typeface="Calibri"/>
              </a:rPr>
              <a:t>ITE biosourcée + radiateurs fonte conservés</a:t>
            </a:r>
          </a:p>
        </p:txBody>
      </p:sp>
      <p:sp>
        <p:nvSpPr>
          <p:cNvPr id="8" name="Rectangle 7"/>
          <p:cNvSpPr/>
          <p:nvPr/>
        </p:nvSpPr>
        <p:spPr>
          <a:xfrm>
            <a:off x="0" y="4297680"/>
            <a:ext cx="12191695" cy="256032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4572000"/>
            <a:ext cx="10515600" cy="548640"/>
          </a:xfrm>
          <a:prstGeom prst="rect">
            <a:avLst/>
          </a:prstGeom>
          <a:noFill/>
        </p:spPr>
        <p:txBody>
          <a:bodyPr wrap="square" anchor="t" lIns="25400" rIns="25400" tIns="25400" bIns="25400">
            <a:spAutoFit/>
          </a:bodyPr>
          <a:lstStyle/>
          <a:p>
            <a:pPr algn="l">
              <a:lnSpc>
                <a:spcPct val="100000"/>
              </a:lnSpc>
              <a:spcAft>
                <a:spcPts val="400"/>
              </a:spcAft>
            </a:pPr>
            <a:r>
              <a:rPr sz="1500" b="0" i="1">
                <a:solidFill>
                  <a:srgbClr val="C8E6C9"/>
                </a:solidFill>
                <a:latin typeface="Calibri"/>
              </a:rPr>
              <a:t>Budget contraint ? Le Scénario 1 reste une excellente 1ʳᵉ étape (G → B/B), complétée plus tard par le chauffage.</a:t>
            </a:r>
          </a:p>
        </p:txBody>
      </p:sp>
      <p:sp>
        <p:nvSpPr>
          <p:cNvPr id="10" name="TextBox 9"/>
          <p:cNvSpPr txBox="1"/>
          <p:nvPr/>
        </p:nvSpPr>
        <p:spPr>
          <a:xfrm>
            <a:off x="822960" y="5394960"/>
            <a:ext cx="10515600" cy="1280160"/>
          </a:xfrm>
          <a:prstGeom prst="rect">
            <a:avLst/>
          </a:prstGeom>
          <a:noFill/>
        </p:spPr>
        <p:txBody>
          <a:bodyPr wrap="square" anchor="t" lIns="25400" rIns="25400" tIns="25400" bIns="25400">
            <a:spAutoFit/>
          </a:bodyPr>
          <a:lstStyle/>
          <a:p>
            <a:pPr algn="l">
              <a:lnSpc>
                <a:spcPct val="110000"/>
              </a:lnSpc>
              <a:spcAft>
                <a:spcPts val="400"/>
              </a:spcAft>
            </a:pPr>
            <a:r>
              <a:rPr sz="3000" b="1" i="0">
                <a:solidFill>
                  <a:srgbClr val="FFFFFF"/>
                </a:solidFill>
                <a:latin typeface="Calibri"/>
              </a:rPr>
              <a:t>Merci de votre attention.</a:t>
            </a:r>
          </a:p>
          <a:p>
            <a:pPr algn="l">
              <a:lnSpc>
                <a:spcPct val="110000"/>
              </a:lnSpc>
              <a:spcAft>
                <a:spcPts val="400"/>
              </a:spcAft>
            </a:pPr>
            <a:r>
              <a:rPr sz="1600" b="0" i="0">
                <a:solidFill>
                  <a:srgbClr val="C8E6C9"/>
                </a:solidFill>
                <a:latin typeface="Calibri"/>
              </a:rPr>
              <a:t>Je suis à votre disposition pour vos 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