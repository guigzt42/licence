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200"/>
            </a:pPr>
            <a:r>
              <a:t>Évolution des consommations</a:t>
            </a:r>
          </a:p>
        </c:rich>
      </c:tx>
      <c:layout/>
      <c:overlay val="0"/>
    </c:title>
    <c:autoTitleDeleted val="0"/>
    <c:plotArea>
      <c:barChart>
        <c:barDir val="col"/>
        <c:grouping val="clustered"/>
        <c:ser>
          <c:idx val="0"/>
          <c:order val="0"/>
          <c:tx>
            <c:strRef>
              <c:f>Sheet1!$B$1</c:f>
              <c:strCache>
                <c:ptCount val="1"/>
                <c:pt idx="0">
                  <c:v>Fioul (L)</c:v>
                </c:pt>
              </c:strCache>
            </c:strRef>
          </c:tx>
          <c:spPr>
            <a:solidFill>
              <a:srgbClr val="E65100"/>
            </a:solidFill>
          </c:spPr>
          <c:cat>
            <c:strRef>
              <c:f>Sheet1!$A$2:$A$6</c:f>
              <c:strCache>
                <c:ptCount val="5"/>
                <c:pt idx="0">
                  <c:v>19-20</c:v>
                </c:pt>
                <c:pt idx="1">
                  <c:v>20-21</c:v>
                </c:pt>
                <c:pt idx="2">
                  <c:v>21-22</c:v>
                </c:pt>
                <c:pt idx="3">
                  <c:v>22-23</c:v>
                </c:pt>
                <c:pt idx="4">
                  <c:v>23-24</c:v>
                </c:pt>
              </c:strCache>
            </c:strRef>
          </c:cat>
          <c:val>
            <c:numRef>
              <c:f>Sheet1!$B$2:$B$6</c:f>
              <c:numCache>
                <c:formatCode>General</c:formatCode>
                <c:ptCount val="5"/>
                <c:pt idx="0">
                  <c:v>1500</c:v>
                </c:pt>
                <c:pt idx="1">
                  <c:v>1800</c:v>
                </c:pt>
                <c:pt idx="2">
                  <c:v>1700</c:v>
                </c:pt>
                <c:pt idx="3">
                  <c:v>1400</c:v>
                </c:pt>
                <c:pt idx="4">
                  <c:v>1400</c:v>
                </c:pt>
              </c:numCache>
            </c:numRef>
          </c:val>
        </c:ser>
        <c:ser>
          <c:idx val="1"/>
          <c:order val="1"/>
          <c:tx>
            <c:strRef>
              <c:f>Sheet1!$C$1</c:f>
              <c:strCache>
                <c:ptCount val="1"/>
                <c:pt idx="0">
                  <c:v>Électricité (kWh)</c:v>
                </c:pt>
              </c:strCache>
            </c:strRef>
          </c:tx>
          <c:spPr>
            <a:solidFill>
              <a:srgbClr val="1565C0"/>
            </a:solidFill>
          </c:spPr>
          <c:cat>
            <c:strRef>
              <c:f>Sheet1!$A$2:$A$6</c:f>
              <c:strCache>
                <c:ptCount val="5"/>
                <c:pt idx="0">
                  <c:v>19-20</c:v>
                </c:pt>
                <c:pt idx="1">
                  <c:v>20-21</c:v>
                </c:pt>
                <c:pt idx="2">
                  <c:v>21-22</c:v>
                </c:pt>
                <c:pt idx="3">
                  <c:v>22-23</c:v>
                </c:pt>
                <c:pt idx="4">
                  <c:v>23-24</c:v>
                </c:pt>
              </c:strCache>
            </c:strRef>
          </c:cat>
          <c:val>
            <c:numRef>
              <c:f>Sheet1!$C$2:$C$6</c:f>
              <c:numCache>
                <c:formatCode>General</c:formatCode>
                <c:ptCount val="5"/>
                <c:pt idx="0">
                  <c:v>5552</c:v>
                </c:pt>
                <c:pt idx="1">
                  <c:v>5679</c:v>
                </c:pt>
                <c:pt idx="2">
                  <c:v>5334</c:v>
                </c:pt>
                <c:pt idx="3">
                  <c:v>5207</c:v>
                </c:pt>
                <c:pt idx="4">
                  <c:v>5461</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txPr>
        <a:bodyPr/>
        <a:lstStyle/>
        <a:p>
          <a:pPr>
            <a:defRPr sz="900"/>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chart>
    <c:autoTitleDeleted val="1"/>
    <c:plotArea>
      <c:pieChart>
        <c:varyColors val="1"/>
        <c:ser>
          <c:idx val="0"/>
          <c:order val="0"/>
          <c:tx>
            <c:strRef>
              <c:f>Sheet1!$B$1</c:f>
              <c:strCache>
                <c:ptCount val="1"/>
                <c:pt idx="0">
                  <c:v>Déperditions</c:v>
                </c:pt>
              </c:strCache>
            </c:strRef>
          </c:tx>
          <c:dPt>
            <c:idx val="0"/>
            <c:spPr>
              <a:solidFill>
                <a:srgbClr val="C62828"/>
              </a:solidFill>
            </c:spPr>
          </c:dPt>
          <c:dPt>
            <c:idx val="1"/>
            <c:spPr>
              <a:solidFill>
                <a:srgbClr val="E65100"/>
              </a:solidFill>
            </c:spPr>
          </c:dPt>
          <c:dPt>
            <c:idx val="2"/>
            <c:spPr>
              <a:solidFill>
                <a:srgbClr val="1565C0"/>
              </a:solidFill>
            </c:spPr>
          </c:dPt>
          <c:dPt>
            <c:idx val="3"/>
            <c:spPr>
              <a:solidFill>
                <a:srgbClr val="8E24AA"/>
              </a:solidFill>
            </c:spPr>
          </c:dPt>
          <c:dPt>
            <c:idx val="4"/>
            <c:spPr>
              <a:solidFill>
                <a:srgbClr val="2E7D32"/>
              </a:solidFill>
            </c:spPr>
          </c:dPt>
          <c:dPt>
            <c:idx val="5"/>
            <c:spPr>
              <a:solidFill>
                <a:srgbClr val="90A4AE"/>
              </a:solidFill>
            </c:spPr>
          </c:dPt>
          <c:cat>
            <c:strRef>
              <c:f>Sheet1!$A$2:$A$7</c:f>
              <c:strCache>
                <c:ptCount val="6"/>
                <c:pt idx="0">
                  <c:v>Murs extérieurs</c:v>
                </c:pt>
                <c:pt idx="1">
                  <c:v>Toiture</c:v>
                </c:pt>
                <c:pt idx="2">
                  <c:v>Ventilation</c:v>
                </c:pt>
                <c:pt idx="3">
                  <c:v>Ponts thermiques</c:v>
                </c:pt>
                <c:pt idx="4">
                  <c:v>Fenêtres</c:v>
                </c:pt>
                <c:pt idx="5">
                  <c:v>Plancher bas</c:v>
                </c:pt>
              </c:strCache>
            </c:strRef>
          </c:cat>
          <c:val>
            <c:numRef>
              <c:f>Sheet1!$B$2:$B$7</c:f>
              <c:numCache>
                <c:formatCode>General</c:formatCode>
                <c:ptCount val="6"/>
                <c:pt idx="0">
                  <c:v>42</c:v>
                </c:pt>
                <c:pt idx="1">
                  <c:v>20</c:v>
                </c:pt>
                <c:pt idx="2">
                  <c:v>20</c:v>
                </c:pt>
                <c:pt idx="3">
                  <c:v>10</c:v>
                </c:pt>
                <c:pt idx="4">
                  <c:v>4</c:v>
                </c:pt>
                <c:pt idx="5">
                  <c:v>4</c:v>
                </c:pt>
              </c:numCache>
            </c:numRef>
          </c:val>
        </c:ser>
        <c:dLbls>
          <c:numFmt formatCode="0&quot;%&quot;" sourceLinked="0"/>
          <c:txPr>
            <a:bodyPr/>
            <a:lstStyle/>
            <a:p>
              <a:pPr>
                <a:defRPr sz="1100" b="1">
                  <a:solidFill>
                    <a:srgbClr val="FFFFFF"/>
                  </a:solidFill>
                </a:defRPr>
              </a:pPr>
            </a:p>
          </c:txPr>
          <c:dLblPos val="inEnd"/>
          <c:showLegendKey val="0"/>
          <c:showVal val="1"/>
          <c:showCatName val="0"/>
          <c:showSerName val="0"/>
          <c:showPercent val="0"/>
          <c:showBubbleSize val="0"/>
          <c:showLeaderLines val="1"/>
        </c:dLbls>
      </c:pieChart>
    </c:plotArea>
    <c:legend>
      <c:legendPos/>
      <c:overlay val="0"/>
      <c:txPr>
        <a:bodyPr/>
        <a:lstStyle/>
        <a:p>
          <a:pPr>
            <a:defRPr sz="1100"/>
          </a:pPr>
        </a:p>
      </c:txPr>
    </c:legend>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200"/>
            </a:pPr>
            <a:r>
              <a:t>Coût global sur 30 ans</a:t>
            </a:r>
          </a:p>
        </c:rich>
      </c:tx>
      <c:layout/>
      <c:overlay val="0"/>
    </c:title>
    <c:autoTitleDeleted val="0"/>
    <c:plotArea>
      <c:barChart>
        <c:barDir val="col"/>
        <c:grouping val="clustered"/>
        <c:ser>
          <c:idx val="0"/>
          <c:order val="0"/>
          <c:tx>
            <c:strRef>
              <c:f>Sheet1!$B$1</c:f>
              <c:strCache>
                <c:ptCount val="1"/>
                <c:pt idx="0">
                  <c:v>Coût global sur 30 ans (€)</c:v>
                </c:pt>
              </c:strCache>
            </c:strRef>
          </c:tx>
          <c:dPt>
            <c:idx val="0"/>
            <c:spPr>
              <a:solidFill>
                <a:srgbClr val="C62828"/>
              </a:solidFill>
            </c:spPr>
          </c:dPt>
          <c:dPt>
            <c:idx val="1"/>
            <c:spPr>
              <a:solidFill>
                <a:srgbClr val="1565C0"/>
              </a:solidFill>
            </c:spPr>
          </c:dPt>
          <c:dPt>
            <c:idx val="2"/>
            <c:spPr>
              <a:solidFill>
                <a:srgbClr val="1B5E20"/>
              </a:solidFill>
            </c:spPr>
          </c:dPt>
          <c:cat>
            <c:strRef>
              <c:f>Sheet1!$A$2:$A$4</c:f>
              <c:strCache>
                <c:ptCount val="3"/>
                <c:pt idx="0">
                  <c:v>État initial</c:v>
                </c:pt>
                <c:pt idx="1">
                  <c:v>Scénario 1</c:v>
                </c:pt>
                <c:pt idx="2">
                  <c:v>Scénario 2</c:v>
                </c:pt>
              </c:strCache>
            </c:strRef>
          </c:cat>
          <c:val>
            <c:numRef>
              <c:f>Sheet1!$B$2:$B$4</c:f>
              <c:numCache>
                <c:formatCode>General</c:formatCode>
                <c:ptCount val="3"/>
                <c:pt idx="0">
                  <c:v>250650</c:v>
                </c:pt>
                <c:pt idx="1">
                  <c:v>159000</c:v>
                </c:pt>
                <c:pt idx="2">
                  <c:v>130000</c:v>
                </c:pt>
              </c:numCache>
            </c:numRef>
          </c:val>
        </c:ser>
        <c:dLbls>
          <c:numFmt formatCode="# ##0 &quot;€&quot;" sourceLinked="0"/>
          <c:txPr>
            <a:bodyPr/>
            <a:lstStyle/>
            <a:p>
              <a:pPr>
                <a:defRPr sz="1000" b="1"/>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je suis Guillaume Tardy. Je vais vous présenter mon étude énergétique portant sur la rénovation d'une maison individuelle, une ancienne ferme du XIXe siècle située à Saint-Jean-de-Chevelu en Savoie. Mon objectif : diagnostiquer la performance actuelle, identifier les faiblesses, puis proposer et comparer deux scénarios de rénovation. La présentation dure une vingtaine de minutes.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le déroulé : je commence par le contexte et les attentes du maître d'ouvrage, puis le diagnostic technique de l'existant. J'aborde ensuite les déperditions et le DPE, qui justifient les travaux. Je présente les deux scénarios de rénovation, leur dimensionnement, et enfin l'analyse économique qui guide ma recommandation finale.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bâtiment étudié est une ancienne ferme savoyarde de la fin du XIXe siècle, réhabilitée dans les années 90. La surface habitable chauffée est d'environ 99 m² sur deux niveaux. Particularité importante : des murs en pierre calcaire de 50 cm, qui offrent une forte inertie mais très peu d'isolation. Tout l'enjeu sera de l'isoler SANS dénaturer le bâti et en gérant l'humidité. L'étude porte sur l'enveloppe, le chauffage, l'ECS et la ventilation.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maître d'ouvrage occupant a des besoins clairs : réduire ses factures, gagner en confort hiver comme été, remplacer la vieille chaudière fioul et baisser son empreinte carbone. Côté contraintes : il a un budget mais veut des investissements justifiés par les économies. Surtout, il tient à conserver le cachet de la ferme et à respecter les murs en pierre, ce qui oriente fortement vers une isolation par l'extérieur et des matériaux adaptés à l'humidité.</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Au-delà des économies, l'objectif est le confort sur toute l'année. Ce tableau confronte la situation actuelle aux gains attendus, poste par poste : confort d'hiver avec la fin des parois froides, confort d'été grâce au déphasage des isolants biosourcés, qualité de l'air avec la VMC, et confort acoustique apporté par l'isolation extérieure. Remarque : aucun besoin d'accessibilité PMR n'a été identifié dans cette étude.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 analysé les relevés sur 5 ans. Le chauffage repose sur une chaudière fioul de 1991, complétée par un poêle à bois en appoint. La moyenne est de 1 560 litres de fioul par an, 6 stères de bois, et 5 447 kWh d'électricité (dont l'eau chaude sanitaire par ballon électrique). 1 560 L pour 99 m², c'est beaucoup : le signe d'une enveloppe thermique défaillante. C'est ce diagnostic des consommations qui justifie d'aller regarder l'enveloppe en détail.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L'enveloppe, c'est l'interface entre le chauffé et l'extérieur. Point par point : les murs en pierre de 50 cm ont une forte inertie mais ne sont pas isolés ; les combles n'ont que 8 cm de laine minérale ancienne, c'est très insuffisant ; les menuiseries en double vitrage bois argon sont récentes et performantes ; le plancher sur terre-plein n'est pas isolé. Conclusion clé : comme les fenêtres sont déjà bonnes, je concentre les travaux sur les murs et la toiture.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Côté systèmes : la chaudière fioul de 1991 fonctionne encore mais a un rendement limité et émet beaucoup de CO2. Le poêle à bois aide en appoint mais n'est ni labellisé ni étanche. L'eau chaude est produite par un ballon électrique de 200 L placé dans un local non chauffé, ce qui génère des pertes. Et surtout : aucune VMC. Le renouvellement d'air se fait par les défauts d'étanchéité, ce qui est à la fois mauvais pour la qualité de l'air et très coûteux en énergie.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camembert est central dans mon étude. Il montre où part la chaleur : 42 % par les murs, 20 % par la toiture, 20 % par la ventilation, 10 % par les ponts thermiques, et seulement 4 % chacun pour fenêtres et plancher. À droite, l'indicateur clé : le Ubât du bâtiment est de 2,03, soit plus de 4 fois la référence de 0,47. La puissance de chauffage nécessaire est de 21,3 kW. Ce graphique justifie directement mes priorités de travaux : murs, toiture et ventilation représentent à eux seuls plus de 80 % des pertes.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Tout converge vers le DPE. Le logement est classé G — la pire classe — à la fois en énergie et en climat. Concrètement : 535 kWh d'énergie primaire par m² et par an, 156 kg de CO2 par m², et une facture énergétique comprise entre 7 100 et 9 610 € par an. C'est une passoire thermique, principalement à cause des murs non isolés et de la chaudière fioul. Cet état des lieux justifie pleinement d'engager des travaux ambitieux, ce qui m'amène aux scénarios.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Avant les travaux, un point réglementaire. L'isolation par l'extérieur modifie l'aspect des façades : elle nécessite donc probablement une déclaration préalable en mairie, et le respect du PLU. Les matériaux doivent répondre aux critères techniques pour ouvrir droit aux aides, et tout doit être posé selon les DTU. Une attention particulière est portée à la conservation du caractère architectural de cette ancienne ferme.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Premier scénario : je traite uniquement l'enveloppe, sans toucher au chauffage. Isolation des murs par l'extérieur en laine de bois 200 mm, isolation des combles en ouate de cellulose 400 mm, et installation d'une VMC hygro B. La chaudière fioul et le ballon électrique sont conservés. Résultat : on passe de la classe G à une étiquette B / B, pour un investissement limité d'environ 24 000 €. C'est une première étape pertinente car elle attaque les causes principales des pertes. Sa limite : on garde le fioul, donc une énergie fossile.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scénario 2 reprend toute l'isolation du scénario 1 et y ajoute le remplacement du chauffage. J'ai comparé deux solutions : la pompe à chaleur air/eau et la chaudière à granulés. Les deux ont d'excellents rendements et de faibles émissions. Mais je retiens la chaudière à granulés pour deux raisons décisives : elle est compatible avec les radiateurs en fonte haute température déjà en place, et le granulé est une énergie renouvelable abondante et locale en Savoie. Résultat : étiquette A / B, pour environ 40 000 €. La PAC reste une alternative valable si on était parti sur de la basse température.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 volontairement choisi des matériaux biosourcés. La laine de bois pour l'isolation des murs par l'extérieur, la ouate de cellulose (du papier recyclé) pour les combles. Trois raisons : un faible impact environnemental, un excellent déphasage thermique qui apporte le confort d'été que recherche le maître d'ouvrage, et une bonne gestion de l'humidité — essentielle sur des murs en pierre anciens qui doivent rester perspirants.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comment j'ai dimensionné. Pour l'isolation, j'applique R = épaisseur / lambda : les murs atteignent R = 5,26 et les combles R = 10,26, des valeurs conformes à une rénovation performante. Pour le chauffage : la puissance initiale est de 21,3 kW ; avec une réduction des besoins estimée à 55 % grâce à l'isolation et la VMC, on tombe à environ 10 kW. Avec une marge de sécurité, je retiens une chaudière de 12 kW. Côté combustible, le besoin annuel revient à environ 1,5 tonne de granulés, d'où un silo de 2 tonnes pour l'autonomie. La VMC hygro B est dimensionnée à 180 m³/h maxi.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chiffrage repose sur des prix moyens de marché. Pour le scénario 1, on est à 24 000 € HT, dont 18 000 € rien que pour l'isolation des murs — ce qui est logique puisque c'est le premier poste de déperdition. Le scénario 2 reprend ces postes et ajoute la chaudière à granulés (13 000 €) et le silo (2 500 €), pour un total de 40 000 €. L'écart entre les deux, environ 16 000 €, correspond donc au remplacement du chauffage.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travaux sont éligibles à plusieurs aides. Pour le scénario 1 : MaPrimeRénov' à 5 000 € et CEE à 2 000 €, ramenant le reste à charge à 17 000 €. Pour le scénario 2, plus ambitieux, les aides sont aussi plus élevées : 8 000 € de MaPrimeRénov', 4 000 € de CEE et 1 000 € d'aides locales, pour un reste à charge de 27 000 €. Ce sont des estimations : les montants réels dépendent des revenus du ménage et des barèmes en vigueur.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l'analyse qui tranche entre les deux scénarios. À gauche, le coût global sur 30 ans : sans rien faire, on dépense 250 000 € ; le scénario 1 ramène à 159 000 €, et le scénario 2 à 130 000 €. Donc malgré un investissement de départ plus élevé, le scénario 2 coûte MOINS cher au final. Les coûts mensuels passent de 696 € avant travaux à 250 € avec le scénario 2. Et côté ROI, les deux s'amortissent vite : 5,7 ans pour le scénario 1, 5,4 ans pour le scénario 2. Le scénario 2 est donc le meilleur compromis performance / rentabilité.</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complément des travaux, je propose un plan de sobriété : des gestes simples et gratuits. Maintenir 19-20 °C dans les pièces de vie, baisser en cas d'absence, entretenir les équipements, fermer les volets la nuit en hiver, traquer les veilles, et suivre ses consommations. Ces actions n'engagent aucun coût mais amplifient les économies obtenues par la rénovation.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Cette diapo récapitule tout en un coup d'œil. On lit la progression : de G/G à B/B avec le scénario 1, et jusqu'à A/B avec le scénario 2. Le scénario 2 coûte plus cher à l'achat mais affiche le coût annuel le plus bas, le coût global sur 30 ans le plus faible, et même le ROI le plus court. C'est sur cette base que je formule ma recommandation.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conclure : au regard de la performance, du confort, de la sortie du fioul et de la rentabilité long terme, je recommande le scénario 2, la rénovation globale, qui fait passer le logement de G à A/B. C'est aussi celui qui coûte le moins cher sur 30 ans et qui s'amortit le plus vite. Si le budget de départ est un frein, le scénario 1 reste une excellente première étape, que l'on peut compléter plus tard par le changement de chauffage. Je vous remercie de votre attention et je suis prêt à répondre à vos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2194560"/>
            <a:ext cx="12191695" cy="50800"/>
          </a:xfrm>
          <a:prstGeom prst="rect">
            <a:avLst/>
          </a:prstGeom>
          <a:solidFill>
            <a:srgbClr val="A5D6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640080"/>
            <a:ext cx="10058400" cy="457200"/>
          </a:xfrm>
          <a:prstGeom prst="rect">
            <a:avLst/>
          </a:prstGeom>
          <a:noFill/>
        </p:spPr>
        <p:txBody>
          <a:bodyPr wrap="square" anchor="t" lIns="25400" rIns="25400" tIns="25400" bIns="25400">
            <a:spAutoFit/>
          </a:bodyPr>
          <a:lstStyle/>
          <a:p>
            <a:pPr algn="l">
              <a:lnSpc>
                <a:spcPct val="100000"/>
              </a:lnSpc>
              <a:spcAft>
                <a:spcPts val="400"/>
              </a:spcAft>
            </a:pPr>
            <a:r>
              <a:rPr sz="1300" b="1" i="0">
                <a:solidFill>
                  <a:srgbClr val="1B5E20"/>
                </a:solidFill>
                <a:latin typeface="Calibri"/>
              </a:rPr>
              <a:t>FORMATION CHARGÉ DE PROJET ÉNERGIE ET BÂTIMENT DURABLES — BLOC 1</a:t>
            </a:r>
          </a:p>
        </p:txBody>
      </p:sp>
      <p:sp>
        <p:nvSpPr>
          <p:cNvPr id="6" name="TextBox 5"/>
          <p:cNvSpPr txBox="1"/>
          <p:nvPr/>
        </p:nvSpPr>
        <p:spPr>
          <a:xfrm>
            <a:off x="914400" y="1143000"/>
            <a:ext cx="10058400" cy="914400"/>
          </a:xfrm>
          <a:prstGeom prst="rect">
            <a:avLst/>
          </a:prstGeom>
          <a:noFill/>
        </p:spPr>
        <p:txBody>
          <a:bodyPr wrap="square" anchor="t" lIns="25400" rIns="25400" tIns="25400" bIns="25400">
            <a:spAutoFit/>
          </a:bodyPr>
          <a:lstStyle/>
          <a:p>
            <a:pPr algn="l">
              <a:lnSpc>
                <a:spcPct val="100000"/>
              </a:lnSpc>
              <a:spcAft>
                <a:spcPts val="400"/>
              </a:spcAft>
            </a:pPr>
            <a:r>
              <a:rPr sz="2000" b="0" i="0">
                <a:solidFill>
                  <a:srgbClr val="1B5E20"/>
                </a:solidFill>
                <a:latin typeface="Calibri"/>
              </a:rPr>
              <a:t>Soutenance d’étude énergétique</a:t>
            </a:r>
          </a:p>
        </p:txBody>
      </p:sp>
      <p:sp>
        <p:nvSpPr>
          <p:cNvPr id="7" name="TextBox 6"/>
          <p:cNvSpPr txBox="1"/>
          <p:nvPr/>
        </p:nvSpPr>
        <p:spPr>
          <a:xfrm>
            <a:off x="914400" y="2697480"/>
            <a:ext cx="10332720" cy="1645920"/>
          </a:xfrm>
          <a:prstGeom prst="rect">
            <a:avLst/>
          </a:prstGeom>
          <a:noFill/>
        </p:spPr>
        <p:txBody>
          <a:bodyPr wrap="square" anchor="t" lIns="25400" rIns="25400" tIns="25400" bIns="25400">
            <a:spAutoFit/>
          </a:bodyPr>
          <a:lstStyle/>
          <a:p>
            <a:pPr algn="l">
              <a:lnSpc>
                <a:spcPct val="105000"/>
              </a:lnSpc>
              <a:spcAft>
                <a:spcPts val="400"/>
              </a:spcAft>
            </a:pPr>
            <a:r>
              <a:rPr sz="4000" b="1" i="0">
                <a:solidFill>
                  <a:srgbClr val="FFFFFF"/>
                </a:solidFill>
                <a:latin typeface="Calibri"/>
              </a:rPr>
              <a:t>Rénovation énergétique d’une</a:t>
            </a:r>
          </a:p>
          <a:p>
            <a:pPr algn="l">
              <a:lnSpc>
                <a:spcPct val="105000"/>
              </a:lnSpc>
              <a:spcAft>
                <a:spcPts val="400"/>
              </a:spcAft>
            </a:pPr>
            <a:r>
              <a:rPr sz="4000" b="1" i="0">
                <a:solidFill>
                  <a:srgbClr val="C8E6C9"/>
                </a:solidFill>
                <a:latin typeface="Calibri"/>
              </a:rPr>
              <a:t>ancienne ferme savoyarde</a:t>
            </a:r>
          </a:p>
        </p:txBody>
      </p:sp>
      <p:sp>
        <p:nvSpPr>
          <p:cNvPr id="8" name="TextBox 7"/>
          <p:cNvSpPr txBox="1"/>
          <p:nvPr/>
        </p:nvSpPr>
        <p:spPr>
          <a:xfrm>
            <a:off x="914400" y="4297680"/>
            <a:ext cx="10058400" cy="548640"/>
          </a:xfrm>
          <a:prstGeom prst="rect">
            <a:avLst/>
          </a:prstGeom>
          <a:noFill/>
        </p:spPr>
        <p:txBody>
          <a:bodyPr wrap="square" anchor="t" lIns="25400" rIns="25400" tIns="25400" bIns="25400">
            <a:spAutoFit/>
          </a:bodyPr>
          <a:lstStyle/>
          <a:p>
            <a:pPr algn="l">
              <a:lnSpc>
                <a:spcPct val="100000"/>
              </a:lnSpc>
              <a:spcAft>
                <a:spcPts val="400"/>
              </a:spcAft>
            </a:pPr>
            <a:r>
              <a:rPr sz="1800" b="0" i="0">
                <a:solidFill>
                  <a:srgbClr val="E8F5E9"/>
                </a:solidFill>
                <a:latin typeface="Calibri"/>
              </a:rPr>
              <a:t>Maison individuelle — Saint-Jean-de-Chevelu (73), Savoie</a:t>
            </a:r>
          </a:p>
        </p:txBody>
      </p:sp>
      <p:sp>
        <p:nvSpPr>
          <p:cNvPr id="9" name="Rectangle 8"/>
          <p:cNvSpPr/>
          <p:nvPr/>
        </p:nvSpPr>
        <p:spPr>
          <a:xfrm>
            <a:off x="0" y="5852160"/>
            <a:ext cx="12191695" cy="1005840"/>
          </a:xfrm>
          <a:prstGeom prst="rect">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5989320"/>
            <a:ext cx="7315200" cy="777240"/>
          </a:xfrm>
          <a:prstGeom prst="rect">
            <a:avLst/>
          </a:prstGeom>
          <a:noFill/>
        </p:spPr>
        <p:txBody>
          <a:bodyPr wrap="square" anchor="t" lIns="25400" rIns="25400" tIns="25400" bIns="25400">
            <a:spAutoFit/>
          </a:bodyPr>
          <a:lstStyle/>
          <a:p>
            <a:pPr algn="l">
              <a:lnSpc>
                <a:spcPct val="100000"/>
              </a:lnSpc>
              <a:spcAft>
                <a:spcPts val="400"/>
              </a:spcAft>
            </a:pPr>
            <a:r>
              <a:rPr sz="1600" b="1" i="0">
                <a:solidFill>
                  <a:srgbClr val="FFFFFF"/>
                </a:solidFill>
                <a:latin typeface="Calibri"/>
              </a:rPr>
              <a:t>Présenté par Guillaume Tardy</a:t>
            </a:r>
          </a:p>
          <a:p>
            <a:pPr algn="l">
              <a:lnSpc>
                <a:spcPct val="100000"/>
              </a:lnSpc>
              <a:spcAft>
                <a:spcPts val="400"/>
              </a:spcAft>
            </a:pPr>
            <a:r>
              <a:rPr sz="1200" b="0" i="0">
                <a:solidFill>
                  <a:srgbClr val="90A4AE"/>
                </a:solidFill>
                <a:latin typeface="Calibri"/>
              </a:rPr>
              <a:t>Diagnostic · Scénarios de rénovation · Analyse économique</a:t>
            </a:r>
          </a:p>
        </p:txBody>
      </p:sp>
      <p:sp>
        <p:nvSpPr>
          <p:cNvPr id="11" name="TextBox 10"/>
          <p:cNvSpPr txBox="1"/>
          <p:nvPr/>
        </p:nvSpPr>
        <p:spPr>
          <a:xfrm>
            <a:off x="8503920" y="5989320"/>
            <a:ext cx="2743200" cy="777240"/>
          </a:xfrm>
          <a:prstGeom prst="rect">
            <a:avLst/>
          </a:prstGeom>
          <a:noFill/>
        </p:spPr>
        <p:txBody>
          <a:bodyPr wrap="square" anchor="ctr" lIns="25400" rIns="25400" tIns="25400" bIns="25400">
            <a:spAutoFit/>
          </a:bodyPr>
          <a:lstStyle/>
          <a:p>
            <a:pPr algn="r">
              <a:lnSpc>
                <a:spcPct val="100000"/>
              </a:lnSpc>
              <a:spcAft>
                <a:spcPts val="400"/>
              </a:spcAft>
            </a:pPr>
            <a:r>
              <a:rPr sz="1400" b="1" i="0">
                <a:solidFill>
                  <a:srgbClr val="FFFFFF"/>
                </a:solidFill>
                <a:latin typeface="Calibri"/>
              </a:rPr>
              <a:t>Année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65760"/>
            <a:ext cx="10332720" cy="777240"/>
          </a:xfrm>
          <a:prstGeom prst="rect">
            <a:avLst/>
          </a:prstGeom>
          <a:noFill/>
        </p:spPr>
        <p:txBody>
          <a:bodyPr wrap="square" anchor="ctr" lIns="25400" rIns="25400" tIns="25400" bIns="25400">
            <a:spAutoFit/>
          </a:bodyPr>
          <a:lstStyle/>
          <a:p>
            <a:pPr algn="l">
              <a:lnSpc>
                <a:spcPct val="100000"/>
              </a:lnSpc>
              <a:spcAft>
                <a:spcPts val="400"/>
              </a:spcAft>
            </a:pPr>
            <a:r>
              <a:rPr sz="3000" b="1" i="0">
                <a:solidFill>
                  <a:srgbClr val="1B5E20"/>
                </a:solidFill>
                <a:latin typeface="Calibri"/>
              </a:rPr>
              <a:t>Sommaire de la présentation</a:t>
            </a:r>
          </a:p>
        </p:txBody>
      </p:sp>
      <p:sp>
        <p:nvSpPr>
          <p:cNvPr id="5" name="Rectangle 4"/>
          <p:cNvSpPr/>
          <p:nvPr/>
        </p:nvSpPr>
        <p:spPr>
          <a:xfrm>
            <a:off x="548640" y="1188720"/>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46520"/>
            <a:ext cx="8229600" cy="320040"/>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Rénovation énergétique – Saint-Jean-de-Chevelu (73)</a:t>
            </a:r>
          </a:p>
        </p:txBody>
      </p:sp>
      <p:sp>
        <p:nvSpPr>
          <p:cNvPr id="7" name="TextBox 6"/>
          <p:cNvSpPr txBox="1"/>
          <p:nvPr/>
        </p:nvSpPr>
        <p:spPr>
          <a:xfrm>
            <a:off x="9418320" y="6446520"/>
            <a:ext cx="2286000" cy="320040"/>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8" name="Oval 7"/>
          <p:cNvSpPr/>
          <p:nvPr/>
        </p:nvSpPr>
        <p:spPr>
          <a:xfrm>
            <a:off x="822960" y="1600200"/>
            <a:ext cx="502920" cy="502920"/>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600200"/>
            <a:ext cx="502920" cy="502920"/>
          </a:xfrm>
          <a:prstGeom prst="rect">
            <a:avLst/>
          </a:prstGeom>
          <a:noFill/>
        </p:spPr>
        <p:txBody>
          <a:bodyPr wrap="square" anchor="ctr" lIns="25400" rIns="25400" tIns="25400" bIns="25400">
            <a:spAutoFit/>
          </a:bodyPr>
          <a:lstStyle/>
          <a:p>
            <a:pPr algn="ctr">
              <a:lnSpc>
                <a:spcPct val="100000"/>
              </a:lnSpc>
              <a:spcAft>
                <a:spcPts val="400"/>
              </a:spcAft>
            </a:pPr>
            <a:r>
              <a:rPr sz="1800" b="1" i="0">
                <a:solidFill>
                  <a:srgbClr val="FFFFFF"/>
                </a:solidFill>
                <a:latin typeface="Calibri"/>
              </a:rPr>
              <a:t>1</a:t>
            </a:r>
          </a:p>
        </p:txBody>
      </p:sp>
      <p:sp>
        <p:nvSpPr>
          <p:cNvPr id="10" name="TextBox 9"/>
          <p:cNvSpPr txBox="1"/>
          <p:nvPr/>
        </p:nvSpPr>
        <p:spPr>
          <a:xfrm>
            <a:off x="1554480" y="1581912"/>
            <a:ext cx="6858000" cy="365760"/>
          </a:xfrm>
          <a:prstGeom prst="rect">
            <a:avLst/>
          </a:prstGeom>
          <a:noFill/>
        </p:spPr>
        <p:txBody>
          <a:bodyPr wrap="square" anchor="ctr" lIns="25400" rIns="25400" tIns="25400" bIns="25400">
            <a:spAutoFit/>
          </a:bodyPr>
          <a:lstStyle/>
          <a:p>
            <a:pPr algn="l">
              <a:lnSpc>
                <a:spcPct val="100000"/>
              </a:lnSpc>
              <a:spcAft>
                <a:spcPts val="400"/>
              </a:spcAft>
            </a:pPr>
            <a:r>
              <a:rPr sz="1700" b="1" i="0">
                <a:solidFill>
                  <a:srgbClr val="37474F"/>
                </a:solidFill>
                <a:latin typeface="Calibri"/>
              </a:rPr>
              <a:t>Analyse de la situation et objectifs</a:t>
            </a:r>
          </a:p>
        </p:txBody>
      </p:sp>
      <p:sp>
        <p:nvSpPr>
          <p:cNvPr id="11" name="TextBox 10"/>
          <p:cNvSpPr txBox="1"/>
          <p:nvPr/>
        </p:nvSpPr>
        <p:spPr>
          <a:xfrm>
            <a:off x="1554480" y="1892808"/>
            <a:ext cx="9144000" cy="274320"/>
          </a:xfrm>
          <a:prstGeom prst="rect">
            <a:avLst/>
          </a:prstGeom>
          <a:noFill/>
        </p:spPr>
        <p:txBody>
          <a:bodyPr wrap="square" anchor="t" lIns="25400" rIns="25400" tIns="25400" bIns="25400">
            <a:spAutoFit/>
          </a:bodyPr>
          <a:lstStyle/>
          <a:p>
            <a:pPr algn="l">
              <a:lnSpc>
                <a:spcPct val="100000"/>
              </a:lnSpc>
              <a:spcAft>
                <a:spcPts val="400"/>
              </a:spcAft>
            </a:pPr>
            <a:r>
              <a:rPr sz="1200" b="0" i="1">
                <a:solidFill>
                  <a:srgbClr val="90A4AE"/>
                </a:solidFill>
                <a:latin typeface="Calibri"/>
              </a:rPr>
              <a:t>Contexte, maître d’ouvrage, objectifs</a:t>
            </a:r>
          </a:p>
        </p:txBody>
      </p:sp>
      <p:sp>
        <p:nvSpPr>
          <p:cNvPr id="12" name="Oval 11"/>
          <p:cNvSpPr/>
          <p:nvPr/>
        </p:nvSpPr>
        <p:spPr>
          <a:xfrm>
            <a:off x="822960" y="2258568"/>
            <a:ext cx="502920" cy="502920"/>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2258568"/>
            <a:ext cx="502920" cy="502920"/>
          </a:xfrm>
          <a:prstGeom prst="rect">
            <a:avLst/>
          </a:prstGeom>
          <a:noFill/>
        </p:spPr>
        <p:txBody>
          <a:bodyPr wrap="square" anchor="ctr" lIns="25400" rIns="25400" tIns="25400" bIns="25400">
            <a:spAutoFit/>
          </a:bodyPr>
          <a:lstStyle/>
          <a:p>
            <a:pPr algn="ctr">
              <a:lnSpc>
                <a:spcPct val="100000"/>
              </a:lnSpc>
              <a:spcAft>
                <a:spcPts val="400"/>
              </a:spcAft>
            </a:pPr>
            <a:r>
              <a:rPr sz="1800" b="1" i="0">
                <a:solidFill>
                  <a:srgbClr val="FFFFFF"/>
                </a:solidFill>
                <a:latin typeface="Calibri"/>
              </a:rPr>
              <a:t>2</a:t>
            </a:r>
          </a:p>
        </p:txBody>
      </p:sp>
      <p:sp>
        <p:nvSpPr>
          <p:cNvPr id="14" name="TextBox 13"/>
          <p:cNvSpPr txBox="1"/>
          <p:nvPr/>
        </p:nvSpPr>
        <p:spPr>
          <a:xfrm>
            <a:off x="1554480" y="2240280"/>
            <a:ext cx="6858000" cy="365760"/>
          </a:xfrm>
          <a:prstGeom prst="rect">
            <a:avLst/>
          </a:prstGeom>
          <a:noFill/>
        </p:spPr>
        <p:txBody>
          <a:bodyPr wrap="square" anchor="ctr" lIns="25400" rIns="25400" tIns="25400" bIns="25400">
            <a:spAutoFit/>
          </a:bodyPr>
          <a:lstStyle/>
          <a:p>
            <a:pPr algn="l">
              <a:lnSpc>
                <a:spcPct val="100000"/>
              </a:lnSpc>
              <a:spcAft>
                <a:spcPts val="400"/>
              </a:spcAft>
            </a:pPr>
            <a:r>
              <a:rPr sz="1700" b="1" i="0">
                <a:solidFill>
                  <a:srgbClr val="37474F"/>
                </a:solidFill>
                <a:latin typeface="Calibri"/>
              </a:rPr>
              <a:t>Analyse technique de l’existant</a:t>
            </a:r>
          </a:p>
        </p:txBody>
      </p:sp>
      <p:sp>
        <p:nvSpPr>
          <p:cNvPr id="15" name="TextBox 14"/>
          <p:cNvSpPr txBox="1"/>
          <p:nvPr/>
        </p:nvSpPr>
        <p:spPr>
          <a:xfrm>
            <a:off x="1554480" y="2551176"/>
            <a:ext cx="9144000" cy="274320"/>
          </a:xfrm>
          <a:prstGeom prst="rect">
            <a:avLst/>
          </a:prstGeom>
          <a:noFill/>
        </p:spPr>
        <p:txBody>
          <a:bodyPr wrap="square" anchor="t" lIns="25400" rIns="25400" tIns="25400" bIns="25400">
            <a:spAutoFit/>
          </a:bodyPr>
          <a:lstStyle/>
          <a:p>
            <a:pPr algn="l">
              <a:lnSpc>
                <a:spcPct val="100000"/>
              </a:lnSpc>
              <a:spcAft>
                <a:spcPts val="400"/>
              </a:spcAft>
            </a:pPr>
            <a:r>
              <a:rPr sz="1200" b="0" i="1">
                <a:solidFill>
                  <a:srgbClr val="90A4AE"/>
                </a:solidFill>
                <a:latin typeface="Calibri"/>
              </a:rPr>
              <a:t>Consommations, enveloppe, systèmes</a:t>
            </a:r>
          </a:p>
        </p:txBody>
      </p:sp>
      <p:sp>
        <p:nvSpPr>
          <p:cNvPr id="16" name="Oval 15"/>
          <p:cNvSpPr/>
          <p:nvPr/>
        </p:nvSpPr>
        <p:spPr>
          <a:xfrm>
            <a:off x="822960" y="2916936"/>
            <a:ext cx="502920" cy="502920"/>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2916936"/>
            <a:ext cx="502920" cy="502920"/>
          </a:xfrm>
          <a:prstGeom prst="rect">
            <a:avLst/>
          </a:prstGeom>
          <a:noFill/>
        </p:spPr>
        <p:txBody>
          <a:bodyPr wrap="square" anchor="ctr" lIns="25400" rIns="25400" tIns="25400" bIns="25400">
            <a:spAutoFit/>
          </a:bodyPr>
          <a:lstStyle/>
          <a:p>
            <a:pPr algn="ctr">
              <a:lnSpc>
                <a:spcPct val="100000"/>
              </a:lnSpc>
              <a:spcAft>
                <a:spcPts val="400"/>
              </a:spcAft>
            </a:pPr>
            <a:r>
              <a:rPr sz="1800" b="1" i="0">
                <a:solidFill>
                  <a:srgbClr val="FFFFFF"/>
                </a:solidFill>
                <a:latin typeface="Calibri"/>
              </a:rPr>
              <a:t>3</a:t>
            </a:r>
          </a:p>
        </p:txBody>
      </p:sp>
      <p:sp>
        <p:nvSpPr>
          <p:cNvPr id="18" name="TextBox 17"/>
          <p:cNvSpPr txBox="1"/>
          <p:nvPr/>
        </p:nvSpPr>
        <p:spPr>
          <a:xfrm>
            <a:off x="1554480" y="2898648"/>
            <a:ext cx="6858000" cy="365760"/>
          </a:xfrm>
          <a:prstGeom prst="rect">
            <a:avLst/>
          </a:prstGeom>
          <a:noFill/>
        </p:spPr>
        <p:txBody>
          <a:bodyPr wrap="square" anchor="ctr" lIns="25400" rIns="25400" tIns="25400" bIns="25400">
            <a:spAutoFit/>
          </a:bodyPr>
          <a:lstStyle/>
          <a:p>
            <a:pPr algn="l">
              <a:lnSpc>
                <a:spcPct val="100000"/>
              </a:lnSpc>
              <a:spcAft>
                <a:spcPts val="400"/>
              </a:spcAft>
            </a:pPr>
            <a:r>
              <a:rPr sz="1700" b="1" i="0">
                <a:solidFill>
                  <a:srgbClr val="37474F"/>
                </a:solidFill>
                <a:latin typeface="Calibri"/>
              </a:rPr>
              <a:t>Bilan des déperditions &amp; DPE</a:t>
            </a:r>
          </a:p>
        </p:txBody>
      </p:sp>
      <p:sp>
        <p:nvSpPr>
          <p:cNvPr id="19" name="TextBox 18"/>
          <p:cNvSpPr txBox="1"/>
          <p:nvPr/>
        </p:nvSpPr>
        <p:spPr>
          <a:xfrm>
            <a:off x="1554480" y="3209544"/>
            <a:ext cx="9144000" cy="274320"/>
          </a:xfrm>
          <a:prstGeom prst="rect">
            <a:avLst/>
          </a:prstGeom>
          <a:noFill/>
        </p:spPr>
        <p:txBody>
          <a:bodyPr wrap="square" anchor="t" lIns="25400" rIns="25400" tIns="25400" bIns="25400">
            <a:spAutoFit/>
          </a:bodyPr>
          <a:lstStyle/>
          <a:p>
            <a:pPr algn="l">
              <a:lnSpc>
                <a:spcPct val="100000"/>
              </a:lnSpc>
              <a:spcAft>
                <a:spcPts val="400"/>
              </a:spcAft>
            </a:pPr>
            <a:r>
              <a:rPr sz="1200" b="0" i="1">
                <a:solidFill>
                  <a:srgbClr val="90A4AE"/>
                </a:solidFill>
                <a:latin typeface="Calibri"/>
              </a:rPr>
              <a:t>Où part la chaleur ? Étiquette actuelle</a:t>
            </a:r>
          </a:p>
        </p:txBody>
      </p:sp>
      <p:sp>
        <p:nvSpPr>
          <p:cNvPr id="20" name="Oval 19"/>
          <p:cNvSpPr/>
          <p:nvPr/>
        </p:nvSpPr>
        <p:spPr>
          <a:xfrm>
            <a:off x="822960" y="3575304"/>
            <a:ext cx="502920" cy="502920"/>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3575304"/>
            <a:ext cx="502920" cy="502920"/>
          </a:xfrm>
          <a:prstGeom prst="rect">
            <a:avLst/>
          </a:prstGeom>
          <a:noFill/>
        </p:spPr>
        <p:txBody>
          <a:bodyPr wrap="square" anchor="ctr" lIns="25400" rIns="25400" tIns="25400" bIns="25400">
            <a:spAutoFit/>
          </a:bodyPr>
          <a:lstStyle/>
          <a:p>
            <a:pPr algn="ctr">
              <a:lnSpc>
                <a:spcPct val="100000"/>
              </a:lnSpc>
              <a:spcAft>
                <a:spcPts val="400"/>
              </a:spcAft>
            </a:pPr>
            <a:r>
              <a:rPr sz="1800" b="1" i="0">
                <a:solidFill>
                  <a:srgbClr val="FFFFFF"/>
                </a:solidFill>
                <a:latin typeface="Calibri"/>
              </a:rPr>
              <a:t>4</a:t>
            </a:r>
          </a:p>
        </p:txBody>
      </p:sp>
      <p:sp>
        <p:nvSpPr>
          <p:cNvPr id="22" name="TextBox 21"/>
          <p:cNvSpPr txBox="1"/>
          <p:nvPr/>
        </p:nvSpPr>
        <p:spPr>
          <a:xfrm>
            <a:off x="1554480" y="3557016"/>
            <a:ext cx="6858000" cy="365760"/>
          </a:xfrm>
          <a:prstGeom prst="rect">
            <a:avLst/>
          </a:prstGeom>
          <a:noFill/>
        </p:spPr>
        <p:txBody>
          <a:bodyPr wrap="square" anchor="ctr" lIns="25400" rIns="25400" tIns="25400" bIns="25400">
            <a:spAutoFit/>
          </a:bodyPr>
          <a:lstStyle/>
          <a:p>
            <a:pPr algn="l">
              <a:lnSpc>
                <a:spcPct val="100000"/>
              </a:lnSpc>
              <a:spcAft>
                <a:spcPts val="400"/>
              </a:spcAft>
            </a:pPr>
            <a:r>
              <a:rPr sz="1700" b="1" i="0">
                <a:solidFill>
                  <a:srgbClr val="37474F"/>
                </a:solidFill>
                <a:latin typeface="Calibri"/>
              </a:rPr>
              <a:t>Les deux scénarios de rénovation</a:t>
            </a:r>
          </a:p>
        </p:txBody>
      </p:sp>
      <p:sp>
        <p:nvSpPr>
          <p:cNvPr id="23" name="TextBox 22"/>
          <p:cNvSpPr txBox="1"/>
          <p:nvPr/>
        </p:nvSpPr>
        <p:spPr>
          <a:xfrm>
            <a:off x="1554480" y="3867912"/>
            <a:ext cx="9144000" cy="274320"/>
          </a:xfrm>
          <a:prstGeom prst="rect">
            <a:avLst/>
          </a:prstGeom>
          <a:noFill/>
        </p:spPr>
        <p:txBody>
          <a:bodyPr wrap="square" anchor="t" lIns="25400" rIns="25400" tIns="25400" bIns="25400">
            <a:spAutoFit/>
          </a:bodyPr>
          <a:lstStyle/>
          <a:p>
            <a:pPr algn="l">
              <a:lnSpc>
                <a:spcPct val="100000"/>
              </a:lnSpc>
              <a:spcAft>
                <a:spcPts val="400"/>
              </a:spcAft>
            </a:pPr>
            <a:r>
              <a:rPr sz="1200" b="0" i="1">
                <a:solidFill>
                  <a:srgbClr val="90A4AE"/>
                </a:solidFill>
                <a:latin typeface="Calibri"/>
              </a:rPr>
              <a:t>Scénario 1 et Scénario 2</a:t>
            </a:r>
          </a:p>
        </p:txBody>
      </p:sp>
      <p:sp>
        <p:nvSpPr>
          <p:cNvPr id="24" name="Oval 23"/>
          <p:cNvSpPr/>
          <p:nvPr/>
        </p:nvSpPr>
        <p:spPr>
          <a:xfrm>
            <a:off x="822960" y="4233672"/>
            <a:ext cx="502920" cy="502920"/>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4233672"/>
            <a:ext cx="502920" cy="502920"/>
          </a:xfrm>
          <a:prstGeom prst="rect">
            <a:avLst/>
          </a:prstGeom>
          <a:noFill/>
        </p:spPr>
        <p:txBody>
          <a:bodyPr wrap="square" anchor="ctr" lIns="25400" rIns="25400" tIns="25400" bIns="25400">
            <a:spAutoFit/>
          </a:bodyPr>
          <a:lstStyle/>
          <a:p>
            <a:pPr algn="ctr">
              <a:lnSpc>
                <a:spcPct val="100000"/>
              </a:lnSpc>
              <a:spcAft>
                <a:spcPts val="400"/>
              </a:spcAft>
            </a:pPr>
            <a:r>
              <a:rPr sz="1800" b="1" i="0">
                <a:solidFill>
                  <a:srgbClr val="FFFFFF"/>
                </a:solidFill>
                <a:latin typeface="Calibri"/>
              </a:rPr>
              <a:t>5</a:t>
            </a:r>
          </a:p>
        </p:txBody>
      </p:sp>
      <p:sp>
        <p:nvSpPr>
          <p:cNvPr id="26" name="TextBox 25"/>
          <p:cNvSpPr txBox="1"/>
          <p:nvPr/>
        </p:nvSpPr>
        <p:spPr>
          <a:xfrm>
            <a:off x="1554480" y="4215384"/>
            <a:ext cx="6858000" cy="365760"/>
          </a:xfrm>
          <a:prstGeom prst="rect">
            <a:avLst/>
          </a:prstGeom>
          <a:noFill/>
        </p:spPr>
        <p:txBody>
          <a:bodyPr wrap="square" anchor="ctr" lIns="25400" rIns="25400" tIns="25400" bIns="25400">
            <a:spAutoFit/>
          </a:bodyPr>
          <a:lstStyle/>
          <a:p>
            <a:pPr algn="l">
              <a:lnSpc>
                <a:spcPct val="100000"/>
              </a:lnSpc>
              <a:spcAft>
                <a:spcPts val="400"/>
              </a:spcAft>
            </a:pPr>
            <a:r>
              <a:rPr sz="1700" b="1" i="0">
                <a:solidFill>
                  <a:srgbClr val="37474F"/>
                </a:solidFill>
                <a:latin typeface="Calibri"/>
              </a:rPr>
              <a:t>Dimensionnement &amp; matériaux</a:t>
            </a:r>
          </a:p>
        </p:txBody>
      </p:sp>
      <p:sp>
        <p:nvSpPr>
          <p:cNvPr id="27" name="TextBox 26"/>
          <p:cNvSpPr txBox="1"/>
          <p:nvPr/>
        </p:nvSpPr>
        <p:spPr>
          <a:xfrm>
            <a:off x="1554480" y="4526280"/>
            <a:ext cx="9144000" cy="274320"/>
          </a:xfrm>
          <a:prstGeom prst="rect">
            <a:avLst/>
          </a:prstGeom>
          <a:noFill/>
        </p:spPr>
        <p:txBody>
          <a:bodyPr wrap="square" anchor="t" lIns="25400" rIns="25400" tIns="25400" bIns="25400">
            <a:spAutoFit/>
          </a:bodyPr>
          <a:lstStyle/>
          <a:p>
            <a:pPr algn="l">
              <a:lnSpc>
                <a:spcPct val="100000"/>
              </a:lnSpc>
              <a:spcAft>
                <a:spcPts val="400"/>
              </a:spcAft>
            </a:pPr>
            <a:r>
              <a:rPr sz="1200" b="0" i="1">
                <a:solidFill>
                  <a:srgbClr val="90A4AE"/>
                </a:solidFill>
                <a:latin typeface="Calibri"/>
              </a:rPr>
              <a:t>Calculs, isolants biosourcés</a:t>
            </a:r>
          </a:p>
        </p:txBody>
      </p:sp>
      <p:sp>
        <p:nvSpPr>
          <p:cNvPr id="28" name="Oval 27"/>
          <p:cNvSpPr/>
          <p:nvPr/>
        </p:nvSpPr>
        <p:spPr>
          <a:xfrm>
            <a:off x="822960" y="4892040"/>
            <a:ext cx="502920" cy="502920"/>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4892040"/>
            <a:ext cx="502920" cy="502920"/>
          </a:xfrm>
          <a:prstGeom prst="rect">
            <a:avLst/>
          </a:prstGeom>
          <a:noFill/>
        </p:spPr>
        <p:txBody>
          <a:bodyPr wrap="square" anchor="ctr" lIns="25400" rIns="25400" tIns="25400" bIns="25400">
            <a:spAutoFit/>
          </a:bodyPr>
          <a:lstStyle/>
          <a:p>
            <a:pPr algn="ctr">
              <a:lnSpc>
                <a:spcPct val="100000"/>
              </a:lnSpc>
              <a:spcAft>
                <a:spcPts val="400"/>
              </a:spcAft>
            </a:pPr>
            <a:r>
              <a:rPr sz="1800" b="1" i="0">
                <a:solidFill>
                  <a:srgbClr val="FFFFFF"/>
                </a:solidFill>
                <a:latin typeface="Calibri"/>
              </a:rPr>
              <a:t>6</a:t>
            </a:r>
          </a:p>
        </p:txBody>
      </p:sp>
      <p:sp>
        <p:nvSpPr>
          <p:cNvPr id="30" name="TextBox 29"/>
          <p:cNvSpPr txBox="1"/>
          <p:nvPr/>
        </p:nvSpPr>
        <p:spPr>
          <a:xfrm>
            <a:off x="1554480" y="4873752"/>
            <a:ext cx="6858000" cy="365760"/>
          </a:xfrm>
          <a:prstGeom prst="rect">
            <a:avLst/>
          </a:prstGeom>
          <a:noFill/>
        </p:spPr>
        <p:txBody>
          <a:bodyPr wrap="square" anchor="ctr" lIns="25400" rIns="25400" tIns="25400" bIns="25400">
            <a:spAutoFit/>
          </a:bodyPr>
          <a:lstStyle/>
          <a:p>
            <a:pPr algn="l">
              <a:lnSpc>
                <a:spcPct val="100000"/>
              </a:lnSpc>
              <a:spcAft>
                <a:spcPts val="400"/>
              </a:spcAft>
            </a:pPr>
            <a:r>
              <a:rPr sz="1700" b="1" i="0">
                <a:solidFill>
                  <a:srgbClr val="37474F"/>
                </a:solidFill>
                <a:latin typeface="Calibri"/>
              </a:rPr>
              <a:t>Analyse économique</a:t>
            </a:r>
          </a:p>
        </p:txBody>
      </p:sp>
      <p:sp>
        <p:nvSpPr>
          <p:cNvPr id="31" name="TextBox 30"/>
          <p:cNvSpPr txBox="1"/>
          <p:nvPr/>
        </p:nvSpPr>
        <p:spPr>
          <a:xfrm>
            <a:off x="1554480" y="5184648"/>
            <a:ext cx="9144000" cy="274320"/>
          </a:xfrm>
          <a:prstGeom prst="rect">
            <a:avLst/>
          </a:prstGeom>
          <a:noFill/>
        </p:spPr>
        <p:txBody>
          <a:bodyPr wrap="square" anchor="t" lIns="25400" rIns="25400" tIns="25400" bIns="25400">
            <a:spAutoFit/>
          </a:bodyPr>
          <a:lstStyle/>
          <a:p>
            <a:pPr algn="l">
              <a:lnSpc>
                <a:spcPct val="100000"/>
              </a:lnSpc>
              <a:spcAft>
                <a:spcPts val="400"/>
              </a:spcAft>
            </a:pPr>
            <a:r>
              <a:rPr sz="1200" b="0" i="1">
                <a:solidFill>
                  <a:srgbClr val="90A4AE"/>
                </a:solidFill>
                <a:latin typeface="Calibri"/>
              </a:rPr>
              <a:t>Coûts, aides, ROI, coût global 30 ans</a:t>
            </a:r>
          </a:p>
        </p:txBody>
      </p:sp>
      <p:sp>
        <p:nvSpPr>
          <p:cNvPr id="32" name="Oval 31"/>
          <p:cNvSpPr/>
          <p:nvPr/>
        </p:nvSpPr>
        <p:spPr>
          <a:xfrm>
            <a:off x="822960" y="5550408"/>
            <a:ext cx="502920" cy="502920"/>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60" y="5550408"/>
            <a:ext cx="502920" cy="502920"/>
          </a:xfrm>
          <a:prstGeom prst="rect">
            <a:avLst/>
          </a:prstGeom>
          <a:noFill/>
        </p:spPr>
        <p:txBody>
          <a:bodyPr wrap="square" anchor="ctr" lIns="25400" rIns="25400" tIns="25400" bIns="25400">
            <a:spAutoFit/>
          </a:bodyPr>
          <a:lstStyle/>
          <a:p>
            <a:pPr algn="ctr">
              <a:lnSpc>
                <a:spcPct val="100000"/>
              </a:lnSpc>
              <a:spcAft>
                <a:spcPts val="400"/>
              </a:spcAft>
            </a:pPr>
            <a:r>
              <a:rPr sz="1800" b="1" i="0">
                <a:solidFill>
                  <a:srgbClr val="FFFFFF"/>
                </a:solidFill>
                <a:latin typeface="Calibri"/>
              </a:rPr>
              <a:t>7</a:t>
            </a:r>
          </a:p>
        </p:txBody>
      </p:sp>
      <p:sp>
        <p:nvSpPr>
          <p:cNvPr id="34" name="TextBox 33"/>
          <p:cNvSpPr txBox="1"/>
          <p:nvPr/>
        </p:nvSpPr>
        <p:spPr>
          <a:xfrm>
            <a:off x="1554480" y="5532120"/>
            <a:ext cx="6858000" cy="365760"/>
          </a:xfrm>
          <a:prstGeom prst="rect">
            <a:avLst/>
          </a:prstGeom>
          <a:noFill/>
        </p:spPr>
        <p:txBody>
          <a:bodyPr wrap="square" anchor="ctr" lIns="25400" rIns="25400" tIns="25400" bIns="25400">
            <a:spAutoFit/>
          </a:bodyPr>
          <a:lstStyle/>
          <a:p>
            <a:pPr algn="l">
              <a:lnSpc>
                <a:spcPct val="100000"/>
              </a:lnSpc>
              <a:spcAft>
                <a:spcPts val="400"/>
              </a:spcAft>
            </a:pPr>
            <a:r>
              <a:rPr sz="1700" b="1" i="0">
                <a:solidFill>
                  <a:srgbClr val="37474F"/>
                </a:solidFill>
                <a:latin typeface="Calibri"/>
              </a:rPr>
              <a:t>Plan de sobriété &amp; conclusion</a:t>
            </a:r>
          </a:p>
        </p:txBody>
      </p:sp>
      <p:sp>
        <p:nvSpPr>
          <p:cNvPr id="35" name="TextBox 34"/>
          <p:cNvSpPr txBox="1"/>
          <p:nvPr/>
        </p:nvSpPr>
        <p:spPr>
          <a:xfrm>
            <a:off x="1554480" y="5843016"/>
            <a:ext cx="9144000" cy="274320"/>
          </a:xfrm>
          <a:prstGeom prst="rect">
            <a:avLst/>
          </a:prstGeom>
          <a:noFill/>
        </p:spPr>
        <p:txBody>
          <a:bodyPr wrap="square" anchor="t" lIns="25400" rIns="25400" tIns="25400" bIns="25400">
            <a:spAutoFit/>
          </a:bodyPr>
          <a:lstStyle/>
          <a:p>
            <a:pPr algn="l">
              <a:lnSpc>
                <a:spcPct val="100000"/>
              </a:lnSpc>
              <a:spcAft>
                <a:spcPts val="400"/>
              </a:spcAft>
            </a:pPr>
            <a:r>
              <a:rPr sz="1200" b="0" i="1">
                <a:solidFill>
                  <a:srgbClr val="90A4AE"/>
                </a:solidFill>
                <a:latin typeface="Calibri"/>
              </a:rPr>
              <a:t>Recommandation finale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1</a:t>
            </a:r>
          </a:p>
        </p:txBody>
      </p:sp>
      <p:sp>
        <p:nvSpPr>
          <p:cNvPr id="6" name="TextBox 5"/>
          <p:cNvSpPr txBox="1"/>
          <p:nvPr/>
        </p:nvSpPr>
        <p:spPr>
          <a:xfrm>
            <a:off x="1325880" y="365760"/>
            <a:ext cx="10332720" cy="777240"/>
          </a:xfrm>
          <a:prstGeom prst="rect">
            <a:avLst/>
          </a:prstGeom>
          <a:noFill/>
        </p:spPr>
        <p:txBody>
          <a:bodyPr wrap="square" anchor="ctr" lIns="25400" rIns="25400" tIns="25400" bIns="25400">
            <a:spAutoFit/>
          </a:bodyPr>
          <a:lstStyle/>
          <a:p>
            <a:pPr algn="l">
              <a:lnSpc>
                <a:spcPct val="100000"/>
              </a:lnSpc>
              <a:spcAft>
                <a:spcPts val="400"/>
              </a:spcAft>
            </a:pPr>
            <a:r>
              <a:rPr sz="3000" b="1" i="0">
                <a:solidFill>
                  <a:srgbClr val="1B5E20"/>
                </a:solidFill>
                <a:latin typeface="Calibri"/>
              </a:rPr>
              <a:t>Analyse de la situation</a:t>
            </a:r>
          </a:p>
        </p:txBody>
      </p:sp>
      <p:sp>
        <p:nvSpPr>
          <p:cNvPr id="7" name="TextBox 6"/>
          <p:cNvSpPr txBox="1"/>
          <p:nvPr/>
        </p:nvSpPr>
        <p:spPr>
          <a:xfrm>
            <a:off x="1325880" y="1078992"/>
            <a:ext cx="10332720" cy="365760"/>
          </a:xfrm>
          <a:prstGeom prst="rect">
            <a:avLst/>
          </a:prstGeom>
          <a:noFill/>
        </p:spPr>
        <p:txBody>
          <a:bodyPr wrap="square" anchor="t" lIns="25400" rIns="25400" tIns="25400" bIns="25400">
            <a:spAutoFit/>
          </a:bodyPr>
          <a:lstStyle/>
          <a:p>
            <a:pPr algn="l">
              <a:lnSpc>
                <a:spcPct val="100000"/>
              </a:lnSpc>
              <a:spcAft>
                <a:spcPts val="400"/>
              </a:spcAft>
            </a:pPr>
            <a:r>
              <a:rPr sz="1500" b="0" i="1">
                <a:solidFill>
                  <a:srgbClr val="90A4AE"/>
                </a:solidFill>
                <a:latin typeface="Calibri"/>
              </a:rPr>
              <a:t>Nature du projet et contexte</a:t>
            </a:r>
          </a:p>
        </p:txBody>
      </p:sp>
      <p:sp>
        <p:nvSpPr>
          <p:cNvPr id="8" name="Rectangle 7"/>
          <p:cNvSpPr/>
          <p:nvPr/>
        </p:nvSpPr>
        <p:spPr>
          <a:xfrm>
            <a:off x="1325880" y="1188720"/>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46520"/>
            <a:ext cx="8229600" cy="320040"/>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Rénovation énergétique – Saint-Jean-de-Chevelu (73)</a:t>
            </a:r>
          </a:p>
        </p:txBody>
      </p:sp>
      <p:sp>
        <p:nvSpPr>
          <p:cNvPr id="10" name="TextBox 9"/>
          <p:cNvSpPr txBox="1"/>
          <p:nvPr/>
        </p:nvSpPr>
        <p:spPr>
          <a:xfrm>
            <a:off x="9418320" y="6446520"/>
            <a:ext cx="2286000" cy="320040"/>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TextBox 10"/>
          <p:cNvSpPr txBox="1"/>
          <p:nvPr/>
        </p:nvSpPr>
        <p:spPr>
          <a:xfrm>
            <a:off x="822960" y="1554480"/>
            <a:ext cx="5852160" cy="4114800"/>
          </a:xfrm>
          <a:prstGeom prst="rect">
            <a:avLst/>
          </a:prstGeom>
          <a:noFill/>
        </p:spPr>
        <p:txBody>
          <a:bodyPr wrap="square">
            <a:spAutoFit/>
          </a:bodyPr>
          <a:lstStyle/>
          <a:p>
            <a:pPr>
              <a:lnSpc>
                <a:spcPct val="105000"/>
              </a:lnSpc>
              <a:spcAft>
                <a:spcPts val="1100"/>
              </a:spcAft>
            </a:pPr>
            <a:r>
              <a:rPr sz="1500" b="1">
                <a:solidFill>
                  <a:srgbClr val="2E7D32"/>
                </a:solidFill>
                <a:latin typeface="Calibri"/>
              </a:rPr>
              <a:t>●  </a:t>
            </a:r>
            <a:r>
              <a:rPr sz="1500" b="1">
                <a:solidFill>
                  <a:srgbClr val="37474F"/>
                </a:solidFill>
                <a:latin typeface="Calibri"/>
              </a:rPr>
              <a:t>Ancienne ferme </a:t>
            </a:r>
            <a:r>
              <a:rPr sz="1500">
                <a:solidFill>
                  <a:srgbClr val="37474F"/>
                </a:solidFill>
                <a:latin typeface="Calibri"/>
              </a:rPr>
              <a:t>de la fin du XIXᵉ siècle, réhabilitée dans les années 1990</a:t>
            </a:r>
          </a:p>
          <a:p>
            <a:pPr>
              <a:lnSpc>
                <a:spcPct val="105000"/>
              </a:lnSpc>
              <a:spcAft>
                <a:spcPts val="1100"/>
              </a:spcAft>
            </a:pPr>
            <a:r>
              <a:rPr sz="1500" b="1">
                <a:solidFill>
                  <a:srgbClr val="2E7D32"/>
                </a:solidFill>
                <a:latin typeface="Calibri"/>
              </a:rPr>
              <a:t>●  </a:t>
            </a:r>
            <a:r>
              <a:rPr sz="1500" b="1">
                <a:solidFill>
                  <a:srgbClr val="37474F"/>
                </a:solidFill>
                <a:latin typeface="Calibri"/>
              </a:rPr>
              <a:t>Maison individuelle </a:t>
            </a:r>
            <a:r>
              <a:rPr sz="1500">
                <a:solidFill>
                  <a:srgbClr val="37474F"/>
                </a:solidFill>
                <a:latin typeface="Calibri"/>
              </a:rPr>
              <a:t>occupée par une famille (résidence principale)</a:t>
            </a:r>
          </a:p>
          <a:p>
            <a:pPr>
              <a:lnSpc>
                <a:spcPct val="105000"/>
              </a:lnSpc>
              <a:spcAft>
                <a:spcPts val="1100"/>
              </a:spcAft>
            </a:pPr>
            <a:r>
              <a:rPr sz="1500" b="1">
                <a:solidFill>
                  <a:srgbClr val="2E7D32"/>
                </a:solidFill>
                <a:latin typeface="Calibri"/>
              </a:rPr>
              <a:t>●  </a:t>
            </a:r>
            <a:r>
              <a:rPr sz="1500" b="1">
                <a:solidFill>
                  <a:srgbClr val="37474F"/>
                </a:solidFill>
                <a:latin typeface="Calibri"/>
              </a:rPr>
              <a:t>Surface habitable chauffée : </a:t>
            </a:r>
            <a:r>
              <a:rPr sz="1500">
                <a:solidFill>
                  <a:srgbClr val="37474F"/>
                </a:solidFill>
                <a:latin typeface="Calibri"/>
              </a:rPr>
              <a:t>≈ 99 m² sur 2 niveaux</a:t>
            </a:r>
          </a:p>
          <a:p>
            <a:pPr>
              <a:lnSpc>
                <a:spcPct val="105000"/>
              </a:lnSpc>
              <a:spcAft>
                <a:spcPts val="1100"/>
              </a:spcAft>
            </a:pPr>
            <a:r>
              <a:rPr sz="1500" b="1">
                <a:solidFill>
                  <a:srgbClr val="2E7D32"/>
                </a:solidFill>
                <a:latin typeface="Calibri"/>
              </a:rPr>
              <a:t>●  </a:t>
            </a:r>
            <a:r>
              <a:rPr sz="1500" b="1">
                <a:solidFill>
                  <a:srgbClr val="37474F"/>
                </a:solidFill>
                <a:latin typeface="Calibri"/>
              </a:rPr>
              <a:t>Zones non chauffées : </a:t>
            </a:r>
            <a:r>
              <a:rPr sz="1500">
                <a:solidFill>
                  <a:srgbClr val="37474F"/>
                </a:solidFill>
                <a:latin typeface="Calibri"/>
              </a:rPr>
              <a:t>garage, appentis, combles perdus</a:t>
            </a:r>
          </a:p>
          <a:p>
            <a:pPr>
              <a:lnSpc>
                <a:spcPct val="105000"/>
              </a:lnSpc>
              <a:spcAft>
                <a:spcPts val="1100"/>
              </a:spcAft>
            </a:pPr>
            <a:r>
              <a:rPr sz="1500" b="1">
                <a:solidFill>
                  <a:srgbClr val="2E7D32"/>
                </a:solidFill>
                <a:latin typeface="Calibri"/>
              </a:rPr>
              <a:t>●  </a:t>
            </a:r>
            <a:r>
              <a:rPr sz="1500" b="1">
                <a:solidFill>
                  <a:srgbClr val="37474F"/>
                </a:solidFill>
                <a:latin typeface="Calibri"/>
              </a:rPr>
              <a:t>Murs en pierre calcaire </a:t>
            </a:r>
            <a:r>
              <a:rPr sz="1500">
                <a:solidFill>
                  <a:srgbClr val="37474F"/>
                </a:solidFill>
                <a:latin typeface="Calibri"/>
              </a:rPr>
              <a:t>de 50 cm — forte inertie, patrimoine local</a:t>
            </a:r>
          </a:p>
          <a:p>
            <a:pPr>
              <a:lnSpc>
                <a:spcPct val="105000"/>
              </a:lnSpc>
              <a:spcAft>
                <a:spcPts val="1100"/>
              </a:spcAft>
            </a:pPr>
            <a:r>
              <a:rPr sz="1500" b="1">
                <a:solidFill>
                  <a:srgbClr val="2E7D32"/>
                </a:solidFill>
                <a:latin typeface="Calibri"/>
              </a:rPr>
              <a:t>●  </a:t>
            </a:r>
            <a:r>
              <a:rPr sz="1500" b="1">
                <a:solidFill>
                  <a:srgbClr val="37474F"/>
                </a:solidFill>
                <a:latin typeface="Calibri"/>
              </a:rPr>
              <a:t>Objectif de l’étude : </a:t>
            </a:r>
            <a:r>
              <a:rPr sz="1500">
                <a:solidFill>
                  <a:srgbClr val="37474F"/>
                </a:solidFill>
                <a:latin typeface="Calibri"/>
              </a:rPr>
              <a:t>évaluer la performance, cibler les déperditions et proposer des solutions adaptées au bâti ancien</a:t>
            </a:r>
          </a:p>
        </p:txBody>
      </p:sp>
      <p:sp>
        <p:nvSpPr>
          <p:cNvPr id="12" name="Rounded Rectangle 11"/>
          <p:cNvSpPr/>
          <p:nvPr/>
        </p:nvSpPr>
        <p:spPr>
          <a:xfrm>
            <a:off x="7040880" y="1554480"/>
            <a:ext cx="4206240" cy="402336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69480" y="1691640"/>
            <a:ext cx="3749039" cy="365760"/>
          </a:xfrm>
          <a:prstGeom prst="rect">
            <a:avLst/>
          </a:prstGeom>
          <a:noFill/>
        </p:spPr>
        <p:txBody>
          <a:bodyPr wrap="square" anchor="t" lIns="25400" rIns="25400" tIns="25400" bIns="25400">
            <a:spAutoFit/>
          </a:bodyPr>
          <a:lstStyle/>
          <a:p>
            <a:pPr algn="l">
              <a:lnSpc>
                <a:spcPct val="100000"/>
              </a:lnSpc>
              <a:spcAft>
                <a:spcPts val="400"/>
              </a:spcAft>
            </a:pPr>
            <a:r>
              <a:rPr sz="1400" b="1" i="0">
                <a:solidFill>
                  <a:srgbClr val="1B5E20"/>
                </a:solidFill>
                <a:latin typeface="Calibri"/>
              </a:rPr>
              <a:t>Carte d’identité du bâtiment</a:t>
            </a:r>
          </a:p>
        </p:txBody>
      </p:sp>
      <p:graphicFrame>
        <p:nvGraphicFramePr>
          <p:cNvPr id="14" name="Table 13"/>
          <p:cNvGraphicFramePr>
            <a:graphicFrameLocks noGrp="1"/>
          </p:cNvGraphicFramePr>
          <p:nvPr/>
        </p:nvGraphicFramePr>
        <p:xfrm>
          <a:off x="7269480" y="2194560"/>
          <a:ext cx="3749040" cy="2752344"/>
        </p:xfrm>
        <a:graphic>
          <a:graphicData uri="http://schemas.openxmlformats.org/drawingml/2006/table">
            <a:tbl>
              <a:tblPr>
                <a:tableStyleId>{5C22544A-7EE6-4342-B048-85BDC9FD1C3A}</a:tableStyleId>
              </a:tblPr>
              <a:tblGrid>
                <a:gridCol w="1828800"/>
                <a:gridCol w="1920240"/>
              </a:tblGrid>
              <a:tr h="393192">
                <a:tc>
                  <a:txBody>
                    <a:bodyPr wrap="square"/>
                    <a:lstStyle/>
                    <a:p>
                      <a:pPr algn="l"/>
                      <a:r>
                        <a:rPr sz="1200" b="1">
                          <a:solidFill>
                            <a:srgbClr val="FFFFFF"/>
                          </a:solidFill>
                          <a:latin typeface="Calibri"/>
                        </a:rPr>
                        <a:t>Caractéristique</a:t>
                      </a:r>
                    </a:p>
                  </a:txBody>
                  <a:tcPr marL="88900" marR="88900" marT="25400" marB="25400" anchor="ctr">
                    <a:solidFill>
                      <a:srgbClr val="1B5E20"/>
                    </a:solidFill>
                  </a:tcPr>
                </a:tc>
                <a:tc>
                  <a:txBody>
                    <a:bodyPr wrap="square"/>
                    <a:lstStyle/>
                    <a:p>
                      <a:pPr algn="ctr"/>
                      <a:r>
                        <a:rPr sz="1200" b="1">
                          <a:solidFill>
                            <a:srgbClr val="FFFFFF"/>
                          </a:solidFill>
                          <a:latin typeface="Calibri"/>
                        </a:rPr>
                        <a:t>Valeur</a:t>
                      </a:r>
                    </a:p>
                  </a:txBody>
                  <a:tcPr marL="88900" marR="88900" marT="25400" marB="25400" anchor="ctr">
                    <a:solidFill>
                      <a:srgbClr val="1B5E20"/>
                    </a:solidFill>
                  </a:tcPr>
                </a:tc>
              </a:tr>
              <a:tr h="393192">
                <a:tc>
                  <a:txBody>
                    <a:bodyPr wrap="square"/>
                    <a:lstStyle/>
                    <a:p>
                      <a:pPr algn="l"/>
                      <a:r>
                        <a:rPr sz="1100" b="0">
                          <a:solidFill>
                            <a:srgbClr val="37474F"/>
                          </a:solidFill>
                          <a:latin typeface="Calibri"/>
                        </a:rPr>
                        <a:t>Localisation</a:t>
                      </a:r>
                    </a:p>
                  </a:txBody>
                  <a:tcPr marL="88900" marR="88900" marT="25400" marB="25400" anchor="ctr">
                    <a:solidFill>
                      <a:srgbClr val="FFFFFF"/>
                    </a:solidFill>
                  </a:tcPr>
                </a:tc>
                <a:tc>
                  <a:txBody>
                    <a:bodyPr wrap="square"/>
                    <a:lstStyle/>
                    <a:p>
                      <a:pPr algn="ctr"/>
                      <a:r>
                        <a:rPr sz="1100" b="0">
                          <a:solidFill>
                            <a:srgbClr val="37474F"/>
                          </a:solidFill>
                          <a:latin typeface="Calibri"/>
                        </a:rPr>
                        <a:t>Saint-Jean-de-Chevelu (73)</a:t>
                      </a:r>
                    </a:p>
                  </a:txBody>
                  <a:tcPr marL="88900" marR="88900" marT="25400" marB="25400" anchor="ctr">
                    <a:solidFill>
                      <a:srgbClr val="FFFFFF"/>
                    </a:solidFill>
                  </a:tcPr>
                </a:tc>
              </a:tr>
              <a:tr h="393192">
                <a:tc>
                  <a:txBody>
                    <a:bodyPr wrap="square"/>
                    <a:lstStyle/>
                    <a:p>
                      <a:pPr algn="l"/>
                      <a:r>
                        <a:rPr sz="1100" b="0">
                          <a:solidFill>
                            <a:srgbClr val="37474F"/>
                          </a:solidFill>
                          <a:latin typeface="Calibri"/>
                        </a:rPr>
                        <a:t>Altitude</a:t>
                      </a:r>
                    </a:p>
                  </a:txBody>
                  <a:tcPr marL="88900" marR="88900" marT="25400" marB="25400" anchor="ctr">
                    <a:solidFill>
                      <a:srgbClr val="E8F5E9"/>
                    </a:solidFill>
                  </a:tcPr>
                </a:tc>
                <a:tc>
                  <a:txBody>
                    <a:bodyPr wrap="square"/>
                    <a:lstStyle/>
                    <a:p>
                      <a:pPr algn="ctr"/>
                      <a:r>
                        <a:rPr sz="1100" b="0">
                          <a:solidFill>
                            <a:srgbClr val="37474F"/>
                          </a:solidFill>
                          <a:latin typeface="Calibri"/>
                        </a:rPr>
                        <a:t>498 m</a:t>
                      </a:r>
                    </a:p>
                  </a:txBody>
                  <a:tcPr marL="88900" marR="88900" marT="25400" marB="25400" anchor="ctr">
                    <a:solidFill>
                      <a:srgbClr val="E8F5E9"/>
                    </a:solidFill>
                  </a:tcPr>
                </a:tc>
              </a:tr>
              <a:tr h="393192">
                <a:tc>
                  <a:txBody>
                    <a:bodyPr wrap="square"/>
                    <a:lstStyle/>
                    <a:p>
                      <a:pPr algn="l"/>
                      <a:r>
                        <a:rPr sz="1100" b="0">
                          <a:solidFill>
                            <a:srgbClr val="37474F"/>
                          </a:solidFill>
                          <a:latin typeface="Calibri"/>
                        </a:rPr>
                        <a:t>Environnement</a:t>
                      </a:r>
                    </a:p>
                  </a:txBody>
                  <a:tcPr marL="88900" marR="88900" marT="25400" marB="25400" anchor="ctr">
                    <a:solidFill>
                      <a:srgbClr val="FFFFFF"/>
                    </a:solidFill>
                  </a:tcPr>
                </a:tc>
                <a:tc>
                  <a:txBody>
                    <a:bodyPr wrap="square"/>
                    <a:lstStyle/>
                    <a:p>
                      <a:pPr algn="ctr"/>
                      <a:r>
                        <a:rPr sz="1100" b="0">
                          <a:solidFill>
                            <a:srgbClr val="37474F"/>
                          </a:solidFill>
                          <a:latin typeface="Calibri"/>
                        </a:rPr>
                        <a:t>Rural</a:t>
                      </a:r>
                    </a:p>
                  </a:txBody>
                  <a:tcPr marL="88900" marR="88900" marT="25400" marB="25400" anchor="ctr">
                    <a:solidFill>
                      <a:srgbClr val="FFFFFF"/>
                    </a:solidFill>
                  </a:tcPr>
                </a:tc>
              </a:tr>
              <a:tr h="393192">
                <a:tc>
                  <a:txBody>
                    <a:bodyPr wrap="square"/>
                    <a:lstStyle/>
                    <a:p>
                      <a:pPr algn="l"/>
                      <a:r>
                        <a:rPr sz="1100" b="0">
                          <a:solidFill>
                            <a:srgbClr val="37474F"/>
                          </a:solidFill>
                          <a:latin typeface="Calibri"/>
                        </a:rPr>
                        <a:t>Orientation</a:t>
                      </a:r>
                    </a:p>
                  </a:txBody>
                  <a:tcPr marL="88900" marR="88900" marT="25400" marB="25400" anchor="ctr">
                    <a:solidFill>
                      <a:srgbClr val="E8F5E9"/>
                    </a:solidFill>
                  </a:tcPr>
                </a:tc>
                <a:tc>
                  <a:txBody>
                    <a:bodyPr wrap="square"/>
                    <a:lstStyle/>
                    <a:p>
                      <a:pPr algn="ctr"/>
                      <a:r>
                        <a:rPr sz="1100" b="0">
                          <a:solidFill>
                            <a:srgbClr val="37474F"/>
                          </a:solidFill>
                          <a:latin typeface="Calibri"/>
                        </a:rPr>
                        <a:t>Sud-Est</a:t>
                      </a:r>
                    </a:p>
                  </a:txBody>
                  <a:tcPr marL="88900" marR="88900" marT="25400" marB="25400" anchor="ctr">
                    <a:solidFill>
                      <a:srgbClr val="E8F5E9"/>
                    </a:solidFill>
                  </a:tcPr>
                </a:tc>
              </a:tr>
              <a:tr h="393192">
                <a:tc>
                  <a:txBody>
                    <a:bodyPr wrap="square"/>
                    <a:lstStyle/>
                    <a:p>
                      <a:pPr algn="l"/>
                      <a:r>
                        <a:rPr sz="1100" b="0">
                          <a:solidFill>
                            <a:srgbClr val="37474F"/>
                          </a:solidFill>
                          <a:latin typeface="Calibri"/>
                        </a:rPr>
                        <a:t>Surface chauffée</a:t>
                      </a:r>
                    </a:p>
                  </a:txBody>
                  <a:tcPr marL="88900" marR="88900" marT="25400" marB="25400" anchor="ctr">
                    <a:solidFill>
                      <a:srgbClr val="FFFFFF"/>
                    </a:solidFill>
                  </a:tcPr>
                </a:tc>
                <a:tc>
                  <a:txBody>
                    <a:bodyPr wrap="square"/>
                    <a:lstStyle/>
                    <a:p>
                      <a:pPr algn="ctr"/>
                      <a:r>
                        <a:rPr sz="1100" b="0">
                          <a:solidFill>
                            <a:srgbClr val="37474F"/>
                          </a:solidFill>
                          <a:latin typeface="Calibri"/>
                        </a:rPr>
                        <a:t>99 m²</a:t>
                      </a:r>
                    </a:p>
                  </a:txBody>
                  <a:tcPr marL="88900" marR="88900" marT="25400" marB="25400" anchor="ctr">
                    <a:solidFill>
                      <a:srgbClr val="FFFFFF"/>
                    </a:solidFill>
                  </a:tcPr>
                </a:tc>
              </a:tr>
              <a:tr h="393192">
                <a:tc>
                  <a:txBody>
                    <a:bodyPr wrap="square"/>
                    <a:lstStyle/>
                    <a:p>
                      <a:pPr algn="l"/>
                      <a:r>
                        <a:rPr sz="1100" b="0">
                          <a:solidFill>
                            <a:srgbClr val="37474F"/>
                          </a:solidFill>
                          <a:latin typeface="Calibri"/>
                        </a:rPr>
                        <a:t>Niveaux</a:t>
                      </a:r>
                    </a:p>
                  </a:txBody>
                  <a:tcPr marL="88900" marR="88900" marT="25400" marB="25400" anchor="ctr">
                    <a:solidFill>
                      <a:srgbClr val="E8F5E9"/>
                    </a:solidFill>
                  </a:tcPr>
                </a:tc>
                <a:tc>
                  <a:txBody>
                    <a:bodyPr wrap="square"/>
                    <a:lstStyle/>
                    <a:p>
                      <a:pPr algn="ctr"/>
                      <a:r>
                        <a:rPr sz="1100" b="0">
                          <a:solidFill>
                            <a:srgbClr val="37474F"/>
                          </a:solidFill>
                          <a:latin typeface="Calibri"/>
                        </a:rPr>
                        <a:t>2</a:t>
                      </a:r>
                    </a:p>
                  </a:txBody>
                  <a:tcPr marL="88900" marR="88900" marT="25400" marB="25400" anchor="ctr">
                    <a:solidFill>
                      <a:srgbClr val="E8F5E9"/>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1</a:t>
            </a:r>
          </a:p>
        </p:txBody>
      </p:sp>
      <p:sp>
        <p:nvSpPr>
          <p:cNvPr id="6" name="TextBox 5"/>
          <p:cNvSpPr txBox="1"/>
          <p:nvPr/>
        </p:nvSpPr>
        <p:spPr>
          <a:xfrm>
            <a:off x="1325880" y="365760"/>
            <a:ext cx="10332720" cy="777240"/>
          </a:xfrm>
          <a:prstGeom prst="rect">
            <a:avLst/>
          </a:prstGeom>
          <a:noFill/>
        </p:spPr>
        <p:txBody>
          <a:bodyPr wrap="square" anchor="ctr" lIns="25400" rIns="25400" tIns="25400" bIns="25400">
            <a:spAutoFit/>
          </a:bodyPr>
          <a:lstStyle/>
          <a:p>
            <a:pPr algn="l">
              <a:lnSpc>
                <a:spcPct val="100000"/>
              </a:lnSpc>
              <a:spcAft>
                <a:spcPts val="400"/>
              </a:spcAft>
            </a:pPr>
            <a:r>
              <a:rPr sz="3000" b="1" i="0">
                <a:solidFill>
                  <a:srgbClr val="1B5E20"/>
                </a:solidFill>
                <a:latin typeface="Calibri"/>
              </a:rPr>
              <a:t>Objectifs et attentes du maître d’ouvrage</a:t>
            </a:r>
          </a:p>
        </p:txBody>
      </p:sp>
      <p:sp>
        <p:nvSpPr>
          <p:cNvPr id="7" name="Rectangle 6"/>
          <p:cNvSpPr/>
          <p:nvPr/>
        </p:nvSpPr>
        <p:spPr>
          <a:xfrm>
            <a:off x="1325880" y="1188720"/>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46520"/>
            <a:ext cx="8229600" cy="320040"/>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Rénovation énergétique – Saint-Jean-de-Chevelu (73)</a:t>
            </a:r>
          </a:p>
        </p:txBody>
      </p:sp>
      <p:sp>
        <p:nvSpPr>
          <p:cNvPr id="9" name="TextBox 8"/>
          <p:cNvSpPr txBox="1"/>
          <p:nvPr/>
        </p:nvSpPr>
        <p:spPr>
          <a:xfrm>
            <a:off x="9418320" y="6446520"/>
            <a:ext cx="2286000" cy="320040"/>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0" name="TextBox 9"/>
          <p:cNvSpPr txBox="1"/>
          <p:nvPr/>
        </p:nvSpPr>
        <p:spPr>
          <a:xfrm>
            <a:off x="822960" y="1508760"/>
            <a:ext cx="10058400" cy="365760"/>
          </a:xfrm>
          <a:prstGeom prst="rect">
            <a:avLst/>
          </a:prstGeom>
          <a:noFill/>
        </p:spPr>
        <p:txBody>
          <a:bodyPr wrap="square" anchor="t" lIns="25400" rIns="25400" tIns="25400" bIns="25400">
            <a:spAutoFit/>
          </a:bodyPr>
          <a:lstStyle/>
          <a:p>
            <a:pPr algn="l">
              <a:lnSpc>
                <a:spcPct val="100000"/>
              </a:lnSpc>
              <a:spcAft>
                <a:spcPts val="400"/>
              </a:spcAft>
            </a:pPr>
            <a:r>
              <a:rPr sz="1500" b="0" i="1">
                <a:solidFill>
                  <a:srgbClr val="37474F"/>
                </a:solidFill>
                <a:latin typeface="Calibri"/>
              </a:rPr>
              <a:t>Le maître d’ouvrage souhaite engager une rénovation durable, compatible avec son bâti ancien.</a:t>
            </a:r>
          </a:p>
        </p:txBody>
      </p:sp>
      <p:sp>
        <p:nvSpPr>
          <p:cNvPr id="11" name="TextBox 10"/>
          <p:cNvSpPr txBox="1"/>
          <p:nvPr/>
        </p:nvSpPr>
        <p:spPr>
          <a:xfrm>
            <a:off x="822960" y="2011680"/>
            <a:ext cx="5120640" cy="365760"/>
          </a:xfrm>
          <a:prstGeom prst="rect">
            <a:avLst/>
          </a:prstGeom>
          <a:noFill/>
        </p:spPr>
        <p:txBody>
          <a:bodyPr wrap="square" anchor="t" lIns="25400" rIns="25400" tIns="25400" bIns="25400">
            <a:spAutoFit/>
          </a:bodyPr>
          <a:lstStyle/>
          <a:p>
            <a:pPr algn="l">
              <a:lnSpc>
                <a:spcPct val="100000"/>
              </a:lnSpc>
              <a:spcAft>
                <a:spcPts val="400"/>
              </a:spcAft>
            </a:pPr>
            <a:r>
              <a:rPr sz="1600" b="1" i="0">
                <a:solidFill>
                  <a:srgbClr val="1B5E20"/>
                </a:solidFill>
                <a:latin typeface="Calibri"/>
              </a:rPr>
              <a:t>Besoins exprimés</a:t>
            </a:r>
          </a:p>
        </p:txBody>
      </p:sp>
      <p:sp>
        <p:nvSpPr>
          <p:cNvPr id="12" name="TextBox 11"/>
          <p:cNvSpPr txBox="1"/>
          <p:nvPr/>
        </p:nvSpPr>
        <p:spPr>
          <a:xfrm>
            <a:off x="822960" y="2468880"/>
            <a:ext cx="5120640" cy="3657600"/>
          </a:xfrm>
          <a:prstGeom prst="rect">
            <a:avLst/>
          </a:prstGeom>
          <a:noFill/>
        </p:spPr>
        <p:txBody>
          <a:bodyPr wrap="square">
            <a:spAutoFit/>
          </a:bodyPr>
          <a:lstStyle/>
          <a:p>
            <a:pPr>
              <a:lnSpc>
                <a:spcPct val="105000"/>
              </a:lnSpc>
              <a:spcAft>
                <a:spcPts val="900"/>
              </a:spcAft>
            </a:pPr>
            <a:r>
              <a:rPr sz="1400" b="1">
                <a:solidFill>
                  <a:srgbClr val="2E7D32"/>
                </a:solidFill>
                <a:latin typeface="Calibri"/>
              </a:rPr>
              <a:t>●  </a:t>
            </a:r>
            <a:r>
              <a:rPr sz="1400">
                <a:solidFill>
                  <a:srgbClr val="37474F"/>
                </a:solidFill>
                <a:latin typeface="Calibri"/>
              </a:rPr>
              <a:t>Réduire les dépenses énergétiques</a:t>
            </a:r>
          </a:p>
          <a:p>
            <a:pPr>
              <a:lnSpc>
                <a:spcPct val="105000"/>
              </a:lnSpc>
              <a:spcAft>
                <a:spcPts val="900"/>
              </a:spcAft>
            </a:pPr>
            <a:r>
              <a:rPr sz="1400" b="1">
                <a:solidFill>
                  <a:srgbClr val="2E7D32"/>
                </a:solidFill>
                <a:latin typeface="Calibri"/>
              </a:rPr>
              <a:t>●  </a:t>
            </a:r>
            <a:r>
              <a:rPr sz="1400">
                <a:solidFill>
                  <a:srgbClr val="37474F"/>
                </a:solidFill>
                <a:latin typeface="Calibri"/>
              </a:rPr>
              <a:t>Améliorer le confort d’hiver (parois froides)</a:t>
            </a:r>
          </a:p>
          <a:p>
            <a:pPr>
              <a:lnSpc>
                <a:spcPct val="105000"/>
              </a:lnSpc>
              <a:spcAft>
                <a:spcPts val="900"/>
              </a:spcAft>
            </a:pPr>
            <a:r>
              <a:rPr sz="1400" b="1">
                <a:solidFill>
                  <a:srgbClr val="2E7D32"/>
                </a:solidFill>
                <a:latin typeface="Calibri"/>
              </a:rPr>
              <a:t>●  </a:t>
            </a:r>
            <a:r>
              <a:rPr sz="1400">
                <a:solidFill>
                  <a:srgbClr val="37474F"/>
                </a:solidFill>
                <a:latin typeface="Calibri"/>
              </a:rPr>
              <a:t>Améliorer le confort d’été (surchauffe sous toiture)</a:t>
            </a:r>
          </a:p>
          <a:p>
            <a:pPr>
              <a:lnSpc>
                <a:spcPct val="105000"/>
              </a:lnSpc>
              <a:spcAft>
                <a:spcPts val="900"/>
              </a:spcAft>
            </a:pPr>
            <a:r>
              <a:rPr sz="1400" b="1">
                <a:solidFill>
                  <a:srgbClr val="2E7D32"/>
                </a:solidFill>
                <a:latin typeface="Calibri"/>
              </a:rPr>
              <a:t>●  </a:t>
            </a:r>
            <a:r>
              <a:rPr sz="1400">
                <a:solidFill>
                  <a:srgbClr val="37474F"/>
                </a:solidFill>
                <a:latin typeface="Calibri"/>
              </a:rPr>
              <a:t>Remplacer à terme la chaudière fioul</a:t>
            </a:r>
          </a:p>
          <a:p>
            <a:pPr>
              <a:lnSpc>
                <a:spcPct val="105000"/>
              </a:lnSpc>
              <a:spcAft>
                <a:spcPts val="900"/>
              </a:spcAft>
            </a:pPr>
            <a:r>
              <a:rPr sz="1400" b="1">
                <a:solidFill>
                  <a:srgbClr val="2E7D32"/>
                </a:solidFill>
                <a:latin typeface="Calibri"/>
              </a:rPr>
              <a:t>●  </a:t>
            </a:r>
            <a:r>
              <a:rPr sz="1400">
                <a:solidFill>
                  <a:srgbClr val="37474F"/>
                </a:solidFill>
                <a:latin typeface="Calibri"/>
              </a:rPr>
              <a:t>Réduire les émissions de gaz à effet de serre</a:t>
            </a:r>
          </a:p>
          <a:p>
            <a:pPr>
              <a:lnSpc>
                <a:spcPct val="105000"/>
              </a:lnSpc>
              <a:spcAft>
                <a:spcPts val="900"/>
              </a:spcAft>
            </a:pPr>
            <a:r>
              <a:rPr sz="1400" b="1">
                <a:solidFill>
                  <a:srgbClr val="2E7D32"/>
                </a:solidFill>
                <a:latin typeface="Calibri"/>
              </a:rPr>
              <a:t>●  </a:t>
            </a:r>
            <a:r>
              <a:rPr sz="1400">
                <a:solidFill>
                  <a:srgbClr val="37474F"/>
                </a:solidFill>
                <a:latin typeface="Calibri"/>
              </a:rPr>
              <a:t>Valoriser le patrimoine immobilier</a:t>
            </a:r>
          </a:p>
        </p:txBody>
      </p:sp>
      <p:sp>
        <p:nvSpPr>
          <p:cNvPr id="13" name="TextBox 12"/>
          <p:cNvSpPr txBox="1"/>
          <p:nvPr/>
        </p:nvSpPr>
        <p:spPr>
          <a:xfrm>
            <a:off x="6309360" y="2011680"/>
            <a:ext cx="5120640" cy="365760"/>
          </a:xfrm>
          <a:prstGeom prst="rect">
            <a:avLst/>
          </a:prstGeom>
          <a:noFill/>
        </p:spPr>
        <p:txBody>
          <a:bodyPr wrap="square" anchor="t" lIns="25400" rIns="25400" tIns="25400" bIns="25400">
            <a:spAutoFit/>
          </a:bodyPr>
          <a:lstStyle/>
          <a:p>
            <a:pPr algn="l">
              <a:lnSpc>
                <a:spcPct val="100000"/>
              </a:lnSpc>
              <a:spcAft>
                <a:spcPts val="400"/>
              </a:spcAft>
            </a:pPr>
            <a:r>
              <a:rPr sz="1600" b="1" i="0">
                <a:solidFill>
                  <a:srgbClr val="1B5E20"/>
                </a:solidFill>
                <a:latin typeface="Calibri"/>
              </a:rPr>
              <a:t>Moyens &amp; contraintes</a:t>
            </a:r>
          </a:p>
        </p:txBody>
      </p:sp>
      <p:sp>
        <p:nvSpPr>
          <p:cNvPr id="14" name="TextBox 13"/>
          <p:cNvSpPr txBox="1"/>
          <p:nvPr/>
        </p:nvSpPr>
        <p:spPr>
          <a:xfrm>
            <a:off x="6309360" y="2468880"/>
            <a:ext cx="5120640" cy="3657600"/>
          </a:xfrm>
          <a:prstGeom prst="rect">
            <a:avLst/>
          </a:prstGeom>
          <a:noFill/>
        </p:spPr>
        <p:txBody>
          <a:bodyPr wrap="square">
            <a:spAutoFit/>
          </a:bodyPr>
          <a:lstStyle/>
          <a:p>
            <a:pPr>
              <a:lnSpc>
                <a:spcPct val="105000"/>
              </a:lnSpc>
              <a:spcAft>
                <a:spcPts val="900"/>
              </a:spcAft>
            </a:pPr>
            <a:r>
              <a:rPr sz="1400" b="1">
                <a:solidFill>
                  <a:srgbClr val="E65100"/>
                </a:solidFill>
                <a:latin typeface="Calibri"/>
              </a:rPr>
              <a:t>●  </a:t>
            </a:r>
            <a:r>
              <a:rPr sz="1400">
                <a:solidFill>
                  <a:srgbClr val="37474F"/>
                </a:solidFill>
                <a:latin typeface="Calibri"/>
              </a:rPr>
              <a:t>Budget permettant des travaux importants…</a:t>
            </a:r>
          </a:p>
          <a:p>
            <a:pPr>
              <a:lnSpc>
                <a:spcPct val="105000"/>
              </a:lnSpc>
              <a:spcAft>
                <a:spcPts val="900"/>
              </a:spcAft>
            </a:pPr>
            <a:r>
              <a:rPr sz="1400" b="1">
                <a:solidFill>
                  <a:srgbClr val="E65100"/>
                </a:solidFill>
                <a:latin typeface="Calibri"/>
              </a:rPr>
              <a:t>●  </a:t>
            </a:r>
            <a:r>
              <a:rPr sz="1400">
                <a:solidFill>
                  <a:srgbClr val="37474F"/>
                </a:solidFill>
                <a:latin typeface="Calibri"/>
              </a:rPr>
              <a:t>… mais investissements à justifier par les économies</a:t>
            </a:r>
          </a:p>
          <a:p>
            <a:pPr>
              <a:lnSpc>
                <a:spcPct val="105000"/>
              </a:lnSpc>
              <a:spcAft>
                <a:spcPts val="900"/>
              </a:spcAft>
            </a:pPr>
            <a:r>
              <a:rPr sz="1400" b="1">
                <a:solidFill>
                  <a:srgbClr val="E65100"/>
                </a:solidFill>
                <a:latin typeface="Calibri"/>
              </a:rPr>
              <a:t>●  </a:t>
            </a:r>
            <a:r>
              <a:rPr sz="1400">
                <a:solidFill>
                  <a:srgbClr val="37474F"/>
                </a:solidFill>
                <a:latin typeface="Calibri"/>
              </a:rPr>
              <a:t>Conserver le caractère architectural de la ferme</a:t>
            </a:r>
          </a:p>
          <a:p>
            <a:pPr>
              <a:lnSpc>
                <a:spcPct val="105000"/>
              </a:lnSpc>
              <a:spcAft>
                <a:spcPts val="900"/>
              </a:spcAft>
            </a:pPr>
            <a:r>
              <a:rPr sz="1400" b="1">
                <a:solidFill>
                  <a:srgbClr val="E65100"/>
                </a:solidFill>
                <a:latin typeface="Calibri"/>
              </a:rPr>
              <a:t>●  </a:t>
            </a:r>
            <a:r>
              <a:rPr sz="1400">
                <a:solidFill>
                  <a:srgbClr val="37474F"/>
                </a:solidFill>
                <a:latin typeface="Calibri"/>
              </a:rPr>
              <a:t>Solutions compatibles avec les murs en pierre épais</a:t>
            </a:r>
          </a:p>
          <a:p>
            <a:pPr>
              <a:lnSpc>
                <a:spcPct val="105000"/>
              </a:lnSpc>
              <a:spcAft>
                <a:spcPts val="900"/>
              </a:spcAft>
            </a:pPr>
            <a:r>
              <a:rPr sz="1400" b="1">
                <a:solidFill>
                  <a:srgbClr val="E65100"/>
                </a:solidFill>
                <a:latin typeface="Calibri"/>
              </a:rPr>
              <a:t>●  </a:t>
            </a:r>
            <a:r>
              <a:rPr sz="1400">
                <a:solidFill>
                  <a:srgbClr val="37474F"/>
                </a:solidFill>
                <a:latin typeface="Calibri"/>
              </a:rPr>
              <a:t>Limiter les risques liés à l’humidité</a:t>
            </a:r>
          </a:p>
          <a:p>
            <a:pPr>
              <a:lnSpc>
                <a:spcPct val="105000"/>
              </a:lnSpc>
              <a:spcAft>
                <a:spcPts val="900"/>
              </a:spcAft>
            </a:pPr>
            <a:r>
              <a:rPr sz="1400" b="1">
                <a:solidFill>
                  <a:srgbClr val="E65100"/>
                </a:solidFill>
                <a:latin typeface="Calibri"/>
              </a:rPr>
              <a:t>●  </a:t>
            </a:r>
            <a:r>
              <a:rPr sz="1400">
                <a:solidFill>
                  <a:srgbClr val="37474F"/>
                </a:solidFill>
                <a:latin typeface="Calibri"/>
              </a:rPr>
              <a:t>Mobiliser les aides financières disponibles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2</a:t>
            </a:r>
          </a:p>
        </p:txBody>
      </p:sp>
      <p:sp>
        <p:nvSpPr>
          <p:cNvPr id="6" name="TextBox 5"/>
          <p:cNvSpPr txBox="1"/>
          <p:nvPr/>
        </p:nvSpPr>
        <p:spPr>
          <a:xfrm>
            <a:off x="1325880" y="365760"/>
            <a:ext cx="10332720" cy="777240"/>
          </a:xfrm>
          <a:prstGeom prst="rect">
            <a:avLst/>
          </a:prstGeom>
          <a:noFill/>
        </p:spPr>
        <p:txBody>
          <a:bodyPr wrap="square" anchor="ctr" lIns="25400" rIns="25400" tIns="25400" bIns="25400">
            <a:spAutoFit/>
          </a:bodyPr>
          <a:lstStyle/>
          <a:p>
            <a:pPr algn="l">
              <a:lnSpc>
                <a:spcPct val="100000"/>
              </a:lnSpc>
              <a:spcAft>
                <a:spcPts val="400"/>
              </a:spcAft>
            </a:pPr>
            <a:r>
              <a:rPr sz="3000" b="1" i="0">
                <a:solidFill>
                  <a:srgbClr val="1B5E20"/>
                </a:solidFill>
                <a:latin typeface="Calibri"/>
              </a:rPr>
              <a:t>Objectifs à atteindre</a:t>
            </a:r>
          </a:p>
        </p:txBody>
      </p:sp>
      <p:sp>
        <p:nvSpPr>
          <p:cNvPr id="7" name="TextBox 6"/>
          <p:cNvSpPr txBox="1"/>
          <p:nvPr/>
        </p:nvSpPr>
        <p:spPr>
          <a:xfrm>
            <a:off x="1325880" y="1078992"/>
            <a:ext cx="10332720" cy="365760"/>
          </a:xfrm>
          <a:prstGeom prst="rect">
            <a:avLst/>
          </a:prstGeom>
          <a:noFill/>
        </p:spPr>
        <p:txBody>
          <a:bodyPr wrap="square" anchor="t" lIns="25400" rIns="25400" tIns="25400" bIns="25400">
            <a:spAutoFit/>
          </a:bodyPr>
          <a:lstStyle/>
          <a:p>
            <a:pPr algn="l">
              <a:lnSpc>
                <a:spcPct val="100000"/>
              </a:lnSpc>
              <a:spcAft>
                <a:spcPts val="400"/>
              </a:spcAft>
            </a:pPr>
            <a:r>
              <a:rPr sz="1500" b="0" i="1">
                <a:solidFill>
                  <a:srgbClr val="90A4AE"/>
                </a:solidFill>
                <a:latin typeface="Calibri"/>
              </a:rPr>
              <a:t>Performance énergétique &amp; confort des habitants</a:t>
            </a:r>
          </a:p>
        </p:txBody>
      </p:sp>
      <p:sp>
        <p:nvSpPr>
          <p:cNvPr id="8" name="Rectangle 7"/>
          <p:cNvSpPr/>
          <p:nvPr/>
        </p:nvSpPr>
        <p:spPr>
          <a:xfrm>
            <a:off x="1325880" y="1188720"/>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46520"/>
            <a:ext cx="8229600" cy="320040"/>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Rénovation énergétique – Saint-Jean-de-Chevelu (73)</a:t>
            </a:r>
          </a:p>
        </p:txBody>
      </p:sp>
      <p:sp>
        <p:nvSpPr>
          <p:cNvPr id="10" name="TextBox 9"/>
          <p:cNvSpPr txBox="1"/>
          <p:nvPr/>
        </p:nvSpPr>
        <p:spPr>
          <a:xfrm>
            <a:off x="9418320" y="6446520"/>
            <a:ext cx="2286000" cy="320040"/>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graphicFrame>
        <p:nvGraphicFramePr>
          <p:cNvPr id="11" name="Table 10"/>
          <p:cNvGraphicFramePr>
            <a:graphicFrameLocks noGrp="1"/>
          </p:cNvGraphicFramePr>
          <p:nvPr/>
        </p:nvGraphicFramePr>
        <p:xfrm>
          <a:off x="822960" y="1645920"/>
          <a:ext cx="10515600" cy="3968496"/>
        </p:xfrm>
        <a:graphic>
          <a:graphicData uri="http://schemas.openxmlformats.org/drawingml/2006/table">
            <a:tbl>
              <a:tblPr>
                <a:tableStyleId>{5C22544A-7EE6-4342-B048-85BDC9FD1C3A}</a:tableStyleId>
              </a:tblPr>
              <a:tblGrid>
                <a:gridCol w="2103120"/>
                <a:gridCol w="4114800"/>
                <a:gridCol w="4297680"/>
              </a:tblGrid>
              <a:tr h="566928">
                <a:tc>
                  <a:txBody>
                    <a:bodyPr wrap="square"/>
                    <a:lstStyle/>
                    <a:p>
                      <a:pPr algn="l"/>
                      <a:r>
                        <a:rPr sz="1300" b="1">
                          <a:solidFill>
                            <a:srgbClr val="FFFFFF"/>
                          </a:solidFill>
                          <a:latin typeface="Calibri"/>
                        </a:rPr>
                        <a:t>Type de confort</a:t>
                      </a:r>
                    </a:p>
                  </a:txBody>
                  <a:tcPr marL="88900" marR="88900" marT="25400" marB="25400" anchor="ctr">
                    <a:solidFill>
                      <a:srgbClr val="1B5E20"/>
                    </a:solidFill>
                  </a:tcPr>
                </a:tc>
                <a:tc>
                  <a:txBody>
                    <a:bodyPr wrap="square"/>
                    <a:lstStyle/>
                    <a:p>
                      <a:pPr algn="ctr"/>
                      <a:r>
                        <a:rPr sz="1300" b="1">
                          <a:solidFill>
                            <a:srgbClr val="FFFFFF"/>
                          </a:solidFill>
                          <a:latin typeface="Calibri"/>
                        </a:rPr>
                        <a:t>Situation actuelle</a:t>
                      </a:r>
                    </a:p>
                  </a:txBody>
                  <a:tcPr marL="88900" marR="88900" marT="25400" marB="25400" anchor="ctr">
                    <a:solidFill>
                      <a:srgbClr val="1B5E20"/>
                    </a:solidFill>
                  </a:tcPr>
                </a:tc>
                <a:tc>
                  <a:txBody>
                    <a:bodyPr wrap="square"/>
                    <a:lstStyle/>
                    <a:p>
                      <a:pPr algn="ctr"/>
                      <a:r>
                        <a:rPr sz="1300" b="1">
                          <a:solidFill>
                            <a:srgbClr val="FFFFFF"/>
                          </a:solidFill>
                          <a:latin typeface="Calibri"/>
                        </a:rPr>
                        <a:t>Amélioration attendue</a:t>
                      </a:r>
                    </a:p>
                  </a:txBody>
                  <a:tcPr marL="88900" marR="88900" marT="25400" marB="25400" anchor="ctr">
                    <a:solidFill>
                      <a:srgbClr val="1B5E20"/>
                    </a:solidFill>
                  </a:tcPr>
                </a:tc>
              </a:tr>
              <a:tr h="566928">
                <a:tc>
                  <a:txBody>
                    <a:bodyPr wrap="square"/>
                    <a:lstStyle/>
                    <a:p>
                      <a:pPr algn="l"/>
                      <a:r>
                        <a:rPr sz="1200" b="1">
                          <a:solidFill>
                            <a:srgbClr val="37474F"/>
                          </a:solidFill>
                          <a:latin typeface="Calibri"/>
                        </a:rPr>
                        <a:t>Confort d’hiver</a:t>
                      </a:r>
                    </a:p>
                  </a:txBody>
                  <a:tcPr marL="88900" marR="88900" marT="25400" marB="25400" anchor="ctr">
                    <a:solidFill>
                      <a:srgbClr val="FFFFFF"/>
                    </a:solidFill>
                  </a:tcPr>
                </a:tc>
                <a:tc>
                  <a:txBody>
                    <a:bodyPr wrap="square"/>
                    <a:lstStyle/>
                    <a:p>
                      <a:pPr algn="ctr"/>
                      <a:r>
                        <a:rPr sz="1200" b="0">
                          <a:solidFill>
                            <a:srgbClr val="37474F"/>
                          </a:solidFill>
                          <a:latin typeface="Calibri"/>
                        </a:rPr>
                        <a:t>Parois froides, écarts de T° entre pièces</a:t>
                      </a:r>
                    </a:p>
                  </a:txBody>
                  <a:tcPr marL="88900" marR="88900" marT="25400" marB="25400" anchor="ctr">
                    <a:solidFill>
                      <a:srgbClr val="FFFFFF"/>
                    </a:solidFill>
                  </a:tcPr>
                </a:tc>
                <a:tc>
                  <a:txBody>
                    <a:bodyPr wrap="square"/>
                    <a:lstStyle/>
                    <a:p>
                      <a:pPr algn="ctr"/>
                      <a:r>
                        <a:rPr sz="1200" b="0">
                          <a:solidFill>
                            <a:srgbClr val="37474F"/>
                          </a:solidFill>
                          <a:latin typeface="Calibri"/>
                        </a:rPr>
                        <a:t>Températures homogènes, fin des parois froides</a:t>
                      </a:r>
                    </a:p>
                  </a:txBody>
                  <a:tcPr marL="88900" marR="88900" marT="25400" marB="25400" anchor="ctr">
                    <a:solidFill>
                      <a:srgbClr val="FFFFFF"/>
                    </a:solidFill>
                  </a:tcPr>
                </a:tc>
              </a:tr>
              <a:tr h="566928">
                <a:tc>
                  <a:txBody>
                    <a:bodyPr wrap="square"/>
                    <a:lstStyle/>
                    <a:p>
                      <a:pPr algn="l"/>
                      <a:r>
                        <a:rPr sz="1200" b="1">
                          <a:solidFill>
                            <a:srgbClr val="37474F"/>
                          </a:solidFill>
                          <a:latin typeface="Calibri"/>
                        </a:rPr>
                        <a:t>Confort d’été</a:t>
                      </a:r>
                    </a:p>
                  </a:txBody>
                  <a:tcPr marL="88900" marR="88900" marT="25400" marB="25400" anchor="ctr">
                    <a:solidFill>
                      <a:srgbClr val="E8F5E9"/>
                    </a:solidFill>
                  </a:tcPr>
                </a:tc>
                <a:tc>
                  <a:txBody>
                    <a:bodyPr wrap="square"/>
                    <a:lstStyle/>
                    <a:p>
                      <a:pPr algn="ctr"/>
                      <a:r>
                        <a:rPr sz="1200" b="0">
                          <a:solidFill>
                            <a:srgbClr val="37474F"/>
                          </a:solidFill>
                          <a:latin typeface="Calibri"/>
                        </a:rPr>
                        <a:t>Surchauffe des pièces sous toiture</a:t>
                      </a:r>
                    </a:p>
                  </a:txBody>
                  <a:tcPr marL="88900" marR="88900" marT="25400" marB="25400" anchor="ctr">
                    <a:solidFill>
                      <a:srgbClr val="E8F5E9"/>
                    </a:solidFill>
                  </a:tcPr>
                </a:tc>
                <a:tc>
                  <a:txBody>
                    <a:bodyPr wrap="square"/>
                    <a:lstStyle/>
                    <a:p>
                      <a:pPr algn="ctr"/>
                      <a:r>
                        <a:rPr sz="1200" b="0">
                          <a:solidFill>
                            <a:srgbClr val="37474F"/>
                          </a:solidFill>
                          <a:latin typeface="Calibri"/>
                        </a:rPr>
                        <a:t>Température plus stable (isolants déphasants)</a:t>
                      </a:r>
                    </a:p>
                  </a:txBody>
                  <a:tcPr marL="88900" marR="88900" marT="25400" marB="25400" anchor="ctr">
                    <a:solidFill>
                      <a:srgbClr val="E8F5E9"/>
                    </a:solidFill>
                  </a:tcPr>
                </a:tc>
              </a:tr>
              <a:tr h="566928">
                <a:tc>
                  <a:txBody>
                    <a:bodyPr wrap="square"/>
                    <a:lstStyle/>
                    <a:p>
                      <a:pPr algn="l"/>
                      <a:r>
                        <a:rPr sz="1200" b="1">
                          <a:solidFill>
                            <a:srgbClr val="37474F"/>
                          </a:solidFill>
                          <a:latin typeface="Calibri"/>
                        </a:rPr>
                        <a:t>Qualité de l’air</a:t>
                      </a:r>
                    </a:p>
                  </a:txBody>
                  <a:tcPr marL="88900" marR="88900" marT="25400" marB="25400" anchor="ctr">
                    <a:solidFill>
                      <a:srgbClr val="FFFFFF"/>
                    </a:solidFill>
                  </a:tcPr>
                </a:tc>
                <a:tc>
                  <a:txBody>
                    <a:bodyPr wrap="square"/>
                    <a:lstStyle/>
                    <a:p>
                      <a:pPr algn="ctr"/>
                      <a:r>
                        <a:rPr sz="1200" b="0">
                          <a:solidFill>
                            <a:srgbClr val="37474F"/>
                          </a:solidFill>
                          <a:latin typeface="Calibri"/>
                        </a:rPr>
                        <a:t>Ventilation naturelle non maîtrisée</a:t>
                      </a:r>
                    </a:p>
                  </a:txBody>
                  <a:tcPr marL="88900" marR="88900" marT="25400" marB="25400" anchor="ctr">
                    <a:solidFill>
                      <a:srgbClr val="FFFFFF"/>
                    </a:solidFill>
                  </a:tcPr>
                </a:tc>
                <a:tc>
                  <a:txBody>
                    <a:bodyPr wrap="square"/>
                    <a:lstStyle/>
                    <a:p>
                      <a:pPr algn="ctr"/>
                      <a:r>
                        <a:rPr sz="1200" b="0">
                          <a:solidFill>
                            <a:srgbClr val="37474F"/>
                          </a:solidFill>
                          <a:latin typeface="Calibri"/>
                        </a:rPr>
                        <a:t>Renouvellement d’air contrôlé (VMC)</a:t>
                      </a:r>
                    </a:p>
                  </a:txBody>
                  <a:tcPr marL="88900" marR="88900" marT="25400" marB="25400" anchor="ctr">
                    <a:solidFill>
                      <a:srgbClr val="FFFFFF"/>
                    </a:solidFill>
                  </a:tcPr>
                </a:tc>
              </a:tr>
              <a:tr h="566928">
                <a:tc>
                  <a:txBody>
                    <a:bodyPr wrap="square"/>
                    <a:lstStyle/>
                    <a:p>
                      <a:pPr algn="l"/>
                      <a:r>
                        <a:rPr sz="1200" b="1">
                          <a:solidFill>
                            <a:srgbClr val="37474F"/>
                          </a:solidFill>
                          <a:latin typeface="Calibri"/>
                        </a:rPr>
                        <a:t>Confort acoustique</a:t>
                      </a:r>
                    </a:p>
                  </a:txBody>
                  <a:tcPr marL="88900" marR="88900" marT="25400" marB="25400" anchor="ctr">
                    <a:solidFill>
                      <a:srgbClr val="E8F5E9"/>
                    </a:solidFill>
                  </a:tcPr>
                </a:tc>
                <a:tc>
                  <a:txBody>
                    <a:bodyPr wrap="square"/>
                    <a:lstStyle/>
                    <a:p>
                      <a:pPr algn="ctr"/>
                      <a:r>
                        <a:rPr sz="1200" b="0">
                          <a:solidFill>
                            <a:srgbClr val="37474F"/>
                          </a:solidFill>
                          <a:latin typeface="Calibri"/>
                        </a:rPr>
                        <a:t>Isolation phonique limitée</a:t>
                      </a:r>
                    </a:p>
                  </a:txBody>
                  <a:tcPr marL="88900" marR="88900" marT="25400" marB="25400" anchor="ctr">
                    <a:solidFill>
                      <a:srgbClr val="E8F5E9"/>
                    </a:solidFill>
                  </a:tcPr>
                </a:tc>
                <a:tc>
                  <a:txBody>
                    <a:bodyPr wrap="square"/>
                    <a:lstStyle/>
                    <a:p>
                      <a:pPr algn="ctr"/>
                      <a:r>
                        <a:rPr sz="1200" b="0">
                          <a:solidFill>
                            <a:srgbClr val="37474F"/>
                          </a:solidFill>
                          <a:latin typeface="Calibri"/>
                        </a:rPr>
                        <a:t>Atténuation des bruits extérieurs (ITE)</a:t>
                      </a:r>
                    </a:p>
                  </a:txBody>
                  <a:tcPr marL="88900" marR="88900" marT="25400" marB="25400" anchor="ctr">
                    <a:solidFill>
                      <a:srgbClr val="E8F5E9"/>
                    </a:solidFill>
                  </a:tcPr>
                </a:tc>
              </a:tr>
              <a:tr h="566928">
                <a:tc>
                  <a:txBody>
                    <a:bodyPr wrap="square"/>
                    <a:lstStyle/>
                    <a:p>
                      <a:pPr algn="l"/>
                      <a:r>
                        <a:rPr sz="1200" b="1">
                          <a:solidFill>
                            <a:srgbClr val="37474F"/>
                          </a:solidFill>
                          <a:latin typeface="Calibri"/>
                        </a:rPr>
                        <a:t>Confort d’utilisation</a:t>
                      </a:r>
                    </a:p>
                  </a:txBody>
                  <a:tcPr marL="88900" marR="88900" marT="25400" marB="25400" anchor="ctr">
                    <a:solidFill>
                      <a:srgbClr val="FFFFFF"/>
                    </a:solidFill>
                  </a:tcPr>
                </a:tc>
                <a:tc>
                  <a:txBody>
                    <a:bodyPr wrap="square"/>
                    <a:lstStyle/>
                    <a:p>
                      <a:pPr algn="ctr"/>
                      <a:r>
                        <a:rPr sz="1200" b="0">
                          <a:solidFill>
                            <a:srgbClr val="37474F"/>
                          </a:solidFill>
                          <a:latin typeface="Calibri"/>
                        </a:rPr>
                        <a:t>Chauffage peu régulé, équipts vieillissants</a:t>
                      </a:r>
                    </a:p>
                  </a:txBody>
                  <a:tcPr marL="88900" marR="88900" marT="25400" marB="25400" anchor="ctr">
                    <a:solidFill>
                      <a:srgbClr val="FFFFFF"/>
                    </a:solidFill>
                  </a:tcPr>
                </a:tc>
                <a:tc>
                  <a:txBody>
                    <a:bodyPr wrap="square"/>
                    <a:lstStyle/>
                    <a:p>
                      <a:pPr algn="ctr"/>
                      <a:r>
                        <a:rPr sz="1200" b="0">
                          <a:solidFill>
                            <a:srgbClr val="37474F"/>
                          </a:solidFill>
                          <a:latin typeface="Calibri"/>
                        </a:rPr>
                        <a:t>Régulation précise, équipement fiable</a:t>
                      </a:r>
                    </a:p>
                  </a:txBody>
                  <a:tcPr marL="88900" marR="88900" marT="25400" marB="25400" anchor="ctr">
                    <a:solidFill>
                      <a:srgbClr val="FFFFFF"/>
                    </a:solidFill>
                  </a:tcPr>
                </a:tc>
              </a:tr>
              <a:tr h="566928">
                <a:tc>
                  <a:txBody>
                    <a:bodyPr wrap="square"/>
                    <a:lstStyle/>
                    <a:p>
                      <a:pPr algn="l"/>
                      <a:r>
                        <a:rPr sz="1200" b="1">
                          <a:solidFill>
                            <a:srgbClr val="37474F"/>
                          </a:solidFill>
                          <a:latin typeface="Calibri"/>
                        </a:rPr>
                        <a:t>Confort sanitaire</a:t>
                      </a:r>
                    </a:p>
                  </a:txBody>
                  <a:tcPr marL="88900" marR="88900" marT="25400" marB="25400" anchor="ctr">
                    <a:solidFill>
                      <a:srgbClr val="E8F5E9"/>
                    </a:solidFill>
                  </a:tcPr>
                </a:tc>
                <a:tc>
                  <a:txBody>
                    <a:bodyPr wrap="square"/>
                    <a:lstStyle/>
                    <a:p>
                      <a:pPr algn="ctr"/>
                      <a:r>
                        <a:rPr sz="1200" b="0">
                          <a:solidFill>
                            <a:srgbClr val="37474F"/>
                          </a:solidFill>
                          <a:latin typeface="Calibri"/>
                        </a:rPr>
                        <a:t>Risque de condensation</a:t>
                      </a:r>
                    </a:p>
                  </a:txBody>
                  <a:tcPr marL="88900" marR="88900" marT="25400" marB="25400" anchor="ctr">
                    <a:solidFill>
                      <a:srgbClr val="E8F5E9"/>
                    </a:solidFill>
                  </a:tcPr>
                </a:tc>
                <a:tc>
                  <a:txBody>
                    <a:bodyPr wrap="square"/>
                    <a:lstStyle/>
                    <a:p>
                      <a:pPr algn="ctr"/>
                      <a:r>
                        <a:rPr sz="1200" b="0">
                          <a:solidFill>
                            <a:srgbClr val="37474F"/>
                          </a:solidFill>
                          <a:latin typeface="Calibri"/>
                        </a:rPr>
                        <a:t>Réduction de l’humidité</a:t>
                      </a:r>
                    </a:p>
                  </a:txBody>
                  <a:tcPr marL="88900" marR="88900" marT="25400" marB="25400" anchor="ctr">
                    <a:solidFill>
                      <a:srgbClr val="E8F5E9"/>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2</a:t>
            </a:r>
          </a:p>
        </p:txBody>
      </p:sp>
      <p:sp>
        <p:nvSpPr>
          <p:cNvPr id="6" name="TextBox 5"/>
          <p:cNvSpPr txBox="1"/>
          <p:nvPr/>
        </p:nvSpPr>
        <p:spPr>
          <a:xfrm>
            <a:off x="1325880" y="365760"/>
            <a:ext cx="10332720" cy="777240"/>
          </a:xfrm>
          <a:prstGeom prst="rect">
            <a:avLst/>
          </a:prstGeom>
          <a:noFill/>
        </p:spPr>
        <p:txBody>
          <a:bodyPr wrap="square" anchor="ctr" lIns="25400" rIns="25400" tIns="25400" bIns="25400">
            <a:spAutoFit/>
          </a:bodyPr>
          <a:lstStyle/>
          <a:p>
            <a:pPr algn="l">
              <a:lnSpc>
                <a:spcPct val="100000"/>
              </a:lnSpc>
              <a:spcAft>
                <a:spcPts val="400"/>
              </a:spcAft>
            </a:pPr>
            <a:r>
              <a:rPr sz="3000" b="1" i="0">
                <a:solidFill>
                  <a:srgbClr val="1B5E20"/>
                </a:solidFill>
                <a:latin typeface="Calibri"/>
              </a:rPr>
              <a:t>Analyse des consommations d’énergie</a:t>
            </a:r>
          </a:p>
        </p:txBody>
      </p:sp>
      <p:sp>
        <p:nvSpPr>
          <p:cNvPr id="7" name="TextBox 6"/>
          <p:cNvSpPr txBox="1"/>
          <p:nvPr/>
        </p:nvSpPr>
        <p:spPr>
          <a:xfrm>
            <a:off x="1325880" y="1078992"/>
            <a:ext cx="10332720" cy="365760"/>
          </a:xfrm>
          <a:prstGeom prst="rect">
            <a:avLst/>
          </a:prstGeom>
          <a:noFill/>
        </p:spPr>
        <p:txBody>
          <a:bodyPr wrap="square" anchor="t" lIns="25400" rIns="25400" tIns="25400" bIns="25400">
            <a:spAutoFit/>
          </a:bodyPr>
          <a:lstStyle/>
          <a:p>
            <a:pPr algn="l">
              <a:lnSpc>
                <a:spcPct val="100000"/>
              </a:lnSpc>
              <a:spcAft>
                <a:spcPts val="400"/>
              </a:spcAft>
            </a:pPr>
            <a:r>
              <a:rPr sz="1500" b="0" i="1">
                <a:solidFill>
                  <a:srgbClr val="90A4AE"/>
                </a:solidFill>
                <a:latin typeface="Calibri"/>
              </a:rPr>
              <a:t>Relevés sur 5 ans</a:t>
            </a:r>
          </a:p>
        </p:txBody>
      </p:sp>
      <p:sp>
        <p:nvSpPr>
          <p:cNvPr id="8" name="Rectangle 7"/>
          <p:cNvSpPr/>
          <p:nvPr/>
        </p:nvSpPr>
        <p:spPr>
          <a:xfrm>
            <a:off x="1325880" y="1188720"/>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46520"/>
            <a:ext cx="8229600" cy="320040"/>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Rénovation énergétique – Saint-Jean-de-Chevelu (73)</a:t>
            </a:r>
          </a:p>
        </p:txBody>
      </p:sp>
      <p:sp>
        <p:nvSpPr>
          <p:cNvPr id="10" name="TextBox 9"/>
          <p:cNvSpPr txBox="1"/>
          <p:nvPr/>
        </p:nvSpPr>
        <p:spPr>
          <a:xfrm>
            <a:off x="9418320" y="6446520"/>
            <a:ext cx="2286000" cy="320040"/>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Rounded Rectangle 10"/>
          <p:cNvSpPr/>
          <p:nvPr/>
        </p:nvSpPr>
        <p:spPr>
          <a:xfrm>
            <a:off x="822960" y="1600200"/>
            <a:ext cx="3291840" cy="137160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2960" y="1600200"/>
            <a:ext cx="3291840" cy="109728"/>
          </a:xfrm>
          <a:prstGeom prst="roundRect">
            <a:avLst/>
          </a:prstGeom>
          <a:solidFill>
            <a:srgbClr val="E6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1764792"/>
            <a:ext cx="3291840" cy="822960"/>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E65100"/>
                </a:solidFill>
                <a:latin typeface="Calibri"/>
              </a:rPr>
              <a:t>1 560 L/an</a:t>
            </a:r>
          </a:p>
        </p:txBody>
      </p:sp>
      <p:sp>
        <p:nvSpPr>
          <p:cNvPr id="14" name="TextBox 13"/>
          <p:cNvSpPr txBox="1"/>
          <p:nvPr/>
        </p:nvSpPr>
        <p:spPr>
          <a:xfrm>
            <a:off x="822960" y="2468880"/>
            <a:ext cx="3291840" cy="457200"/>
          </a:xfrm>
          <a:prstGeom prst="rect">
            <a:avLst/>
          </a:prstGeom>
          <a:noFill/>
        </p:spPr>
        <p:txBody>
          <a:bodyPr wrap="square" anchor="ctr" lIns="25400" rIns="25400" tIns="25400" bIns="25400">
            <a:spAutoFit/>
          </a:bodyPr>
          <a:lstStyle/>
          <a:p>
            <a:pPr algn="ctr">
              <a:lnSpc>
                <a:spcPct val="100000"/>
              </a:lnSpc>
              <a:spcAft>
                <a:spcPts val="400"/>
              </a:spcAft>
            </a:pPr>
            <a:r>
              <a:rPr sz="1100" b="0" i="0">
                <a:solidFill>
                  <a:srgbClr val="37474F"/>
                </a:solidFill>
                <a:latin typeface="Calibri"/>
              </a:rPr>
              <a:t>Fioul (moyenne) — chauffage principal</a:t>
            </a:r>
          </a:p>
        </p:txBody>
      </p:sp>
      <p:sp>
        <p:nvSpPr>
          <p:cNvPr id="15" name="Rounded Rectangle 14"/>
          <p:cNvSpPr/>
          <p:nvPr/>
        </p:nvSpPr>
        <p:spPr>
          <a:xfrm>
            <a:off x="4297680" y="1600200"/>
            <a:ext cx="3291840" cy="137160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297680" y="1600200"/>
            <a:ext cx="3291840" cy="109728"/>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97680" y="1764792"/>
            <a:ext cx="3291840" cy="822960"/>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2E7D32"/>
                </a:solidFill>
                <a:latin typeface="Calibri"/>
              </a:rPr>
              <a:t>6 stères/an</a:t>
            </a:r>
          </a:p>
        </p:txBody>
      </p:sp>
      <p:sp>
        <p:nvSpPr>
          <p:cNvPr id="18" name="TextBox 17"/>
          <p:cNvSpPr txBox="1"/>
          <p:nvPr/>
        </p:nvSpPr>
        <p:spPr>
          <a:xfrm>
            <a:off x="4297680" y="2468880"/>
            <a:ext cx="3291840" cy="457200"/>
          </a:xfrm>
          <a:prstGeom prst="rect">
            <a:avLst/>
          </a:prstGeom>
          <a:noFill/>
        </p:spPr>
        <p:txBody>
          <a:bodyPr wrap="square" anchor="ctr" lIns="25400" rIns="25400" tIns="25400" bIns="25400">
            <a:spAutoFit/>
          </a:bodyPr>
          <a:lstStyle/>
          <a:p>
            <a:pPr algn="ctr">
              <a:lnSpc>
                <a:spcPct val="100000"/>
              </a:lnSpc>
              <a:spcAft>
                <a:spcPts val="400"/>
              </a:spcAft>
            </a:pPr>
            <a:r>
              <a:rPr sz="1100" b="0" i="0">
                <a:solidFill>
                  <a:srgbClr val="37474F"/>
                </a:solidFill>
                <a:latin typeface="Calibri"/>
              </a:rPr>
              <a:t>Bois bûche — poêle d’appoint</a:t>
            </a:r>
          </a:p>
        </p:txBody>
      </p:sp>
      <p:sp>
        <p:nvSpPr>
          <p:cNvPr id="19" name="Rounded Rectangle 18"/>
          <p:cNvSpPr/>
          <p:nvPr/>
        </p:nvSpPr>
        <p:spPr>
          <a:xfrm>
            <a:off x="7772400" y="1600200"/>
            <a:ext cx="3291840" cy="137160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772400" y="1600200"/>
            <a:ext cx="3291840" cy="109728"/>
          </a:xfrm>
          <a:prstGeom prst="roundRect">
            <a:avLst/>
          </a:prstGeom>
          <a:solidFill>
            <a:srgbClr val="1565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0" y="1764792"/>
            <a:ext cx="3291840" cy="822960"/>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1565C0"/>
                </a:solidFill>
                <a:latin typeface="Calibri"/>
              </a:rPr>
              <a:t>5 447 kWh/an</a:t>
            </a:r>
          </a:p>
        </p:txBody>
      </p:sp>
      <p:sp>
        <p:nvSpPr>
          <p:cNvPr id="22" name="TextBox 21"/>
          <p:cNvSpPr txBox="1"/>
          <p:nvPr/>
        </p:nvSpPr>
        <p:spPr>
          <a:xfrm>
            <a:off x="7772400" y="2468880"/>
            <a:ext cx="3291840" cy="457200"/>
          </a:xfrm>
          <a:prstGeom prst="rect">
            <a:avLst/>
          </a:prstGeom>
          <a:noFill/>
        </p:spPr>
        <p:txBody>
          <a:bodyPr wrap="square" anchor="ctr" lIns="25400" rIns="25400" tIns="25400" bIns="25400">
            <a:spAutoFit/>
          </a:bodyPr>
          <a:lstStyle/>
          <a:p>
            <a:pPr algn="ctr">
              <a:lnSpc>
                <a:spcPct val="100000"/>
              </a:lnSpc>
              <a:spcAft>
                <a:spcPts val="400"/>
              </a:spcAft>
            </a:pPr>
            <a:r>
              <a:rPr sz="1100" b="0" i="0">
                <a:solidFill>
                  <a:srgbClr val="37474F"/>
                </a:solidFill>
                <a:latin typeface="Calibri"/>
              </a:rPr>
              <a:t>Électricité — ECS, éclairage, usages</a:t>
            </a:r>
          </a:p>
        </p:txBody>
      </p:sp>
      <p:graphicFrame>
        <p:nvGraphicFramePr>
          <p:cNvPr id="23" name="Chart 22"/>
          <p:cNvGraphicFramePr>
            <a:graphicFrameLocks noGrp="1"/>
          </p:cNvGraphicFramePr>
          <p:nvPr/>
        </p:nvGraphicFramePr>
        <p:xfrm>
          <a:off x="822960" y="3200400"/>
          <a:ext cx="6400800" cy="2834640"/>
        </p:xfrm>
        <a:graphic>
          <a:graphicData uri="http://schemas.openxmlformats.org/drawingml/2006/chart">
            <c:chart xmlns:c="http://schemas.openxmlformats.org/drawingml/2006/chart" r:id="rId2"/>
          </a:graphicData>
        </a:graphic>
      </p:graphicFrame>
      <p:sp>
        <p:nvSpPr>
          <p:cNvPr id="24" name="Rounded Rectangle 23"/>
          <p:cNvSpPr/>
          <p:nvPr/>
        </p:nvSpPr>
        <p:spPr>
          <a:xfrm>
            <a:off x="7589520" y="3200400"/>
            <a:ext cx="3657600" cy="283464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18120" y="3337560"/>
            <a:ext cx="3200400" cy="365760"/>
          </a:xfrm>
          <a:prstGeom prst="rect">
            <a:avLst/>
          </a:prstGeom>
          <a:noFill/>
        </p:spPr>
        <p:txBody>
          <a:bodyPr wrap="square" anchor="t" lIns="25400" rIns="25400" tIns="25400" bIns="25400">
            <a:spAutoFit/>
          </a:bodyPr>
          <a:lstStyle/>
          <a:p>
            <a:pPr algn="l">
              <a:lnSpc>
                <a:spcPct val="100000"/>
              </a:lnSpc>
              <a:spcAft>
                <a:spcPts val="400"/>
              </a:spcAft>
            </a:pPr>
            <a:r>
              <a:rPr sz="1400" b="1" i="0">
                <a:solidFill>
                  <a:srgbClr val="1B5E20"/>
                </a:solidFill>
                <a:latin typeface="Calibri"/>
              </a:rPr>
              <a:t>Ce que cela révèle</a:t>
            </a:r>
          </a:p>
        </p:txBody>
      </p:sp>
      <p:sp>
        <p:nvSpPr>
          <p:cNvPr id="26" name="TextBox 25"/>
          <p:cNvSpPr txBox="1"/>
          <p:nvPr/>
        </p:nvSpPr>
        <p:spPr>
          <a:xfrm>
            <a:off x="7818120" y="3794760"/>
            <a:ext cx="3291840" cy="2194560"/>
          </a:xfrm>
          <a:prstGeom prst="rect">
            <a:avLst/>
          </a:prstGeom>
          <a:noFill/>
        </p:spPr>
        <p:txBody>
          <a:bodyPr wrap="square">
            <a:spAutoFit/>
          </a:bodyPr>
          <a:lstStyle/>
          <a:p>
            <a:pPr>
              <a:lnSpc>
                <a:spcPct val="105000"/>
              </a:lnSpc>
              <a:spcAft>
                <a:spcPts val="700"/>
              </a:spcAft>
            </a:pPr>
            <a:r>
              <a:rPr sz="1200" b="1">
                <a:solidFill>
                  <a:srgbClr val="2E7D32"/>
                </a:solidFill>
                <a:latin typeface="Calibri"/>
              </a:rPr>
              <a:t>●  </a:t>
            </a:r>
            <a:r>
              <a:rPr sz="1200">
                <a:solidFill>
                  <a:srgbClr val="37474F"/>
                </a:solidFill>
                <a:latin typeface="Calibri"/>
              </a:rPr>
              <a:t>Forte dépendance au fioul (chaudière de 1991)</a:t>
            </a:r>
          </a:p>
          <a:p>
            <a:pPr>
              <a:lnSpc>
                <a:spcPct val="105000"/>
              </a:lnSpc>
              <a:spcAft>
                <a:spcPts val="700"/>
              </a:spcAft>
            </a:pPr>
            <a:r>
              <a:rPr sz="1200" b="1">
                <a:solidFill>
                  <a:srgbClr val="2E7D32"/>
                </a:solidFill>
                <a:latin typeface="Calibri"/>
              </a:rPr>
              <a:t>●  </a:t>
            </a:r>
            <a:r>
              <a:rPr sz="1200">
                <a:solidFill>
                  <a:srgbClr val="37474F"/>
                </a:solidFill>
                <a:latin typeface="Calibri"/>
              </a:rPr>
              <a:t>Consommation élevée pour 99 m²</a:t>
            </a:r>
          </a:p>
          <a:p>
            <a:pPr>
              <a:lnSpc>
                <a:spcPct val="105000"/>
              </a:lnSpc>
              <a:spcAft>
                <a:spcPts val="700"/>
              </a:spcAft>
            </a:pPr>
            <a:r>
              <a:rPr sz="1200" b="1">
                <a:solidFill>
                  <a:srgbClr val="2E7D32"/>
                </a:solidFill>
                <a:latin typeface="Calibri"/>
              </a:rPr>
              <a:t>●  </a:t>
            </a:r>
            <a:r>
              <a:rPr sz="1200">
                <a:solidFill>
                  <a:srgbClr val="37474F"/>
                </a:solidFill>
                <a:latin typeface="Calibri"/>
              </a:rPr>
              <a:t>Cause : enveloppe peu performante (murs + combles)</a:t>
            </a:r>
          </a:p>
          <a:p>
            <a:pPr>
              <a:lnSpc>
                <a:spcPct val="105000"/>
              </a:lnSpc>
              <a:spcAft>
                <a:spcPts val="700"/>
              </a:spcAft>
            </a:pPr>
            <a:r>
              <a:rPr sz="1200" b="1">
                <a:solidFill>
                  <a:srgbClr val="2E7D32"/>
                </a:solidFill>
                <a:latin typeface="Calibri"/>
              </a:rPr>
              <a:t>●  </a:t>
            </a:r>
            <a:r>
              <a:rPr sz="1200">
                <a:solidFill>
                  <a:srgbClr val="37474F"/>
                </a:solidFill>
                <a:latin typeface="Calibri"/>
              </a:rPr>
              <a:t>ECS électrique = poste électrique majeur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2</a:t>
            </a:r>
          </a:p>
        </p:txBody>
      </p:sp>
      <p:sp>
        <p:nvSpPr>
          <p:cNvPr id="6" name="TextBox 5"/>
          <p:cNvSpPr txBox="1"/>
          <p:nvPr/>
        </p:nvSpPr>
        <p:spPr>
          <a:xfrm>
            <a:off x="1325880" y="365760"/>
            <a:ext cx="10332720" cy="777240"/>
          </a:xfrm>
          <a:prstGeom prst="rect">
            <a:avLst/>
          </a:prstGeom>
          <a:noFill/>
        </p:spPr>
        <p:txBody>
          <a:bodyPr wrap="square" anchor="ctr" lIns="25400" rIns="25400" tIns="25400" bIns="25400">
            <a:spAutoFit/>
          </a:bodyPr>
          <a:lstStyle/>
          <a:p>
            <a:pPr algn="l">
              <a:lnSpc>
                <a:spcPct val="100000"/>
              </a:lnSpc>
              <a:spcAft>
                <a:spcPts val="400"/>
              </a:spcAft>
            </a:pPr>
            <a:r>
              <a:rPr sz="3000" b="1" i="0">
                <a:solidFill>
                  <a:srgbClr val="1B5E20"/>
                </a:solidFill>
                <a:latin typeface="Calibri"/>
              </a:rPr>
              <a:t>Analyse de l’enveloppe thermique</a:t>
            </a:r>
          </a:p>
        </p:txBody>
      </p:sp>
      <p:sp>
        <p:nvSpPr>
          <p:cNvPr id="7" name="Rectangle 6"/>
          <p:cNvSpPr/>
          <p:nvPr/>
        </p:nvSpPr>
        <p:spPr>
          <a:xfrm>
            <a:off x="1325880" y="1188720"/>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46520"/>
            <a:ext cx="8229600" cy="320040"/>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Rénovation énergétique – Saint-Jean-de-Chevelu (73)</a:t>
            </a:r>
          </a:p>
        </p:txBody>
      </p:sp>
      <p:sp>
        <p:nvSpPr>
          <p:cNvPr id="9" name="TextBox 8"/>
          <p:cNvSpPr txBox="1"/>
          <p:nvPr/>
        </p:nvSpPr>
        <p:spPr>
          <a:xfrm>
            <a:off x="9418320" y="6446520"/>
            <a:ext cx="2286000" cy="320040"/>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graphicFrame>
        <p:nvGraphicFramePr>
          <p:cNvPr id="10" name="Table 9"/>
          <p:cNvGraphicFramePr>
            <a:graphicFrameLocks noGrp="1"/>
          </p:cNvGraphicFramePr>
          <p:nvPr/>
        </p:nvGraphicFramePr>
        <p:xfrm>
          <a:off x="822960" y="1600200"/>
          <a:ext cx="10515600" cy="3291840"/>
        </p:xfrm>
        <a:graphic>
          <a:graphicData uri="http://schemas.openxmlformats.org/drawingml/2006/table">
            <a:tbl>
              <a:tblPr>
                <a:tableStyleId>{5C22544A-7EE6-4342-B048-85BDC9FD1C3A}</a:tableStyleId>
              </a:tblPr>
              <a:tblGrid>
                <a:gridCol w="2377440"/>
                <a:gridCol w="3657600"/>
                <a:gridCol w="4480560"/>
              </a:tblGrid>
              <a:tr h="548640">
                <a:tc>
                  <a:txBody>
                    <a:bodyPr wrap="square"/>
                    <a:lstStyle/>
                    <a:p>
                      <a:pPr algn="l"/>
                      <a:r>
                        <a:rPr sz="1300" b="1">
                          <a:solidFill>
                            <a:srgbClr val="FFFFFF"/>
                          </a:solidFill>
                          <a:latin typeface="Calibri"/>
                        </a:rPr>
                        <a:t>Élément</a:t>
                      </a:r>
                    </a:p>
                  </a:txBody>
                  <a:tcPr marL="88900" marR="88900" marT="25400" marB="25400" anchor="ctr">
                    <a:solidFill>
                      <a:srgbClr val="1B5E20"/>
                    </a:solidFill>
                  </a:tcPr>
                </a:tc>
                <a:tc>
                  <a:txBody>
                    <a:bodyPr wrap="square"/>
                    <a:lstStyle/>
                    <a:p>
                      <a:pPr algn="ctr"/>
                      <a:r>
                        <a:rPr sz="1300" b="1">
                          <a:solidFill>
                            <a:srgbClr val="FFFFFF"/>
                          </a:solidFill>
                          <a:latin typeface="Calibri"/>
                        </a:rPr>
                        <a:t>Composition</a:t>
                      </a:r>
                    </a:p>
                  </a:txBody>
                  <a:tcPr marL="88900" marR="88900" marT="25400" marB="25400" anchor="ctr">
                    <a:solidFill>
                      <a:srgbClr val="1B5E20"/>
                    </a:solidFill>
                  </a:tcPr>
                </a:tc>
                <a:tc>
                  <a:txBody>
                    <a:bodyPr wrap="square"/>
                    <a:lstStyle/>
                    <a:p>
                      <a:pPr algn="ctr"/>
                      <a:r>
                        <a:rPr sz="1300" b="1">
                          <a:solidFill>
                            <a:srgbClr val="FFFFFF"/>
                          </a:solidFill>
                          <a:latin typeface="Calibri"/>
                        </a:rPr>
                        <a:t>Observation</a:t>
                      </a:r>
                    </a:p>
                  </a:txBody>
                  <a:tcPr marL="88900" marR="88900" marT="25400" marB="25400" anchor="ctr">
                    <a:solidFill>
                      <a:srgbClr val="1B5E20"/>
                    </a:solidFill>
                  </a:tcPr>
                </a:tc>
              </a:tr>
              <a:tr h="548640">
                <a:tc>
                  <a:txBody>
                    <a:bodyPr wrap="square"/>
                    <a:lstStyle/>
                    <a:p>
                      <a:pPr algn="l"/>
                      <a:r>
                        <a:rPr sz="1200" b="1">
                          <a:solidFill>
                            <a:srgbClr val="37474F"/>
                          </a:solidFill>
                          <a:latin typeface="Calibri"/>
                        </a:rPr>
                        <a:t>Murs extérieurs</a:t>
                      </a:r>
                    </a:p>
                  </a:txBody>
                  <a:tcPr marL="88900" marR="88900" marT="25400" marB="25400" anchor="ctr">
                    <a:solidFill>
                      <a:srgbClr val="FFFFFF"/>
                    </a:solidFill>
                  </a:tcPr>
                </a:tc>
                <a:tc>
                  <a:txBody>
                    <a:bodyPr wrap="square"/>
                    <a:lstStyle/>
                    <a:p>
                      <a:pPr algn="ctr"/>
                      <a:r>
                        <a:rPr sz="1200" b="0">
                          <a:solidFill>
                            <a:srgbClr val="37474F"/>
                          </a:solidFill>
                          <a:latin typeface="Calibri"/>
                        </a:rPr>
                        <a:t>Pierre calcaire 50 cm</a:t>
                      </a:r>
                    </a:p>
                  </a:txBody>
                  <a:tcPr marL="88900" marR="88900" marT="25400" marB="25400" anchor="ctr">
                    <a:solidFill>
                      <a:srgbClr val="FFFFFF"/>
                    </a:solidFill>
                  </a:tcPr>
                </a:tc>
                <a:tc>
                  <a:txBody>
                    <a:bodyPr wrap="square"/>
                    <a:lstStyle/>
                    <a:p>
                      <a:pPr algn="ctr"/>
                      <a:r>
                        <a:rPr sz="1200" b="0">
                          <a:solidFill>
                            <a:srgbClr val="37474F"/>
                          </a:solidFill>
                          <a:latin typeface="Calibri"/>
                        </a:rPr>
                        <a:t>Forte inertie mais faible isolation</a:t>
                      </a:r>
                    </a:p>
                  </a:txBody>
                  <a:tcPr marL="88900" marR="88900" marT="25400" marB="25400" anchor="ctr">
                    <a:solidFill>
                      <a:srgbClr val="FFFFFF"/>
                    </a:solidFill>
                  </a:tcPr>
                </a:tc>
              </a:tr>
              <a:tr h="548640">
                <a:tc>
                  <a:txBody>
                    <a:bodyPr wrap="square"/>
                    <a:lstStyle/>
                    <a:p>
                      <a:pPr algn="l"/>
                      <a:r>
                        <a:rPr sz="1200" b="1">
                          <a:solidFill>
                            <a:srgbClr val="37474F"/>
                          </a:solidFill>
                          <a:latin typeface="Calibri"/>
                        </a:rPr>
                        <a:t>Toiture / combles</a:t>
                      </a:r>
                    </a:p>
                  </a:txBody>
                  <a:tcPr marL="88900" marR="88900" marT="25400" marB="25400" anchor="ctr">
                    <a:solidFill>
                      <a:srgbClr val="E8F5E9"/>
                    </a:solidFill>
                  </a:tcPr>
                </a:tc>
                <a:tc>
                  <a:txBody>
                    <a:bodyPr wrap="square"/>
                    <a:lstStyle/>
                    <a:p>
                      <a:pPr algn="ctr"/>
                      <a:r>
                        <a:rPr sz="1200" b="0">
                          <a:solidFill>
                            <a:srgbClr val="37474F"/>
                          </a:solidFill>
                          <a:latin typeface="Calibri"/>
                        </a:rPr>
                        <a:t>8 cm laine minérale ancienne</a:t>
                      </a:r>
                    </a:p>
                  </a:txBody>
                  <a:tcPr marL="88900" marR="88900" marT="25400" marB="25400" anchor="ctr">
                    <a:solidFill>
                      <a:srgbClr val="E8F5E9"/>
                    </a:solidFill>
                  </a:tcPr>
                </a:tc>
                <a:tc>
                  <a:txBody>
                    <a:bodyPr wrap="square"/>
                    <a:lstStyle/>
                    <a:p>
                      <a:pPr algn="ctr"/>
                      <a:r>
                        <a:rPr sz="1200" b="0">
                          <a:solidFill>
                            <a:srgbClr val="37474F"/>
                          </a:solidFill>
                          <a:latin typeface="Calibri"/>
                        </a:rPr>
                        <a:t>Isolation insuffisante</a:t>
                      </a:r>
                    </a:p>
                  </a:txBody>
                  <a:tcPr marL="88900" marR="88900" marT="25400" marB="25400" anchor="ctr">
                    <a:solidFill>
                      <a:srgbClr val="E8F5E9"/>
                    </a:solidFill>
                  </a:tcPr>
                </a:tc>
              </a:tr>
              <a:tr h="548640">
                <a:tc>
                  <a:txBody>
                    <a:bodyPr wrap="square"/>
                    <a:lstStyle/>
                    <a:p>
                      <a:pPr algn="l"/>
                      <a:r>
                        <a:rPr sz="1200" b="1">
                          <a:solidFill>
                            <a:srgbClr val="37474F"/>
                          </a:solidFill>
                          <a:latin typeface="Calibri"/>
                        </a:rPr>
                        <a:t>Menuiseries</a:t>
                      </a:r>
                    </a:p>
                  </a:txBody>
                  <a:tcPr marL="88900" marR="88900" marT="25400" marB="25400" anchor="ctr">
                    <a:solidFill>
                      <a:srgbClr val="FFFFFF"/>
                    </a:solidFill>
                  </a:tcPr>
                </a:tc>
                <a:tc>
                  <a:txBody>
                    <a:bodyPr wrap="square"/>
                    <a:lstStyle/>
                    <a:p>
                      <a:pPr algn="ctr"/>
                      <a:r>
                        <a:rPr sz="1200" b="0">
                          <a:solidFill>
                            <a:srgbClr val="37474F"/>
                          </a:solidFill>
                          <a:latin typeface="Calibri"/>
                        </a:rPr>
                        <a:t>Double vitrage bois 4/16/4 Argon</a:t>
                      </a:r>
                    </a:p>
                  </a:txBody>
                  <a:tcPr marL="88900" marR="88900" marT="25400" marB="25400" anchor="ctr">
                    <a:solidFill>
                      <a:srgbClr val="FFFFFF"/>
                    </a:solidFill>
                  </a:tcPr>
                </a:tc>
                <a:tc>
                  <a:txBody>
                    <a:bodyPr wrap="square"/>
                    <a:lstStyle/>
                    <a:p>
                      <a:pPr algn="ctr"/>
                      <a:r>
                        <a:rPr sz="1200" b="0">
                          <a:solidFill>
                            <a:srgbClr val="37474F"/>
                          </a:solidFill>
                          <a:latin typeface="Calibri"/>
                        </a:rPr>
                        <a:t>Bon état, performances satisfaisantes</a:t>
                      </a:r>
                    </a:p>
                  </a:txBody>
                  <a:tcPr marL="88900" marR="88900" marT="25400" marB="25400" anchor="ctr">
                    <a:solidFill>
                      <a:srgbClr val="FFFFFF"/>
                    </a:solidFill>
                  </a:tcPr>
                </a:tc>
              </a:tr>
              <a:tr h="548640">
                <a:tc>
                  <a:txBody>
                    <a:bodyPr wrap="square"/>
                    <a:lstStyle/>
                    <a:p>
                      <a:pPr algn="l"/>
                      <a:r>
                        <a:rPr sz="1200" b="1">
                          <a:solidFill>
                            <a:srgbClr val="37474F"/>
                          </a:solidFill>
                          <a:latin typeface="Calibri"/>
                        </a:rPr>
                        <a:t>Plancher bas</a:t>
                      </a:r>
                    </a:p>
                  </a:txBody>
                  <a:tcPr marL="88900" marR="88900" marT="25400" marB="25400" anchor="ctr">
                    <a:solidFill>
                      <a:srgbClr val="E8F5E9"/>
                    </a:solidFill>
                  </a:tcPr>
                </a:tc>
                <a:tc>
                  <a:txBody>
                    <a:bodyPr wrap="square"/>
                    <a:lstStyle/>
                    <a:p>
                      <a:pPr algn="ctr"/>
                      <a:r>
                        <a:rPr sz="1200" b="0">
                          <a:solidFill>
                            <a:srgbClr val="37474F"/>
                          </a:solidFill>
                          <a:latin typeface="Calibri"/>
                        </a:rPr>
                        <a:t>Dalle béton sur terre-plein</a:t>
                      </a:r>
                    </a:p>
                  </a:txBody>
                  <a:tcPr marL="88900" marR="88900" marT="25400" marB="25400" anchor="ctr">
                    <a:solidFill>
                      <a:srgbClr val="E8F5E9"/>
                    </a:solidFill>
                  </a:tcPr>
                </a:tc>
                <a:tc>
                  <a:txBody>
                    <a:bodyPr wrap="square"/>
                    <a:lstStyle/>
                    <a:p>
                      <a:pPr algn="ctr"/>
                      <a:r>
                        <a:rPr sz="1200" b="0">
                          <a:solidFill>
                            <a:srgbClr val="37474F"/>
                          </a:solidFill>
                          <a:latin typeface="Calibri"/>
                        </a:rPr>
                        <a:t>Non isolé → déperditions</a:t>
                      </a:r>
                    </a:p>
                  </a:txBody>
                  <a:tcPr marL="88900" marR="88900" marT="25400" marB="25400" anchor="ctr">
                    <a:solidFill>
                      <a:srgbClr val="E8F5E9"/>
                    </a:solidFill>
                  </a:tcPr>
                </a:tc>
              </a:tr>
              <a:tr h="548640">
                <a:tc>
                  <a:txBody>
                    <a:bodyPr wrap="square"/>
                    <a:lstStyle/>
                    <a:p>
                      <a:pPr algn="l"/>
                      <a:r>
                        <a:rPr sz="1200" b="1">
                          <a:solidFill>
                            <a:srgbClr val="37474F"/>
                          </a:solidFill>
                          <a:latin typeface="Calibri"/>
                        </a:rPr>
                        <a:t>Ponts thermiques</a:t>
                      </a:r>
                    </a:p>
                  </a:txBody>
                  <a:tcPr marL="88900" marR="88900" marT="25400" marB="25400" anchor="ctr">
                    <a:solidFill>
                      <a:srgbClr val="FFFFFF"/>
                    </a:solidFill>
                  </a:tcPr>
                </a:tc>
                <a:tc>
                  <a:txBody>
                    <a:bodyPr wrap="square"/>
                    <a:lstStyle/>
                    <a:p>
                      <a:pPr algn="ctr"/>
                      <a:r>
                        <a:rPr sz="1200" b="0">
                          <a:solidFill>
                            <a:srgbClr val="37474F"/>
                          </a:solidFill>
                          <a:latin typeface="Calibri"/>
                        </a:rPr>
                        <a:t>Jonctions des parois</a:t>
                      </a:r>
                    </a:p>
                  </a:txBody>
                  <a:tcPr marL="88900" marR="88900" marT="25400" marB="25400" anchor="ctr">
                    <a:solidFill>
                      <a:srgbClr val="FFFFFF"/>
                    </a:solidFill>
                  </a:tcPr>
                </a:tc>
                <a:tc>
                  <a:txBody>
                    <a:bodyPr wrap="square"/>
                    <a:lstStyle/>
                    <a:p>
                      <a:pPr algn="ctr"/>
                      <a:r>
                        <a:rPr sz="1200" b="0">
                          <a:solidFill>
                            <a:srgbClr val="37474F"/>
                          </a:solidFill>
                          <a:latin typeface="Calibri"/>
                        </a:rPr>
                        <a:t>Pertes importantes</a:t>
                      </a:r>
                    </a:p>
                  </a:txBody>
                  <a:tcPr marL="88900" marR="88900" marT="25400" marB="25400" anchor="ctr">
                    <a:solidFill>
                      <a:srgbClr val="FFFFFF"/>
                    </a:solidFill>
                  </a:tcPr>
                </a:tc>
              </a:tr>
            </a:tbl>
          </a:graphicData>
        </a:graphic>
      </p:graphicFrame>
      <p:sp>
        <p:nvSpPr>
          <p:cNvPr id="11" name="Rounded Rectangle 10"/>
          <p:cNvSpPr/>
          <p:nvPr/>
        </p:nvSpPr>
        <p:spPr>
          <a:xfrm>
            <a:off x="822960" y="5029200"/>
            <a:ext cx="10515600" cy="100584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5138928"/>
            <a:ext cx="10058400" cy="822960"/>
          </a:xfrm>
          <a:prstGeom prst="rect">
            <a:avLst/>
          </a:prstGeom>
          <a:noFill/>
        </p:spPr>
        <p:txBody>
          <a:bodyPr wrap="square" anchor="ctr" lIns="25400" rIns="25400" tIns="25400" bIns="25400">
            <a:spAutoFit/>
          </a:bodyPr>
          <a:lstStyle/>
          <a:p>
            <a:pPr algn="l">
              <a:lnSpc>
                <a:spcPct val="100000"/>
              </a:lnSpc>
              <a:spcAft>
                <a:spcPts val="400"/>
              </a:spcAft>
            </a:pPr>
            <a:r>
              <a:rPr sz="1400" b="1" i="0">
                <a:solidFill>
                  <a:srgbClr val="1B5E20"/>
                </a:solidFill>
                <a:latin typeface="Calibri"/>
              </a:rPr>
              <a:t>À retenir : </a:t>
            </a:r>
            <a:r>
              <a:rPr sz="1400" b="0" i="0">
                <a:solidFill>
                  <a:srgbClr val="37474F"/>
                </a:solidFill>
                <a:latin typeface="Calibri"/>
              </a:rPr>
              <a:t>les fenêtres ont déjà été rénovées (peu de pertes). Les axes prioritaires sont donc l’isolation des murs et de la toiture.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2</a:t>
            </a:r>
          </a:p>
        </p:txBody>
      </p:sp>
      <p:sp>
        <p:nvSpPr>
          <p:cNvPr id="6" name="TextBox 5"/>
          <p:cNvSpPr txBox="1"/>
          <p:nvPr/>
        </p:nvSpPr>
        <p:spPr>
          <a:xfrm>
            <a:off x="1325880" y="365760"/>
            <a:ext cx="10332720" cy="777240"/>
          </a:xfrm>
          <a:prstGeom prst="rect">
            <a:avLst/>
          </a:prstGeom>
          <a:noFill/>
        </p:spPr>
        <p:txBody>
          <a:bodyPr wrap="square" anchor="ctr" lIns="25400" rIns="25400" tIns="25400" bIns="25400">
            <a:spAutoFit/>
          </a:bodyPr>
          <a:lstStyle/>
          <a:p>
            <a:pPr algn="l">
              <a:lnSpc>
                <a:spcPct val="100000"/>
              </a:lnSpc>
              <a:spcAft>
                <a:spcPts val="400"/>
              </a:spcAft>
            </a:pPr>
            <a:r>
              <a:rPr sz="3000" b="1" i="0">
                <a:solidFill>
                  <a:srgbClr val="1B5E20"/>
                </a:solidFill>
                <a:latin typeface="Calibri"/>
              </a:rPr>
              <a:t>Analyse des systèmes existants</a:t>
            </a:r>
          </a:p>
        </p:txBody>
      </p:sp>
      <p:sp>
        <p:nvSpPr>
          <p:cNvPr id="7" name="TextBox 6"/>
          <p:cNvSpPr txBox="1"/>
          <p:nvPr/>
        </p:nvSpPr>
        <p:spPr>
          <a:xfrm>
            <a:off x="1325880" y="1078992"/>
            <a:ext cx="10332720" cy="365760"/>
          </a:xfrm>
          <a:prstGeom prst="rect">
            <a:avLst/>
          </a:prstGeom>
          <a:noFill/>
        </p:spPr>
        <p:txBody>
          <a:bodyPr wrap="square" anchor="t" lIns="25400" rIns="25400" tIns="25400" bIns="25400">
            <a:spAutoFit/>
          </a:bodyPr>
          <a:lstStyle/>
          <a:p>
            <a:pPr algn="l">
              <a:lnSpc>
                <a:spcPct val="100000"/>
              </a:lnSpc>
              <a:spcAft>
                <a:spcPts val="400"/>
              </a:spcAft>
            </a:pPr>
            <a:r>
              <a:rPr sz="1500" b="0" i="1">
                <a:solidFill>
                  <a:srgbClr val="90A4AE"/>
                </a:solidFill>
                <a:latin typeface="Calibri"/>
              </a:rPr>
              <a:t>Chauffage, ECS et ventilation</a:t>
            </a:r>
          </a:p>
        </p:txBody>
      </p:sp>
      <p:sp>
        <p:nvSpPr>
          <p:cNvPr id="8" name="Rectangle 7"/>
          <p:cNvSpPr/>
          <p:nvPr/>
        </p:nvSpPr>
        <p:spPr>
          <a:xfrm>
            <a:off x="1325880" y="1188720"/>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46520"/>
            <a:ext cx="8229600" cy="320040"/>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Rénovation énergétique – Saint-Jean-de-Chevelu (73)</a:t>
            </a:r>
          </a:p>
        </p:txBody>
      </p:sp>
      <p:sp>
        <p:nvSpPr>
          <p:cNvPr id="10" name="TextBox 9"/>
          <p:cNvSpPr txBox="1"/>
          <p:nvPr/>
        </p:nvSpPr>
        <p:spPr>
          <a:xfrm>
            <a:off x="9418320" y="6446520"/>
            <a:ext cx="2286000" cy="320040"/>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graphicFrame>
        <p:nvGraphicFramePr>
          <p:cNvPr id="11" name="Table 10"/>
          <p:cNvGraphicFramePr>
            <a:graphicFrameLocks noGrp="1"/>
          </p:cNvGraphicFramePr>
          <p:nvPr/>
        </p:nvGraphicFramePr>
        <p:xfrm>
          <a:off x="822960" y="1600200"/>
          <a:ext cx="10515600" cy="3291840"/>
        </p:xfrm>
        <a:graphic>
          <a:graphicData uri="http://schemas.openxmlformats.org/drawingml/2006/table">
            <a:tbl>
              <a:tblPr>
                <a:tableStyleId>{5C22544A-7EE6-4342-B048-85BDC9FD1C3A}</a:tableStyleId>
              </a:tblPr>
              <a:tblGrid>
                <a:gridCol w="2194560"/>
                <a:gridCol w="4023360"/>
                <a:gridCol w="4297680"/>
              </a:tblGrid>
              <a:tr h="548640">
                <a:tc>
                  <a:txBody>
                    <a:bodyPr wrap="square"/>
                    <a:lstStyle/>
                    <a:p>
                      <a:pPr algn="l"/>
                      <a:r>
                        <a:rPr sz="1300" b="1">
                          <a:solidFill>
                            <a:srgbClr val="FFFFFF"/>
                          </a:solidFill>
                          <a:latin typeface="Calibri"/>
                        </a:rPr>
                        <a:t>Équipement</a:t>
                      </a:r>
                    </a:p>
                  </a:txBody>
                  <a:tcPr marL="88900" marR="88900" marT="25400" marB="25400" anchor="ctr">
                    <a:solidFill>
                      <a:srgbClr val="1B5E20"/>
                    </a:solidFill>
                  </a:tcPr>
                </a:tc>
                <a:tc>
                  <a:txBody>
                    <a:bodyPr wrap="square"/>
                    <a:lstStyle/>
                    <a:p>
                      <a:pPr algn="ctr"/>
                      <a:r>
                        <a:rPr sz="1300" b="1">
                          <a:solidFill>
                            <a:srgbClr val="FFFFFF"/>
                          </a:solidFill>
                          <a:latin typeface="Calibri"/>
                        </a:rPr>
                        <a:t>Description</a:t>
                      </a:r>
                    </a:p>
                  </a:txBody>
                  <a:tcPr marL="88900" marR="88900" marT="25400" marB="25400" anchor="ctr">
                    <a:solidFill>
                      <a:srgbClr val="1B5E20"/>
                    </a:solidFill>
                  </a:tcPr>
                </a:tc>
                <a:tc>
                  <a:txBody>
                    <a:bodyPr wrap="square"/>
                    <a:lstStyle/>
                    <a:p>
                      <a:pPr algn="ctr"/>
                      <a:r>
                        <a:rPr sz="1300" b="1">
                          <a:solidFill>
                            <a:srgbClr val="FFFFFF"/>
                          </a:solidFill>
                          <a:latin typeface="Calibri"/>
                        </a:rPr>
                        <a:t>Limite principale</a:t>
                      </a:r>
                    </a:p>
                  </a:txBody>
                  <a:tcPr marL="88900" marR="88900" marT="25400" marB="25400" anchor="ctr">
                    <a:solidFill>
                      <a:srgbClr val="1B5E20"/>
                    </a:solidFill>
                  </a:tcPr>
                </a:tc>
              </a:tr>
              <a:tr h="548640">
                <a:tc>
                  <a:txBody>
                    <a:bodyPr wrap="square"/>
                    <a:lstStyle/>
                    <a:p>
                      <a:pPr algn="l"/>
                      <a:r>
                        <a:rPr sz="1200" b="1">
                          <a:solidFill>
                            <a:srgbClr val="37474F"/>
                          </a:solidFill>
                          <a:latin typeface="Calibri"/>
                        </a:rPr>
                        <a:t>Chaudière fioul</a:t>
                      </a:r>
                    </a:p>
                  </a:txBody>
                  <a:tcPr marL="88900" marR="88900" marT="25400" marB="25400" anchor="ctr">
                    <a:solidFill>
                      <a:srgbClr val="FFFFFF"/>
                    </a:solidFill>
                  </a:tcPr>
                </a:tc>
                <a:tc>
                  <a:txBody>
                    <a:bodyPr wrap="square"/>
                    <a:lstStyle/>
                    <a:p>
                      <a:pPr algn="ctr"/>
                      <a:r>
                        <a:rPr sz="1200" b="0">
                          <a:solidFill>
                            <a:srgbClr val="37474F"/>
                          </a:solidFill>
                          <a:latin typeface="Calibri"/>
                        </a:rPr>
                        <a:t>Basse température, installée en 1991</a:t>
                      </a:r>
                    </a:p>
                  </a:txBody>
                  <a:tcPr marL="88900" marR="88900" marT="25400" marB="25400" anchor="ctr">
                    <a:solidFill>
                      <a:srgbClr val="FFFFFF"/>
                    </a:solidFill>
                  </a:tcPr>
                </a:tc>
                <a:tc>
                  <a:txBody>
                    <a:bodyPr wrap="square"/>
                    <a:lstStyle/>
                    <a:p>
                      <a:pPr algn="ctr"/>
                      <a:r>
                        <a:rPr sz="1200" b="0">
                          <a:solidFill>
                            <a:srgbClr val="37474F"/>
                          </a:solidFill>
                          <a:latin typeface="Calibri"/>
                        </a:rPr>
                        <a:t>Ancienne, énergie fossile émettrice de CO₂</a:t>
                      </a:r>
                    </a:p>
                  </a:txBody>
                  <a:tcPr marL="88900" marR="88900" marT="25400" marB="25400" anchor="ctr">
                    <a:solidFill>
                      <a:srgbClr val="FFFFFF"/>
                    </a:solidFill>
                  </a:tcPr>
                </a:tc>
              </a:tr>
              <a:tr h="548640">
                <a:tc>
                  <a:txBody>
                    <a:bodyPr wrap="square"/>
                    <a:lstStyle/>
                    <a:p>
                      <a:pPr algn="l"/>
                      <a:r>
                        <a:rPr sz="1200" b="1">
                          <a:solidFill>
                            <a:srgbClr val="37474F"/>
                          </a:solidFill>
                          <a:latin typeface="Calibri"/>
                        </a:rPr>
                        <a:t>Poêle à bois</a:t>
                      </a:r>
                    </a:p>
                  </a:txBody>
                  <a:tcPr marL="88900" marR="88900" marT="25400" marB="25400" anchor="ctr">
                    <a:solidFill>
                      <a:srgbClr val="E8F5E9"/>
                    </a:solidFill>
                  </a:tcPr>
                </a:tc>
                <a:tc>
                  <a:txBody>
                    <a:bodyPr wrap="square"/>
                    <a:lstStyle/>
                    <a:p>
                      <a:pPr algn="ctr"/>
                      <a:r>
                        <a:rPr sz="1200" b="0">
                          <a:solidFill>
                            <a:srgbClr val="37474F"/>
                          </a:solidFill>
                          <a:latin typeface="Calibri"/>
                        </a:rPr>
                        <a:t>Bûches, installé en 2010 (appoint)</a:t>
                      </a:r>
                    </a:p>
                  </a:txBody>
                  <a:tcPr marL="88900" marR="88900" marT="25400" marB="25400" anchor="ctr">
                    <a:solidFill>
                      <a:srgbClr val="E8F5E9"/>
                    </a:solidFill>
                  </a:tcPr>
                </a:tc>
                <a:tc>
                  <a:txBody>
                    <a:bodyPr wrap="square"/>
                    <a:lstStyle/>
                    <a:p>
                      <a:pPr algn="ctr"/>
                      <a:r>
                        <a:rPr sz="1200" b="0">
                          <a:solidFill>
                            <a:srgbClr val="37474F"/>
                          </a:solidFill>
                          <a:latin typeface="Calibri"/>
                        </a:rPr>
                        <a:t>Pas de label Flamme Verte, non étanche</a:t>
                      </a:r>
                    </a:p>
                  </a:txBody>
                  <a:tcPr marL="88900" marR="88900" marT="25400" marB="25400" anchor="ctr">
                    <a:solidFill>
                      <a:srgbClr val="E8F5E9"/>
                    </a:solidFill>
                  </a:tcPr>
                </a:tc>
              </a:tr>
              <a:tr h="548640">
                <a:tc>
                  <a:txBody>
                    <a:bodyPr wrap="square"/>
                    <a:lstStyle/>
                    <a:p>
                      <a:pPr algn="l"/>
                      <a:r>
                        <a:rPr sz="1200" b="1">
                          <a:solidFill>
                            <a:srgbClr val="37474F"/>
                          </a:solidFill>
                          <a:latin typeface="Calibri"/>
                        </a:rPr>
                        <a:t>Ballon ECS</a:t>
                      </a:r>
                    </a:p>
                  </a:txBody>
                  <a:tcPr marL="88900" marR="88900" marT="25400" marB="25400" anchor="ctr">
                    <a:solidFill>
                      <a:srgbClr val="FFFFFF"/>
                    </a:solidFill>
                  </a:tcPr>
                </a:tc>
                <a:tc>
                  <a:txBody>
                    <a:bodyPr wrap="square"/>
                    <a:lstStyle/>
                    <a:p>
                      <a:pPr algn="ctr"/>
                      <a:r>
                        <a:rPr sz="1200" b="0">
                          <a:solidFill>
                            <a:srgbClr val="37474F"/>
                          </a:solidFill>
                          <a:latin typeface="Calibri"/>
                        </a:rPr>
                        <a:t>Électrique 200 L, hors volume chauffé</a:t>
                      </a:r>
                    </a:p>
                  </a:txBody>
                  <a:tcPr marL="88900" marR="88900" marT="25400" marB="25400" anchor="ctr">
                    <a:solidFill>
                      <a:srgbClr val="FFFFFF"/>
                    </a:solidFill>
                  </a:tcPr>
                </a:tc>
                <a:tc>
                  <a:txBody>
                    <a:bodyPr wrap="square"/>
                    <a:lstStyle/>
                    <a:p>
                      <a:pPr algn="ctr"/>
                      <a:r>
                        <a:rPr sz="1200" b="0">
                          <a:solidFill>
                            <a:srgbClr val="37474F"/>
                          </a:solidFill>
                          <a:latin typeface="Calibri"/>
                        </a:rPr>
                        <a:t>Pertes thermiques, conso électrique</a:t>
                      </a:r>
                    </a:p>
                  </a:txBody>
                  <a:tcPr marL="88900" marR="88900" marT="25400" marB="25400" anchor="ctr">
                    <a:solidFill>
                      <a:srgbClr val="FFFFFF"/>
                    </a:solidFill>
                  </a:tcPr>
                </a:tc>
              </a:tr>
              <a:tr h="548640">
                <a:tc>
                  <a:txBody>
                    <a:bodyPr wrap="square"/>
                    <a:lstStyle/>
                    <a:p>
                      <a:pPr algn="l"/>
                      <a:r>
                        <a:rPr sz="1200" b="1">
                          <a:solidFill>
                            <a:srgbClr val="37474F"/>
                          </a:solidFill>
                          <a:latin typeface="Calibri"/>
                        </a:rPr>
                        <a:t>Régulation</a:t>
                      </a:r>
                    </a:p>
                  </a:txBody>
                  <a:tcPr marL="88900" marR="88900" marT="25400" marB="25400" anchor="ctr">
                    <a:solidFill>
                      <a:srgbClr val="E8F5E9"/>
                    </a:solidFill>
                  </a:tcPr>
                </a:tc>
                <a:tc>
                  <a:txBody>
                    <a:bodyPr wrap="square"/>
                    <a:lstStyle/>
                    <a:p>
                      <a:pPr algn="ctr"/>
                      <a:r>
                        <a:rPr sz="1200" b="0">
                          <a:solidFill>
                            <a:srgbClr val="37474F"/>
                          </a:solidFill>
                          <a:latin typeface="Calibri"/>
                        </a:rPr>
                        <a:t>Thermostat non programmable</a:t>
                      </a:r>
                    </a:p>
                  </a:txBody>
                  <a:tcPr marL="88900" marR="88900" marT="25400" marB="25400" anchor="ctr">
                    <a:solidFill>
                      <a:srgbClr val="E8F5E9"/>
                    </a:solidFill>
                  </a:tcPr>
                </a:tc>
                <a:tc>
                  <a:txBody>
                    <a:bodyPr wrap="square"/>
                    <a:lstStyle/>
                    <a:p>
                      <a:pPr algn="ctr"/>
                      <a:r>
                        <a:rPr sz="1200" b="0">
                          <a:solidFill>
                            <a:srgbClr val="37474F"/>
                          </a:solidFill>
                          <a:latin typeface="Calibri"/>
                        </a:rPr>
                        <a:t>Gestion peu optimisée</a:t>
                      </a:r>
                    </a:p>
                  </a:txBody>
                  <a:tcPr marL="88900" marR="88900" marT="25400" marB="25400" anchor="ctr">
                    <a:solidFill>
                      <a:srgbClr val="E8F5E9"/>
                    </a:solidFill>
                  </a:tcPr>
                </a:tc>
              </a:tr>
              <a:tr h="548640">
                <a:tc>
                  <a:txBody>
                    <a:bodyPr wrap="square"/>
                    <a:lstStyle/>
                    <a:p>
                      <a:pPr algn="l"/>
                      <a:r>
                        <a:rPr sz="1200" b="1">
                          <a:solidFill>
                            <a:srgbClr val="37474F"/>
                          </a:solidFill>
                          <a:latin typeface="Calibri"/>
                        </a:rPr>
                        <a:t>Ventilation</a:t>
                      </a:r>
                    </a:p>
                  </a:txBody>
                  <a:tcPr marL="88900" marR="88900" marT="25400" marB="25400" anchor="ctr">
                    <a:solidFill>
                      <a:srgbClr val="FFFFFF"/>
                    </a:solidFill>
                  </a:tcPr>
                </a:tc>
                <a:tc>
                  <a:txBody>
                    <a:bodyPr wrap="square"/>
                    <a:lstStyle/>
                    <a:p>
                      <a:pPr algn="ctr"/>
                      <a:r>
                        <a:rPr sz="1200" b="0">
                          <a:solidFill>
                            <a:srgbClr val="37474F"/>
                          </a:solidFill>
                          <a:latin typeface="Calibri"/>
                        </a:rPr>
                        <a:t>Naturelle (pas de VMC)</a:t>
                      </a:r>
                    </a:p>
                  </a:txBody>
                  <a:tcPr marL="88900" marR="88900" marT="25400" marB="25400" anchor="ctr">
                    <a:solidFill>
                      <a:srgbClr val="FFFFFF"/>
                    </a:solidFill>
                  </a:tcPr>
                </a:tc>
                <a:tc>
                  <a:txBody>
                    <a:bodyPr wrap="square"/>
                    <a:lstStyle/>
                    <a:p>
                      <a:pPr algn="ctr"/>
                      <a:r>
                        <a:rPr sz="1200" b="0">
                          <a:solidFill>
                            <a:srgbClr val="37474F"/>
                          </a:solidFill>
                          <a:latin typeface="Calibri"/>
                        </a:rPr>
                        <a:t>Débits non maîtrisés, pertes importantes</a:t>
                      </a:r>
                    </a:p>
                  </a:txBody>
                  <a:tcPr marL="88900" marR="88900" marT="25400" marB="25400" anchor="ctr">
                    <a:solidFill>
                      <a:srgbClr val="FFFFFF"/>
                    </a:solidFill>
                  </a:tcPr>
                </a:tc>
              </a:tr>
            </a:tbl>
          </a:graphicData>
        </a:graphic>
      </p:graphicFrame>
      <p:sp>
        <p:nvSpPr>
          <p:cNvPr id="12" name="Rounded Rectangle 11"/>
          <p:cNvSpPr/>
          <p:nvPr/>
        </p:nvSpPr>
        <p:spPr>
          <a:xfrm>
            <a:off x="822960" y="5074920"/>
            <a:ext cx="10515600" cy="914400"/>
          </a:xfrm>
          <a:prstGeom prst="roundRect">
            <a:avLst/>
          </a:prstGeom>
          <a:solidFill>
            <a:srgbClr val="FFF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5166360"/>
            <a:ext cx="10058400" cy="731520"/>
          </a:xfrm>
          <a:prstGeom prst="rect">
            <a:avLst/>
          </a:prstGeom>
          <a:noFill/>
        </p:spPr>
        <p:txBody>
          <a:bodyPr wrap="square" anchor="ctr" lIns="25400" rIns="25400" tIns="25400" bIns="25400">
            <a:spAutoFit/>
          </a:bodyPr>
          <a:lstStyle/>
          <a:p>
            <a:pPr algn="l">
              <a:lnSpc>
                <a:spcPct val="100000"/>
              </a:lnSpc>
              <a:spcAft>
                <a:spcPts val="400"/>
              </a:spcAft>
            </a:pPr>
            <a:r>
              <a:rPr sz="1400" b="1" i="0">
                <a:solidFill>
                  <a:srgbClr val="E65100"/>
                </a:solidFill>
                <a:latin typeface="Calibri"/>
              </a:rPr>
              <a:t>Constat : </a:t>
            </a:r>
            <a:r>
              <a:rPr sz="1400" b="0" i="0">
                <a:solidFill>
                  <a:srgbClr val="37474F"/>
                </a:solidFill>
                <a:latin typeface="Calibri"/>
              </a:rPr>
              <a:t>des équipements vieillissants et énergivores, et surtout l’absence totale de ventilation mécanique → un poste de pertes majeur.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3</a:t>
            </a:r>
          </a:p>
        </p:txBody>
      </p:sp>
      <p:sp>
        <p:nvSpPr>
          <p:cNvPr id="6" name="TextBox 5"/>
          <p:cNvSpPr txBox="1"/>
          <p:nvPr/>
        </p:nvSpPr>
        <p:spPr>
          <a:xfrm>
            <a:off x="1325880" y="365760"/>
            <a:ext cx="10332720" cy="777240"/>
          </a:xfrm>
          <a:prstGeom prst="rect">
            <a:avLst/>
          </a:prstGeom>
          <a:noFill/>
        </p:spPr>
        <p:txBody>
          <a:bodyPr wrap="square" anchor="ctr" lIns="25400" rIns="25400" tIns="25400" bIns="25400">
            <a:spAutoFit/>
          </a:bodyPr>
          <a:lstStyle/>
          <a:p>
            <a:pPr algn="l">
              <a:lnSpc>
                <a:spcPct val="100000"/>
              </a:lnSpc>
              <a:spcAft>
                <a:spcPts val="400"/>
              </a:spcAft>
            </a:pPr>
            <a:r>
              <a:rPr sz="3000" b="1" i="0">
                <a:solidFill>
                  <a:srgbClr val="1B5E20"/>
                </a:solidFill>
                <a:latin typeface="Calibri"/>
              </a:rPr>
              <a:t>Bilan des déperditions thermiques</a:t>
            </a:r>
          </a:p>
        </p:txBody>
      </p:sp>
      <p:sp>
        <p:nvSpPr>
          <p:cNvPr id="7" name="TextBox 6"/>
          <p:cNvSpPr txBox="1"/>
          <p:nvPr/>
        </p:nvSpPr>
        <p:spPr>
          <a:xfrm>
            <a:off x="1325880" y="1078992"/>
            <a:ext cx="10332720" cy="365760"/>
          </a:xfrm>
          <a:prstGeom prst="rect">
            <a:avLst/>
          </a:prstGeom>
          <a:noFill/>
        </p:spPr>
        <p:txBody>
          <a:bodyPr wrap="square" anchor="t" lIns="25400" rIns="25400" tIns="25400" bIns="25400">
            <a:spAutoFit/>
          </a:bodyPr>
          <a:lstStyle/>
          <a:p>
            <a:pPr algn="l">
              <a:lnSpc>
                <a:spcPct val="100000"/>
              </a:lnSpc>
              <a:spcAft>
                <a:spcPts val="400"/>
              </a:spcAft>
            </a:pPr>
            <a:r>
              <a:rPr sz="1500" b="0" i="1">
                <a:solidFill>
                  <a:srgbClr val="90A4AE"/>
                </a:solidFill>
                <a:latin typeface="Calibri"/>
              </a:rPr>
              <a:t>Où part la chaleur ?</a:t>
            </a:r>
          </a:p>
        </p:txBody>
      </p:sp>
      <p:sp>
        <p:nvSpPr>
          <p:cNvPr id="8" name="Rectangle 7"/>
          <p:cNvSpPr/>
          <p:nvPr/>
        </p:nvSpPr>
        <p:spPr>
          <a:xfrm>
            <a:off x="1325880" y="1188720"/>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46520"/>
            <a:ext cx="8229600" cy="320040"/>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Rénovation énergétique – Saint-Jean-de-Chevelu (73)</a:t>
            </a:r>
          </a:p>
        </p:txBody>
      </p:sp>
      <p:sp>
        <p:nvSpPr>
          <p:cNvPr id="10" name="TextBox 9"/>
          <p:cNvSpPr txBox="1"/>
          <p:nvPr/>
        </p:nvSpPr>
        <p:spPr>
          <a:xfrm>
            <a:off x="9418320" y="6446520"/>
            <a:ext cx="2286000" cy="320040"/>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graphicFrame>
        <p:nvGraphicFramePr>
          <p:cNvPr id="11" name="Chart 10"/>
          <p:cNvGraphicFramePr>
            <a:graphicFrameLocks noGrp="1"/>
          </p:cNvGraphicFramePr>
          <p:nvPr/>
        </p:nvGraphicFramePr>
        <p:xfrm>
          <a:off x="640080" y="1554480"/>
          <a:ext cx="5760720" cy="4480560"/>
        </p:xfrm>
        <a:graphic>
          <a:graphicData uri="http://schemas.openxmlformats.org/drawingml/2006/chart">
            <c:chart xmlns:c="http://schemas.openxmlformats.org/drawingml/2006/chart" r:id="rId2"/>
          </a:graphicData>
        </a:graphic>
      </p:graphicFrame>
      <p:sp>
        <p:nvSpPr>
          <p:cNvPr id="12" name="TextBox 11"/>
          <p:cNvSpPr txBox="1"/>
          <p:nvPr/>
        </p:nvSpPr>
        <p:spPr>
          <a:xfrm>
            <a:off x="6858000" y="1554480"/>
            <a:ext cx="4572000" cy="365760"/>
          </a:xfrm>
          <a:prstGeom prst="rect">
            <a:avLst/>
          </a:prstGeom>
          <a:noFill/>
        </p:spPr>
        <p:txBody>
          <a:bodyPr wrap="square" anchor="t" lIns="25400" rIns="25400" tIns="25400" bIns="25400">
            <a:spAutoFit/>
          </a:bodyPr>
          <a:lstStyle/>
          <a:p>
            <a:pPr algn="l">
              <a:lnSpc>
                <a:spcPct val="100000"/>
              </a:lnSpc>
              <a:spcAft>
                <a:spcPts val="400"/>
              </a:spcAft>
            </a:pPr>
            <a:r>
              <a:rPr sz="1500" b="1" i="0">
                <a:solidFill>
                  <a:srgbClr val="1B5E20"/>
                </a:solidFill>
                <a:latin typeface="Calibri"/>
              </a:rPr>
              <a:t>Indicateurs techniques</a:t>
            </a:r>
          </a:p>
        </p:txBody>
      </p:sp>
      <p:graphicFrame>
        <p:nvGraphicFramePr>
          <p:cNvPr id="13" name="Table 12"/>
          <p:cNvGraphicFramePr>
            <a:graphicFrameLocks noGrp="1"/>
          </p:cNvGraphicFramePr>
          <p:nvPr/>
        </p:nvGraphicFramePr>
        <p:xfrm>
          <a:off x="6858000" y="2011680"/>
          <a:ext cx="4480560" cy="2633472"/>
        </p:xfrm>
        <a:graphic>
          <a:graphicData uri="http://schemas.openxmlformats.org/drawingml/2006/table">
            <a:tbl>
              <a:tblPr>
                <a:tableStyleId>{5C22544A-7EE6-4342-B048-85BDC9FD1C3A}</a:tableStyleId>
              </a:tblPr>
              <a:tblGrid>
                <a:gridCol w="2651760"/>
                <a:gridCol w="1828800"/>
              </a:tblGrid>
              <a:tr h="438912">
                <a:tc>
                  <a:txBody>
                    <a:bodyPr wrap="square"/>
                    <a:lstStyle/>
                    <a:p>
                      <a:pPr algn="l"/>
                      <a:r>
                        <a:rPr sz="1200" b="1">
                          <a:solidFill>
                            <a:srgbClr val="FFFFFF"/>
                          </a:solidFill>
                          <a:latin typeface="Calibri"/>
                        </a:rPr>
                        <a:t>Indicateur</a:t>
                      </a:r>
                    </a:p>
                  </a:txBody>
                  <a:tcPr marL="88900" marR="88900" marT="25400" marB="25400" anchor="ctr">
                    <a:solidFill>
                      <a:srgbClr val="1B5E20"/>
                    </a:solidFill>
                  </a:tcPr>
                </a:tc>
                <a:tc>
                  <a:txBody>
                    <a:bodyPr wrap="square"/>
                    <a:lstStyle/>
                    <a:p>
                      <a:pPr algn="ctr"/>
                      <a:r>
                        <a:rPr sz="1200" b="1">
                          <a:solidFill>
                            <a:srgbClr val="FFFFFF"/>
                          </a:solidFill>
                          <a:latin typeface="Calibri"/>
                        </a:rPr>
                        <a:t>Valeur</a:t>
                      </a:r>
                    </a:p>
                  </a:txBody>
                  <a:tcPr marL="88900" marR="88900" marT="25400" marB="25400" anchor="ctr">
                    <a:solidFill>
                      <a:srgbClr val="1B5E20"/>
                    </a:solidFill>
                  </a:tcPr>
                </a:tc>
              </a:tr>
              <a:tr h="438912">
                <a:tc>
                  <a:txBody>
                    <a:bodyPr wrap="square"/>
                    <a:lstStyle/>
                    <a:p>
                      <a:pPr algn="l"/>
                      <a:r>
                        <a:rPr sz="1200" b="0">
                          <a:solidFill>
                            <a:srgbClr val="37474F"/>
                          </a:solidFill>
                          <a:latin typeface="Calibri"/>
                        </a:rPr>
                        <a:t>Surface déperditive</a:t>
                      </a:r>
                    </a:p>
                  </a:txBody>
                  <a:tcPr marL="88900" marR="88900" marT="25400" marB="25400" anchor="ctr">
                    <a:solidFill>
                      <a:srgbClr val="FFFFFF"/>
                    </a:solidFill>
                  </a:tcPr>
                </a:tc>
                <a:tc>
                  <a:txBody>
                    <a:bodyPr wrap="square"/>
                    <a:lstStyle/>
                    <a:p>
                      <a:pPr algn="ctr"/>
                      <a:r>
                        <a:rPr sz="1200" b="0">
                          <a:solidFill>
                            <a:srgbClr val="37474F"/>
                          </a:solidFill>
                          <a:latin typeface="Calibri"/>
                        </a:rPr>
                        <a:t>232,91 m²</a:t>
                      </a:r>
                    </a:p>
                  </a:txBody>
                  <a:tcPr marL="88900" marR="88900" marT="25400" marB="25400" anchor="ctr">
                    <a:solidFill>
                      <a:srgbClr val="FFFFFF"/>
                    </a:solidFill>
                  </a:tcPr>
                </a:tc>
              </a:tr>
              <a:tr h="438912">
                <a:tc>
                  <a:txBody>
                    <a:bodyPr wrap="square"/>
                    <a:lstStyle/>
                    <a:p>
                      <a:pPr algn="l"/>
                      <a:r>
                        <a:rPr sz="1200" b="0">
                          <a:solidFill>
                            <a:srgbClr val="37474F"/>
                          </a:solidFill>
                          <a:latin typeface="Calibri"/>
                        </a:rPr>
                        <a:t>Coefficient Ubât</a:t>
                      </a:r>
                    </a:p>
                  </a:txBody>
                  <a:tcPr marL="88900" marR="88900" marT="25400" marB="25400" anchor="ctr">
                    <a:solidFill>
                      <a:srgbClr val="E8F5E9"/>
                    </a:solidFill>
                  </a:tcPr>
                </a:tc>
                <a:tc>
                  <a:txBody>
                    <a:bodyPr wrap="square"/>
                    <a:lstStyle/>
                    <a:p>
                      <a:pPr algn="ctr"/>
                      <a:r>
                        <a:rPr sz="1200" b="0">
                          <a:solidFill>
                            <a:srgbClr val="37474F"/>
                          </a:solidFill>
                          <a:latin typeface="Calibri"/>
                        </a:rPr>
                        <a:t>2,03 W/(m².K)</a:t>
                      </a:r>
                    </a:p>
                  </a:txBody>
                  <a:tcPr marL="88900" marR="88900" marT="25400" marB="25400" anchor="ctr">
                    <a:solidFill>
                      <a:srgbClr val="E8F5E9"/>
                    </a:solidFill>
                  </a:tcPr>
                </a:tc>
              </a:tr>
              <a:tr h="438912">
                <a:tc>
                  <a:txBody>
                    <a:bodyPr wrap="square"/>
                    <a:lstStyle/>
                    <a:p>
                      <a:pPr algn="l"/>
                      <a:r>
                        <a:rPr sz="1200" b="0">
                          <a:solidFill>
                            <a:srgbClr val="37474F"/>
                          </a:solidFill>
                          <a:latin typeface="Calibri"/>
                        </a:rPr>
                        <a:t>Ubât de référence</a:t>
                      </a:r>
                    </a:p>
                  </a:txBody>
                  <a:tcPr marL="88900" marR="88900" marT="25400" marB="25400" anchor="ctr">
                    <a:solidFill>
                      <a:srgbClr val="FFFFFF"/>
                    </a:solidFill>
                  </a:tcPr>
                </a:tc>
                <a:tc>
                  <a:txBody>
                    <a:bodyPr wrap="square"/>
                    <a:lstStyle/>
                    <a:p>
                      <a:pPr algn="ctr"/>
                      <a:r>
                        <a:rPr sz="1200" b="0">
                          <a:solidFill>
                            <a:srgbClr val="37474F"/>
                          </a:solidFill>
                          <a:latin typeface="Calibri"/>
                        </a:rPr>
                        <a:t>0,47 W/(m².K)</a:t>
                      </a:r>
                    </a:p>
                  </a:txBody>
                  <a:tcPr marL="88900" marR="88900" marT="25400" marB="25400" anchor="ctr">
                    <a:solidFill>
                      <a:srgbClr val="FFFFFF"/>
                    </a:solidFill>
                  </a:tcPr>
                </a:tc>
              </a:tr>
              <a:tr h="438912">
                <a:tc>
                  <a:txBody>
                    <a:bodyPr wrap="square"/>
                    <a:lstStyle/>
                    <a:p>
                      <a:pPr algn="l"/>
                      <a:r>
                        <a:rPr sz="1200" b="0">
                          <a:solidFill>
                            <a:srgbClr val="37474F"/>
                          </a:solidFill>
                          <a:latin typeface="Calibri"/>
                        </a:rPr>
                        <a:t>Coefficient GV</a:t>
                      </a:r>
                    </a:p>
                  </a:txBody>
                  <a:tcPr marL="88900" marR="88900" marT="25400" marB="25400" anchor="ctr">
                    <a:solidFill>
                      <a:srgbClr val="E8F5E9"/>
                    </a:solidFill>
                  </a:tcPr>
                </a:tc>
                <a:tc>
                  <a:txBody>
                    <a:bodyPr wrap="square"/>
                    <a:lstStyle/>
                    <a:p>
                      <a:pPr algn="ctr"/>
                      <a:r>
                        <a:rPr sz="1200" b="0">
                          <a:solidFill>
                            <a:srgbClr val="37474F"/>
                          </a:solidFill>
                          <a:latin typeface="Calibri"/>
                        </a:rPr>
                        <a:t>722 W/K</a:t>
                      </a:r>
                    </a:p>
                  </a:txBody>
                  <a:tcPr marL="88900" marR="88900" marT="25400" marB="25400" anchor="ctr">
                    <a:solidFill>
                      <a:srgbClr val="E8F5E9"/>
                    </a:solidFill>
                  </a:tcPr>
                </a:tc>
              </a:tr>
              <a:tr h="438912">
                <a:tc>
                  <a:txBody>
                    <a:bodyPr wrap="square"/>
                    <a:lstStyle/>
                    <a:p>
                      <a:pPr algn="l"/>
                      <a:r>
                        <a:rPr sz="1200" b="0">
                          <a:solidFill>
                            <a:srgbClr val="37474F"/>
                          </a:solidFill>
                          <a:latin typeface="Calibri"/>
                        </a:rPr>
                        <a:t>Puissance de chauffage</a:t>
                      </a:r>
                    </a:p>
                  </a:txBody>
                  <a:tcPr marL="88900" marR="88900" marT="25400" marB="25400" anchor="ctr">
                    <a:solidFill>
                      <a:srgbClr val="FFFFFF"/>
                    </a:solidFill>
                  </a:tcPr>
                </a:tc>
                <a:tc>
                  <a:txBody>
                    <a:bodyPr wrap="square"/>
                    <a:lstStyle/>
                    <a:p>
                      <a:pPr algn="ctr"/>
                      <a:r>
                        <a:rPr sz="1200" b="0">
                          <a:solidFill>
                            <a:srgbClr val="37474F"/>
                          </a:solidFill>
                          <a:latin typeface="Calibri"/>
                        </a:rPr>
                        <a:t>21,3 kW</a:t>
                      </a:r>
                    </a:p>
                  </a:txBody>
                  <a:tcPr marL="88900" marR="88900" marT="25400" marB="25400" anchor="ctr">
                    <a:solidFill>
                      <a:srgbClr val="FFFFFF"/>
                    </a:solidFill>
                  </a:tcPr>
                </a:tc>
              </a:tr>
            </a:tbl>
          </a:graphicData>
        </a:graphic>
      </p:graphicFrame>
      <p:sp>
        <p:nvSpPr>
          <p:cNvPr id="14" name="TextBox 13"/>
          <p:cNvSpPr txBox="1"/>
          <p:nvPr/>
        </p:nvSpPr>
        <p:spPr>
          <a:xfrm>
            <a:off x="6858000" y="5074920"/>
            <a:ext cx="4480560" cy="914400"/>
          </a:xfrm>
          <a:prstGeom prst="rect">
            <a:avLst/>
          </a:prstGeom>
          <a:noFill/>
        </p:spPr>
        <p:txBody>
          <a:bodyPr wrap="square" anchor="t" lIns="25400" rIns="25400" tIns="25400" bIns="25400">
            <a:spAutoFit/>
          </a:bodyPr>
          <a:lstStyle/>
          <a:p>
            <a:pPr algn="l">
              <a:lnSpc>
                <a:spcPct val="100000"/>
              </a:lnSpc>
              <a:spcAft>
                <a:spcPts val="400"/>
              </a:spcAft>
            </a:pPr>
            <a:r>
              <a:rPr sz="1300" b="1" i="0">
                <a:solidFill>
                  <a:srgbClr val="C62828"/>
                </a:solidFill>
                <a:latin typeface="Calibri"/>
              </a:rPr>
              <a:t>Ubât 4× supérieur à la référence : l’enveloppe est le vrai problème.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3</a:t>
            </a:r>
          </a:p>
        </p:txBody>
      </p:sp>
      <p:sp>
        <p:nvSpPr>
          <p:cNvPr id="6" name="TextBox 5"/>
          <p:cNvSpPr txBox="1"/>
          <p:nvPr/>
        </p:nvSpPr>
        <p:spPr>
          <a:xfrm>
            <a:off x="1325880" y="365760"/>
            <a:ext cx="10332720" cy="777240"/>
          </a:xfrm>
          <a:prstGeom prst="rect">
            <a:avLst/>
          </a:prstGeom>
          <a:noFill/>
        </p:spPr>
        <p:txBody>
          <a:bodyPr wrap="square" anchor="ctr" lIns="25400" rIns="25400" tIns="25400" bIns="25400">
            <a:spAutoFit/>
          </a:bodyPr>
          <a:lstStyle/>
          <a:p>
            <a:pPr algn="l">
              <a:lnSpc>
                <a:spcPct val="100000"/>
              </a:lnSpc>
              <a:spcAft>
                <a:spcPts val="400"/>
              </a:spcAft>
            </a:pPr>
            <a:r>
              <a:rPr sz="3000" b="1" i="0">
                <a:solidFill>
                  <a:srgbClr val="1B5E20"/>
                </a:solidFill>
                <a:latin typeface="Calibri"/>
              </a:rPr>
              <a:t>Étiquette DPE de l’existant</a:t>
            </a:r>
          </a:p>
        </p:txBody>
      </p:sp>
      <p:sp>
        <p:nvSpPr>
          <p:cNvPr id="7" name="TextBox 6"/>
          <p:cNvSpPr txBox="1"/>
          <p:nvPr/>
        </p:nvSpPr>
        <p:spPr>
          <a:xfrm>
            <a:off x="1325880" y="1078992"/>
            <a:ext cx="10332720" cy="365760"/>
          </a:xfrm>
          <a:prstGeom prst="rect">
            <a:avLst/>
          </a:prstGeom>
          <a:noFill/>
        </p:spPr>
        <p:txBody>
          <a:bodyPr wrap="square" anchor="t" lIns="25400" rIns="25400" tIns="25400" bIns="25400">
            <a:spAutoFit/>
          </a:bodyPr>
          <a:lstStyle/>
          <a:p>
            <a:pPr algn="l">
              <a:lnSpc>
                <a:spcPct val="100000"/>
              </a:lnSpc>
              <a:spcAft>
                <a:spcPts val="400"/>
              </a:spcAft>
            </a:pPr>
            <a:r>
              <a:rPr sz="1500" b="0" i="1">
                <a:solidFill>
                  <a:srgbClr val="90A4AE"/>
                </a:solidFill>
                <a:latin typeface="Calibri"/>
              </a:rPr>
              <a:t>Un logement très énergivore</a:t>
            </a:r>
          </a:p>
        </p:txBody>
      </p:sp>
      <p:sp>
        <p:nvSpPr>
          <p:cNvPr id="8" name="Rectangle 7"/>
          <p:cNvSpPr/>
          <p:nvPr/>
        </p:nvSpPr>
        <p:spPr>
          <a:xfrm>
            <a:off x="1325880" y="1188720"/>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46520"/>
            <a:ext cx="8229600" cy="320040"/>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Rénovation énergétique – Saint-Jean-de-Chevelu (73)</a:t>
            </a:r>
          </a:p>
        </p:txBody>
      </p:sp>
      <p:sp>
        <p:nvSpPr>
          <p:cNvPr id="10" name="TextBox 9"/>
          <p:cNvSpPr txBox="1"/>
          <p:nvPr/>
        </p:nvSpPr>
        <p:spPr>
          <a:xfrm>
            <a:off x="9418320" y="6446520"/>
            <a:ext cx="2286000" cy="320040"/>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TextBox 10"/>
          <p:cNvSpPr txBox="1"/>
          <p:nvPr/>
        </p:nvSpPr>
        <p:spPr>
          <a:xfrm>
            <a:off x="914400" y="1554480"/>
            <a:ext cx="2779776" cy="274320"/>
          </a:xfrm>
          <a:prstGeom prst="rect">
            <a:avLst/>
          </a:prstGeom>
          <a:noFill/>
        </p:spPr>
        <p:txBody>
          <a:bodyPr wrap="square" anchor="t" lIns="25400" rIns="25400" tIns="25400" bIns="25400">
            <a:spAutoFit/>
          </a:bodyPr>
          <a:lstStyle/>
          <a:p>
            <a:pPr algn="l">
              <a:lnSpc>
                <a:spcPct val="100000"/>
              </a:lnSpc>
              <a:spcAft>
                <a:spcPts val="400"/>
              </a:spcAft>
            </a:pPr>
            <a:r>
              <a:rPr sz="1200" b="1" i="0">
                <a:solidFill>
                  <a:srgbClr val="37474F"/>
                </a:solidFill>
                <a:latin typeface="Calibri"/>
              </a:rPr>
              <a:t>Classe énergie</a:t>
            </a:r>
          </a:p>
        </p:txBody>
      </p:sp>
      <p:sp>
        <p:nvSpPr>
          <p:cNvPr id="12" name="Rounded Rectangle 11"/>
          <p:cNvSpPr/>
          <p:nvPr/>
        </p:nvSpPr>
        <p:spPr>
          <a:xfrm>
            <a:off x="914400" y="1883664"/>
            <a:ext cx="914400" cy="384048"/>
          </a:xfrm>
          <a:prstGeom prst="roundRect">
            <a:avLst/>
          </a:prstGeom>
          <a:solidFill>
            <a:srgbClr val="0083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9264" y="1883664"/>
            <a:ext cx="841248" cy="384048"/>
          </a:xfrm>
          <a:prstGeom prst="rect">
            <a:avLst/>
          </a:prstGeom>
          <a:noFill/>
        </p:spPr>
        <p:txBody>
          <a:bodyPr wrap="square" anchor="ctr" lIns="25400" rIns="25400" tIns="25400" bIns="25400">
            <a:spAutoFit/>
          </a:bodyPr>
          <a:lstStyle/>
          <a:p>
            <a:pPr algn="l">
              <a:lnSpc>
                <a:spcPct val="100000"/>
              </a:lnSpc>
              <a:spcAft>
                <a:spcPts val="400"/>
              </a:spcAft>
            </a:pPr>
            <a:r>
              <a:rPr sz="1600" b="1" i="0">
                <a:solidFill>
                  <a:srgbClr val="FFFFFF"/>
                </a:solidFill>
                <a:latin typeface="Calibri"/>
              </a:rPr>
              <a:t>A</a:t>
            </a:r>
          </a:p>
        </p:txBody>
      </p:sp>
      <p:sp>
        <p:nvSpPr>
          <p:cNvPr id="14" name="Rounded Rectangle 13"/>
          <p:cNvSpPr/>
          <p:nvPr/>
        </p:nvSpPr>
        <p:spPr>
          <a:xfrm>
            <a:off x="914400" y="2322576"/>
            <a:ext cx="1225296" cy="384048"/>
          </a:xfrm>
          <a:prstGeom prst="roundRect">
            <a:avLst/>
          </a:prstGeom>
          <a:solidFill>
            <a:srgbClr val="57A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 y="2322576"/>
            <a:ext cx="1152144" cy="384048"/>
          </a:xfrm>
          <a:prstGeom prst="rect">
            <a:avLst/>
          </a:prstGeom>
          <a:noFill/>
        </p:spPr>
        <p:txBody>
          <a:bodyPr wrap="square" anchor="ctr" lIns="25400" rIns="25400" tIns="25400" bIns="25400">
            <a:spAutoFit/>
          </a:bodyPr>
          <a:lstStyle/>
          <a:p>
            <a:pPr algn="l">
              <a:lnSpc>
                <a:spcPct val="100000"/>
              </a:lnSpc>
              <a:spcAft>
                <a:spcPts val="400"/>
              </a:spcAft>
            </a:pPr>
            <a:r>
              <a:rPr sz="1600" b="1" i="0">
                <a:solidFill>
                  <a:srgbClr val="FFFFFF"/>
                </a:solidFill>
                <a:latin typeface="Calibri"/>
              </a:rPr>
              <a:t>B</a:t>
            </a:r>
          </a:p>
        </p:txBody>
      </p:sp>
      <p:sp>
        <p:nvSpPr>
          <p:cNvPr id="16" name="Rounded Rectangle 15"/>
          <p:cNvSpPr/>
          <p:nvPr/>
        </p:nvSpPr>
        <p:spPr>
          <a:xfrm>
            <a:off x="914400" y="2761488"/>
            <a:ext cx="1536192" cy="384048"/>
          </a:xfrm>
          <a:prstGeom prst="roundRect">
            <a:avLst/>
          </a:prstGeom>
          <a:solidFill>
            <a:srgbClr val="C3D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2761488"/>
            <a:ext cx="1463040" cy="384048"/>
          </a:xfrm>
          <a:prstGeom prst="rect">
            <a:avLst/>
          </a:prstGeom>
          <a:noFill/>
        </p:spPr>
        <p:txBody>
          <a:bodyPr wrap="square" anchor="ctr" lIns="25400" rIns="25400" tIns="25400" bIns="25400">
            <a:spAutoFit/>
          </a:bodyPr>
          <a:lstStyle/>
          <a:p>
            <a:pPr algn="l">
              <a:lnSpc>
                <a:spcPct val="100000"/>
              </a:lnSpc>
              <a:spcAft>
                <a:spcPts val="400"/>
              </a:spcAft>
            </a:pPr>
            <a:r>
              <a:rPr sz="1600" b="1" i="0">
                <a:solidFill>
                  <a:srgbClr val="FFFFFF"/>
                </a:solidFill>
                <a:latin typeface="Calibri"/>
              </a:rPr>
              <a:t>C</a:t>
            </a:r>
          </a:p>
        </p:txBody>
      </p:sp>
      <p:sp>
        <p:nvSpPr>
          <p:cNvPr id="18" name="Rounded Rectangle 17"/>
          <p:cNvSpPr/>
          <p:nvPr/>
        </p:nvSpPr>
        <p:spPr>
          <a:xfrm>
            <a:off x="914400" y="3200400"/>
            <a:ext cx="1847088" cy="384048"/>
          </a:xfrm>
          <a:prstGeom prst="roundRect">
            <a:avLst/>
          </a:prstGeom>
          <a:solidFill>
            <a:srgbClr val="FCE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9264" y="3200400"/>
            <a:ext cx="1773936" cy="384048"/>
          </a:xfrm>
          <a:prstGeom prst="rect">
            <a:avLst/>
          </a:prstGeom>
          <a:noFill/>
        </p:spPr>
        <p:txBody>
          <a:bodyPr wrap="square" anchor="ctr" lIns="25400" rIns="25400" tIns="25400" bIns="25400">
            <a:spAutoFit/>
          </a:bodyPr>
          <a:lstStyle/>
          <a:p>
            <a:pPr algn="l">
              <a:lnSpc>
                <a:spcPct val="100000"/>
              </a:lnSpc>
              <a:spcAft>
                <a:spcPts val="400"/>
              </a:spcAft>
            </a:pPr>
            <a:r>
              <a:rPr sz="1600" b="1" i="0">
                <a:solidFill>
                  <a:srgbClr val="FFFFFF"/>
                </a:solidFill>
                <a:latin typeface="Calibri"/>
              </a:rPr>
              <a:t>D</a:t>
            </a:r>
          </a:p>
        </p:txBody>
      </p:sp>
      <p:sp>
        <p:nvSpPr>
          <p:cNvPr id="20" name="Rounded Rectangle 19"/>
          <p:cNvSpPr/>
          <p:nvPr/>
        </p:nvSpPr>
        <p:spPr>
          <a:xfrm>
            <a:off x="914400" y="3639312"/>
            <a:ext cx="2157984" cy="384048"/>
          </a:xfrm>
          <a:prstGeom prst="roundRect">
            <a:avLst/>
          </a:prstGeom>
          <a:solidFill>
            <a:srgbClr val="F7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9264" y="3639312"/>
            <a:ext cx="2084832" cy="384048"/>
          </a:xfrm>
          <a:prstGeom prst="rect">
            <a:avLst/>
          </a:prstGeom>
          <a:noFill/>
        </p:spPr>
        <p:txBody>
          <a:bodyPr wrap="square" anchor="ctr" lIns="25400" rIns="25400" tIns="25400" bIns="25400">
            <a:spAutoFit/>
          </a:bodyPr>
          <a:lstStyle/>
          <a:p>
            <a:pPr algn="l">
              <a:lnSpc>
                <a:spcPct val="100000"/>
              </a:lnSpc>
              <a:spcAft>
                <a:spcPts val="400"/>
              </a:spcAft>
            </a:pPr>
            <a:r>
              <a:rPr sz="1600" b="1" i="0">
                <a:solidFill>
                  <a:srgbClr val="FFFFFF"/>
                </a:solidFill>
                <a:latin typeface="Calibri"/>
              </a:rPr>
              <a:t>E</a:t>
            </a:r>
          </a:p>
        </p:txBody>
      </p:sp>
      <p:sp>
        <p:nvSpPr>
          <p:cNvPr id="22" name="Rounded Rectangle 21"/>
          <p:cNvSpPr/>
          <p:nvPr/>
        </p:nvSpPr>
        <p:spPr>
          <a:xfrm>
            <a:off x="914400" y="4078224"/>
            <a:ext cx="2468880" cy="384048"/>
          </a:xfrm>
          <a:prstGeom prst="roundRect">
            <a:avLst/>
          </a:prstGeom>
          <a:solidFill>
            <a:srgbClr val="EA6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9264" y="4078224"/>
            <a:ext cx="2395728" cy="384048"/>
          </a:xfrm>
          <a:prstGeom prst="rect">
            <a:avLst/>
          </a:prstGeom>
          <a:noFill/>
        </p:spPr>
        <p:txBody>
          <a:bodyPr wrap="square" anchor="ctr" lIns="25400" rIns="25400" tIns="25400" bIns="25400">
            <a:spAutoFit/>
          </a:bodyPr>
          <a:lstStyle/>
          <a:p>
            <a:pPr algn="l">
              <a:lnSpc>
                <a:spcPct val="100000"/>
              </a:lnSpc>
              <a:spcAft>
                <a:spcPts val="400"/>
              </a:spcAft>
            </a:pPr>
            <a:r>
              <a:rPr sz="1600" b="1" i="0">
                <a:solidFill>
                  <a:srgbClr val="FFFFFF"/>
                </a:solidFill>
                <a:latin typeface="Calibri"/>
              </a:rPr>
              <a:t>F</a:t>
            </a:r>
          </a:p>
        </p:txBody>
      </p:sp>
      <p:sp>
        <p:nvSpPr>
          <p:cNvPr id="24" name="Rounded Rectangle 23"/>
          <p:cNvSpPr/>
          <p:nvPr/>
        </p:nvSpPr>
        <p:spPr>
          <a:xfrm>
            <a:off x="914400" y="4517136"/>
            <a:ext cx="2779776" cy="384048"/>
          </a:xfrm>
          <a:prstGeom prst="roundRect">
            <a:avLst/>
          </a:prstGeom>
          <a:solidFill>
            <a:srgbClr val="E2001A"/>
          </a:solidFill>
          <a:ln w="31750">
            <a:solidFill>
              <a:srgbClr val="2632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9264" y="4517136"/>
            <a:ext cx="2706624" cy="384048"/>
          </a:xfrm>
          <a:prstGeom prst="rect">
            <a:avLst/>
          </a:prstGeom>
          <a:noFill/>
        </p:spPr>
        <p:txBody>
          <a:bodyPr wrap="square" anchor="ctr" lIns="25400" rIns="25400" tIns="25400" bIns="25400">
            <a:spAutoFit/>
          </a:bodyPr>
          <a:lstStyle/>
          <a:p>
            <a:pPr algn="l">
              <a:lnSpc>
                <a:spcPct val="100000"/>
              </a:lnSpc>
              <a:spcAft>
                <a:spcPts val="400"/>
              </a:spcAft>
            </a:pPr>
            <a:r>
              <a:rPr sz="1600" b="1" i="0">
                <a:solidFill>
                  <a:srgbClr val="FFFFFF"/>
                </a:solidFill>
                <a:latin typeface="Calibri"/>
              </a:rPr>
              <a:t>G</a:t>
            </a:r>
          </a:p>
        </p:txBody>
      </p:sp>
      <p:sp>
        <p:nvSpPr>
          <p:cNvPr id="26" name="Pentagon 25"/>
          <p:cNvSpPr/>
          <p:nvPr/>
        </p:nvSpPr>
        <p:spPr>
          <a:xfrm>
            <a:off x="603504" y="4517136"/>
            <a:ext cx="274320" cy="384048"/>
          </a:xfrm>
          <a:prstGeom prst="homePlate">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06240" y="1554480"/>
            <a:ext cx="2779776" cy="274320"/>
          </a:xfrm>
          <a:prstGeom prst="rect">
            <a:avLst/>
          </a:prstGeom>
          <a:noFill/>
        </p:spPr>
        <p:txBody>
          <a:bodyPr wrap="square" anchor="t" lIns="25400" rIns="25400" tIns="25400" bIns="25400">
            <a:spAutoFit/>
          </a:bodyPr>
          <a:lstStyle/>
          <a:p>
            <a:pPr algn="l">
              <a:lnSpc>
                <a:spcPct val="100000"/>
              </a:lnSpc>
              <a:spcAft>
                <a:spcPts val="400"/>
              </a:spcAft>
            </a:pPr>
            <a:r>
              <a:rPr sz="1200" b="1" i="0">
                <a:solidFill>
                  <a:srgbClr val="37474F"/>
                </a:solidFill>
                <a:latin typeface="Calibri"/>
              </a:rPr>
              <a:t>Classe climat (GES)</a:t>
            </a:r>
          </a:p>
        </p:txBody>
      </p:sp>
      <p:sp>
        <p:nvSpPr>
          <p:cNvPr id="28" name="Rounded Rectangle 27"/>
          <p:cNvSpPr/>
          <p:nvPr/>
        </p:nvSpPr>
        <p:spPr>
          <a:xfrm>
            <a:off x="4206240" y="1883664"/>
            <a:ext cx="914400" cy="384048"/>
          </a:xfrm>
          <a:prstGeom prst="roundRect">
            <a:avLst/>
          </a:prstGeom>
          <a:solidFill>
            <a:srgbClr val="0083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261104" y="1883664"/>
            <a:ext cx="841248" cy="384048"/>
          </a:xfrm>
          <a:prstGeom prst="rect">
            <a:avLst/>
          </a:prstGeom>
          <a:noFill/>
        </p:spPr>
        <p:txBody>
          <a:bodyPr wrap="square" anchor="ctr" lIns="25400" rIns="25400" tIns="25400" bIns="25400">
            <a:spAutoFit/>
          </a:bodyPr>
          <a:lstStyle/>
          <a:p>
            <a:pPr algn="l">
              <a:lnSpc>
                <a:spcPct val="100000"/>
              </a:lnSpc>
              <a:spcAft>
                <a:spcPts val="400"/>
              </a:spcAft>
            </a:pPr>
            <a:r>
              <a:rPr sz="1600" b="1" i="0">
                <a:solidFill>
                  <a:srgbClr val="FFFFFF"/>
                </a:solidFill>
                <a:latin typeface="Calibri"/>
              </a:rPr>
              <a:t>A</a:t>
            </a:r>
          </a:p>
        </p:txBody>
      </p:sp>
      <p:sp>
        <p:nvSpPr>
          <p:cNvPr id="30" name="Rounded Rectangle 29"/>
          <p:cNvSpPr/>
          <p:nvPr/>
        </p:nvSpPr>
        <p:spPr>
          <a:xfrm>
            <a:off x="4206240" y="2322576"/>
            <a:ext cx="1225296" cy="384048"/>
          </a:xfrm>
          <a:prstGeom prst="roundRect">
            <a:avLst/>
          </a:prstGeom>
          <a:solidFill>
            <a:srgbClr val="57A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61104" y="2322576"/>
            <a:ext cx="1152144" cy="384048"/>
          </a:xfrm>
          <a:prstGeom prst="rect">
            <a:avLst/>
          </a:prstGeom>
          <a:noFill/>
        </p:spPr>
        <p:txBody>
          <a:bodyPr wrap="square" anchor="ctr" lIns="25400" rIns="25400" tIns="25400" bIns="25400">
            <a:spAutoFit/>
          </a:bodyPr>
          <a:lstStyle/>
          <a:p>
            <a:pPr algn="l">
              <a:lnSpc>
                <a:spcPct val="100000"/>
              </a:lnSpc>
              <a:spcAft>
                <a:spcPts val="400"/>
              </a:spcAft>
            </a:pPr>
            <a:r>
              <a:rPr sz="1600" b="1" i="0">
                <a:solidFill>
                  <a:srgbClr val="FFFFFF"/>
                </a:solidFill>
                <a:latin typeface="Calibri"/>
              </a:rPr>
              <a:t>B</a:t>
            </a:r>
          </a:p>
        </p:txBody>
      </p:sp>
      <p:sp>
        <p:nvSpPr>
          <p:cNvPr id="32" name="Rounded Rectangle 31"/>
          <p:cNvSpPr/>
          <p:nvPr/>
        </p:nvSpPr>
        <p:spPr>
          <a:xfrm>
            <a:off x="4206240" y="2761488"/>
            <a:ext cx="1536192" cy="384048"/>
          </a:xfrm>
          <a:prstGeom prst="roundRect">
            <a:avLst/>
          </a:prstGeom>
          <a:solidFill>
            <a:srgbClr val="C3D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261104" y="2761488"/>
            <a:ext cx="1463040" cy="384048"/>
          </a:xfrm>
          <a:prstGeom prst="rect">
            <a:avLst/>
          </a:prstGeom>
          <a:noFill/>
        </p:spPr>
        <p:txBody>
          <a:bodyPr wrap="square" anchor="ctr" lIns="25400" rIns="25400" tIns="25400" bIns="25400">
            <a:spAutoFit/>
          </a:bodyPr>
          <a:lstStyle/>
          <a:p>
            <a:pPr algn="l">
              <a:lnSpc>
                <a:spcPct val="100000"/>
              </a:lnSpc>
              <a:spcAft>
                <a:spcPts val="400"/>
              </a:spcAft>
            </a:pPr>
            <a:r>
              <a:rPr sz="1600" b="1" i="0">
                <a:solidFill>
                  <a:srgbClr val="FFFFFF"/>
                </a:solidFill>
                <a:latin typeface="Calibri"/>
              </a:rPr>
              <a:t>C</a:t>
            </a:r>
          </a:p>
        </p:txBody>
      </p:sp>
      <p:sp>
        <p:nvSpPr>
          <p:cNvPr id="34" name="Rounded Rectangle 33"/>
          <p:cNvSpPr/>
          <p:nvPr/>
        </p:nvSpPr>
        <p:spPr>
          <a:xfrm>
            <a:off x="4206240" y="3200400"/>
            <a:ext cx="1847088" cy="384048"/>
          </a:xfrm>
          <a:prstGeom prst="roundRect">
            <a:avLst/>
          </a:prstGeom>
          <a:solidFill>
            <a:srgbClr val="FCE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261104" y="3200400"/>
            <a:ext cx="1773936" cy="384048"/>
          </a:xfrm>
          <a:prstGeom prst="rect">
            <a:avLst/>
          </a:prstGeom>
          <a:noFill/>
        </p:spPr>
        <p:txBody>
          <a:bodyPr wrap="square" anchor="ctr" lIns="25400" rIns="25400" tIns="25400" bIns="25400">
            <a:spAutoFit/>
          </a:bodyPr>
          <a:lstStyle/>
          <a:p>
            <a:pPr algn="l">
              <a:lnSpc>
                <a:spcPct val="100000"/>
              </a:lnSpc>
              <a:spcAft>
                <a:spcPts val="400"/>
              </a:spcAft>
            </a:pPr>
            <a:r>
              <a:rPr sz="1600" b="1" i="0">
                <a:solidFill>
                  <a:srgbClr val="FFFFFF"/>
                </a:solidFill>
                <a:latin typeface="Calibri"/>
              </a:rPr>
              <a:t>D</a:t>
            </a:r>
          </a:p>
        </p:txBody>
      </p:sp>
      <p:sp>
        <p:nvSpPr>
          <p:cNvPr id="36" name="Rounded Rectangle 35"/>
          <p:cNvSpPr/>
          <p:nvPr/>
        </p:nvSpPr>
        <p:spPr>
          <a:xfrm>
            <a:off x="4206240" y="3639312"/>
            <a:ext cx="2157984" cy="384048"/>
          </a:xfrm>
          <a:prstGeom prst="roundRect">
            <a:avLst/>
          </a:prstGeom>
          <a:solidFill>
            <a:srgbClr val="F7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261104" y="3639312"/>
            <a:ext cx="2084832" cy="384048"/>
          </a:xfrm>
          <a:prstGeom prst="rect">
            <a:avLst/>
          </a:prstGeom>
          <a:noFill/>
        </p:spPr>
        <p:txBody>
          <a:bodyPr wrap="square" anchor="ctr" lIns="25400" rIns="25400" tIns="25400" bIns="25400">
            <a:spAutoFit/>
          </a:bodyPr>
          <a:lstStyle/>
          <a:p>
            <a:pPr algn="l">
              <a:lnSpc>
                <a:spcPct val="100000"/>
              </a:lnSpc>
              <a:spcAft>
                <a:spcPts val="400"/>
              </a:spcAft>
            </a:pPr>
            <a:r>
              <a:rPr sz="1600" b="1" i="0">
                <a:solidFill>
                  <a:srgbClr val="FFFFFF"/>
                </a:solidFill>
                <a:latin typeface="Calibri"/>
              </a:rPr>
              <a:t>E</a:t>
            </a:r>
          </a:p>
        </p:txBody>
      </p:sp>
      <p:sp>
        <p:nvSpPr>
          <p:cNvPr id="38" name="Rounded Rectangle 37"/>
          <p:cNvSpPr/>
          <p:nvPr/>
        </p:nvSpPr>
        <p:spPr>
          <a:xfrm>
            <a:off x="4206240" y="4078224"/>
            <a:ext cx="2468880" cy="384048"/>
          </a:xfrm>
          <a:prstGeom prst="roundRect">
            <a:avLst/>
          </a:prstGeom>
          <a:solidFill>
            <a:srgbClr val="EA6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61104" y="4078224"/>
            <a:ext cx="2395728" cy="384048"/>
          </a:xfrm>
          <a:prstGeom prst="rect">
            <a:avLst/>
          </a:prstGeom>
          <a:noFill/>
        </p:spPr>
        <p:txBody>
          <a:bodyPr wrap="square" anchor="ctr" lIns="25400" rIns="25400" tIns="25400" bIns="25400">
            <a:spAutoFit/>
          </a:bodyPr>
          <a:lstStyle/>
          <a:p>
            <a:pPr algn="l">
              <a:lnSpc>
                <a:spcPct val="100000"/>
              </a:lnSpc>
              <a:spcAft>
                <a:spcPts val="400"/>
              </a:spcAft>
            </a:pPr>
            <a:r>
              <a:rPr sz="1600" b="1" i="0">
                <a:solidFill>
                  <a:srgbClr val="FFFFFF"/>
                </a:solidFill>
                <a:latin typeface="Calibri"/>
              </a:rPr>
              <a:t>F</a:t>
            </a:r>
          </a:p>
        </p:txBody>
      </p:sp>
      <p:sp>
        <p:nvSpPr>
          <p:cNvPr id="40" name="Rounded Rectangle 39"/>
          <p:cNvSpPr/>
          <p:nvPr/>
        </p:nvSpPr>
        <p:spPr>
          <a:xfrm>
            <a:off x="4206240" y="4517136"/>
            <a:ext cx="2779776" cy="384048"/>
          </a:xfrm>
          <a:prstGeom prst="roundRect">
            <a:avLst/>
          </a:prstGeom>
          <a:solidFill>
            <a:srgbClr val="E2001A"/>
          </a:solidFill>
          <a:ln w="31750">
            <a:solidFill>
              <a:srgbClr val="2632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261104" y="4517136"/>
            <a:ext cx="2706624" cy="384048"/>
          </a:xfrm>
          <a:prstGeom prst="rect">
            <a:avLst/>
          </a:prstGeom>
          <a:noFill/>
        </p:spPr>
        <p:txBody>
          <a:bodyPr wrap="square" anchor="ctr" lIns="25400" rIns="25400" tIns="25400" bIns="25400">
            <a:spAutoFit/>
          </a:bodyPr>
          <a:lstStyle/>
          <a:p>
            <a:pPr algn="l">
              <a:lnSpc>
                <a:spcPct val="100000"/>
              </a:lnSpc>
              <a:spcAft>
                <a:spcPts val="400"/>
              </a:spcAft>
            </a:pPr>
            <a:r>
              <a:rPr sz="1600" b="1" i="0">
                <a:solidFill>
                  <a:srgbClr val="FFFFFF"/>
                </a:solidFill>
                <a:latin typeface="Calibri"/>
              </a:rPr>
              <a:t>G</a:t>
            </a:r>
          </a:p>
        </p:txBody>
      </p:sp>
      <p:sp>
        <p:nvSpPr>
          <p:cNvPr id="42" name="Pentagon 41"/>
          <p:cNvSpPr/>
          <p:nvPr/>
        </p:nvSpPr>
        <p:spPr>
          <a:xfrm>
            <a:off x="3895344" y="4517136"/>
            <a:ext cx="274320" cy="384048"/>
          </a:xfrm>
          <a:prstGeom prst="homePlate">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7498079" y="1737360"/>
            <a:ext cx="3749039" cy="105156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7498079" y="1737360"/>
            <a:ext cx="3749039" cy="109728"/>
          </a:xfrm>
          <a:prstGeom prst="round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98079" y="1901952"/>
            <a:ext cx="3749039" cy="502920"/>
          </a:xfrm>
          <a:prstGeom prst="rect">
            <a:avLst/>
          </a:prstGeom>
          <a:noFill/>
        </p:spPr>
        <p:txBody>
          <a:bodyPr wrap="square" anchor="ctr" lIns="25400" rIns="25400" tIns="25400" bIns="25400">
            <a:spAutoFit/>
          </a:bodyPr>
          <a:lstStyle/>
          <a:p>
            <a:pPr algn="ctr">
              <a:lnSpc>
                <a:spcPct val="100000"/>
              </a:lnSpc>
              <a:spcAft>
                <a:spcPts val="400"/>
              </a:spcAft>
            </a:pPr>
            <a:r>
              <a:rPr sz="2200" b="1" i="0">
                <a:solidFill>
                  <a:srgbClr val="C62828"/>
                </a:solidFill>
                <a:latin typeface="Calibri"/>
              </a:rPr>
              <a:t>535 kWhEP/m².an</a:t>
            </a:r>
          </a:p>
        </p:txBody>
      </p:sp>
      <p:sp>
        <p:nvSpPr>
          <p:cNvPr id="46" name="TextBox 45"/>
          <p:cNvSpPr txBox="1"/>
          <p:nvPr/>
        </p:nvSpPr>
        <p:spPr>
          <a:xfrm>
            <a:off x="7498079" y="2286000"/>
            <a:ext cx="3749039" cy="457200"/>
          </a:xfrm>
          <a:prstGeom prst="rect">
            <a:avLst/>
          </a:prstGeom>
          <a:noFill/>
        </p:spPr>
        <p:txBody>
          <a:bodyPr wrap="square" anchor="ctr" lIns="25400" rIns="25400" tIns="25400" bIns="25400">
            <a:spAutoFit/>
          </a:bodyPr>
          <a:lstStyle/>
          <a:p>
            <a:pPr algn="ctr">
              <a:lnSpc>
                <a:spcPct val="100000"/>
              </a:lnSpc>
              <a:spcAft>
                <a:spcPts val="400"/>
              </a:spcAft>
            </a:pPr>
            <a:r>
              <a:rPr sz="1100" b="0" i="0">
                <a:solidFill>
                  <a:srgbClr val="37474F"/>
                </a:solidFill>
                <a:latin typeface="Calibri"/>
              </a:rPr>
              <a:t>Consommation énergétique</a:t>
            </a:r>
          </a:p>
        </p:txBody>
      </p:sp>
      <p:sp>
        <p:nvSpPr>
          <p:cNvPr id="47" name="Rounded Rectangle 46"/>
          <p:cNvSpPr/>
          <p:nvPr/>
        </p:nvSpPr>
        <p:spPr>
          <a:xfrm>
            <a:off x="7498079" y="2926080"/>
            <a:ext cx="3749039" cy="105156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7498079" y="2926080"/>
            <a:ext cx="3749039" cy="109728"/>
          </a:xfrm>
          <a:prstGeom prst="round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498079" y="3090672"/>
            <a:ext cx="3749039" cy="502920"/>
          </a:xfrm>
          <a:prstGeom prst="rect">
            <a:avLst/>
          </a:prstGeom>
          <a:noFill/>
        </p:spPr>
        <p:txBody>
          <a:bodyPr wrap="square" anchor="ctr" lIns="25400" rIns="25400" tIns="25400" bIns="25400">
            <a:spAutoFit/>
          </a:bodyPr>
          <a:lstStyle/>
          <a:p>
            <a:pPr algn="ctr">
              <a:lnSpc>
                <a:spcPct val="100000"/>
              </a:lnSpc>
              <a:spcAft>
                <a:spcPts val="400"/>
              </a:spcAft>
            </a:pPr>
            <a:r>
              <a:rPr sz="2200" b="1" i="0">
                <a:solidFill>
                  <a:srgbClr val="C62828"/>
                </a:solidFill>
                <a:latin typeface="Calibri"/>
              </a:rPr>
              <a:t>156 kgCO₂/m².an</a:t>
            </a:r>
          </a:p>
        </p:txBody>
      </p:sp>
      <p:sp>
        <p:nvSpPr>
          <p:cNvPr id="50" name="TextBox 49"/>
          <p:cNvSpPr txBox="1"/>
          <p:nvPr/>
        </p:nvSpPr>
        <p:spPr>
          <a:xfrm>
            <a:off x="7498079" y="3474720"/>
            <a:ext cx="3749039" cy="457200"/>
          </a:xfrm>
          <a:prstGeom prst="rect">
            <a:avLst/>
          </a:prstGeom>
          <a:noFill/>
        </p:spPr>
        <p:txBody>
          <a:bodyPr wrap="square" anchor="ctr" lIns="25400" rIns="25400" tIns="25400" bIns="25400">
            <a:spAutoFit/>
          </a:bodyPr>
          <a:lstStyle/>
          <a:p>
            <a:pPr algn="ctr">
              <a:lnSpc>
                <a:spcPct val="100000"/>
              </a:lnSpc>
              <a:spcAft>
                <a:spcPts val="400"/>
              </a:spcAft>
            </a:pPr>
            <a:r>
              <a:rPr sz="1100" b="0" i="0">
                <a:solidFill>
                  <a:srgbClr val="37474F"/>
                </a:solidFill>
                <a:latin typeface="Calibri"/>
              </a:rPr>
              <a:t>Émissions de gaz à effet de serre</a:t>
            </a:r>
          </a:p>
        </p:txBody>
      </p:sp>
      <p:sp>
        <p:nvSpPr>
          <p:cNvPr id="51" name="Rounded Rectangle 50"/>
          <p:cNvSpPr/>
          <p:nvPr/>
        </p:nvSpPr>
        <p:spPr>
          <a:xfrm>
            <a:off x="7498079" y="4114800"/>
            <a:ext cx="3749039" cy="105156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7498079" y="4114800"/>
            <a:ext cx="3749039" cy="109728"/>
          </a:xfrm>
          <a:prstGeom prst="round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498079" y="4279392"/>
            <a:ext cx="3749039" cy="502920"/>
          </a:xfrm>
          <a:prstGeom prst="rect">
            <a:avLst/>
          </a:prstGeom>
          <a:noFill/>
        </p:spPr>
        <p:txBody>
          <a:bodyPr wrap="square" anchor="ctr" lIns="25400" rIns="25400" tIns="25400" bIns="25400">
            <a:spAutoFit/>
          </a:bodyPr>
          <a:lstStyle/>
          <a:p>
            <a:pPr algn="ctr">
              <a:lnSpc>
                <a:spcPct val="100000"/>
              </a:lnSpc>
              <a:spcAft>
                <a:spcPts val="400"/>
              </a:spcAft>
            </a:pPr>
            <a:r>
              <a:rPr sz="2200" b="1" i="0">
                <a:solidFill>
                  <a:srgbClr val="C62828"/>
                </a:solidFill>
                <a:latin typeface="Calibri"/>
              </a:rPr>
              <a:t>7 100 – 9 610 €/an</a:t>
            </a:r>
          </a:p>
        </p:txBody>
      </p:sp>
      <p:sp>
        <p:nvSpPr>
          <p:cNvPr id="54" name="TextBox 53"/>
          <p:cNvSpPr txBox="1"/>
          <p:nvPr/>
        </p:nvSpPr>
        <p:spPr>
          <a:xfrm>
            <a:off x="7498079" y="4663440"/>
            <a:ext cx="3749039" cy="457200"/>
          </a:xfrm>
          <a:prstGeom prst="rect">
            <a:avLst/>
          </a:prstGeom>
          <a:noFill/>
        </p:spPr>
        <p:txBody>
          <a:bodyPr wrap="square" anchor="ctr" lIns="25400" rIns="25400" tIns="25400" bIns="25400">
            <a:spAutoFit/>
          </a:bodyPr>
          <a:lstStyle/>
          <a:p>
            <a:pPr algn="ctr">
              <a:lnSpc>
                <a:spcPct val="100000"/>
              </a:lnSpc>
              <a:spcAft>
                <a:spcPts val="400"/>
              </a:spcAft>
            </a:pPr>
            <a:r>
              <a:rPr sz="1100" b="0" i="0">
                <a:solidFill>
                  <a:srgbClr val="37474F"/>
                </a:solidFill>
                <a:latin typeface="Calibri"/>
              </a:rPr>
              <a:t>Coût énergétique annuel</a:t>
            </a:r>
          </a:p>
        </p:txBody>
      </p:sp>
      <p:sp>
        <p:nvSpPr>
          <p:cNvPr id="55" name="TextBox 54"/>
          <p:cNvSpPr txBox="1"/>
          <p:nvPr/>
        </p:nvSpPr>
        <p:spPr>
          <a:xfrm>
            <a:off x="822960" y="5897880"/>
            <a:ext cx="10424160" cy="640080"/>
          </a:xfrm>
          <a:prstGeom prst="rect">
            <a:avLst/>
          </a:prstGeom>
          <a:noFill/>
        </p:spPr>
        <p:txBody>
          <a:bodyPr wrap="square" anchor="t" lIns="25400" rIns="25400" tIns="25400" bIns="25400">
            <a:spAutoFit/>
          </a:bodyPr>
          <a:lstStyle/>
          <a:p>
            <a:pPr algn="l">
              <a:lnSpc>
                <a:spcPct val="100000"/>
              </a:lnSpc>
              <a:spcAft>
                <a:spcPts val="400"/>
              </a:spcAft>
            </a:pPr>
            <a:r>
              <a:rPr sz="1500" b="1" i="0">
                <a:solidFill>
                  <a:srgbClr val="1B5E20"/>
                </a:solidFill>
                <a:latin typeface="Calibri"/>
              </a:rPr>
              <a:t>→ Classe G sur les deux étiquettes : la rénovation est pleinement justifiée.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4</a:t>
            </a:r>
          </a:p>
        </p:txBody>
      </p:sp>
      <p:sp>
        <p:nvSpPr>
          <p:cNvPr id="6" name="TextBox 5"/>
          <p:cNvSpPr txBox="1"/>
          <p:nvPr/>
        </p:nvSpPr>
        <p:spPr>
          <a:xfrm>
            <a:off x="1325880" y="365760"/>
            <a:ext cx="10332720" cy="777240"/>
          </a:xfrm>
          <a:prstGeom prst="rect">
            <a:avLst/>
          </a:prstGeom>
          <a:noFill/>
        </p:spPr>
        <p:txBody>
          <a:bodyPr wrap="square" anchor="ctr" lIns="25400" rIns="25400" tIns="25400" bIns="25400">
            <a:spAutoFit/>
          </a:bodyPr>
          <a:lstStyle/>
          <a:p>
            <a:pPr algn="l">
              <a:lnSpc>
                <a:spcPct val="100000"/>
              </a:lnSpc>
              <a:spcAft>
                <a:spcPts val="400"/>
              </a:spcAft>
            </a:pPr>
            <a:r>
              <a:rPr sz="3000" b="1" i="0">
                <a:solidFill>
                  <a:srgbClr val="1B5E20"/>
                </a:solidFill>
                <a:latin typeface="Calibri"/>
              </a:rPr>
              <a:t>Réglementation et urbanisme</a:t>
            </a:r>
          </a:p>
        </p:txBody>
      </p:sp>
      <p:sp>
        <p:nvSpPr>
          <p:cNvPr id="7" name="Rectangle 6"/>
          <p:cNvSpPr/>
          <p:nvPr/>
        </p:nvSpPr>
        <p:spPr>
          <a:xfrm>
            <a:off x="1325880" y="1188720"/>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46520"/>
            <a:ext cx="8229600" cy="320040"/>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Rénovation énergétique – Saint-Jean-de-Chevelu (73)</a:t>
            </a:r>
          </a:p>
        </p:txBody>
      </p:sp>
      <p:sp>
        <p:nvSpPr>
          <p:cNvPr id="9" name="TextBox 8"/>
          <p:cNvSpPr txBox="1"/>
          <p:nvPr/>
        </p:nvSpPr>
        <p:spPr>
          <a:xfrm>
            <a:off x="9418320" y="6446520"/>
            <a:ext cx="2286000" cy="320040"/>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0" name="TextBox 9"/>
          <p:cNvSpPr txBox="1"/>
          <p:nvPr/>
        </p:nvSpPr>
        <p:spPr>
          <a:xfrm>
            <a:off x="822960" y="1508760"/>
            <a:ext cx="10424160" cy="457200"/>
          </a:xfrm>
          <a:prstGeom prst="rect">
            <a:avLst/>
          </a:prstGeom>
          <a:noFill/>
        </p:spPr>
        <p:txBody>
          <a:bodyPr wrap="square" anchor="t" lIns="25400" rIns="25400" tIns="25400" bIns="25400">
            <a:spAutoFit/>
          </a:bodyPr>
          <a:lstStyle/>
          <a:p>
            <a:pPr algn="l">
              <a:lnSpc>
                <a:spcPct val="100000"/>
              </a:lnSpc>
              <a:spcAft>
                <a:spcPts val="400"/>
              </a:spcAft>
            </a:pPr>
            <a:r>
              <a:rPr sz="1500" b="0" i="1">
                <a:solidFill>
                  <a:srgbClr val="37474F"/>
                </a:solidFill>
                <a:latin typeface="Calibri"/>
              </a:rPr>
              <a:t>Les travaux doivent respecter le cadre réglementaire et préserver le caractère de la ferme.</a:t>
            </a:r>
          </a:p>
        </p:txBody>
      </p:sp>
      <p:graphicFrame>
        <p:nvGraphicFramePr>
          <p:cNvPr id="11" name="Table 10"/>
          <p:cNvGraphicFramePr>
            <a:graphicFrameLocks noGrp="1"/>
          </p:cNvGraphicFramePr>
          <p:nvPr/>
        </p:nvGraphicFramePr>
        <p:xfrm>
          <a:off x="822960" y="2057400"/>
          <a:ext cx="10515600" cy="3401568"/>
        </p:xfrm>
        <a:graphic>
          <a:graphicData uri="http://schemas.openxmlformats.org/drawingml/2006/table">
            <a:tbl>
              <a:tblPr>
                <a:tableStyleId>{5C22544A-7EE6-4342-B048-85BDC9FD1C3A}</a:tableStyleId>
              </a:tblPr>
              <a:tblGrid>
                <a:gridCol w="4572000"/>
                <a:gridCol w="5943600"/>
              </a:tblGrid>
              <a:tr h="566928">
                <a:tc>
                  <a:txBody>
                    <a:bodyPr wrap="square"/>
                    <a:lstStyle/>
                    <a:p>
                      <a:pPr algn="l"/>
                      <a:r>
                        <a:rPr sz="1400" b="1">
                          <a:solidFill>
                            <a:srgbClr val="FFFFFF"/>
                          </a:solidFill>
                          <a:latin typeface="Calibri"/>
                        </a:rPr>
                        <a:t>Élément réglementaire</a:t>
                      </a:r>
                    </a:p>
                  </a:txBody>
                  <a:tcPr marL="88900" marR="88900" marT="25400" marB="25400" anchor="ctr">
                    <a:solidFill>
                      <a:srgbClr val="1B5E20"/>
                    </a:solidFill>
                  </a:tcPr>
                </a:tc>
                <a:tc>
                  <a:txBody>
                    <a:bodyPr wrap="square"/>
                    <a:lstStyle/>
                    <a:p>
                      <a:pPr algn="ctr"/>
                      <a:r>
                        <a:rPr sz="1400" b="1">
                          <a:solidFill>
                            <a:srgbClr val="FFFFFF"/>
                          </a:solidFill>
                          <a:latin typeface="Calibri"/>
                        </a:rPr>
                        <a:t>Impact sur le projet</a:t>
                      </a:r>
                    </a:p>
                  </a:txBody>
                  <a:tcPr marL="88900" marR="88900" marT="25400" marB="25400" anchor="ctr">
                    <a:solidFill>
                      <a:srgbClr val="1B5E20"/>
                    </a:solidFill>
                  </a:tcPr>
                </a:tc>
              </a:tr>
              <a:tr h="566928">
                <a:tc>
                  <a:txBody>
                    <a:bodyPr wrap="square"/>
                    <a:lstStyle/>
                    <a:p>
                      <a:pPr algn="l"/>
                      <a:r>
                        <a:rPr sz="1300" b="1">
                          <a:solidFill>
                            <a:srgbClr val="37474F"/>
                          </a:solidFill>
                          <a:latin typeface="Calibri"/>
                        </a:rPr>
                        <a:t>Plan Local d’Urbanisme (PLU)</a:t>
                      </a:r>
                    </a:p>
                  </a:txBody>
                  <a:tcPr marL="88900" marR="88900" marT="25400" marB="25400" anchor="ctr">
                    <a:solidFill>
                      <a:srgbClr val="FFFFFF"/>
                    </a:solidFill>
                  </a:tcPr>
                </a:tc>
                <a:tc>
                  <a:txBody>
                    <a:bodyPr wrap="square"/>
                    <a:lstStyle/>
                    <a:p>
                      <a:pPr algn="ctr"/>
                      <a:r>
                        <a:rPr sz="1300" b="0">
                          <a:solidFill>
                            <a:srgbClr val="37474F"/>
                          </a:solidFill>
                          <a:latin typeface="Calibri"/>
                        </a:rPr>
                        <a:t>Vérification des règles applicables</a:t>
                      </a:r>
                    </a:p>
                  </a:txBody>
                  <a:tcPr marL="88900" marR="88900" marT="25400" marB="25400" anchor="ctr">
                    <a:solidFill>
                      <a:srgbClr val="FFFFFF"/>
                    </a:solidFill>
                  </a:tcPr>
                </a:tc>
              </a:tr>
              <a:tr h="566928">
                <a:tc>
                  <a:txBody>
                    <a:bodyPr wrap="square"/>
                    <a:lstStyle/>
                    <a:p>
                      <a:pPr algn="l"/>
                      <a:r>
                        <a:rPr sz="1300" b="1">
                          <a:solidFill>
                            <a:srgbClr val="37474F"/>
                          </a:solidFill>
                          <a:latin typeface="Calibri"/>
                        </a:rPr>
                        <a:t>Isolation thermique par l’extérieur</a:t>
                      </a:r>
                    </a:p>
                  </a:txBody>
                  <a:tcPr marL="88900" marR="88900" marT="25400" marB="25400" anchor="ctr">
                    <a:solidFill>
                      <a:srgbClr val="E8F5E9"/>
                    </a:solidFill>
                  </a:tcPr>
                </a:tc>
                <a:tc>
                  <a:txBody>
                    <a:bodyPr wrap="square"/>
                    <a:lstStyle/>
                    <a:p>
                      <a:pPr algn="ctr"/>
                      <a:r>
                        <a:rPr sz="1300" b="0">
                          <a:solidFill>
                            <a:srgbClr val="37474F"/>
                          </a:solidFill>
                          <a:latin typeface="Calibri"/>
                        </a:rPr>
                        <a:t>Déclaration préalable de travaux possible</a:t>
                      </a:r>
                    </a:p>
                  </a:txBody>
                  <a:tcPr marL="88900" marR="88900" marT="25400" marB="25400" anchor="ctr">
                    <a:solidFill>
                      <a:srgbClr val="E8F5E9"/>
                    </a:solidFill>
                  </a:tcPr>
                </a:tc>
              </a:tr>
              <a:tr h="566928">
                <a:tc>
                  <a:txBody>
                    <a:bodyPr wrap="square"/>
                    <a:lstStyle/>
                    <a:p>
                      <a:pPr algn="l"/>
                      <a:r>
                        <a:rPr sz="1300" b="1">
                          <a:solidFill>
                            <a:srgbClr val="37474F"/>
                          </a:solidFill>
                          <a:latin typeface="Calibri"/>
                        </a:rPr>
                        <a:t>Modification des façades</a:t>
                      </a:r>
                    </a:p>
                  </a:txBody>
                  <a:tcPr marL="88900" marR="88900" marT="25400" marB="25400" anchor="ctr">
                    <a:solidFill>
                      <a:srgbClr val="FFFFFF"/>
                    </a:solidFill>
                  </a:tcPr>
                </a:tc>
                <a:tc>
                  <a:txBody>
                    <a:bodyPr wrap="square"/>
                    <a:lstStyle/>
                    <a:p>
                      <a:pPr algn="ctr"/>
                      <a:r>
                        <a:rPr sz="1300" b="0">
                          <a:solidFill>
                            <a:srgbClr val="37474F"/>
                          </a:solidFill>
                          <a:latin typeface="Calibri"/>
                        </a:rPr>
                        <a:t>Respect de l’aspect architectural existant</a:t>
                      </a:r>
                    </a:p>
                  </a:txBody>
                  <a:tcPr marL="88900" marR="88900" marT="25400" marB="25400" anchor="ctr">
                    <a:solidFill>
                      <a:srgbClr val="FFFFFF"/>
                    </a:solidFill>
                  </a:tcPr>
                </a:tc>
              </a:tr>
              <a:tr h="566928">
                <a:tc>
                  <a:txBody>
                    <a:bodyPr wrap="square"/>
                    <a:lstStyle/>
                    <a:p>
                      <a:pPr algn="l"/>
                      <a:r>
                        <a:rPr sz="1300" b="1">
                          <a:solidFill>
                            <a:srgbClr val="37474F"/>
                          </a:solidFill>
                          <a:latin typeface="Calibri"/>
                        </a:rPr>
                        <a:t>Aides à la rénovation énergétique</a:t>
                      </a:r>
                    </a:p>
                  </a:txBody>
                  <a:tcPr marL="88900" marR="88900" marT="25400" marB="25400" anchor="ctr">
                    <a:solidFill>
                      <a:srgbClr val="E8F5E9"/>
                    </a:solidFill>
                  </a:tcPr>
                </a:tc>
                <a:tc>
                  <a:txBody>
                    <a:bodyPr wrap="square"/>
                    <a:lstStyle/>
                    <a:p>
                      <a:pPr algn="ctr"/>
                      <a:r>
                        <a:rPr sz="1300" b="0">
                          <a:solidFill>
                            <a:srgbClr val="37474F"/>
                          </a:solidFill>
                          <a:latin typeface="Calibri"/>
                        </a:rPr>
                        <a:t>Respect des critères techniques exigés</a:t>
                      </a:r>
                    </a:p>
                  </a:txBody>
                  <a:tcPr marL="88900" marR="88900" marT="25400" marB="25400" anchor="ctr">
                    <a:solidFill>
                      <a:srgbClr val="E8F5E9"/>
                    </a:solidFill>
                  </a:tcPr>
                </a:tc>
              </a:tr>
              <a:tr h="566928">
                <a:tc>
                  <a:txBody>
                    <a:bodyPr wrap="square"/>
                    <a:lstStyle/>
                    <a:p>
                      <a:pPr algn="l"/>
                      <a:r>
                        <a:rPr sz="1300" b="1">
                          <a:solidFill>
                            <a:srgbClr val="37474F"/>
                          </a:solidFill>
                          <a:latin typeface="Calibri"/>
                        </a:rPr>
                        <a:t>Normes et DTU</a:t>
                      </a:r>
                    </a:p>
                  </a:txBody>
                  <a:tcPr marL="88900" marR="88900" marT="25400" marB="25400" anchor="ctr">
                    <a:solidFill>
                      <a:srgbClr val="FFFFFF"/>
                    </a:solidFill>
                  </a:tcPr>
                </a:tc>
                <a:tc>
                  <a:txBody>
                    <a:bodyPr wrap="square"/>
                    <a:lstStyle/>
                    <a:p>
                      <a:pPr algn="ctr"/>
                      <a:r>
                        <a:rPr sz="1300" b="0">
                          <a:solidFill>
                            <a:srgbClr val="37474F"/>
                          </a:solidFill>
                          <a:latin typeface="Calibri"/>
                        </a:rPr>
                        <a:t>Mise en œuvre conforme des travaux</a:t>
                      </a:r>
                    </a:p>
                  </a:txBody>
                  <a:tcPr marL="88900" marR="88900" marT="25400" marB="25400"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4</a:t>
            </a:r>
          </a:p>
        </p:txBody>
      </p:sp>
      <p:sp>
        <p:nvSpPr>
          <p:cNvPr id="6" name="TextBox 5"/>
          <p:cNvSpPr txBox="1"/>
          <p:nvPr/>
        </p:nvSpPr>
        <p:spPr>
          <a:xfrm>
            <a:off x="1325880" y="365760"/>
            <a:ext cx="10332720" cy="777240"/>
          </a:xfrm>
          <a:prstGeom prst="rect">
            <a:avLst/>
          </a:prstGeom>
          <a:noFill/>
        </p:spPr>
        <p:txBody>
          <a:bodyPr wrap="square" anchor="ctr" lIns="25400" rIns="25400" tIns="25400" bIns="25400">
            <a:spAutoFit/>
          </a:bodyPr>
          <a:lstStyle/>
          <a:p>
            <a:pPr algn="l">
              <a:lnSpc>
                <a:spcPct val="100000"/>
              </a:lnSpc>
              <a:spcAft>
                <a:spcPts val="400"/>
              </a:spcAft>
            </a:pPr>
            <a:r>
              <a:rPr sz="3000" b="1" i="0">
                <a:solidFill>
                  <a:srgbClr val="1B5E20"/>
                </a:solidFill>
                <a:latin typeface="Calibri"/>
              </a:rPr>
              <a:t>Scénario 1 — Améliorer l’enveloppe</a:t>
            </a:r>
          </a:p>
        </p:txBody>
      </p:sp>
      <p:sp>
        <p:nvSpPr>
          <p:cNvPr id="7" name="TextBox 6"/>
          <p:cNvSpPr txBox="1"/>
          <p:nvPr/>
        </p:nvSpPr>
        <p:spPr>
          <a:xfrm>
            <a:off x="1325880" y="1078992"/>
            <a:ext cx="10332720" cy="365760"/>
          </a:xfrm>
          <a:prstGeom prst="rect">
            <a:avLst/>
          </a:prstGeom>
          <a:noFill/>
        </p:spPr>
        <p:txBody>
          <a:bodyPr wrap="square" anchor="t" lIns="25400" rIns="25400" tIns="25400" bIns="25400">
            <a:spAutoFit/>
          </a:bodyPr>
          <a:lstStyle/>
          <a:p>
            <a:pPr algn="l">
              <a:lnSpc>
                <a:spcPct val="100000"/>
              </a:lnSpc>
              <a:spcAft>
                <a:spcPts val="400"/>
              </a:spcAft>
            </a:pPr>
            <a:r>
              <a:rPr sz="1500" b="0" i="1">
                <a:solidFill>
                  <a:srgbClr val="90A4AE"/>
                </a:solidFill>
                <a:latin typeface="Calibri"/>
              </a:rPr>
              <a:t>Isolation + ventilation, sans toucher au chauffage</a:t>
            </a:r>
          </a:p>
        </p:txBody>
      </p:sp>
      <p:sp>
        <p:nvSpPr>
          <p:cNvPr id="8" name="Rectangle 7"/>
          <p:cNvSpPr/>
          <p:nvPr/>
        </p:nvSpPr>
        <p:spPr>
          <a:xfrm>
            <a:off x="1325880" y="1188720"/>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46520"/>
            <a:ext cx="8229600" cy="320040"/>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Rénovation énergétique – Saint-Jean-de-Chevelu (73)</a:t>
            </a:r>
          </a:p>
        </p:txBody>
      </p:sp>
      <p:sp>
        <p:nvSpPr>
          <p:cNvPr id="10" name="TextBox 9"/>
          <p:cNvSpPr txBox="1"/>
          <p:nvPr/>
        </p:nvSpPr>
        <p:spPr>
          <a:xfrm>
            <a:off x="9418320" y="6446520"/>
            <a:ext cx="2286000" cy="320040"/>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graphicFrame>
        <p:nvGraphicFramePr>
          <p:cNvPr id="11" name="Table 10"/>
          <p:cNvGraphicFramePr>
            <a:graphicFrameLocks noGrp="1"/>
          </p:cNvGraphicFramePr>
          <p:nvPr/>
        </p:nvGraphicFramePr>
        <p:xfrm>
          <a:off x="822960" y="1600200"/>
          <a:ext cx="6492240" cy="3017520"/>
        </p:xfrm>
        <a:graphic>
          <a:graphicData uri="http://schemas.openxmlformats.org/drawingml/2006/table">
            <a:tbl>
              <a:tblPr>
                <a:tableStyleId>{5C22544A-7EE6-4342-B048-85BDC9FD1C3A}</a:tableStyleId>
              </a:tblPr>
              <a:tblGrid>
                <a:gridCol w="1737360"/>
                <a:gridCol w="4754880"/>
              </a:tblGrid>
              <a:tr h="502920">
                <a:tc>
                  <a:txBody>
                    <a:bodyPr wrap="square"/>
                    <a:lstStyle/>
                    <a:p>
                      <a:pPr algn="l"/>
                      <a:r>
                        <a:rPr sz="1300" b="1">
                          <a:solidFill>
                            <a:srgbClr val="FFFFFF"/>
                          </a:solidFill>
                          <a:latin typeface="Calibri"/>
                        </a:rPr>
                        <a:t>Poste</a:t>
                      </a:r>
                    </a:p>
                  </a:txBody>
                  <a:tcPr marL="88900" marR="88900" marT="25400" marB="25400" anchor="ctr">
                    <a:solidFill>
                      <a:srgbClr val="1B5E20"/>
                    </a:solidFill>
                  </a:tcPr>
                </a:tc>
                <a:tc>
                  <a:txBody>
                    <a:bodyPr wrap="square"/>
                    <a:lstStyle/>
                    <a:p>
                      <a:pPr algn="ctr"/>
                      <a:r>
                        <a:rPr sz="1300" b="1">
                          <a:solidFill>
                            <a:srgbClr val="FFFFFF"/>
                          </a:solidFill>
                          <a:latin typeface="Calibri"/>
                        </a:rPr>
                        <a:t>Solution retenue</a:t>
                      </a:r>
                    </a:p>
                  </a:txBody>
                  <a:tcPr marL="88900" marR="88900" marT="25400" marB="25400" anchor="ctr">
                    <a:solidFill>
                      <a:srgbClr val="1B5E20"/>
                    </a:solidFill>
                  </a:tcPr>
                </a:tc>
              </a:tr>
              <a:tr h="502920">
                <a:tc>
                  <a:txBody>
                    <a:bodyPr wrap="square"/>
                    <a:lstStyle/>
                    <a:p>
                      <a:pPr algn="l"/>
                      <a:r>
                        <a:rPr sz="1200" b="1">
                          <a:solidFill>
                            <a:srgbClr val="37474F"/>
                          </a:solidFill>
                          <a:latin typeface="Calibri"/>
                        </a:rPr>
                        <a:t>Murs</a:t>
                      </a:r>
                    </a:p>
                  </a:txBody>
                  <a:tcPr marL="88900" marR="88900" marT="25400" marB="25400" anchor="ctr">
                    <a:solidFill>
                      <a:srgbClr val="FFFFFF"/>
                    </a:solidFill>
                  </a:tcPr>
                </a:tc>
                <a:tc>
                  <a:txBody>
                    <a:bodyPr wrap="square"/>
                    <a:lstStyle/>
                    <a:p>
                      <a:pPr algn="ctr"/>
                      <a:r>
                        <a:rPr sz="1200" b="0">
                          <a:solidFill>
                            <a:srgbClr val="37474F"/>
                          </a:solidFill>
                          <a:latin typeface="Calibri"/>
                        </a:rPr>
                        <a:t>ITE laine de bois 200 mm</a:t>
                      </a:r>
                    </a:p>
                  </a:txBody>
                  <a:tcPr marL="88900" marR="88900" marT="25400" marB="25400" anchor="ctr">
                    <a:solidFill>
                      <a:srgbClr val="FFFFFF"/>
                    </a:solidFill>
                  </a:tcPr>
                </a:tc>
              </a:tr>
              <a:tr h="502920">
                <a:tc>
                  <a:txBody>
                    <a:bodyPr wrap="square"/>
                    <a:lstStyle/>
                    <a:p>
                      <a:pPr algn="l"/>
                      <a:r>
                        <a:rPr sz="1200" b="1">
                          <a:solidFill>
                            <a:srgbClr val="37474F"/>
                          </a:solidFill>
                          <a:latin typeface="Calibri"/>
                        </a:rPr>
                        <a:t>Combles</a:t>
                      </a:r>
                    </a:p>
                  </a:txBody>
                  <a:tcPr marL="88900" marR="88900" marT="25400" marB="25400" anchor="ctr">
                    <a:solidFill>
                      <a:srgbClr val="E8F5E9"/>
                    </a:solidFill>
                  </a:tcPr>
                </a:tc>
                <a:tc>
                  <a:txBody>
                    <a:bodyPr wrap="square"/>
                    <a:lstStyle/>
                    <a:p>
                      <a:pPr algn="ctr"/>
                      <a:r>
                        <a:rPr sz="1200" b="0">
                          <a:solidFill>
                            <a:srgbClr val="37474F"/>
                          </a:solidFill>
                          <a:latin typeface="Calibri"/>
                        </a:rPr>
                        <a:t>Ouate de cellulose 400 mm (soufflage)</a:t>
                      </a:r>
                    </a:p>
                  </a:txBody>
                  <a:tcPr marL="88900" marR="88900" marT="25400" marB="25400" anchor="ctr">
                    <a:solidFill>
                      <a:srgbClr val="E8F5E9"/>
                    </a:solidFill>
                  </a:tcPr>
                </a:tc>
              </a:tr>
              <a:tr h="502920">
                <a:tc>
                  <a:txBody>
                    <a:bodyPr wrap="square"/>
                    <a:lstStyle/>
                    <a:p>
                      <a:pPr algn="l"/>
                      <a:r>
                        <a:rPr sz="1200" b="1">
                          <a:solidFill>
                            <a:srgbClr val="37474F"/>
                          </a:solidFill>
                          <a:latin typeface="Calibri"/>
                        </a:rPr>
                        <a:t>Ventilation</a:t>
                      </a:r>
                    </a:p>
                  </a:txBody>
                  <a:tcPr marL="88900" marR="88900" marT="25400" marB="25400" anchor="ctr">
                    <a:solidFill>
                      <a:srgbClr val="FFFFFF"/>
                    </a:solidFill>
                  </a:tcPr>
                </a:tc>
                <a:tc>
                  <a:txBody>
                    <a:bodyPr wrap="square"/>
                    <a:lstStyle/>
                    <a:p>
                      <a:pPr algn="ctr"/>
                      <a:r>
                        <a:rPr sz="1200" b="0">
                          <a:solidFill>
                            <a:srgbClr val="37474F"/>
                          </a:solidFill>
                          <a:latin typeface="Calibri"/>
                        </a:rPr>
                        <a:t>VMC hygroréglable type B</a:t>
                      </a:r>
                    </a:p>
                  </a:txBody>
                  <a:tcPr marL="88900" marR="88900" marT="25400" marB="25400" anchor="ctr">
                    <a:solidFill>
                      <a:srgbClr val="FFFFFF"/>
                    </a:solidFill>
                  </a:tcPr>
                </a:tc>
              </a:tr>
              <a:tr h="502920">
                <a:tc>
                  <a:txBody>
                    <a:bodyPr wrap="square"/>
                    <a:lstStyle/>
                    <a:p>
                      <a:pPr algn="l"/>
                      <a:r>
                        <a:rPr sz="1200" b="1">
                          <a:solidFill>
                            <a:srgbClr val="37474F"/>
                          </a:solidFill>
                          <a:latin typeface="Calibri"/>
                        </a:rPr>
                        <a:t>Chauffage</a:t>
                      </a:r>
                    </a:p>
                  </a:txBody>
                  <a:tcPr marL="88900" marR="88900" marT="25400" marB="25400" anchor="ctr">
                    <a:solidFill>
                      <a:srgbClr val="E8F5E9"/>
                    </a:solidFill>
                  </a:tcPr>
                </a:tc>
                <a:tc>
                  <a:txBody>
                    <a:bodyPr wrap="square"/>
                    <a:lstStyle/>
                    <a:p>
                      <a:pPr algn="ctr"/>
                      <a:r>
                        <a:rPr sz="1200" b="0">
                          <a:solidFill>
                            <a:srgbClr val="37474F"/>
                          </a:solidFill>
                          <a:latin typeface="Calibri"/>
                        </a:rPr>
                        <a:t>Chaudière fioul conservée</a:t>
                      </a:r>
                    </a:p>
                  </a:txBody>
                  <a:tcPr marL="88900" marR="88900" marT="25400" marB="25400" anchor="ctr">
                    <a:solidFill>
                      <a:srgbClr val="E8F5E9"/>
                    </a:solidFill>
                  </a:tcPr>
                </a:tc>
              </a:tr>
              <a:tr h="502920">
                <a:tc>
                  <a:txBody>
                    <a:bodyPr wrap="square"/>
                    <a:lstStyle/>
                    <a:p>
                      <a:pPr algn="l"/>
                      <a:r>
                        <a:rPr sz="1200" b="1">
                          <a:solidFill>
                            <a:srgbClr val="37474F"/>
                          </a:solidFill>
                          <a:latin typeface="Calibri"/>
                        </a:rPr>
                        <a:t>ECS</a:t>
                      </a:r>
                    </a:p>
                  </a:txBody>
                  <a:tcPr marL="88900" marR="88900" marT="25400" marB="25400" anchor="ctr">
                    <a:solidFill>
                      <a:srgbClr val="FFFFFF"/>
                    </a:solidFill>
                  </a:tcPr>
                </a:tc>
                <a:tc>
                  <a:txBody>
                    <a:bodyPr wrap="square"/>
                    <a:lstStyle/>
                    <a:p>
                      <a:pPr algn="ctr"/>
                      <a:r>
                        <a:rPr sz="1200" b="0">
                          <a:solidFill>
                            <a:srgbClr val="37474F"/>
                          </a:solidFill>
                          <a:latin typeface="Calibri"/>
                        </a:rPr>
                        <a:t>Ballon électrique conservé</a:t>
                      </a:r>
                    </a:p>
                  </a:txBody>
                  <a:tcPr marL="88900" marR="88900" marT="25400" marB="25400" anchor="ctr">
                    <a:solidFill>
                      <a:srgbClr val="FFFFFF"/>
                    </a:solidFill>
                  </a:tcPr>
                </a:tc>
              </a:tr>
            </a:tbl>
          </a:graphicData>
        </a:graphic>
      </p:graphicFrame>
      <p:sp>
        <p:nvSpPr>
          <p:cNvPr id="12" name="TextBox 11"/>
          <p:cNvSpPr txBox="1"/>
          <p:nvPr/>
        </p:nvSpPr>
        <p:spPr>
          <a:xfrm>
            <a:off x="7955279" y="1508760"/>
            <a:ext cx="1380744" cy="274320"/>
          </a:xfrm>
          <a:prstGeom prst="rect">
            <a:avLst/>
          </a:prstGeom>
          <a:noFill/>
        </p:spPr>
        <p:txBody>
          <a:bodyPr wrap="square" anchor="t" lIns="25400" rIns="25400" tIns="25400" bIns="25400">
            <a:spAutoFit/>
          </a:bodyPr>
          <a:lstStyle/>
          <a:p>
            <a:pPr algn="l">
              <a:lnSpc>
                <a:spcPct val="100000"/>
              </a:lnSpc>
              <a:spcAft>
                <a:spcPts val="400"/>
              </a:spcAft>
            </a:pPr>
            <a:r>
              <a:rPr sz="1100" b="1" i="0">
                <a:solidFill>
                  <a:srgbClr val="37474F"/>
                </a:solidFill>
                <a:latin typeface="Calibri"/>
              </a:rPr>
              <a:t>Énergie</a:t>
            </a:r>
          </a:p>
        </p:txBody>
      </p:sp>
      <p:sp>
        <p:nvSpPr>
          <p:cNvPr id="13" name="Rounded Rectangle 12"/>
          <p:cNvSpPr/>
          <p:nvPr/>
        </p:nvSpPr>
        <p:spPr>
          <a:xfrm>
            <a:off x="7955279" y="1837944"/>
            <a:ext cx="502920" cy="274320"/>
          </a:xfrm>
          <a:prstGeom prst="roundRect">
            <a:avLst/>
          </a:prstGeom>
          <a:solidFill>
            <a:srgbClr val="0083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10143" y="1837944"/>
            <a:ext cx="429768" cy="274320"/>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A</a:t>
            </a:r>
          </a:p>
        </p:txBody>
      </p:sp>
      <p:sp>
        <p:nvSpPr>
          <p:cNvPr id="15" name="Rounded Rectangle 14"/>
          <p:cNvSpPr/>
          <p:nvPr/>
        </p:nvSpPr>
        <p:spPr>
          <a:xfrm>
            <a:off x="7955279" y="2167128"/>
            <a:ext cx="649224" cy="274320"/>
          </a:xfrm>
          <a:prstGeom prst="roundRect">
            <a:avLst/>
          </a:prstGeom>
          <a:solidFill>
            <a:srgbClr val="57AA27"/>
          </a:solidFill>
          <a:ln w="31750">
            <a:solidFill>
              <a:srgbClr val="2632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10143" y="2167128"/>
            <a:ext cx="576072" cy="274320"/>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B</a:t>
            </a:r>
          </a:p>
        </p:txBody>
      </p:sp>
      <p:sp>
        <p:nvSpPr>
          <p:cNvPr id="17" name="Pentagon 16"/>
          <p:cNvSpPr/>
          <p:nvPr/>
        </p:nvSpPr>
        <p:spPr>
          <a:xfrm>
            <a:off x="7644383" y="2167128"/>
            <a:ext cx="274320" cy="274320"/>
          </a:xfrm>
          <a:prstGeom prst="homePlate">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955279" y="2496312"/>
            <a:ext cx="795528" cy="274320"/>
          </a:xfrm>
          <a:prstGeom prst="roundRect">
            <a:avLst/>
          </a:prstGeom>
          <a:solidFill>
            <a:srgbClr val="C3D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10143" y="2496312"/>
            <a:ext cx="722376" cy="274320"/>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C</a:t>
            </a:r>
          </a:p>
        </p:txBody>
      </p:sp>
      <p:sp>
        <p:nvSpPr>
          <p:cNvPr id="20" name="Rounded Rectangle 19"/>
          <p:cNvSpPr/>
          <p:nvPr/>
        </p:nvSpPr>
        <p:spPr>
          <a:xfrm>
            <a:off x="7955279" y="2825496"/>
            <a:ext cx="941832" cy="274320"/>
          </a:xfrm>
          <a:prstGeom prst="roundRect">
            <a:avLst/>
          </a:prstGeom>
          <a:solidFill>
            <a:srgbClr val="FCE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10143" y="2825496"/>
            <a:ext cx="868680" cy="274320"/>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D</a:t>
            </a:r>
          </a:p>
        </p:txBody>
      </p:sp>
      <p:sp>
        <p:nvSpPr>
          <p:cNvPr id="22" name="Rounded Rectangle 21"/>
          <p:cNvSpPr/>
          <p:nvPr/>
        </p:nvSpPr>
        <p:spPr>
          <a:xfrm>
            <a:off x="7955279" y="3154680"/>
            <a:ext cx="1088136" cy="274320"/>
          </a:xfrm>
          <a:prstGeom prst="roundRect">
            <a:avLst/>
          </a:prstGeom>
          <a:solidFill>
            <a:srgbClr val="F7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10143" y="3154680"/>
            <a:ext cx="1014984" cy="274320"/>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E</a:t>
            </a:r>
          </a:p>
        </p:txBody>
      </p:sp>
      <p:sp>
        <p:nvSpPr>
          <p:cNvPr id="24" name="Rounded Rectangle 23"/>
          <p:cNvSpPr/>
          <p:nvPr/>
        </p:nvSpPr>
        <p:spPr>
          <a:xfrm>
            <a:off x="7955279" y="3483864"/>
            <a:ext cx="1234440" cy="274320"/>
          </a:xfrm>
          <a:prstGeom prst="roundRect">
            <a:avLst/>
          </a:prstGeom>
          <a:solidFill>
            <a:srgbClr val="EA6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10143" y="3483864"/>
            <a:ext cx="1161288" cy="274320"/>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F</a:t>
            </a:r>
          </a:p>
        </p:txBody>
      </p:sp>
      <p:sp>
        <p:nvSpPr>
          <p:cNvPr id="26" name="Rounded Rectangle 25"/>
          <p:cNvSpPr/>
          <p:nvPr/>
        </p:nvSpPr>
        <p:spPr>
          <a:xfrm>
            <a:off x="7955279" y="3813048"/>
            <a:ext cx="1380744" cy="274320"/>
          </a:xfrm>
          <a:prstGeom prst="roundRect">
            <a:avLst/>
          </a:prstGeom>
          <a:solidFill>
            <a:srgbClr val="E2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10143" y="3813048"/>
            <a:ext cx="1307592" cy="274320"/>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G</a:t>
            </a:r>
          </a:p>
        </p:txBody>
      </p:sp>
      <p:sp>
        <p:nvSpPr>
          <p:cNvPr id="28" name="TextBox 27"/>
          <p:cNvSpPr txBox="1"/>
          <p:nvPr/>
        </p:nvSpPr>
        <p:spPr>
          <a:xfrm>
            <a:off x="9966960" y="1508760"/>
            <a:ext cx="1380744" cy="274320"/>
          </a:xfrm>
          <a:prstGeom prst="rect">
            <a:avLst/>
          </a:prstGeom>
          <a:noFill/>
        </p:spPr>
        <p:txBody>
          <a:bodyPr wrap="square" anchor="t" lIns="25400" rIns="25400" tIns="25400" bIns="25400">
            <a:spAutoFit/>
          </a:bodyPr>
          <a:lstStyle/>
          <a:p>
            <a:pPr algn="l">
              <a:lnSpc>
                <a:spcPct val="100000"/>
              </a:lnSpc>
              <a:spcAft>
                <a:spcPts val="400"/>
              </a:spcAft>
            </a:pPr>
            <a:r>
              <a:rPr sz="1100" b="1" i="0">
                <a:solidFill>
                  <a:srgbClr val="37474F"/>
                </a:solidFill>
                <a:latin typeface="Calibri"/>
              </a:rPr>
              <a:t>Climat</a:t>
            </a:r>
          </a:p>
        </p:txBody>
      </p:sp>
      <p:sp>
        <p:nvSpPr>
          <p:cNvPr id="29" name="Rounded Rectangle 28"/>
          <p:cNvSpPr/>
          <p:nvPr/>
        </p:nvSpPr>
        <p:spPr>
          <a:xfrm>
            <a:off x="9966960" y="1837944"/>
            <a:ext cx="502920" cy="274320"/>
          </a:xfrm>
          <a:prstGeom prst="roundRect">
            <a:avLst/>
          </a:prstGeom>
          <a:solidFill>
            <a:srgbClr val="0083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21824" y="1837944"/>
            <a:ext cx="429768" cy="274320"/>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A</a:t>
            </a:r>
          </a:p>
        </p:txBody>
      </p:sp>
      <p:sp>
        <p:nvSpPr>
          <p:cNvPr id="31" name="Rounded Rectangle 30"/>
          <p:cNvSpPr/>
          <p:nvPr/>
        </p:nvSpPr>
        <p:spPr>
          <a:xfrm>
            <a:off x="9966960" y="2167128"/>
            <a:ext cx="649224" cy="274320"/>
          </a:xfrm>
          <a:prstGeom prst="roundRect">
            <a:avLst/>
          </a:prstGeom>
          <a:solidFill>
            <a:srgbClr val="57AA27"/>
          </a:solidFill>
          <a:ln w="31750">
            <a:solidFill>
              <a:srgbClr val="2632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021824" y="2167128"/>
            <a:ext cx="576072" cy="274320"/>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B</a:t>
            </a:r>
          </a:p>
        </p:txBody>
      </p:sp>
      <p:sp>
        <p:nvSpPr>
          <p:cNvPr id="33" name="Pentagon 32"/>
          <p:cNvSpPr/>
          <p:nvPr/>
        </p:nvSpPr>
        <p:spPr>
          <a:xfrm>
            <a:off x="9656064" y="2167128"/>
            <a:ext cx="274320" cy="274320"/>
          </a:xfrm>
          <a:prstGeom prst="homePlate">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9966960" y="2496312"/>
            <a:ext cx="795528" cy="274320"/>
          </a:xfrm>
          <a:prstGeom prst="roundRect">
            <a:avLst/>
          </a:prstGeom>
          <a:solidFill>
            <a:srgbClr val="C3D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21824" y="2496312"/>
            <a:ext cx="722376" cy="274320"/>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C</a:t>
            </a:r>
          </a:p>
        </p:txBody>
      </p:sp>
      <p:sp>
        <p:nvSpPr>
          <p:cNvPr id="36" name="Rounded Rectangle 35"/>
          <p:cNvSpPr/>
          <p:nvPr/>
        </p:nvSpPr>
        <p:spPr>
          <a:xfrm>
            <a:off x="9966960" y="2825496"/>
            <a:ext cx="941832" cy="274320"/>
          </a:xfrm>
          <a:prstGeom prst="roundRect">
            <a:avLst/>
          </a:prstGeom>
          <a:solidFill>
            <a:srgbClr val="FCE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021824" y="2825496"/>
            <a:ext cx="868680" cy="274320"/>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D</a:t>
            </a:r>
          </a:p>
        </p:txBody>
      </p:sp>
      <p:sp>
        <p:nvSpPr>
          <p:cNvPr id="38" name="Rounded Rectangle 37"/>
          <p:cNvSpPr/>
          <p:nvPr/>
        </p:nvSpPr>
        <p:spPr>
          <a:xfrm>
            <a:off x="9966960" y="3154680"/>
            <a:ext cx="1088136" cy="274320"/>
          </a:xfrm>
          <a:prstGeom prst="roundRect">
            <a:avLst/>
          </a:prstGeom>
          <a:solidFill>
            <a:srgbClr val="F7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021824" y="3154680"/>
            <a:ext cx="1014984" cy="274320"/>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E</a:t>
            </a:r>
          </a:p>
        </p:txBody>
      </p:sp>
      <p:sp>
        <p:nvSpPr>
          <p:cNvPr id="40" name="Rounded Rectangle 39"/>
          <p:cNvSpPr/>
          <p:nvPr/>
        </p:nvSpPr>
        <p:spPr>
          <a:xfrm>
            <a:off x="9966960" y="3483864"/>
            <a:ext cx="1234440" cy="274320"/>
          </a:xfrm>
          <a:prstGeom prst="roundRect">
            <a:avLst/>
          </a:prstGeom>
          <a:solidFill>
            <a:srgbClr val="EA6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021824" y="3483864"/>
            <a:ext cx="1161288" cy="274320"/>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F</a:t>
            </a:r>
          </a:p>
        </p:txBody>
      </p:sp>
      <p:sp>
        <p:nvSpPr>
          <p:cNvPr id="42" name="Rounded Rectangle 41"/>
          <p:cNvSpPr/>
          <p:nvPr/>
        </p:nvSpPr>
        <p:spPr>
          <a:xfrm>
            <a:off x="9966960" y="3813048"/>
            <a:ext cx="1380744" cy="274320"/>
          </a:xfrm>
          <a:prstGeom prst="roundRect">
            <a:avLst/>
          </a:prstGeom>
          <a:solidFill>
            <a:srgbClr val="E2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021824" y="3813048"/>
            <a:ext cx="1307592" cy="274320"/>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G</a:t>
            </a:r>
          </a:p>
        </p:txBody>
      </p:sp>
      <p:sp>
        <p:nvSpPr>
          <p:cNvPr id="44" name="Rounded Rectangle 43"/>
          <p:cNvSpPr/>
          <p:nvPr/>
        </p:nvSpPr>
        <p:spPr>
          <a:xfrm>
            <a:off x="822960" y="4572000"/>
            <a:ext cx="10515600" cy="155448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4663440"/>
            <a:ext cx="10058400" cy="365760"/>
          </a:xfrm>
          <a:prstGeom prst="rect">
            <a:avLst/>
          </a:prstGeom>
          <a:noFill/>
        </p:spPr>
        <p:txBody>
          <a:bodyPr wrap="square" anchor="t" lIns="25400" rIns="25400" tIns="25400" bIns="25400">
            <a:spAutoFit/>
          </a:bodyPr>
          <a:lstStyle/>
          <a:p>
            <a:pPr algn="l">
              <a:lnSpc>
                <a:spcPct val="100000"/>
              </a:lnSpc>
              <a:spcAft>
                <a:spcPts val="400"/>
              </a:spcAft>
            </a:pPr>
            <a:r>
              <a:rPr sz="1400" b="1" i="0">
                <a:solidFill>
                  <a:srgbClr val="1B5E20"/>
                </a:solidFill>
                <a:latin typeface="Calibri"/>
              </a:rPr>
              <a:t>Avantages du scénario 1</a:t>
            </a:r>
          </a:p>
        </p:txBody>
      </p:sp>
      <p:sp>
        <p:nvSpPr>
          <p:cNvPr id="46" name="TextBox 45"/>
          <p:cNvSpPr txBox="1"/>
          <p:nvPr/>
        </p:nvSpPr>
        <p:spPr>
          <a:xfrm>
            <a:off x="1051560" y="5074920"/>
            <a:ext cx="5029200" cy="1005840"/>
          </a:xfrm>
          <a:prstGeom prst="rect">
            <a:avLst/>
          </a:prstGeom>
          <a:noFill/>
        </p:spPr>
        <p:txBody>
          <a:bodyPr wrap="square">
            <a:spAutoFit/>
          </a:bodyPr>
          <a:lstStyle/>
          <a:p>
            <a:pPr>
              <a:lnSpc>
                <a:spcPct val="105000"/>
              </a:lnSpc>
              <a:spcAft>
                <a:spcPts val="500"/>
              </a:spcAft>
            </a:pPr>
            <a:r>
              <a:rPr sz="1200" b="1">
                <a:solidFill>
                  <a:srgbClr val="2E7D32"/>
                </a:solidFill>
                <a:latin typeface="Calibri"/>
              </a:rPr>
              <a:t>●  </a:t>
            </a:r>
            <a:r>
              <a:rPr sz="1200">
                <a:solidFill>
                  <a:srgbClr val="37474F"/>
                </a:solidFill>
                <a:latin typeface="Calibri"/>
              </a:rPr>
              <a:t>Réduction importante des déperditions</a:t>
            </a:r>
          </a:p>
          <a:p>
            <a:pPr>
              <a:lnSpc>
                <a:spcPct val="105000"/>
              </a:lnSpc>
              <a:spcAft>
                <a:spcPts val="500"/>
              </a:spcAft>
            </a:pPr>
            <a:r>
              <a:rPr sz="1200" b="1">
                <a:solidFill>
                  <a:srgbClr val="2E7D32"/>
                </a:solidFill>
                <a:latin typeface="Calibri"/>
              </a:rPr>
              <a:t>●  </a:t>
            </a:r>
            <a:r>
              <a:rPr sz="1200">
                <a:solidFill>
                  <a:srgbClr val="37474F"/>
                </a:solidFill>
                <a:latin typeface="Calibri"/>
              </a:rPr>
              <a:t>Confort d’hiver et d’été amélioré</a:t>
            </a:r>
          </a:p>
          <a:p>
            <a:pPr>
              <a:lnSpc>
                <a:spcPct val="105000"/>
              </a:lnSpc>
              <a:spcAft>
                <a:spcPts val="500"/>
              </a:spcAft>
            </a:pPr>
            <a:r>
              <a:rPr sz="1200" b="1">
                <a:solidFill>
                  <a:srgbClr val="2E7D32"/>
                </a:solidFill>
                <a:latin typeface="Calibri"/>
              </a:rPr>
              <a:t>●  </a:t>
            </a:r>
            <a:r>
              <a:rPr sz="1200">
                <a:solidFill>
                  <a:srgbClr val="37474F"/>
                </a:solidFill>
                <a:latin typeface="Calibri"/>
              </a:rPr>
              <a:t>Conservation de l’inertie des murs en pierre</a:t>
            </a:r>
          </a:p>
        </p:txBody>
      </p:sp>
      <p:sp>
        <p:nvSpPr>
          <p:cNvPr id="47" name="TextBox 46"/>
          <p:cNvSpPr txBox="1"/>
          <p:nvPr/>
        </p:nvSpPr>
        <p:spPr>
          <a:xfrm>
            <a:off x="6309360" y="5074920"/>
            <a:ext cx="4846320" cy="1005840"/>
          </a:xfrm>
          <a:prstGeom prst="rect">
            <a:avLst/>
          </a:prstGeom>
          <a:noFill/>
        </p:spPr>
        <p:txBody>
          <a:bodyPr wrap="square">
            <a:spAutoFit/>
          </a:bodyPr>
          <a:lstStyle/>
          <a:p>
            <a:pPr>
              <a:lnSpc>
                <a:spcPct val="105000"/>
              </a:lnSpc>
              <a:spcAft>
                <a:spcPts val="500"/>
              </a:spcAft>
            </a:pPr>
            <a:r>
              <a:rPr sz="1200" b="1">
                <a:solidFill>
                  <a:srgbClr val="2E7D32"/>
                </a:solidFill>
                <a:latin typeface="Calibri"/>
              </a:rPr>
              <a:t>●  </a:t>
            </a:r>
            <a:r>
              <a:rPr sz="1200">
                <a:solidFill>
                  <a:srgbClr val="37474F"/>
                </a:solidFill>
                <a:latin typeface="Calibri"/>
              </a:rPr>
              <a:t>Meilleure qualité de l’air intérieur</a:t>
            </a:r>
          </a:p>
          <a:p>
            <a:pPr>
              <a:lnSpc>
                <a:spcPct val="105000"/>
              </a:lnSpc>
              <a:spcAft>
                <a:spcPts val="500"/>
              </a:spcAft>
            </a:pPr>
            <a:r>
              <a:rPr sz="1200" b="1">
                <a:solidFill>
                  <a:srgbClr val="2E7D32"/>
                </a:solidFill>
                <a:latin typeface="Calibri"/>
              </a:rPr>
              <a:t>●  </a:t>
            </a:r>
            <a:r>
              <a:rPr sz="1200">
                <a:solidFill>
                  <a:srgbClr val="37474F"/>
                </a:solidFill>
                <a:latin typeface="Calibri"/>
              </a:rPr>
              <a:t>Investissement plus limité (≈ 24 000 €)</a:t>
            </a:r>
          </a:p>
          <a:p>
            <a:pPr>
              <a:lnSpc>
                <a:spcPct val="105000"/>
              </a:lnSpc>
              <a:spcAft>
                <a:spcPts val="500"/>
              </a:spcAft>
            </a:pPr>
            <a:r>
              <a:rPr sz="1200" b="1">
                <a:solidFill>
                  <a:srgbClr val="2E7D32"/>
                </a:solidFill>
                <a:latin typeface="Calibri"/>
              </a:rPr>
              <a:t>●  </a:t>
            </a:r>
            <a:r>
              <a:rPr sz="1200">
                <a:solidFill>
                  <a:srgbClr val="37474F"/>
                </a:solidFill>
                <a:latin typeface="Calibri"/>
              </a:rPr>
              <a:t>Étiquette DPE : passage de G à B / B</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4</a:t>
            </a:r>
          </a:p>
        </p:txBody>
      </p:sp>
      <p:sp>
        <p:nvSpPr>
          <p:cNvPr id="6" name="TextBox 5"/>
          <p:cNvSpPr txBox="1"/>
          <p:nvPr/>
        </p:nvSpPr>
        <p:spPr>
          <a:xfrm>
            <a:off x="1325880" y="365760"/>
            <a:ext cx="10332720" cy="777240"/>
          </a:xfrm>
          <a:prstGeom prst="rect">
            <a:avLst/>
          </a:prstGeom>
          <a:noFill/>
        </p:spPr>
        <p:txBody>
          <a:bodyPr wrap="square" anchor="ctr" lIns="25400" rIns="25400" tIns="25400" bIns="25400">
            <a:spAutoFit/>
          </a:bodyPr>
          <a:lstStyle/>
          <a:p>
            <a:pPr algn="l">
              <a:lnSpc>
                <a:spcPct val="100000"/>
              </a:lnSpc>
              <a:spcAft>
                <a:spcPts val="400"/>
              </a:spcAft>
            </a:pPr>
            <a:r>
              <a:rPr sz="3000" b="1" i="0">
                <a:solidFill>
                  <a:srgbClr val="1B5E20"/>
                </a:solidFill>
                <a:latin typeface="Calibri"/>
              </a:rPr>
              <a:t>Scénario 2 — Rénovation globale</a:t>
            </a:r>
          </a:p>
        </p:txBody>
      </p:sp>
      <p:sp>
        <p:nvSpPr>
          <p:cNvPr id="7" name="TextBox 6"/>
          <p:cNvSpPr txBox="1"/>
          <p:nvPr/>
        </p:nvSpPr>
        <p:spPr>
          <a:xfrm>
            <a:off x="1325880" y="1078992"/>
            <a:ext cx="10332720" cy="365760"/>
          </a:xfrm>
          <a:prstGeom prst="rect">
            <a:avLst/>
          </a:prstGeom>
          <a:noFill/>
        </p:spPr>
        <p:txBody>
          <a:bodyPr wrap="square" anchor="t" lIns="25400" rIns="25400" tIns="25400" bIns="25400">
            <a:spAutoFit/>
          </a:bodyPr>
          <a:lstStyle/>
          <a:p>
            <a:pPr algn="l">
              <a:lnSpc>
                <a:spcPct val="100000"/>
              </a:lnSpc>
              <a:spcAft>
                <a:spcPts val="400"/>
              </a:spcAft>
            </a:pPr>
            <a:r>
              <a:rPr sz="1500" b="0" i="1">
                <a:solidFill>
                  <a:srgbClr val="90A4AE"/>
                </a:solidFill>
                <a:latin typeface="Calibri"/>
              </a:rPr>
              <a:t>Enveloppe du scénario 1 + remplacement du chauffage</a:t>
            </a:r>
          </a:p>
        </p:txBody>
      </p:sp>
      <p:sp>
        <p:nvSpPr>
          <p:cNvPr id="8" name="Rectangle 7"/>
          <p:cNvSpPr/>
          <p:nvPr/>
        </p:nvSpPr>
        <p:spPr>
          <a:xfrm>
            <a:off x="1325880" y="1188720"/>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46520"/>
            <a:ext cx="8229600" cy="320040"/>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Rénovation énergétique – Saint-Jean-de-Chevelu (73)</a:t>
            </a:r>
          </a:p>
        </p:txBody>
      </p:sp>
      <p:sp>
        <p:nvSpPr>
          <p:cNvPr id="10" name="TextBox 9"/>
          <p:cNvSpPr txBox="1"/>
          <p:nvPr/>
        </p:nvSpPr>
        <p:spPr>
          <a:xfrm>
            <a:off x="9418320" y="6446520"/>
            <a:ext cx="2286000" cy="320040"/>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TextBox 10"/>
          <p:cNvSpPr txBox="1"/>
          <p:nvPr/>
        </p:nvSpPr>
        <p:spPr>
          <a:xfrm>
            <a:off x="822960" y="1463040"/>
            <a:ext cx="10424160" cy="41148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37474F"/>
                </a:solidFill>
                <a:latin typeface="Calibri"/>
              </a:rPr>
              <a:t>On reprend toute l’isolation du scénario 1, puis on remplace la chaudière fioul. Deux solutions étudiées :</a:t>
            </a:r>
          </a:p>
        </p:txBody>
      </p:sp>
      <p:graphicFrame>
        <p:nvGraphicFramePr>
          <p:cNvPr id="12" name="Table 11"/>
          <p:cNvGraphicFramePr>
            <a:graphicFrameLocks noGrp="1"/>
          </p:cNvGraphicFramePr>
          <p:nvPr/>
        </p:nvGraphicFramePr>
        <p:xfrm>
          <a:off x="822960" y="1920240"/>
          <a:ext cx="6858000" cy="3017520"/>
        </p:xfrm>
        <a:graphic>
          <a:graphicData uri="http://schemas.openxmlformats.org/drawingml/2006/table">
            <a:tbl>
              <a:tblPr>
                <a:tableStyleId>{5C22544A-7EE6-4342-B048-85BDC9FD1C3A}</a:tableStyleId>
              </a:tblPr>
              <a:tblGrid>
                <a:gridCol w="2651760"/>
                <a:gridCol w="2103120"/>
                <a:gridCol w="2103120"/>
              </a:tblGrid>
              <a:tr h="502920">
                <a:tc>
                  <a:txBody>
                    <a:bodyPr wrap="square"/>
                    <a:lstStyle/>
                    <a:p>
                      <a:pPr algn="l"/>
                      <a:r>
                        <a:rPr sz="1200" b="1">
                          <a:solidFill>
                            <a:srgbClr val="FFFFFF"/>
                          </a:solidFill>
                          <a:latin typeface="Calibri"/>
                        </a:rPr>
                        <a:t>Critère</a:t>
                      </a:r>
                    </a:p>
                  </a:txBody>
                  <a:tcPr marL="88900" marR="88900" marT="25400" marB="25400" anchor="ctr">
                    <a:solidFill>
                      <a:srgbClr val="1B5E20"/>
                    </a:solidFill>
                  </a:tcPr>
                </a:tc>
                <a:tc>
                  <a:txBody>
                    <a:bodyPr wrap="square"/>
                    <a:lstStyle/>
                    <a:p>
                      <a:pPr algn="ctr"/>
                      <a:r>
                        <a:rPr sz="1200" b="1">
                          <a:solidFill>
                            <a:srgbClr val="FFFFFF"/>
                          </a:solidFill>
                          <a:latin typeface="Calibri"/>
                        </a:rPr>
                        <a:t>PAC Air/Eau</a:t>
                      </a:r>
                    </a:p>
                  </a:txBody>
                  <a:tcPr marL="88900" marR="88900" marT="25400" marB="25400" anchor="ctr">
                    <a:solidFill>
                      <a:srgbClr val="1B5E20"/>
                    </a:solidFill>
                  </a:tcPr>
                </a:tc>
                <a:tc>
                  <a:txBody>
                    <a:bodyPr wrap="square"/>
                    <a:lstStyle/>
                    <a:p>
                      <a:pPr algn="ctr"/>
                      <a:r>
                        <a:rPr sz="1200" b="1">
                          <a:solidFill>
                            <a:srgbClr val="FFFFFF"/>
                          </a:solidFill>
                          <a:latin typeface="Calibri"/>
                        </a:rPr>
                        <a:t>Chaudière granulés</a:t>
                      </a:r>
                    </a:p>
                  </a:txBody>
                  <a:tcPr marL="88900" marR="88900" marT="25400" marB="25400" anchor="ctr">
                    <a:solidFill>
                      <a:srgbClr val="1B5E20"/>
                    </a:solidFill>
                  </a:tcPr>
                </a:tc>
              </a:tr>
              <a:tr h="502920">
                <a:tc>
                  <a:txBody>
                    <a:bodyPr wrap="square"/>
                    <a:lstStyle/>
                    <a:p>
                      <a:pPr algn="l"/>
                      <a:r>
                        <a:rPr sz="1150" b="1">
                          <a:solidFill>
                            <a:srgbClr val="37474F"/>
                          </a:solidFill>
                          <a:latin typeface="Calibri"/>
                        </a:rPr>
                        <a:t>Rendement</a:t>
                      </a:r>
                    </a:p>
                  </a:txBody>
                  <a:tcPr marL="88900" marR="88900" marT="25400" marB="25400" anchor="ctr">
                    <a:solidFill>
                      <a:srgbClr val="FFFFFF"/>
                    </a:solidFill>
                  </a:tcPr>
                </a:tc>
                <a:tc>
                  <a:txBody>
                    <a:bodyPr wrap="square"/>
                    <a:lstStyle/>
                    <a:p>
                      <a:pPr algn="ctr"/>
                      <a:r>
                        <a:rPr sz="1150" b="0">
                          <a:solidFill>
                            <a:srgbClr val="37474F"/>
                          </a:solidFill>
                          <a:latin typeface="Calibri"/>
                        </a:rPr>
                        <a:t>COP &gt; 3</a:t>
                      </a:r>
                    </a:p>
                  </a:txBody>
                  <a:tcPr marL="88900" marR="88900" marT="25400" marB="25400" anchor="ctr">
                    <a:solidFill>
                      <a:srgbClr val="FFFFFF"/>
                    </a:solidFill>
                  </a:tcPr>
                </a:tc>
                <a:tc>
                  <a:txBody>
                    <a:bodyPr wrap="square"/>
                    <a:lstStyle/>
                    <a:p>
                      <a:pPr algn="ctr"/>
                      <a:r>
                        <a:rPr sz="1150" b="0">
                          <a:solidFill>
                            <a:srgbClr val="37474F"/>
                          </a:solidFill>
                          <a:latin typeface="Calibri"/>
                        </a:rPr>
                        <a:t>&gt; 90 %</a:t>
                      </a:r>
                    </a:p>
                  </a:txBody>
                  <a:tcPr marL="88900" marR="88900" marT="25400" marB="25400" anchor="ctr">
                    <a:solidFill>
                      <a:srgbClr val="FFFFFF"/>
                    </a:solidFill>
                  </a:tcPr>
                </a:tc>
              </a:tr>
              <a:tr h="502920">
                <a:tc>
                  <a:txBody>
                    <a:bodyPr wrap="square"/>
                    <a:lstStyle/>
                    <a:p>
                      <a:pPr algn="l"/>
                      <a:r>
                        <a:rPr sz="1150" b="1">
                          <a:solidFill>
                            <a:srgbClr val="37474F"/>
                          </a:solidFill>
                          <a:latin typeface="Calibri"/>
                        </a:rPr>
                        <a:t>Émissions CO₂</a:t>
                      </a:r>
                    </a:p>
                  </a:txBody>
                  <a:tcPr marL="88900" marR="88900" marT="25400" marB="25400" anchor="ctr">
                    <a:solidFill>
                      <a:srgbClr val="E8F5E9"/>
                    </a:solidFill>
                  </a:tcPr>
                </a:tc>
                <a:tc>
                  <a:txBody>
                    <a:bodyPr wrap="square"/>
                    <a:lstStyle/>
                    <a:p>
                      <a:pPr algn="ctr"/>
                      <a:r>
                        <a:rPr sz="1150" b="0">
                          <a:solidFill>
                            <a:srgbClr val="37474F"/>
                          </a:solidFill>
                          <a:latin typeface="Calibri"/>
                        </a:rPr>
                        <a:t>Très faibles</a:t>
                      </a:r>
                    </a:p>
                  </a:txBody>
                  <a:tcPr marL="88900" marR="88900" marT="25400" marB="25400" anchor="ctr">
                    <a:solidFill>
                      <a:srgbClr val="E8F5E9"/>
                    </a:solidFill>
                  </a:tcPr>
                </a:tc>
                <a:tc>
                  <a:txBody>
                    <a:bodyPr wrap="square"/>
                    <a:lstStyle/>
                    <a:p>
                      <a:pPr algn="ctr"/>
                      <a:r>
                        <a:rPr sz="1150" b="0">
                          <a:solidFill>
                            <a:srgbClr val="37474F"/>
                          </a:solidFill>
                          <a:latin typeface="Calibri"/>
                        </a:rPr>
                        <a:t>Très faibles</a:t>
                      </a:r>
                    </a:p>
                  </a:txBody>
                  <a:tcPr marL="88900" marR="88900" marT="25400" marB="25400" anchor="ctr">
                    <a:solidFill>
                      <a:srgbClr val="E8F5E9"/>
                    </a:solidFill>
                  </a:tcPr>
                </a:tc>
              </a:tr>
              <a:tr h="502920">
                <a:tc>
                  <a:txBody>
                    <a:bodyPr wrap="square"/>
                    <a:lstStyle/>
                    <a:p>
                      <a:pPr algn="l"/>
                      <a:r>
                        <a:rPr sz="1150" b="1">
                          <a:solidFill>
                            <a:srgbClr val="37474F"/>
                          </a:solidFill>
                          <a:latin typeface="Calibri"/>
                        </a:rPr>
                        <a:t>Stockage combustible</a:t>
                      </a:r>
                    </a:p>
                  </a:txBody>
                  <a:tcPr marL="88900" marR="88900" marT="25400" marB="25400" anchor="ctr">
                    <a:solidFill>
                      <a:srgbClr val="FFFFFF"/>
                    </a:solidFill>
                  </a:tcPr>
                </a:tc>
                <a:tc>
                  <a:txBody>
                    <a:bodyPr wrap="square"/>
                    <a:lstStyle/>
                    <a:p>
                      <a:pPr algn="ctr"/>
                      <a:r>
                        <a:rPr sz="1150" b="0">
                          <a:solidFill>
                            <a:srgbClr val="37474F"/>
                          </a:solidFill>
                          <a:latin typeface="Calibri"/>
                        </a:rPr>
                        <a:t>Aucun</a:t>
                      </a:r>
                    </a:p>
                  </a:txBody>
                  <a:tcPr marL="88900" marR="88900" marT="25400" marB="25400" anchor="ctr">
                    <a:solidFill>
                      <a:srgbClr val="FFFFFF"/>
                    </a:solidFill>
                  </a:tcPr>
                </a:tc>
                <a:tc>
                  <a:txBody>
                    <a:bodyPr wrap="square"/>
                    <a:lstStyle/>
                    <a:p>
                      <a:pPr algn="ctr"/>
                      <a:r>
                        <a:rPr sz="1150" b="0">
                          <a:solidFill>
                            <a:srgbClr val="37474F"/>
                          </a:solidFill>
                          <a:latin typeface="Calibri"/>
                        </a:rPr>
                        <a:t>Nécessaire (silo)</a:t>
                      </a:r>
                    </a:p>
                  </a:txBody>
                  <a:tcPr marL="88900" marR="88900" marT="25400" marB="25400" anchor="ctr">
                    <a:solidFill>
                      <a:srgbClr val="FFFFFF"/>
                    </a:solidFill>
                  </a:tcPr>
                </a:tc>
              </a:tr>
              <a:tr h="502920">
                <a:tc>
                  <a:txBody>
                    <a:bodyPr wrap="square"/>
                    <a:lstStyle/>
                    <a:p>
                      <a:pPr algn="l"/>
                      <a:r>
                        <a:rPr sz="1150" b="1">
                          <a:solidFill>
                            <a:srgbClr val="37474F"/>
                          </a:solidFill>
                          <a:latin typeface="Calibri"/>
                        </a:rPr>
                        <a:t>Compatibilité radiateurs fonte</a:t>
                      </a:r>
                    </a:p>
                  </a:txBody>
                  <a:tcPr marL="88900" marR="88900" marT="25400" marB="25400" anchor="ctr">
                    <a:solidFill>
                      <a:srgbClr val="E8F5E9"/>
                    </a:solidFill>
                  </a:tcPr>
                </a:tc>
                <a:tc>
                  <a:txBody>
                    <a:bodyPr wrap="square"/>
                    <a:lstStyle/>
                    <a:p>
                      <a:pPr algn="ctr"/>
                      <a:r>
                        <a:rPr sz="1150" b="0">
                          <a:solidFill>
                            <a:srgbClr val="37474F"/>
                          </a:solidFill>
                          <a:latin typeface="Calibri"/>
                        </a:rPr>
                        <a:t>Moyenne</a:t>
                      </a:r>
                    </a:p>
                  </a:txBody>
                  <a:tcPr marL="88900" marR="88900" marT="25400" marB="25400" anchor="ctr">
                    <a:solidFill>
                      <a:srgbClr val="E8F5E9"/>
                    </a:solidFill>
                  </a:tcPr>
                </a:tc>
                <a:tc>
                  <a:txBody>
                    <a:bodyPr wrap="square"/>
                    <a:lstStyle/>
                    <a:p>
                      <a:pPr algn="ctr"/>
                      <a:r>
                        <a:rPr sz="1150" b="0">
                          <a:solidFill>
                            <a:srgbClr val="37474F"/>
                          </a:solidFill>
                          <a:latin typeface="Calibri"/>
                        </a:rPr>
                        <a:t>Très bonne (haute T°)</a:t>
                      </a:r>
                    </a:p>
                  </a:txBody>
                  <a:tcPr marL="88900" marR="88900" marT="25400" marB="25400" anchor="ctr">
                    <a:solidFill>
                      <a:srgbClr val="E8F5E9"/>
                    </a:solidFill>
                  </a:tcPr>
                </a:tc>
              </a:tr>
              <a:tr h="502920">
                <a:tc>
                  <a:txBody>
                    <a:bodyPr wrap="square"/>
                    <a:lstStyle/>
                    <a:p>
                      <a:pPr algn="l"/>
                      <a:r>
                        <a:rPr sz="1150" b="1">
                          <a:solidFill>
                            <a:srgbClr val="37474F"/>
                          </a:solidFill>
                          <a:latin typeface="Calibri"/>
                        </a:rPr>
                        <a:t>Adaptation au bâti ancien</a:t>
                      </a:r>
                    </a:p>
                  </a:txBody>
                  <a:tcPr marL="88900" marR="88900" marT="25400" marB="25400" anchor="ctr">
                    <a:solidFill>
                      <a:srgbClr val="FFFFFF"/>
                    </a:solidFill>
                  </a:tcPr>
                </a:tc>
                <a:tc>
                  <a:txBody>
                    <a:bodyPr wrap="square"/>
                    <a:lstStyle/>
                    <a:p>
                      <a:pPr algn="ctr"/>
                      <a:r>
                        <a:rPr sz="1150" b="0">
                          <a:solidFill>
                            <a:srgbClr val="37474F"/>
                          </a:solidFill>
                          <a:latin typeface="Calibri"/>
                        </a:rPr>
                        <a:t>Bonne</a:t>
                      </a:r>
                    </a:p>
                  </a:txBody>
                  <a:tcPr marL="88900" marR="88900" marT="25400" marB="25400" anchor="ctr">
                    <a:solidFill>
                      <a:srgbClr val="FFFFFF"/>
                    </a:solidFill>
                  </a:tcPr>
                </a:tc>
                <a:tc>
                  <a:txBody>
                    <a:bodyPr wrap="square"/>
                    <a:lstStyle/>
                    <a:p>
                      <a:pPr algn="ctr"/>
                      <a:r>
                        <a:rPr sz="1150" b="0">
                          <a:solidFill>
                            <a:srgbClr val="37474F"/>
                          </a:solidFill>
                          <a:latin typeface="Calibri"/>
                        </a:rPr>
                        <a:t>Très adaptée</a:t>
                      </a:r>
                    </a:p>
                  </a:txBody>
                  <a:tcPr marL="88900" marR="88900" marT="25400" marB="25400" anchor="ctr">
                    <a:solidFill>
                      <a:srgbClr val="FFFFFF"/>
                    </a:solidFill>
                  </a:tcPr>
                </a:tc>
              </a:tr>
            </a:tbl>
          </a:graphicData>
        </a:graphic>
      </p:graphicFrame>
      <p:sp>
        <p:nvSpPr>
          <p:cNvPr id="13" name="TextBox 12"/>
          <p:cNvSpPr txBox="1"/>
          <p:nvPr/>
        </p:nvSpPr>
        <p:spPr>
          <a:xfrm>
            <a:off x="8229600" y="1783080"/>
            <a:ext cx="1380744" cy="274320"/>
          </a:xfrm>
          <a:prstGeom prst="rect">
            <a:avLst/>
          </a:prstGeom>
          <a:noFill/>
        </p:spPr>
        <p:txBody>
          <a:bodyPr wrap="square" anchor="t" lIns="25400" rIns="25400" tIns="25400" bIns="25400">
            <a:spAutoFit/>
          </a:bodyPr>
          <a:lstStyle/>
          <a:p>
            <a:pPr algn="l">
              <a:lnSpc>
                <a:spcPct val="100000"/>
              </a:lnSpc>
              <a:spcAft>
                <a:spcPts val="400"/>
              </a:spcAft>
            </a:pPr>
            <a:r>
              <a:rPr sz="1100" b="1" i="0">
                <a:solidFill>
                  <a:srgbClr val="37474F"/>
                </a:solidFill>
                <a:latin typeface="Calibri"/>
              </a:rPr>
              <a:t>Énergie</a:t>
            </a:r>
          </a:p>
        </p:txBody>
      </p:sp>
      <p:sp>
        <p:nvSpPr>
          <p:cNvPr id="14" name="Rounded Rectangle 13"/>
          <p:cNvSpPr/>
          <p:nvPr/>
        </p:nvSpPr>
        <p:spPr>
          <a:xfrm>
            <a:off x="8229600" y="2112264"/>
            <a:ext cx="502920" cy="256032"/>
          </a:xfrm>
          <a:prstGeom prst="roundRect">
            <a:avLst/>
          </a:prstGeom>
          <a:solidFill>
            <a:srgbClr val="008336"/>
          </a:solidFill>
          <a:ln w="31750">
            <a:solidFill>
              <a:srgbClr val="2632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84464" y="2112264"/>
            <a:ext cx="429768" cy="256032"/>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A</a:t>
            </a:r>
          </a:p>
        </p:txBody>
      </p:sp>
      <p:sp>
        <p:nvSpPr>
          <p:cNvPr id="16" name="Pentagon 15"/>
          <p:cNvSpPr/>
          <p:nvPr/>
        </p:nvSpPr>
        <p:spPr>
          <a:xfrm>
            <a:off x="7918704" y="2112264"/>
            <a:ext cx="274320" cy="256032"/>
          </a:xfrm>
          <a:prstGeom prst="homePlate">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229600" y="2423160"/>
            <a:ext cx="649224" cy="256032"/>
          </a:xfrm>
          <a:prstGeom prst="roundRect">
            <a:avLst/>
          </a:prstGeom>
          <a:solidFill>
            <a:srgbClr val="57A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84464" y="2423160"/>
            <a:ext cx="576072" cy="256032"/>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B</a:t>
            </a:r>
          </a:p>
        </p:txBody>
      </p:sp>
      <p:sp>
        <p:nvSpPr>
          <p:cNvPr id="19" name="Rounded Rectangle 18"/>
          <p:cNvSpPr/>
          <p:nvPr/>
        </p:nvSpPr>
        <p:spPr>
          <a:xfrm>
            <a:off x="8229600" y="2734056"/>
            <a:ext cx="795528" cy="256032"/>
          </a:xfrm>
          <a:prstGeom prst="roundRect">
            <a:avLst/>
          </a:prstGeom>
          <a:solidFill>
            <a:srgbClr val="C3D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84464" y="2734056"/>
            <a:ext cx="722376" cy="256032"/>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C</a:t>
            </a:r>
          </a:p>
        </p:txBody>
      </p:sp>
      <p:sp>
        <p:nvSpPr>
          <p:cNvPr id="21" name="Rounded Rectangle 20"/>
          <p:cNvSpPr/>
          <p:nvPr/>
        </p:nvSpPr>
        <p:spPr>
          <a:xfrm>
            <a:off x="8229600" y="3044952"/>
            <a:ext cx="941832" cy="256032"/>
          </a:xfrm>
          <a:prstGeom prst="roundRect">
            <a:avLst/>
          </a:prstGeom>
          <a:solidFill>
            <a:srgbClr val="FCE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84464" y="3044952"/>
            <a:ext cx="868680" cy="256032"/>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D</a:t>
            </a:r>
          </a:p>
        </p:txBody>
      </p:sp>
      <p:sp>
        <p:nvSpPr>
          <p:cNvPr id="23" name="Rounded Rectangle 22"/>
          <p:cNvSpPr/>
          <p:nvPr/>
        </p:nvSpPr>
        <p:spPr>
          <a:xfrm>
            <a:off x="8229600" y="3355848"/>
            <a:ext cx="1088136" cy="256032"/>
          </a:xfrm>
          <a:prstGeom prst="roundRect">
            <a:avLst/>
          </a:prstGeom>
          <a:solidFill>
            <a:srgbClr val="F7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84464" y="3355848"/>
            <a:ext cx="1014984" cy="256032"/>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E</a:t>
            </a:r>
          </a:p>
        </p:txBody>
      </p:sp>
      <p:sp>
        <p:nvSpPr>
          <p:cNvPr id="25" name="Rounded Rectangle 24"/>
          <p:cNvSpPr/>
          <p:nvPr/>
        </p:nvSpPr>
        <p:spPr>
          <a:xfrm>
            <a:off x="8229600" y="3666744"/>
            <a:ext cx="1234440" cy="256032"/>
          </a:xfrm>
          <a:prstGeom prst="roundRect">
            <a:avLst/>
          </a:prstGeom>
          <a:solidFill>
            <a:srgbClr val="EA6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84464" y="3666744"/>
            <a:ext cx="1161288" cy="256032"/>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F</a:t>
            </a:r>
          </a:p>
        </p:txBody>
      </p:sp>
      <p:sp>
        <p:nvSpPr>
          <p:cNvPr id="27" name="Rounded Rectangle 26"/>
          <p:cNvSpPr/>
          <p:nvPr/>
        </p:nvSpPr>
        <p:spPr>
          <a:xfrm>
            <a:off x="8229600" y="3977640"/>
            <a:ext cx="1380744" cy="256032"/>
          </a:xfrm>
          <a:prstGeom prst="roundRect">
            <a:avLst/>
          </a:prstGeom>
          <a:solidFill>
            <a:srgbClr val="E2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84464" y="3977640"/>
            <a:ext cx="1307592" cy="256032"/>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G</a:t>
            </a:r>
          </a:p>
        </p:txBody>
      </p:sp>
      <p:sp>
        <p:nvSpPr>
          <p:cNvPr id="29" name="TextBox 28"/>
          <p:cNvSpPr txBox="1"/>
          <p:nvPr/>
        </p:nvSpPr>
        <p:spPr>
          <a:xfrm>
            <a:off x="10149840" y="1783080"/>
            <a:ext cx="1380744" cy="274320"/>
          </a:xfrm>
          <a:prstGeom prst="rect">
            <a:avLst/>
          </a:prstGeom>
          <a:noFill/>
        </p:spPr>
        <p:txBody>
          <a:bodyPr wrap="square" anchor="t" lIns="25400" rIns="25400" tIns="25400" bIns="25400">
            <a:spAutoFit/>
          </a:bodyPr>
          <a:lstStyle/>
          <a:p>
            <a:pPr algn="l">
              <a:lnSpc>
                <a:spcPct val="100000"/>
              </a:lnSpc>
              <a:spcAft>
                <a:spcPts val="400"/>
              </a:spcAft>
            </a:pPr>
            <a:r>
              <a:rPr sz="1100" b="1" i="0">
                <a:solidFill>
                  <a:srgbClr val="37474F"/>
                </a:solidFill>
                <a:latin typeface="Calibri"/>
              </a:rPr>
              <a:t>Climat</a:t>
            </a:r>
          </a:p>
        </p:txBody>
      </p:sp>
      <p:sp>
        <p:nvSpPr>
          <p:cNvPr id="30" name="Rounded Rectangle 29"/>
          <p:cNvSpPr/>
          <p:nvPr/>
        </p:nvSpPr>
        <p:spPr>
          <a:xfrm>
            <a:off x="10149840" y="2112264"/>
            <a:ext cx="502920" cy="256032"/>
          </a:xfrm>
          <a:prstGeom prst="roundRect">
            <a:avLst/>
          </a:prstGeom>
          <a:solidFill>
            <a:srgbClr val="0083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04704" y="2112264"/>
            <a:ext cx="429768" cy="256032"/>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A</a:t>
            </a:r>
          </a:p>
        </p:txBody>
      </p:sp>
      <p:sp>
        <p:nvSpPr>
          <p:cNvPr id="32" name="Rounded Rectangle 31"/>
          <p:cNvSpPr/>
          <p:nvPr/>
        </p:nvSpPr>
        <p:spPr>
          <a:xfrm>
            <a:off x="10149840" y="2423160"/>
            <a:ext cx="649224" cy="256032"/>
          </a:xfrm>
          <a:prstGeom prst="roundRect">
            <a:avLst/>
          </a:prstGeom>
          <a:solidFill>
            <a:srgbClr val="57AA27"/>
          </a:solidFill>
          <a:ln w="31750">
            <a:solidFill>
              <a:srgbClr val="2632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04704" y="2423160"/>
            <a:ext cx="576072" cy="256032"/>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B</a:t>
            </a:r>
          </a:p>
        </p:txBody>
      </p:sp>
      <p:sp>
        <p:nvSpPr>
          <p:cNvPr id="34" name="Pentagon 33"/>
          <p:cNvSpPr/>
          <p:nvPr/>
        </p:nvSpPr>
        <p:spPr>
          <a:xfrm>
            <a:off x="9838944" y="2423160"/>
            <a:ext cx="274320" cy="256032"/>
          </a:xfrm>
          <a:prstGeom prst="homePlate">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10149840" y="2734056"/>
            <a:ext cx="795528" cy="256032"/>
          </a:xfrm>
          <a:prstGeom prst="roundRect">
            <a:avLst/>
          </a:prstGeom>
          <a:solidFill>
            <a:srgbClr val="C3D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04704" y="2734056"/>
            <a:ext cx="722376" cy="256032"/>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C</a:t>
            </a:r>
          </a:p>
        </p:txBody>
      </p:sp>
      <p:sp>
        <p:nvSpPr>
          <p:cNvPr id="37" name="Rounded Rectangle 36"/>
          <p:cNvSpPr/>
          <p:nvPr/>
        </p:nvSpPr>
        <p:spPr>
          <a:xfrm>
            <a:off x="10149840" y="3044952"/>
            <a:ext cx="941832" cy="256032"/>
          </a:xfrm>
          <a:prstGeom prst="roundRect">
            <a:avLst/>
          </a:prstGeom>
          <a:solidFill>
            <a:srgbClr val="FCE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04704" y="3044952"/>
            <a:ext cx="868680" cy="256032"/>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D</a:t>
            </a:r>
          </a:p>
        </p:txBody>
      </p:sp>
      <p:sp>
        <p:nvSpPr>
          <p:cNvPr id="39" name="Rounded Rectangle 38"/>
          <p:cNvSpPr/>
          <p:nvPr/>
        </p:nvSpPr>
        <p:spPr>
          <a:xfrm>
            <a:off x="10149840" y="3355848"/>
            <a:ext cx="1088136" cy="256032"/>
          </a:xfrm>
          <a:prstGeom prst="roundRect">
            <a:avLst/>
          </a:prstGeom>
          <a:solidFill>
            <a:srgbClr val="F7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204704" y="3355848"/>
            <a:ext cx="1014984" cy="256032"/>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E</a:t>
            </a:r>
          </a:p>
        </p:txBody>
      </p:sp>
      <p:sp>
        <p:nvSpPr>
          <p:cNvPr id="41" name="Rounded Rectangle 40"/>
          <p:cNvSpPr/>
          <p:nvPr/>
        </p:nvSpPr>
        <p:spPr>
          <a:xfrm>
            <a:off x="10149840" y="3666744"/>
            <a:ext cx="1234440" cy="256032"/>
          </a:xfrm>
          <a:prstGeom prst="roundRect">
            <a:avLst/>
          </a:prstGeom>
          <a:solidFill>
            <a:srgbClr val="EA6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204704" y="3666744"/>
            <a:ext cx="1161288" cy="256032"/>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F</a:t>
            </a:r>
          </a:p>
        </p:txBody>
      </p:sp>
      <p:sp>
        <p:nvSpPr>
          <p:cNvPr id="43" name="Rounded Rectangle 42"/>
          <p:cNvSpPr/>
          <p:nvPr/>
        </p:nvSpPr>
        <p:spPr>
          <a:xfrm>
            <a:off x="10149840" y="3977640"/>
            <a:ext cx="1380744" cy="256032"/>
          </a:xfrm>
          <a:prstGeom prst="roundRect">
            <a:avLst/>
          </a:prstGeom>
          <a:solidFill>
            <a:srgbClr val="E2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204704" y="3977640"/>
            <a:ext cx="1307592" cy="256032"/>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G</a:t>
            </a:r>
          </a:p>
        </p:txBody>
      </p:sp>
      <p:sp>
        <p:nvSpPr>
          <p:cNvPr id="45" name="Rounded Rectangle 44"/>
          <p:cNvSpPr/>
          <p:nvPr/>
        </p:nvSpPr>
        <p:spPr>
          <a:xfrm>
            <a:off x="822960" y="4937760"/>
            <a:ext cx="6858000" cy="1188720"/>
          </a:xfrm>
          <a:prstGeom prst="round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51560" y="5029200"/>
            <a:ext cx="6400800" cy="1005840"/>
          </a:xfrm>
          <a:prstGeom prst="rect">
            <a:avLst/>
          </a:prstGeom>
          <a:noFill/>
        </p:spPr>
        <p:txBody>
          <a:bodyPr wrap="square" anchor="t" lIns="25400" rIns="25400" tIns="25400" bIns="25400">
            <a:spAutoFit/>
          </a:bodyPr>
          <a:lstStyle/>
          <a:p>
            <a:pPr algn="l">
              <a:lnSpc>
                <a:spcPct val="105000"/>
              </a:lnSpc>
              <a:spcAft>
                <a:spcPts val="400"/>
              </a:spcAft>
            </a:pPr>
            <a:r>
              <a:rPr sz="1400" b="1" i="0">
                <a:solidFill>
                  <a:srgbClr val="FFFFFF"/>
                </a:solidFill>
                <a:latin typeface="Calibri"/>
              </a:rPr>
              <a:t>✔ Solution retenue : chaudière à granulés 12 kW + silo</a:t>
            </a:r>
          </a:p>
          <a:p>
            <a:pPr algn="l">
              <a:lnSpc>
                <a:spcPct val="105000"/>
              </a:lnSpc>
              <a:spcAft>
                <a:spcPts val="400"/>
              </a:spcAft>
            </a:pPr>
            <a:r>
              <a:rPr sz="1200" b="0" i="0">
                <a:solidFill>
                  <a:srgbClr val="C8E6C9"/>
                </a:solidFill>
                <a:latin typeface="Calibri"/>
              </a:rPr>
              <a:t>Conserve les radiateurs fonte existants, énergie renouvelable locale, approvisionnement facile en Savoie.</a:t>
            </a:r>
          </a:p>
        </p:txBody>
      </p:sp>
      <p:sp>
        <p:nvSpPr>
          <p:cNvPr id="47" name="Rounded Rectangle 46"/>
          <p:cNvSpPr/>
          <p:nvPr/>
        </p:nvSpPr>
        <p:spPr>
          <a:xfrm>
            <a:off x="7955279" y="4937760"/>
            <a:ext cx="3383280" cy="118872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138160" y="5029200"/>
            <a:ext cx="3017520" cy="1005840"/>
          </a:xfrm>
          <a:prstGeom prst="rect">
            <a:avLst/>
          </a:prstGeom>
          <a:noFill/>
        </p:spPr>
        <p:txBody>
          <a:bodyPr wrap="square" anchor="t" lIns="25400" rIns="25400" tIns="25400" bIns="25400">
            <a:spAutoFit/>
          </a:bodyPr>
          <a:lstStyle/>
          <a:p>
            <a:pPr algn="l">
              <a:lnSpc>
                <a:spcPct val="100000"/>
              </a:lnSpc>
              <a:spcAft>
                <a:spcPts val="400"/>
              </a:spcAft>
            </a:pPr>
            <a:r>
              <a:rPr sz="1200" b="1" i="0">
                <a:solidFill>
                  <a:srgbClr val="1B5E20"/>
                </a:solidFill>
                <a:latin typeface="Calibri"/>
              </a:rPr>
              <a:t>Étiquette DPE</a:t>
            </a:r>
          </a:p>
          <a:p>
            <a:pPr algn="l">
              <a:lnSpc>
                <a:spcPct val="100000"/>
              </a:lnSpc>
              <a:spcAft>
                <a:spcPts val="400"/>
              </a:spcAft>
            </a:pPr>
            <a:r>
              <a:rPr sz="2200" b="1" i="0">
                <a:solidFill>
                  <a:srgbClr val="008336"/>
                </a:solidFill>
                <a:latin typeface="Calibri"/>
              </a:rPr>
              <a:t>G → A / B</a:t>
            </a:r>
          </a:p>
          <a:p>
            <a:pPr algn="l">
              <a:lnSpc>
                <a:spcPct val="100000"/>
              </a:lnSpc>
              <a:spcAft>
                <a:spcPts val="400"/>
              </a:spcAft>
            </a:pPr>
            <a:r>
              <a:rPr sz="1200" b="0" i="0">
                <a:solidFill>
                  <a:srgbClr val="37474F"/>
                </a:solidFill>
                <a:latin typeface="Calibri"/>
              </a:rPr>
              <a:t>Investissement ≈ 40 000 €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5</a:t>
            </a:r>
          </a:p>
        </p:txBody>
      </p:sp>
      <p:sp>
        <p:nvSpPr>
          <p:cNvPr id="6" name="TextBox 5"/>
          <p:cNvSpPr txBox="1"/>
          <p:nvPr/>
        </p:nvSpPr>
        <p:spPr>
          <a:xfrm>
            <a:off x="1325880" y="365760"/>
            <a:ext cx="10332720" cy="777240"/>
          </a:xfrm>
          <a:prstGeom prst="rect">
            <a:avLst/>
          </a:prstGeom>
          <a:noFill/>
        </p:spPr>
        <p:txBody>
          <a:bodyPr wrap="square" anchor="ctr" lIns="25400" rIns="25400" tIns="25400" bIns="25400">
            <a:spAutoFit/>
          </a:bodyPr>
          <a:lstStyle/>
          <a:p>
            <a:pPr algn="l">
              <a:lnSpc>
                <a:spcPct val="100000"/>
              </a:lnSpc>
              <a:spcAft>
                <a:spcPts val="400"/>
              </a:spcAft>
            </a:pPr>
            <a:r>
              <a:rPr sz="3000" b="1" i="0">
                <a:solidFill>
                  <a:srgbClr val="1B5E20"/>
                </a:solidFill>
                <a:latin typeface="Calibri"/>
              </a:rPr>
              <a:t>Analyse environnementale des matériaux</a:t>
            </a:r>
          </a:p>
        </p:txBody>
      </p:sp>
      <p:sp>
        <p:nvSpPr>
          <p:cNvPr id="7" name="TextBox 6"/>
          <p:cNvSpPr txBox="1"/>
          <p:nvPr/>
        </p:nvSpPr>
        <p:spPr>
          <a:xfrm>
            <a:off x="1325880" y="1078992"/>
            <a:ext cx="10332720" cy="365760"/>
          </a:xfrm>
          <a:prstGeom prst="rect">
            <a:avLst/>
          </a:prstGeom>
          <a:noFill/>
        </p:spPr>
        <p:txBody>
          <a:bodyPr wrap="square" anchor="t" lIns="25400" rIns="25400" tIns="25400" bIns="25400">
            <a:spAutoFit/>
          </a:bodyPr>
          <a:lstStyle/>
          <a:p>
            <a:pPr algn="l">
              <a:lnSpc>
                <a:spcPct val="100000"/>
              </a:lnSpc>
              <a:spcAft>
                <a:spcPts val="400"/>
              </a:spcAft>
            </a:pPr>
            <a:r>
              <a:rPr sz="1500" b="0" i="1">
                <a:solidFill>
                  <a:srgbClr val="90A4AE"/>
                </a:solidFill>
                <a:latin typeface="Calibri"/>
              </a:rPr>
              <a:t>Le choix du biosourcé</a:t>
            </a:r>
          </a:p>
        </p:txBody>
      </p:sp>
      <p:sp>
        <p:nvSpPr>
          <p:cNvPr id="8" name="Rectangle 7"/>
          <p:cNvSpPr/>
          <p:nvPr/>
        </p:nvSpPr>
        <p:spPr>
          <a:xfrm>
            <a:off x="1325880" y="1188720"/>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46520"/>
            <a:ext cx="8229600" cy="320040"/>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Rénovation énergétique – Saint-Jean-de-Chevelu (73)</a:t>
            </a:r>
          </a:p>
        </p:txBody>
      </p:sp>
      <p:sp>
        <p:nvSpPr>
          <p:cNvPr id="10" name="TextBox 9"/>
          <p:cNvSpPr txBox="1"/>
          <p:nvPr/>
        </p:nvSpPr>
        <p:spPr>
          <a:xfrm>
            <a:off x="9418320" y="6446520"/>
            <a:ext cx="2286000" cy="320040"/>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graphicFrame>
        <p:nvGraphicFramePr>
          <p:cNvPr id="11" name="Table 10"/>
          <p:cNvGraphicFramePr>
            <a:graphicFrameLocks noGrp="1"/>
          </p:cNvGraphicFramePr>
          <p:nvPr/>
        </p:nvGraphicFramePr>
        <p:xfrm>
          <a:off x="822960" y="1645920"/>
          <a:ext cx="7315200" cy="3017520"/>
        </p:xfrm>
        <a:graphic>
          <a:graphicData uri="http://schemas.openxmlformats.org/drawingml/2006/table">
            <a:tbl>
              <a:tblPr>
                <a:tableStyleId>{5C22544A-7EE6-4342-B048-85BDC9FD1C3A}</a:tableStyleId>
              </a:tblPr>
              <a:tblGrid>
                <a:gridCol w="2743200"/>
                <a:gridCol w="2286000"/>
                <a:gridCol w="2286000"/>
              </a:tblGrid>
              <a:tr h="502920">
                <a:tc>
                  <a:txBody>
                    <a:bodyPr wrap="square"/>
                    <a:lstStyle/>
                    <a:p>
                      <a:pPr algn="l"/>
                      <a:r>
                        <a:rPr sz="1200" b="1">
                          <a:solidFill>
                            <a:srgbClr val="FFFFFF"/>
                          </a:solidFill>
                          <a:latin typeface="Calibri"/>
                        </a:rPr>
                        <a:t>Critère</a:t>
                      </a:r>
                    </a:p>
                  </a:txBody>
                  <a:tcPr marL="88900" marR="88900" marT="25400" marB="25400" anchor="ctr">
                    <a:solidFill>
                      <a:srgbClr val="1B5E20"/>
                    </a:solidFill>
                  </a:tcPr>
                </a:tc>
                <a:tc>
                  <a:txBody>
                    <a:bodyPr wrap="square"/>
                    <a:lstStyle/>
                    <a:p>
                      <a:pPr algn="ctr"/>
                      <a:r>
                        <a:rPr sz="1200" b="1">
                          <a:solidFill>
                            <a:srgbClr val="FFFFFF"/>
                          </a:solidFill>
                          <a:latin typeface="Calibri"/>
                        </a:rPr>
                        <a:t>Laine de bois</a:t>
                      </a:r>
                    </a:p>
                  </a:txBody>
                  <a:tcPr marL="88900" marR="88900" marT="25400" marB="25400" anchor="ctr">
                    <a:solidFill>
                      <a:srgbClr val="1B5E20"/>
                    </a:solidFill>
                  </a:tcPr>
                </a:tc>
                <a:tc>
                  <a:txBody>
                    <a:bodyPr wrap="square"/>
                    <a:lstStyle/>
                    <a:p>
                      <a:pPr algn="ctr"/>
                      <a:r>
                        <a:rPr sz="1200" b="1">
                          <a:solidFill>
                            <a:srgbClr val="FFFFFF"/>
                          </a:solidFill>
                          <a:latin typeface="Calibri"/>
                        </a:rPr>
                        <a:t>Ouate de cellulose</a:t>
                      </a:r>
                    </a:p>
                  </a:txBody>
                  <a:tcPr marL="88900" marR="88900" marT="25400" marB="25400" anchor="ctr">
                    <a:solidFill>
                      <a:srgbClr val="1B5E20"/>
                    </a:solidFill>
                  </a:tcPr>
                </a:tc>
              </a:tr>
              <a:tr h="502920">
                <a:tc>
                  <a:txBody>
                    <a:bodyPr wrap="square"/>
                    <a:lstStyle/>
                    <a:p>
                      <a:pPr algn="l"/>
                      <a:r>
                        <a:rPr sz="1200" b="1">
                          <a:solidFill>
                            <a:srgbClr val="37474F"/>
                          </a:solidFill>
                          <a:latin typeface="Calibri"/>
                        </a:rPr>
                        <a:t>Origine</a:t>
                      </a:r>
                    </a:p>
                  </a:txBody>
                  <a:tcPr marL="88900" marR="88900" marT="25400" marB="25400" anchor="ctr">
                    <a:solidFill>
                      <a:srgbClr val="FFFFFF"/>
                    </a:solidFill>
                  </a:tcPr>
                </a:tc>
                <a:tc>
                  <a:txBody>
                    <a:bodyPr wrap="square"/>
                    <a:lstStyle/>
                    <a:p>
                      <a:pPr algn="ctr"/>
                      <a:r>
                        <a:rPr sz="1200" b="0">
                          <a:solidFill>
                            <a:srgbClr val="37474F"/>
                          </a:solidFill>
                          <a:latin typeface="Calibri"/>
                        </a:rPr>
                        <a:t>Fibres de bois</a:t>
                      </a:r>
                    </a:p>
                  </a:txBody>
                  <a:tcPr marL="88900" marR="88900" marT="25400" marB="25400" anchor="ctr">
                    <a:solidFill>
                      <a:srgbClr val="FFFFFF"/>
                    </a:solidFill>
                  </a:tcPr>
                </a:tc>
                <a:tc>
                  <a:txBody>
                    <a:bodyPr wrap="square"/>
                    <a:lstStyle/>
                    <a:p>
                      <a:pPr algn="ctr"/>
                      <a:r>
                        <a:rPr sz="1200" b="0">
                          <a:solidFill>
                            <a:srgbClr val="37474F"/>
                          </a:solidFill>
                          <a:latin typeface="Calibri"/>
                        </a:rPr>
                        <a:t>Papier recyclé</a:t>
                      </a:r>
                    </a:p>
                  </a:txBody>
                  <a:tcPr marL="88900" marR="88900" marT="25400" marB="25400" anchor="ctr">
                    <a:solidFill>
                      <a:srgbClr val="FFFFFF"/>
                    </a:solidFill>
                  </a:tcPr>
                </a:tc>
              </a:tr>
              <a:tr h="502920">
                <a:tc>
                  <a:txBody>
                    <a:bodyPr wrap="square"/>
                    <a:lstStyle/>
                    <a:p>
                      <a:pPr algn="l"/>
                      <a:r>
                        <a:rPr sz="1200" b="1">
                          <a:solidFill>
                            <a:srgbClr val="37474F"/>
                          </a:solidFill>
                          <a:latin typeface="Calibri"/>
                        </a:rPr>
                        <a:t>Type</a:t>
                      </a:r>
                    </a:p>
                  </a:txBody>
                  <a:tcPr marL="88900" marR="88900" marT="25400" marB="25400" anchor="ctr">
                    <a:solidFill>
                      <a:srgbClr val="E8F5E9"/>
                    </a:solidFill>
                  </a:tcPr>
                </a:tc>
                <a:tc>
                  <a:txBody>
                    <a:bodyPr wrap="square"/>
                    <a:lstStyle/>
                    <a:p>
                      <a:pPr algn="ctr"/>
                      <a:r>
                        <a:rPr sz="1200" b="0">
                          <a:solidFill>
                            <a:srgbClr val="37474F"/>
                          </a:solidFill>
                          <a:latin typeface="Calibri"/>
                        </a:rPr>
                        <a:t>Biosourcé</a:t>
                      </a:r>
                    </a:p>
                  </a:txBody>
                  <a:tcPr marL="88900" marR="88900" marT="25400" marB="25400" anchor="ctr">
                    <a:solidFill>
                      <a:srgbClr val="E8F5E9"/>
                    </a:solidFill>
                  </a:tcPr>
                </a:tc>
                <a:tc>
                  <a:txBody>
                    <a:bodyPr wrap="square"/>
                    <a:lstStyle/>
                    <a:p>
                      <a:pPr algn="ctr"/>
                      <a:r>
                        <a:rPr sz="1200" b="0">
                          <a:solidFill>
                            <a:srgbClr val="37474F"/>
                          </a:solidFill>
                          <a:latin typeface="Calibri"/>
                        </a:rPr>
                        <a:t>Biosourcé</a:t>
                      </a:r>
                    </a:p>
                  </a:txBody>
                  <a:tcPr marL="88900" marR="88900" marT="25400" marB="25400" anchor="ctr">
                    <a:solidFill>
                      <a:srgbClr val="E8F5E9"/>
                    </a:solidFill>
                  </a:tcPr>
                </a:tc>
              </a:tr>
              <a:tr h="502920">
                <a:tc>
                  <a:txBody>
                    <a:bodyPr wrap="square"/>
                    <a:lstStyle/>
                    <a:p>
                      <a:pPr algn="l"/>
                      <a:r>
                        <a:rPr sz="1200" b="1">
                          <a:solidFill>
                            <a:srgbClr val="37474F"/>
                          </a:solidFill>
                          <a:latin typeface="Calibri"/>
                        </a:rPr>
                        <a:t>Performance thermique</a:t>
                      </a:r>
                    </a:p>
                  </a:txBody>
                  <a:tcPr marL="88900" marR="88900" marT="25400" marB="25400" anchor="ctr">
                    <a:solidFill>
                      <a:srgbClr val="FFFFFF"/>
                    </a:solidFill>
                  </a:tcPr>
                </a:tc>
                <a:tc>
                  <a:txBody>
                    <a:bodyPr wrap="square"/>
                    <a:lstStyle/>
                    <a:p>
                      <a:pPr algn="ctr"/>
                      <a:r>
                        <a:rPr sz="1200" b="0">
                          <a:solidFill>
                            <a:srgbClr val="37474F"/>
                          </a:solidFill>
                          <a:latin typeface="Calibri"/>
                        </a:rPr>
                        <a:t>Très bonne</a:t>
                      </a:r>
                    </a:p>
                  </a:txBody>
                  <a:tcPr marL="88900" marR="88900" marT="25400" marB="25400" anchor="ctr">
                    <a:solidFill>
                      <a:srgbClr val="FFFFFF"/>
                    </a:solidFill>
                  </a:tcPr>
                </a:tc>
                <a:tc>
                  <a:txBody>
                    <a:bodyPr wrap="square"/>
                    <a:lstStyle/>
                    <a:p>
                      <a:pPr algn="ctr"/>
                      <a:r>
                        <a:rPr sz="1200" b="0">
                          <a:solidFill>
                            <a:srgbClr val="37474F"/>
                          </a:solidFill>
                          <a:latin typeface="Calibri"/>
                        </a:rPr>
                        <a:t>Très bonne</a:t>
                      </a:r>
                    </a:p>
                  </a:txBody>
                  <a:tcPr marL="88900" marR="88900" marT="25400" marB="25400" anchor="ctr">
                    <a:solidFill>
                      <a:srgbClr val="FFFFFF"/>
                    </a:solidFill>
                  </a:tcPr>
                </a:tc>
              </a:tr>
              <a:tr h="502920">
                <a:tc>
                  <a:txBody>
                    <a:bodyPr wrap="square"/>
                    <a:lstStyle/>
                    <a:p>
                      <a:pPr algn="l"/>
                      <a:r>
                        <a:rPr sz="1200" b="1">
                          <a:solidFill>
                            <a:srgbClr val="37474F"/>
                          </a:solidFill>
                          <a:latin typeface="Calibri"/>
                        </a:rPr>
                        <a:t>Impact environnemental</a:t>
                      </a:r>
                    </a:p>
                  </a:txBody>
                  <a:tcPr marL="88900" marR="88900" marT="25400" marB="25400" anchor="ctr">
                    <a:solidFill>
                      <a:srgbClr val="E8F5E9"/>
                    </a:solidFill>
                  </a:tcPr>
                </a:tc>
                <a:tc>
                  <a:txBody>
                    <a:bodyPr wrap="square"/>
                    <a:lstStyle/>
                    <a:p>
                      <a:pPr algn="ctr"/>
                      <a:r>
                        <a:rPr sz="1200" b="0">
                          <a:solidFill>
                            <a:srgbClr val="37474F"/>
                          </a:solidFill>
                          <a:latin typeface="Calibri"/>
                        </a:rPr>
                        <a:t>Faible</a:t>
                      </a:r>
                    </a:p>
                  </a:txBody>
                  <a:tcPr marL="88900" marR="88900" marT="25400" marB="25400" anchor="ctr">
                    <a:solidFill>
                      <a:srgbClr val="E8F5E9"/>
                    </a:solidFill>
                  </a:tcPr>
                </a:tc>
                <a:tc>
                  <a:txBody>
                    <a:bodyPr wrap="square"/>
                    <a:lstStyle/>
                    <a:p>
                      <a:pPr algn="ctr"/>
                      <a:r>
                        <a:rPr sz="1200" b="0">
                          <a:solidFill>
                            <a:srgbClr val="37474F"/>
                          </a:solidFill>
                          <a:latin typeface="Calibri"/>
                        </a:rPr>
                        <a:t>Très faible</a:t>
                      </a:r>
                    </a:p>
                  </a:txBody>
                  <a:tcPr marL="88900" marR="88900" marT="25400" marB="25400" anchor="ctr">
                    <a:solidFill>
                      <a:srgbClr val="E8F5E9"/>
                    </a:solidFill>
                  </a:tcPr>
                </a:tc>
              </a:tr>
              <a:tr h="502920">
                <a:tc>
                  <a:txBody>
                    <a:bodyPr wrap="square"/>
                    <a:lstStyle/>
                    <a:p>
                      <a:pPr algn="l"/>
                      <a:r>
                        <a:rPr sz="1200" b="1">
                          <a:solidFill>
                            <a:srgbClr val="37474F"/>
                          </a:solidFill>
                          <a:latin typeface="Calibri"/>
                        </a:rPr>
                        <a:t>Utilisation retenue</a:t>
                      </a:r>
                    </a:p>
                  </a:txBody>
                  <a:tcPr marL="88900" marR="88900" marT="25400" marB="25400" anchor="ctr">
                    <a:solidFill>
                      <a:srgbClr val="FFFFFF"/>
                    </a:solidFill>
                  </a:tcPr>
                </a:tc>
                <a:tc>
                  <a:txBody>
                    <a:bodyPr wrap="square"/>
                    <a:lstStyle/>
                    <a:p>
                      <a:pPr algn="ctr"/>
                      <a:r>
                        <a:rPr sz="1200" b="0">
                          <a:solidFill>
                            <a:srgbClr val="37474F"/>
                          </a:solidFill>
                          <a:latin typeface="Calibri"/>
                        </a:rPr>
                        <a:t>ITE des murs</a:t>
                      </a:r>
                    </a:p>
                  </a:txBody>
                  <a:tcPr marL="88900" marR="88900" marT="25400" marB="25400" anchor="ctr">
                    <a:solidFill>
                      <a:srgbClr val="FFFFFF"/>
                    </a:solidFill>
                  </a:tcPr>
                </a:tc>
                <a:tc>
                  <a:txBody>
                    <a:bodyPr wrap="square"/>
                    <a:lstStyle/>
                    <a:p>
                      <a:pPr algn="ctr"/>
                      <a:r>
                        <a:rPr sz="1200" b="0">
                          <a:solidFill>
                            <a:srgbClr val="37474F"/>
                          </a:solidFill>
                          <a:latin typeface="Calibri"/>
                        </a:rPr>
                        <a:t>Isolation des combles</a:t>
                      </a:r>
                    </a:p>
                  </a:txBody>
                  <a:tcPr marL="88900" marR="88900" marT="25400" marB="25400" anchor="ctr">
                    <a:solidFill>
                      <a:srgbClr val="FFFFFF"/>
                    </a:solidFill>
                  </a:tcPr>
                </a:tc>
              </a:tr>
            </a:tbl>
          </a:graphicData>
        </a:graphic>
      </p:graphicFrame>
      <p:sp>
        <p:nvSpPr>
          <p:cNvPr id="12" name="Rounded Rectangle 11"/>
          <p:cNvSpPr/>
          <p:nvPr/>
        </p:nvSpPr>
        <p:spPr>
          <a:xfrm>
            <a:off x="8412480" y="1645920"/>
            <a:ext cx="2926080" cy="301752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783080"/>
            <a:ext cx="2560320" cy="2834640"/>
          </a:xfrm>
          <a:prstGeom prst="rect">
            <a:avLst/>
          </a:prstGeom>
          <a:noFill/>
        </p:spPr>
        <p:txBody>
          <a:bodyPr wrap="square" anchor="t" lIns="25400" rIns="25400" tIns="25400" bIns="25400">
            <a:spAutoFit/>
          </a:bodyPr>
          <a:lstStyle/>
          <a:p>
            <a:pPr algn="l">
              <a:lnSpc>
                <a:spcPct val="115000"/>
              </a:lnSpc>
              <a:spcAft>
                <a:spcPts val="400"/>
              </a:spcAft>
            </a:pPr>
            <a:r>
              <a:rPr sz="1300" b="1" i="0">
                <a:solidFill>
                  <a:srgbClr val="1B5E20"/>
                </a:solidFill>
                <a:latin typeface="Calibri"/>
              </a:rPr>
              <a:t>Pourquoi le biosourcé ?</a:t>
            </a:r>
          </a:p>
          <a:p>
            <a:pPr algn="l">
              <a:lnSpc>
                <a:spcPct val="115000"/>
              </a:lnSpc>
              <a:spcAft>
                <a:spcPts val="400"/>
              </a:spcAft>
            </a:pPr>
            <a:r>
              <a:rPr sz="600" b="0" i="0">
                <a:solidFill>
                  <a:srgbClr val="1B5E20"/>
                </a:solidFill>
                <a:latin typeface="Calibri"/>
              </a:rPr>
              <a:t/>
            </a:r>
          </a:p>
          <a:p>
            <a:pPr algn="l">
              <a:lnSpc>
                <a:spcPct val="115000"/>
              </a:lnSpc>
              <a:spcAft>
                <a:spcPts val="400"/>
              </a:spcAft>
            </a:pPr>
            <a:r>
              <a:rPr sz="1200" b="0" i="0">
                <a:solidFill>
                  <a:srgbClr val="37474F"/>
                </a:solidFill>
                <a:latin typeface="Calibri"/>
              </a:rPr>
              <a:t>• Faible impact carbone</a:t>
            </a:r>
          </a:p>
          <a:p>
            <a:pPr algn="l">
              <a:lnSpc>
                <a:spcPct val="115000"/>
              </a:lnSpc>
              <a:spcAft>
                <a:spcPts val="400"/>
              </a:spcAft>
            </a:pPr>
            <a:r>
              <a:rPr sz="1200" b="0" i="0">
                <a:solidFill>
                  <a:srgbClr val="37474F"/>
                </a:solidFill>
                <a:latin typeface="Calibri"/>
              </a:rPr>
              <a:t>• Excellent déphasage</a:t>
            </a:r>
          </a:p>
          <a:p>
            <a:pPr algn="l">
              <a:lnSpc>
                <a:spcPct val="115000"/>
              </a:lnSpc>
              <a:spcAft>
                <a:spcPts val="400"/>
              </a:spcAft>
            </a:pPr>
            <a:r>
              <a:rPr sz="1100" b="0" i="1">
                <a:solidFill>
                  <a:srgbClr val="90A4AE"/>
                </a:solidFill>
                <a:latin typeface="Calibri"/>
              </a:rPr>
              <a:t>  → confort d’été</a:t>
            </a:r>
          </a:p>
          <a:p>
            <a:pPr algn="l">
              <a:lnSpc>
                <a:spcPct val="115000"/>
              </a:lnSpc>
              <a:spcAft>
                <a:spcPts val="400"/>
              </a:spcAft>
            </a:pPr>
            <a:r>
              <a:rPr sz="1200" b="0" i="0">
                <a:solidFill>
                  <a:srgbClr val="37474F"/>
                </a:solidFill>
                <a:latin typeface="Calibri"/>
              </a:rPr>
              <a:t>• Gestion de l’humidité</a:t>
            </a:r>
          </a:p>
          <a:p>
            <a:pPr algn="l">
              <a:lnSpc>
                <a:spcPct val="115000"/>
              </a:lnSpc>
              <a:spcAft>
                <a:spcPts val="400"/>
              </a:spcAft>
            </a:pPr>
            <a:r>
              <a:rPr sz="1100" b="0" i="1">
                <a:solidFill>
                  <a:srgbClr val="90A4AE"/>
                </a:solidFill>
                <a:latin typeface="Calibri"/>
              </a:rPr>
              <a:t>  adaptée au bâti ancien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5</a:t>
            </a:r>
          </a:p>
        </p:txBody>
      </p:sp>
      <p:sp>
        <p:nvSpPr>
          <p:cNvPr id="6" name="TextBox 5"/>
          <p:cNvSpPr txBox="1"/>
          <p:nvPr/>
        </p:nvSpPr>
        <p:spPr>
          <a:xfrm>
            <a:off x="1325880" y="365760"/>
            <a:ext cx="10332720" cy="777240"/>
          </a:xfrm>
          <a:prstGeom prst="rect">
            <a:avLst/>
          </a:prstGeom>
          <a:noFill/>
        </p:spPr>
        <p:txBody>
          <a:bodyPr wrap="square" anchor="ctr" lIns="25400" rIns="25400" tIns="25400" bIns="25400">
            <a:spAutoFit/>
          </a:bodyPr>
          <a:lstStyle/>
          <a:p>
            <a:pPr algn="l">
              <a:lnSpc>
                <a:spcPct val="100000"/>
              </a:lnSpc>
              <a:spcAft>
                <a:spcPts val="400"/>
              </a:spcAft>
            </a:pPr>
            <a:r>
              <a:rPr sz="3000" b="1" i="0">
                <a:solidFill>
                  <a:srgbClr val="1B5E20"/>
                </a:solidFill>
                <a:latin typeface="Calibri"/>
              </a:rPr>
              <a:t>Dimensionnement des installations</a:t>
            </a:r>
          </a:p>
        </p:txBody>
      </p:sp>
      <p:sp>
        <p:nvSpPr>
          <p:cNvPr id="7" name="TextBox 6"/>
          <p:cNvSpPr txBox="1"/>
          <p:nvPr/>
        </p:nvSpPr>
        <p:spPr>
          <a:xfrm>
            <a:off x="1325880" y="1078992"/>
            <a:ext cx="10332720" cy="365760"/>
          </a:xfrm>
          <a:prstGeom prst="rect">
            <a:avLst/>
          </a:prstGeom>
          <a:noFill/>
        </p:spPr>
        <p:txBody>
          <a:bodyPr wrap="square" anchor="t" lIns="25400" rIns="25400" tIns="25400" bIns="25400">
            <a:spAutoFit/>
          </a:bodyPr>
          <a:lstStyle/>
          <a:p>
            <a:pPr algn="l">
              <a:lnSpc>
                <a:spcPct val="100000"/>
              </a:lnSpc>
              <a:spcAft>
                <a:spcPts val="400"/>
              </a:spcAft>
            </a:pPr>
            <a:r>
              <a:rPr sz="1500" b="0" i="1">
                <a:solidFill>
                  <a:srgbClr val="90A4AE"/>
                </a:solidFill>
                <a:latin typeface="Calibri"/>
              </a:rPr>
              <a:t>Du calcul thermique au choix des équipements</a:t>
            </a:r>
          </a:p>
        </p:txBody>
      </p:sp>
      <p:sp>
        <p:nvSpPr>
          <p:cNvPr id="8" name="Rectangle 7"/>
          <p:cNvSpPr/>
          <p:nvPr/>
        </p:nvSpPr>
        <p:spPr>
          <a:xfrm>
            <a:off x="1325880" y="1188720"/>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46520"/>
            <a:ext cx="8229600" cy="320040"/>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Rénovation énergétique – Saint-Jean-de-Chevelu (73)</a:t>
            </a:r>
          </a:p>
        </p:txBody>
      </p:sp>
      <p:sp>
        <p:nvSpPr>
          <p:cNvPr id="10" name="TextBox 9"/>
          <p:cNvSpPr txBox="1"/>
          <p:nvPr/>
        </p:nvSpPr>
        <p:spPr>
          <a:xfrm>
            <a:off x="9418320" y="6446520"/>
            <a:ext cx="2286000" cy="320040"/>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Rounded Rectangle 10"/>
          <p:cNvSpPr/>
          <p:nvPr/>
        </p:nvSpPr>
        <p:spPr>
          <a:xfrm>
            <a:off x="822960" y="1600200"/>
            <a:ext cx="5212080" cy="219456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1691640"/>
            <a:ext cx="4846320" cy="2103120"/>
          </a:xfrm>
          <a:prstGeom prst="rect">
            <a:avLst/>
          </a:prstGeom>
          <a:noFill/>
        </p:spPr>
        <p:txBody>
          <a:bodyPr wrap="square" anchor="t" lIns="25400" rIns="25400" tIns="25400" bIns="25400">
            <a:spAutoFit/>
          </a:bodyPr>
          <a:lstStyle/>
          <a:p>
            <a:pPr algn="l">
              <a:lnSpc>
                <a:spcPct val="112000"/>
              </a:lnSpc>
              <a:spcAft>
                <a:spcPts val="400"/>
              </a:spcAft>
            </a:pPr>
            <a:r>
              <a:rPr sz="1300" b="1" i="0">
                <a:solidFill>
                  <a:srgbClr val="1B5E20"/>
                </a:solidFill>
                <a:latin typeface="Calibri"/>
              </a:rPr>
              <a:t>Résistance thermique des isolants  (R = e / λ)</a:t>
            </a:r>
          </a:p>
          <a:p>
            <a:pPr algn="l">
              <a:lnSpc>
                <a:spcPct val="112000"/>
              </a:lnSpc>
              <a:spcAft>
                <a:spcPts val="400"/>
              </a:spcAft>
            </a:pPr>
            <a:r>
              <a:rPr sz="500" b="0" i="0">
                <a:solidFill>
                  <a:srgbClr val="1B5E20"/>
                </a:solidFill>
                <a:latin typeface="Calibri"/>
              </a:rPr>
              <a:t/>
            </a:r>
          </a:p>
          <a:p>
            <a:pPr algn="l">
              <a:lnSpc>
                <a:spcPct val="112000"/>
              </a:lnSpc>
              <a:spcAft>
                <a:spcPts val="400"/>
              </a:spcAft>
            </a:pPr>
            <a:r>
              <a:rPr sz="1200" b="1" i="0">
                <a:solidFill>
                  <a:srgbClr val="37474F"/>
                </a:solidFill>
                <a:latin typeface="Calibri"/>
              </a:rPr>
              <a:t>Murs — laine de bois 200 mm (λ=0,038) :</a:t>
            </a:r>
          </a:p>
          <a:p>
            <a:pPr algn="l">
              <a:lnSpc>
                <a:spcPct val="112000"/>
              </a:lnSpc>
              <a:spcAft>
                <a:spcPts val="400"/>
              </a:spcAft>
            </a:pPr>
            <a:r>
              <a:rPr sz="1300" b="0" i="0">
                <a:solidFill>
                  <a:srgbClr val="1565C0"/>
                </a:solidFill>
                <a:latin typeface="Calibri"/>
              </a:rPr>
              <a:t>R = 0,20 / 0,038 = 5,26 m².K/W</a:t>
            </a:r>
          </a:p>
          <a:p>
            <a:pPr algn="l">
              <a:lnSpc>
                <a:spcPct val="112000"/>
              </a:lnSpc>
              <a:spcAft>
                <a:spcPts val="400"/>
              </a:spcAft>
            </a:pPr>
            <a:r>
              <a:rPr sz="400" b="0" i="0">
                <a:solidFill>
                  <a:srgbClr val="1B5E20"/>
                </a:solidFill>
                <a:latin typeface="Calibri"/>
              </a:rPr>
              <a:t/>
            </a:r>
          </a:p>
          <a:p>
            <a:pPr algn="l">
              <a:lnSpc>
                <a:spcPct val="112000"/>
              </a:lnSpc>
              <a:spcAft>
                <a:spcPts val="400"/>
              </a:spcAft>
            </a:pPr>
            <a:r>
              <a:rPr sz="1200" b="1" i="0">
                <a:solidFill>
                  <a:srgbClr val="37474F"/>
                </a:solidFill>
                <a:latin typeface="Calibri"/>
              </a:rPr>
              <a:t>Combles — ouate 400 mm (λ=0,039) :</a:t>
            </a:r>
          </a:p>
          <a:p>
            <a:pPr algn="l">
              <a:lnSpc>
                <a:spcPct val="112000"/>
              </a:lnSpc>
              <a:spcAft>
                <a:spcPts val="400"/>
              </a:spcAft>
            </a:pPr>
            <a:r>
              <a:rPr sz="1300" b="0" i="0">
                <a:solidFill>
                  <a:srgbClr val="1565C0"/>
                </a:solidFill>
                <a:latin typeface="Calibri"/>
              </a:rPr>
              <a:t>R = 0,40 / 0,039 = 10,26 m².K/W</a:t>
            </a:r>
          </a:p>
        </p:txBody>
      </p:sp>
      <p:sp>
        <p:nvSpPr>
          <p:cNvPr id="13" name="Rounded Rectangle 12"/>
          <p:cNvSpPr/>
          <p:nvPr/>
        </p:nvSpPr>
        <p:spPr>
          <a:xfrm>
            <a:off x="6217920" y="1600200"/>
            <a:ext cx="5120640" cy="219456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691640"/>
            <a:ext cx="4754880" cy="2103120"/>
          </a:xfrm>
          <a:prstGeom prst="rect">
            <a:avLst/>
          </a:prstGeom>
          <a:noFill/>
        </p:spPr>
        <p:txBody>
          <a:bodyPr wrap="square" anchor="t" lIns="25400" rIns="25400" tIns="25400" bIns="25400">
            <a:spAutoFit/>
          </a:bodyPr>
          <a:lstStyle/>
          <a:p>
            <a:pPr algn="l">
              <a:lnSpc>
                <a:spcPct val="112000"/>
              </a:lnSpc>
              <a:spcAft>
                <a:spcPts val="400"/>
              </a:spcAft>
            </a:pPr>
            <a:r>
              <a:rPr sz="1300" b="1" i="0">
                <a:solidFill>
                  <a:srgbClr val="1B5E20"/>
                </a:solidFill>
                <a:latin typeface="Calibri"/>
              </a:rPr>
              <a:t>Puissance de chauffage après travaux</a:t>
            </a:r>
          </a:p>
          <a:p>
            <a:pPr algn="l">
              <a:lnSpc>
                <a:spcPct val="112000"/>
              </a:lnSpc>
              <a:spcAft>
                <a:spcPts val="400"/>
              </a:spcAft>
            </a:pPr>
            <a:r>
              <a:rPr sz="500" b="0" i="0">
                <a:solidFill>
                  <a:srgbClr val="1B5E20"/>
                </a:solidFill>
                <a:latin typeface="Calibri"/>
              </a:rPr>
              <a:t/>
            </a:r>
          </a:p>
          <a:p>
            <a:pPr algn="l">
              <a:lnSpc>
                <a:spcPct val="112000"/>
              </a:lnSpc>
              <a:spcAft>
                <a:spcPts val="400"/>
              </a:spcAft>
            </a:pPr>
            <a:r>
              <a:rPr sz="1200" b="1" i="0">
                <a:solidFill>
                  <a:srgbClr val="37474F"/>
                </a:solidFill>
                <a:latin typeface="Calibri"/>
              </a:rPr>
              <a:t>Réduction des besoins estimée : 55 %</a:t>
            </a:r>
          </a:p>
          <a:p>
            <a:pPr algn="l">
              <a:lnSpc>
                <a:spcPct val="112000"/>
              </a:lnSpc>
              <a:spcAft>
                <a:spcPts val="400"/>
              </a:spcAft>
            </a:pPr>
            <a:r>
              <a:rPr sz="1300" b="0" i="0">
                <a:solidFill>
                  <a:srgbClr val="1565C0"/>
                </a:solidFill>
                <a:latin typeface="Calibri"/>
              </a:rPr>
              <a:t>P = 21,3 × (1 − 0,55) = 9,6 kW ≈ 10 kW</a:t>
            </a:r>
          </a:p>
          <a:p>
            <a:pPr algn="l">
              <a:lnSpc>
                <a:spcPct val="112000"/>
              </a:lnSpc>
              <a:spcAft>
                <a:spcPts val="400"/>
              </a:spcAft>
            </a:pPr>
            <a:r>
              <a:rPr sz="400" b="0" i="0">
                <a:solidFill>
                  <a:srgbClr val="1B5E20"/>
                </a:solidFill>
                <a:latin typeface="Calibri"/>
              </a:rPr>
              <a:t/>
            </a:r>
          </a:p>
          <a:p>
            <a:pPr algn="l">
              <a:lnSpc>
                <a:spcPct val="112000"/>
              </a:lnSpc>
              <a:spcAft>
                <a:spcPts val="400"/>
              </a:spcAft>
            </a:pPr>
            <a:r>
              <a:rPr sz="1200" b="1" i="0">
                <a:solidFill>
                  <a:srgbClr val="37474F"/>
                </a:solidFill>
                <a:latin typeface="Calibri"/>
              </a:rPr>
              <a:t>Avec marge de sécurité :</a:t>
            </a:r>
          </a:p>
          <a:p>
            <a:pPr algn="l">
              <a:lnSpc>
                <a:spcPct val="112000"/>
              </a:lnSpc>
              <a:spcAft>
                <a:spcPts val="400"/>
              </a:spcAft>
            </a:pPr>
            <a:r>
              <a:rPr sz="1400" b="1" i="0">
                <a:solidFill>
                  <a:srgbClr val="1B5E20"/>
                </a:solidFill>
                <a:latin typeface="Calibri"/>
              </a:rPr>
              <a:t>→ Chaudière à granulés de 12 kW</a:t>
            </a:r>
          </a:p>
        </p:txBody>
      </p:sp>
      <p:graphicFrame>
        <p:nvGraphicFramePr>
          <p:cNvPr id="15" name="Table 14"/>
          <p:cNvGraphicFramePr>
            <a:graphicFrameLocks noGrp="1"/>
          </p:cNvGraphicFramePr>
          <p:nvPr/>
        </p:nvGraphicFramePr>
        <p:xfrm>
          <a:off x="822960" y="4069080"/>
          <a:ext cx="5212080" cy="1920240"/>
        </p:xfrm>
        <a:graphic>
          <a:graphicData uri="http://schemas.openxmlformats.org/drawingml/2006/table">
            <a:tbl>
              <a:tblPr>
                <a:tableStyleId>{5C22544A-7EE6-4342-B048-85BDC9FD1C3A}</a:tableStyleId>
              </a:tblPr>
              <a:tblGrid>
                <a:gridCol w="2926080"/>
                <a:gridCol w="2286000"/>
              </a:tblGrid>
              <a:tr h="384048">
                <a:tc>
                  <a:txBody>
                    <a:bodyPr wrap="square"/>
                    <a:lstStyle/>
                    <a:p>
                      <a:pPr algn="l"/>
                      <a:r>
                        <a:rPr sz="1200" b="1">
                          <a:solidFill>
                            <a:srgbClr val="FFFFFF"/>
                          </a:solidFill>
                          <a:latin typeface="Calibri"/>
                        </a:rPr>
                        <a:t>Combustible granulés</a:t>
                      </a:r>
                    </a:p>
                  </a:txBody>
                  <a:tcPr marL="88900" marR="88900" marT="25400" marB="25400" anchor="ctr">
                    <a:solidFill>
                      <a:srgbClr val="1B5E20"/>
                    </a:solidFill>
                  </a:tcPr>
                </a:tc>
                <a:tc>
                  <a:txBody>
                    <a:bodyPr wrap="square"/>
                    <a:lstStyle/>
                    <a:p>
                      <a:pPr algn="ctr"/>
                      <a:r>
                        <a:rPr sz="1200" b="1">
                          <a:solidFill>
                            <a:srgbClr val="FFFFFF"/>
                          </a:solidFill>
                          <a:latin typeface="Calibri"/>
                        </a:rPr>
                        <a:t>Valeur</a:t>
                      </a:r>
                    </a:p>
                  </a:txBody>
                  <a:tcPr marL="88900" marR="88900" marT="25400" marB="25400" anchor="ctr">
                    <a:solidFill>
                      <a:srgbClr val="1B5E20"/>
                    </a:solidFill>
                  </a:tcPr>
                </a:tc>
              </a:tr>
              <a:tr h="384048">
                <a:tc>
                  <a:txBody>
                    <a:bodyPr wrap="square"/>
                    <a:lstStyle/>
                    <a:p>
                      <a:pPr algn="l"/>
                      <a:r>
                        <a:rPr sz="1100" b="0">
                          <a:solidFill>
                            <a:srgbClr val="37474F"/>
                          </a:solidFill>
                          <a:latin typeface="Calibri"/>
                        </a:rPr>
                        <a:t>Besoin après travaux</a:t>
                      </a:r>
                    </a:p>
                  </a:txBody>
                  <a:tcPr marL="88900" marR="88900" marT="25400" marB="25400" anchor="ctr">
                    <a:solidFill>
                      <a:srgbClr val="FFFFFF"/>
                    </a:solidFill>
                  </a:tcPr>
                </a:tc>
                <a:tc>
                  <a:txBody>
                    <a:bodyPr wrap="square"/>
                    <a:lstStyle/>
                    <a:p>
                      <a:pPr algn="ctr"/>
                      <a:r>
                        <a:rPr sz="1100" b="0">
                          <a:solidFill>
                            <a:srgbClr val="37474F"/>
                          </a:solidFill>
                          <a:latin typeface="Calibri"/>
                        </a:rPr>
                        <a:t>7 020 kWh/an</a:t>
                      </a:r>
                    </a:p>
                  </a:txBody>
                  <a:tcPr marL="88900" marR="88900" marT="25400" marB="25400" anchor="ctr">
                    <a:solidFill>
                      <a:srgbClr val="FFFFFF"/>
                    </a:solidFill>
                  </a:tcPr>
                </a:tc>
              </a:tr>
              <a:tr h="384048">
                <a:tc>
                  <a:txBody>
                    <a:bodyPr wrap="square"/>
                    <a:lstStyle/>
                    <a:p>
                      <a:pPr algn="l"/>
                      <a:r>
                        <a:rPr sz="1100" b="0">
                          <a:solidFill>
                            <a:srgbClr val="37474F"/>
                          </a:solidFill>
                          <a:latin typeface="Calibri"/>
                        </a:rPr>
                        <a:t>PCI granulés</a:t>
                      </a:r>
                    </a:p>
                  </a:txBody>
                  <a:tcPr marL="88900" marR="88900" marT="25400" marB="25400" anchor="ctr">
                    <a:solidFill>
                      <a:srgbClr val="E8F5E9"/>
                    </a:solidFill>
                  </a:tcPr>
                </a:tc>
                <a:tc>
                  <a:txBody>
                    <a:bodyPr wrap="square"/>
                    <a:lstStyle/>
                    <a:p>
                      <a:pPr algn="ctr"/>
                      <a:r>
                        <a:rPr sz="1100" b="0">
                          <a:solidFill>
                            <a:srgbClr val="37474F"/>
                          </a:solidFill>
                          <a:latin typeface="Calibri"/>
                        </a:rPr>
                        <a:t>4,8 kWh/kg</a:t>
                      </a:r>
                    </a:p>
                  </a:txBody>
                  <a:tcPr marL="88900" marR="88900" marT="25400" marB="25400" anchor="ctr">
                    <a:solidFill>
                      <a:srgbClr val="E8F5E9"/>
                    </a:solidFill>
                  </a:tcPr>
                </a:tc>
              </a:tr>
              <a:tr h="384048">
                <a:tc>
                  <a:txBody>
                    <a:bodyPr wrap="square"/>
                    <a:lstStyle/>
                    <a:p>
                      <a:pPr algn="l"/>
                      <a:r>
                        <a:rPr sz="1100" b="0">
                          <a:solidFill>
                            <a:srgbClr val="37474F"/>
                          </a:solidFill>
                          <a:latin typeface="Calibri"/>
                        </a:rPr>
                        <a:t>Conso annuelle</a:t>
                      </a:r>
                    </a:p>
                  </a:txBody>
                  <a:tcPr marL="88900" marR="88900" marT="25400" marB="25400" anchor="ctr">
                    <a:solidFill>
                      <a:srgbClr val="FFFFFF"/>
                    </a:solidFill>
                  </a:tcPr>
                </a:tc>
                <a:tc>
                  <a:txBody>
                    <a:bodyPr wrap="square"/>
                    <a:lstStyle/>
                    <a:p>
                      <a:pPr algn="ctr"/>
                      <a:r>
                        <a:rPr sz="1100" b="0">
                          <a:solidFill>
                            <a:srgbClr val="37474F"/>
                          </a:solidFill>
                          <a:latin typeface="Calibri"/>
                        </a:rPr>
                        <a:t>≈ 1,5 t/an</a:t>
                      </a:r>
                    </a:p>
                  </a:txBody>
                  <a:tcPr marL="88900" marR="88900" marT="25400" marB="25400" anchor="ctr">
                    <a:solidFill>
                      <a:srgbClr val="FFFFFF"/>
                    </a:solidFill>
                  </a:tcPr>
                </a:tc>
              </a:tr>
              <a:tr h="384048">
                <a:tc>
                  <a:txBody>
                    <a:bodyPr wrap="square"/>
                    <a:lstStyle/>
                    <a:p>
                      <a:pPr algn="l"/>
                      <a:r>
                        <a:rPr sz="1100" b="0">
                          <a:solidFill>
                            <a:srgbClr val="37474F"/>
                          </a:solidFill>
                          <a:latin typeface="Calibri"/>
                        </a:rPr>
                        <a:t>Silo retenu</a:t>
                      </a:r>
                    </a:p>
                  </a:txBody>
                  <a:tcPr marL="88900" marR="88900" marT="25400" marB="25400" anchor="ctr">
                    <a:solidFill>
                      <a:srgbClr val="E8F5E9"/>
                    </a:solidFill>
                  </a:tcPr>
                </a:tc>
                <a:tc>
                  <a:txBody>
                    <a:bodyPr wrap="square"/>
                    <a:lstStyle/>
                    <a:p>
                      <a:pPr algn="ctr"/>
                      <a:r>
                        <a:rPr sz="1100" b="0">
                          <a:solidFill>
                            <a:srgbClr val="37474F"/>
                          </a:solidFill>
                          <a:latin typeface="Calibri"/>
                        </a:rPr>
                        <a:t>2 tonnes</a:t>
                      </a:r>
                    </a:p>
                  </a:txBody>
                  <a:tcPr marL="88900" marR="88900" marT="25400" marB="25400" anchor="ctr">
                    <a:solidFill>
                      <a:srgbClr val="E8F5E9"/>
                    </a:solidFill>
                  </a:tcPr>
                </a:tc>
              </a:tr>
            </a:tbl>
          </a:graphicData>
        </a:graphic>
      </p:graphicFrame>
      <p:graphicFrame>
        <p:nvGraphicFramePr>
          <p:cNvPr id="16" name="Table 15"/>
          <p:cNvGraphicFramePr>
            <a:graphicFrameLocks noGrp="1"/>
          </p:cNvGraphicFramePr>
          <p:nvPr/>
        </p:nvGraphicFramePr>
        <p:xfrm>
          <a:off x="6217920" y="4069080"/>
          <a:ext cx="5120640" cy="1920240"/>
        </p:xfrm>
        <a:graphic>
          <a:graphicData uri="http://schemas.openxmlformats.org/drawingml/2006/table">
            <a:tbl>
              <a:tblPr>
                <a:tableStyleId>{5C22544A-7EE6-4342-B048-85BDC9FD1C3A}</a:tableStyleId>
              </a:tblPr>
              <a:tblGrid>
                <a:gridCol w="3017520"/>
                <a:gridCol w="2103120"/>
              </a:tblGrid>
              <a:tr h="384048">
                <a:tc>
                  <a:txBody>
                    <a:bodyPr wrap="square"/>
                    <a:lstStyle/>
                    <a:p>
                      <a:pPr algn="l"/>
                      <a:r>
                        <a:rPr sz="1200" b="1">
                          <a:solidFill>
                            <a:srgbClr val="FFFFFF"/>
                          </a:solidFill>
                          <a:latin typeface="Calibri"/>
                        </a:rPr>
                        <a:t>VMC Hygro B — débits</a:t>
                      </a:r>
                    </a:p>
                  </a:txBody>
                  <a:tcPr marL="88900" marR="88900" marT="25400" marB="25400" anchor="ctr">
                    <a:solidFill>
                      <a:srgbClr val="1B5E20"/>
                    </a:solidFill>
                  </a:tcPr>
                </a:tc>
                <a:tc>
                  <a:txBody>
                    <a:bodyPr wrap="square"/>
                    <a:lstStyle/>
                    <a:p>
                      <a:pPr algn="ctr"/>
                      <a:r>
                        <a:rPr sz="1200" b="1">
                          <a:solidFill>
                            <a:srgbClr val="FFFFFF"/>
                          </a:solidFill>
                          <a:latin typeface="Calibri"/>
                        </a:rPr>
                        <a:t>m³/h</a:t>
                      </a:r>
                    </a:p>
                  </a:txBody>
                  <a:tcPr marL="88900" marR="88900" marT="25400" marB="25400" anchor="ctr">
                    <a:solidFill>
                      <a:srgbClr val="1B5E20"/>
                    </a:solidFill>
                  </a:tcPr>
                </a:tc>
              </a:tr>
              <a:tr h="384048">
                <a:tc>
                  <a:txBody>
                    <a:bodyPr wrap="square"/>
                    <a:lstStyle/>
                    <a:p>
                      <a:pPr algn="l"/>
                      <a:r>
                        <a:rPr sz="1100" b="0">
                          <a:solidFill>
                            <a:srgbClr val="37474F"/>
                          </a:solidFill>
                          <a:latin typeface="Calibri"/>
                        </a:rPr>
                        <a:t>Cuisine</a:t>
                      </a:r>
                    </a:p>
                  </a:txBody>
                  <a:tcPr marL="88900" marR="88900" marT="25400" marB="25400" anchor="ctr">
                    <a:solidFill>
                      <a:srgbClr val="FFFFFF"/>
                    </a:solidFill>
                  </a:tcPr>
                </a:tc>
                <a:tc>
                  <a:txBody>
                    <a:bodyPr wrap="square"/>
                    <a:lstStyle/>
                    <a:p>
                      <a:pPr algn="ctr"/>
                      <a:r>
                        <a:rPr sz="1100" b="0">
                          <a:solidFill>
                            <a:srgbClr val="37474F"/>
                          </a:solidFill>
                          <a:latin typeface="Calibri"/>
                        </a:rPr>
                        <a:t>45 à 135</a:t>
                      </a:r>
                    </a:p>
                  </a:txBody>
                  <a:tcPr marL="88900" marR="88900" marT="25400" marB="25400" anchor="ctr">
                    <a:solidFill>
                      <a:srgbClr val="FFFFFF"/>
                    </a:solidFill>
                  </a:tcPr>
                </a:tc>
              </a:tr>
              <a:tr h="384048">
                <a:tc>
                  <a:txBody>
                    <a:bodyPr wrap="square"/>
                    <a:lstStyle/>
                    <a:p>
                      <a:pPr algn="l"/>
                      <a:r>
                        <a:rPr sz="1100" b="0">
                          <a:solidFill>
                            <a:srgbClr val="37474F"/>
                          </a:solidFill>
                          <a:latin typeface="Calibri"/>
                        </a:rPr>
                        <a:t>Salle de bain</a:t>
                      </a:r>
                    </a:p>
                  </a:txBody>
                  <a:tcPr marL="88900" marR="88900" marT="25400" marB="25400" anchor="ctr">
                    <a:solidFill>
                      <a:srgbClr val="E8F5E9"/>
                    </a:solidFill>
                  </a:tcPr>
                </a:tc>
                <a:tc>
                  <a:txBody>
                    <a:bodyPr wrap="square"/>
                    <a:lstStyle/>
                    <a:p>
                      <a:pPr algn="ctr"/>
                      <a:r>
                        <a:rPr sz="1100" b="0">
                          <a:solidFill>
                            <a:srgbClr val="37474F"/>
                          </a:solidFill>
                          <a:latin typeface="Calibri"/>
                        </a:rPr>
                        <a:t>30</a:t>
                      </a:r>
                    </a:p>
                  </a:txBody>
                  <a:tcPr marL="88900" marR="88900" marT="25400" marB="25400" anchor="ctr">
                    <a:solidFill>
                      <a:srgbClr val="E8F5E9"/>
                    </a:solidFill>
                  </a:tcPr>
                </a:tc>
              </a:tr>
              <a:tr h="384048">
                <a:tc>
                  <a:txBody>
                    <a:bodyPr wrap="square"/>
                    <a:lstStyle/>
                    <a:p>
                      <a:pPr algn="l"/>
                      <a:r>
                        <a:rPr sz="1100" b="0">
                          <a:solidFill>
                            <a:srgbClr val="37474F"/>
                          </a:solidFill>
                          <a:latin typeface="Calibri"/>
                        </a:rPr>
                        <a:t>WC</a:t>
                      </a:r>
                    </a:p>
                  </a:txBody>
                  <a:tcPr marL="88900" marR="88900" marT="25400" marB="25400" anchor="ctr">
                    <a:solidFill>
                      <a:srgbClr val="FFFFFF"/>
                    </a:solidFill>
                  </a:tcPr>
                </a:tc>
                <a:tc>
                  <a:txBody>
                    <a:bodyPr wrap="square"/>
                    <a:lstStyle/>
                    <a:p>
                      <a:pPr algn="ctr"/>
                      <a:r>
                        <a:rPr sz="1100" b="0">
                          <a:solidFill>
                            <a:srgbClr val="37474F"/>
                          </a:solidFill>
                          <a:latin typeface="Calibri"/>
                        </a:rPr>
                        <a:t>15</a:t>
                      </a:r>
                    </a:p>
                  </a:txBody>
                  <a:tcPr marL="88900" marR="88900" marT="25400" marB="25400" anchor="ctr">
                    <a:solidFill>
                      <a:srgbClr val="FFFFFF"/>
                    </a:solidFill>
                  </a:tcPr>
                </a:tc>
              </a:tr>
              <a:tr h="384048">
                <a:tc>
                  <a:txBody>
                    <a:bodyPr wrap="square"/>
                    <a:lstStyle/>
                    <a:p>
                      <a:pPr algn="l"/>
                      <a:r>
                        <a:rPr sz="1100" b="0">
                          <a:solidFill>
                            <a:srgbClr val="37474F"/>
                          </a:solidFill>
                          <a:latin typeface="Calibri"/>
                        </a:rPr>
                        <a:t>Total maximal</a:t>
                      </a:r>
                    </a:p>
                  </a:txBody>
                  <a:tcPr marL="88900" marR="88900" marT="25400" marB="25400" anchor="ctr">
                    <a:solidFill>
                      <a:srgbClr val="E8F5E9"/>
                    </a:solidFill>
                  </a:tcPr>
                </a:tc>
                <a:tc>
                  <a:txBody>
                    <a:bodyPr wrap="square"/>
                    <a:lstStyle/>
                    <a:p>
                      <a:pPr algn="ctr"/>
                      <a:r>
                        <a:rPr sz="1100" b="0">
                          <a:solidFill>
                            <a:srgbClr val="37474F"/>
                          </a:solidFill>
                          <a:latin typeface="Calibri"/>
                        </a:rPr>
                        <a:t>180</a:t>
                      </a:r>
                    </a:p>
                  </a:txBody>
                  <a:tcPr marL="88900" marR="88900" marT="25400" marB="25400" anchor="ctr">
                    <a:solidFill>
                      <a:srgbClr val="E8F5E9"/>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6</a:t>
            </a:r>
          </a:p>
        </p:txBody>
      </p:sp>
      <p:sp>
        <p:nvSpPr>
          <p:cNvPr id="6" name="TextBox 5"/>
          <p:cNvSpPr txBox="1"/>
          <p:nvPr/>
        </p:nvSpPr>
        <p:spPr>
          <a:xfrm>
            <a:off x="1325880" y="365760"/>
            <a:ext cx="10332720" cy="777240"/>
          </a:xfrm>
          <a:prstGeom prst="rect">
            <a:avLst/>
          </a:prstGeom>
          <a:noFill/>
        </p:spPr>
        <p:txBody>
          <a:bodyPr wrap="square" anchor="ctr" lIns="25400" rIns="25400" tIns="25400" bIns="25400">
            <a:spAutoFit/>
          </a:bodyPr>
          <a:lstStyle/>
          <a:p>
            <a:pPr algn="l">
              <a:lnSpc>
                <a:spcPct val="100000"/>
              </a:lnSpc>
              <a:spcAft>
                <a:spcPts val="400"/>
              </a:spcAft>
            </a:pPr>
            <a:r>
              <a:rPr sz="3000" b="1" i="0">
                <a:solidFill>
                  <a:srgbClr val="1B5E20"/>
                </a:solidFill>
                <a:latin typeface="Calibri"/>
              </a:rPr>
              <a:t>Chiffrage des travaux</a:t>
            </a:r>
          </a:p>
        </p:txBody>
      </p:sp>
      <p:sp>
        <p:nvSpPr>
          <p:cNvPr id="7" name="TextBox 6"/>
          <p:cNvSpPr txBox="1"/>
          <p:nvPr/>
        </p:nvSpPr>
        <p:spPr>
          <a:xfrm>
            <a:off x="1325880" y="1078992"/>
            <a:ext cx="10332720" cy="365760"/>
          </a:xfrm>
          <a:prstGeom prst="rect">
            <a:avLst/>
          </a:prstGeom>
          <a:noFill/>
        </p:spPr>
        <p:txBody>
          <a:bodyPr wrap="square" anchor="t" lIns="25400" rIns="25400" tIns="25400" bIns="25400">
            <a:spAutoFit/>
          </a:bodyPr>
          <a:lstStyle/>
          <a:p>
            <a:pPr algn="l">
              <a:lnSpc>
                <a:spcPct val="100000"/>
              </a:lnSpc>
              <a:spcAft>
                <a:spcPts val="400"/>
              </a:spcAft>
            </a:pPr>
            <a:r>
              <a:rPr sz="1500" b="0" i="1">
                <a:solidFill>
                  <a:srgbClr val="90A4AE"/>
                </a:solidFill>
                <a:latin typeface="Calibri"/>
              </a:rPr>
              <a:t>Estimation HT par poste</a:t>
            </a:r>
          </a:p>
        </p:txBody>
      </p:sp>
      <p:sp>
        <p:nvSpPr>
          <p:cNvPr id="8" name="Rectangle 7"/>
          <p:cNvSpPr/>
          <p:nvPr/>
        </p:nvSpPr>
        <p:spPr>
          <a:xfrm>
            <a:off x="1325880" y="1188720"/>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46520"/>
            <a:ext cx="8229600" cy="320040"/>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Rénovation énergétique – Saint-Jean-de-Chevelu (73)</a:t>
            </a:r>
          </a:p>
        </p:txBody>
      </p:sp>
      <p:sp>
        <p:nvSpPr>
          <p:cNvPr id="10" name="TextBox 9"/>
          <p:cNvSpPr txBox="1"/>
          <p:nvPr/>
        </p:nvSpPr>
        <p:spPr>
          <a:xfrm>
            <a:off x="9418320" y="6446520"/>
            <a:ext cx="2286000" cy="320040"/>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TextBox 10"/>
          <p:cNvSpPr txBox="1"/>
          <p:nvPr/>
        </p:nvSpPr>
        <p:spPr>
          <a:xfrm>
            <a:off x="822960" y="1554480"/>
            <a:ext cx="5029200" cy="365760"/>
          </a:xfrm>
          <a:prstGeom prst="rect">
            <a:avLst/>
          </a:prstGeom>
          <a:noFill/>
        </p:spPr>
        <p:txBody>
          <a:bodyPr wrap="square" anchor="t" lIns="25400" rIns="25400" tIns="25400" bIns="25400">
            <a:spAutoFit/>
          </a:bodyPr>
          <a:lstStyle/>
          <a:p>
            <a:pPr algn="l">
              <a:lnSpc>
                <a:spcPct val="100000"/>
              </a:lnSpc>
              <a:spcAft>
                <a:spcPts val="400"/>
              </a:spcAft>
            </a:pPr>
            <a:r>
              <a:rPr sz="1600" b="1" i="0">
                <a:solidFill>
                  <a:srgbClr val="1565C0"/>
                </a:solidFill>
                <a:latin typeface="Calibri"/>
              </a:rPr>
              <a:t>Scénario 1 — 24 000 €</a:t>
            </a:r>
          </a:p>
        </p:txBody>
      </p:sp>
      <p:graphicFrame>
        <p:nvGraphicFramePr>
          <p:cNvPr id="12" name="Table 11"/>
          <p:cNvGraphicFramePr>
            <a:graphicFrameLocks noGrp="1"/>
          </p:cNvGraphicFramePr>
          <p:nvPr/>
        </p:nvGraphicFramePr>
        <p:xfrm>
          <a:off x="822960" y="1965960"/>
          <a:ext cx="5029200" cy="2743200"/>
        </p:xfrm>
        <a:graphic>
          <a:graphicData uri="http://schemas.openxmlformats.org/drawingml/2006/table">
            <a:tbl>
              <a:tblPr>
                <a:tableStyleId>{5C22544A-7EE6-4342-B048-85BDC9FD1C3A}</a:tableStyleId>
              </a:tblPr>
              <a:tblGrid>
                <a:gridCol w="3383280"/>
                <a:gridCol w="1645920"/>
              </a:tblGrid>
              <a:tr h="457200">
                <a:tc>
                  <a:txBody>
                    <a:bodyPr wrap="square"/>
                    <a:lstStyle/>
                    <a:p>
                      <a:pPr algn="l"/>
                      <a:r>
                        <a:rPr sz="1200" b="1">
                          <a:solidFill>
                            <a:srgbClr val="FFFFFF"/>
                          </a:solidFill>
                          <a:latin typeface="Calibri"/>
                        </a:rPr>
                        <a:t>Poste</a:t>
                      </a:r>
                    </a:p>
                  </a:txBody>
                  <a:tcPr marL="88900" marR="88900" marT="25400" marB="25400" anchor="ctr">
                    <a:solidFill>
                      <a:srgbClr val="1B5E20"/>
                    </a:solidFill>
                  </a:tcPr>
                </a:tc>
                <a:tc>
                  <a:txBody>
                    <a:bodyPr wrap="square"/>
                    <a:lstStyle/>
                    <a:p>
                      <a:pPr algn="ctr"/>
                      <a:r>
                        <a:rPr sz="1200" b="1">
                          <a:solidFill>
                            <a:srgbClr val="FFFFFF"/>
                          </a:solidFill>
                          <a:latin typeface="Calibri"/>
                        </a:rPr>
                        <a:t>Coût HT</a:t>
                      </a:r>
                    </a:p>
                  </a:txBody>
                  <a:tcPr marL="88900" marR="88900" marT="25400" marB="25400" anchor="ctr">
                    <a:solidFill>
                      <a:srgbClr val="1B5E20"/>
                    </a:solidFill>
                  </a:tcPr>
                </a:tc>
              </a:tr>
              <a:tr h="457200">
                <a:tc>
                  <a:txBody>
                    <a:bodyPr wrap="square"/>
                    <a:lstStyle/>
                    <a:p>
                      <a:pPr algn="l"/>
                      <a:r>
                        <a:rPr sz="1200" b="0">
                          <a:solidFill>
                            <a:srgbClr val="37474F"/>
                          </a:solidFill>
                          <a:latin typeface="Calibri"/>
                        </a:rPr>
                        <a:t>ITE laine de bois 200 mm</a:t>
                      </a:r>
                    </a:p>
                  </a:txBody>
                  <a:tcPr marL="88900" marR="88900" marT="25400" marB="25400" anchor="ctr">
                    <a:solidFill>
                      <a:srgbClr val="FFFFFF"/>
                    </a:solidFill>
                  </a:tcPr>
                </a:tc>
                <a:tc>
                  <a:txBody>
                    <a:bodyPr wrap="square"/>
                    <a:lstStyle/>
                    <a:p>
                      <a:pPr algn="ctr"/>
                      <a:r>
                        <a:rPr sz="1200" b="0">
                          <a:solidFill>
                            <a:srgbClr val="37474F"/>
                          </a:solidFill>
                          <a:latin typeface="Calibri"/>
                        </a:rPr>
                        <a:t>18 000 €</a:t>
                      </a:r>
                    </a:p>
                  </a:txBody>
                  <a:tcPr marL="88900" marR="88900" marT="25400" marB="25400" anchor="ctr">
                    <a:solidFill>
                      <a:srgbClr val="FFFFFF"/>
                    </a:solidFill>
                  </a:tcPr>
                </a:tc>
              </a:tr>
              <a:tr h="457200">
                <a:tc>
                  <a:txBody>
                    <a:bodyPr wrap="square"/>
                    <a:lstStyle/>
                    <a:p>
                      <a:pPr algn="l"/>
                      <a:r>
                        <a:rPr sz="1200" b="0">
                          <a:solidFill>
                            <a:srgbClr val="37474F"/>
                          </a:solidFill>
                          <a:latin typeface="Calibri"/>
                        </a:rPr>
                        <a:t>Isolation combles ouate 400 mm</a:t>
                      </a:r>
                    </a:p>
                  </a:txBody>
                  <a:tcPr marL="88900" marR="88900" marT="25400" marB="25400" anchor="ctr">
                    <a:solidFill>
                      <a:srgbClr val="E8F5E9"/>
                    </a:solidFill>
                  </a:tcPr>
                </a:tc>
                <a:tc>
                  <a:txBody>
                    <a:bodyPr wrap="square"/>
                    <a:lstStyle/>
                    <a:p>
                      <a:pPr algn="ctr"/>
                      <a:r>
                        <a:rPr sz="1200" b="0">
                          <a:solidFill>
                            <a:srgbClr val="37474F"/>
                          </a:solidFill>
                          <a:latin typeface="Calibri"/>
                        </a:rPr>
                        <a:t>2 500 €</a:t>
                      </a:r>
                    </a:p>
                  </a:txBody>
                  <a:tcPr marL="88900" marR="88900" marT="25400" marB="25400" anchor="ctr">
                    <a:solidFill>
                      <a:srgbClr val="E8F5E9"/>
                    </a:solidFill>
                  </a:tcPr>
                </a:tc>
              </a:tr>
              <a:tr h="457200">
                <a:tc>
                  <a:txBody>
                    <a:bodyPr wrap="square"/>
                    <a:lstStyle/>
                    <a:p>
                      <a:pPr algn="l"/>
                      <a:r>
                        <a:rPr sz="1200" b="0">
                          <a:solidFill>
                            <a:srgbClr val="37474F"/>
                          </a:solidFill>
                          <a:latin typeface="Calibri"/>
                        </a:rPr>
                        <a:t>VMC Hygro B</a:t>
                      </a:r>
                    </a:p>
                  </a:txBody>
                  <a:tcPr marL="88900" marR="88900" marT="25400" marB="25400" anchor="ctr">
                    <a:solidFill>
                      <a:srgbClr val="FFFFFF"/>
                    </a:solidFill>
                  </a:tcPr>
                </a:tc>
                <a:tc>
                  <a:txBody>
                    <a:bodyPr wrap="square"/>
                    <a:lstStyle/>
                    <a:p>
                      <a:pPr algn="ctr"/>
                      <a:r>
                        <a:rPr sz="1200" b="0">
                          <a:solidFill>
                            <a:srgbClr val="37474F"/>
                          </a:solidFill>
                          <a:latin typeface="Calibri"/>
                        </a:rPr>
                        <a:t>2 000 €</a:t>
                      </a:r>
                    </a:p>
                  </a:txBody>
                  <a:tcPr marL="88900" marR="88900" marT="25400" marB="25400" anchor="ctr">
                    <a:solidFill>
                      <a:srgbClr val="FFFFFF"/>
                    </a:solidFill>
                  </a:tcPr>
                </a:tc>
              </a:tr>
              <a:tr h="457200">
                <a:tc>
                  <a:txBody>
                    <a:bodyPr wrap="square"/>
                    <a:lstStyle/>
                    <a:p>
                      <a:pPr algn="l"/>
                      <a:r>
                        <a:rPr sz="1200" b="0">
                          <a:solidFill>
                            <a:srgbClr val="37474F"/>
                          </a:solidFill>
                          <a:latin typeface="Calibri"/>
                        </a:rPr>
                        <a:t>Divers et raccordements</a:t>
                      </a:r>
                    </a:p>
                  </a:txBody>
                  <a:tcPr marL="88900" marR="88900" marT="25400" marB="25400" anchor="ctr">
                    <a:solidFill>
                      <a:srgbClr val="E8F5E9"/>
                    </a:solidFill>
                  </a:tcPr>
                </a:tc>
                <a:tc>
                  <a:txBody>
                    <a:bodyPr wrap="square"/>
                    <a:lstStyle/>
                    <a:p>
                      <a:pPr algn="ctr"/>
                      <a:r>
                        <a:rPr sz="1200" b="0">
                          <a:solidFill>
                            <a:srgbClr val="37474F"/>
                          </a:solidFill>
                          <a:latin typeface="Calibri"/>
                        </a:rPr>
                        <a:t>1 500 €</a:t>
                      </a:r>
                    </a:p>
                  </a:txBody>
                  <a:tcPr marL="88900" marR="88900" marT="25400" marB="25400" anchor="ctr">
                    <a:solidFill>
                      <a:srgbClr val="E8F5E9"/>
                    </a:solidFill>
                  </a:tcPr>
                </a:tc>
              </a:tr>
              <a:tr h="457200">
                <a:tc>
                  <a:txBody>
                    <a:bodyPr wrap="square"/>
                    <a:lstStyle/>
                    <a:p>
                      <a:pPr algn="l"/>
                      <a:r>
                        <a:rPr sz="1200" b="0">
                          <a:solidFill>
                            <a:srgbClr val="37474F"/>
                          </a:solidFill>
                          <a:latin typeface="Calibri"/>
                        </a:rPr>
                        <a:t>Total</a:t>
                      </a:r>
                    </a:p>
                  </a:txBody>
                  <a:tcPr marL="88900" marR="88900" marT="25400" marB="25400" anchor="ctr">
                    <a:solidFill>
                      <a:srgbClr val="FFFFFF"/>
                    </a:solidFill>
                  </a:tcPr>
                </a:tc>
                <a:tc>
                  <a:txBody>
                    <a:bodyPr wrap="square"/>
                    <a:lstStyle/>
                    <a:p>
                      <a:pPr algn="ctr"/>
                      <a:r>
                        <a:rPr sz="1200" b="0">
                          <a:solidFill>
                            <a:srgbClr val="37474F"/>
                          </a:solidFill>
                          <a:latin typeface="Calibri"/>
                        </a:rPr>
                        <a:t>24 000 €</a:t>
                      </a:r>
                    </a:p>
                  </a:txBody>
                  <a:tcPr marL="88900" marR="88900" marT="25400" marB="25400" anchor="ctr">
                    <a:solidFill>
                      <a:srgbClr val="FFFFFF"/>
                    </a:solidFill>
                  </a:tcPr>
                </a:tc>
              </a:tr>
            </a:tbl>
          </a:graphicData>
        </a:graphic>
      </p:graphicFrame>
      <p:sp>
        <p:nvSpPr>
          <p:cNvPr id="13" name="TextBox 12"/>
          <p:cNvSpPr txBox="1"/>
          <p:nvPr/>
        </p:nvSpPr>
        <p:spPr>
          <a:xfrm>
            <a:off x="6217920" y="1554480"/>
            <a:ext cx="5029200" cy="365760"/>
          </a:xfrm>
          <a:prstGeom prst="rect">
            <a:avLst/>
          </a:prstGeom>
          <a:noFill/>
        </p:spPr>
        <p:txBody>
          <a:bodyPr wrap="square" anchor="t" lIns="25400" rIns="25400" tIns="25400" bIns="25400">
            <a:spAutoFit/>
          </a:bodyPr>
          <a:lstStyle/>
          <a:p>
            <a:pPr algn="l">
              <a:lnSpc>
                <a:spcPct val="100000"/>
              </a:lnSpc>
              <a:spcAft>
                <a:spcPts val="400"/>
              </a:spcAft>
            </a:pPr>
            <a:r>
              <a:rPr sz="1600" b="1" i="0">
                <a:solidFill>
                  <a:srgbClr val="1B5E20"/>
                </a:solidFill>
                <a:latin typeface="Calibri"/>
              </a:rPr>
              <a:t>Scénario 2 — 40 000 €</a:t>
            </a:r>
          </a:p>
        </p:txBody>
      </p:sp>
      <p:graphicFrame>
        <p:nvGraphicFramePr>
          <p:cNvPr id="14" name="Table 13"/>
          <p:cNvGraphicFramePr>
            <a:graphicFrameLocks noGrp="1"/>
          </p:cNvGraphicFramePr>
          <p:nvPr/>
        </p:nvGraphicFramePr>
        <p:xfrm>
          <a:off x="6217920" y="1965960"/>
          <a:ext cx="5120640" cy="3438144"/>
        </p:xfrm>
        <a:graphic>
          <a:graphicData uri="http://schemas.openxmlformats.org/drawingml/2006/table">
            <a:tbl>
              <a:tblPr>
                <a:tableStyleId>{5C22544A-7EE6-4342-B048-85BDC9FD1C3A}</a:tableStyleId>
              </a:tblPr>
              <a:tblGrid>
                <a:gridCol w="3474720"/>
                <a:gridCol w="1645920"/>
              </a:tblGrid>
              <a:tr h="429768">
                <a:tc>
                  <a:txBody>
                    <a:bodyPr wrap="square"/>
                    <a:lstStyle/>
                    <a:p>
                      <a:pPr algn="l"/>
                      <a:r>
                        <a:rPr sz="1200" b="1">
                          <a:solidFill>
                            <a:srgbClr val="FFFFFF"/>
                          </a:solidFill>
                          <a:latin typeface="Calibri"/>
                        </a:rPr>
                        <a:t>Poste</a:t>
                      </a:r>
                    </a:p>
                  </a:txBody>
                  <a:tcPr marL="88900" marR="88900" marT="25400" marB="25400" anchor="ctr">
                    <a:solidFill>
                      <a:srgbClr val="1B5E20"/>
                    </a:solidFill>
                  </a:tcPr>
                </a:tc>
                <a:tc>
                  <a:txBody>
                    <a:bodyPr wrap="square"/>
                    <a:lstStyle/>
                    <a:p>
                      <a:pPr algn="ctr"/>
                      <a:r>
                        <a:rPr sz="1200" b="1">
                          <a:solidFill>
                            <a:srgbClr val="FFFFFF"/>
                          </a:solidFill>
                          <a:latin typeface="Calibri"/>
                        </a:rPr>
                        <a:t>Coût HT</a:t>
                      </a:r>
                    </a:p>
                  </a:txBody>
                  <a:tcPr marL="88900" marR="88900" marT="25400" marB="25400" anchor="ctr">
                    <a:solidFill>
                      <a:srgbClr val="1B5E20"/>
                    </a:solidFill>
                  </a:tcPr>
                </a:tc>
              </a:tr>
              <a:tr h="429768">
                <a:tc>
                  <a:txBody>
                    <a:bodyPr wrap="square"/>
                    <a:lstStyle/>
                    <a:p>
                      <a:pPr algn="l"/>
                      <a:r>
                        <a:rPr sz="1150" b="0">
                          <a:solidFill>
                            <a:srgbClr val="37474F"/>
                          </a:solidFill>
                          <a:latin typeface="Calibri"/>
                        </a:rPr>
                        <a:t>ITE laine de bois 200 mm</a:t>
                      </a:r>
                    </a:p>
                  </a:txBody>
                  <a:tcPr marL="88900" marR="88900" marT="25400" marB="25400" anchor="ctr">
                    <a:solidFill>
                      <a:srgbClr val="FFFFFF"/>
                    </a:solidFill>
                  </a:tcPr>
                </a:tc>
                <a:tc>
                  <a:txBody>
                    <a:bodyPr wrap="square"/>
                    <a:lstStyle/>
                    <a:p>
                      <a:pPr algn="ctr"/>
                      <a:r>
                        <a:rPr sz="1150" b="0">
                          <a:solidFill>
                            <a:srgbClr val="37474F"/>
                          </a:solidFill>
                          <a:latin typeface="Calibri"/>
                        </a:rPr>
                        <a:t>18 000 €</a:t>
                      </a:r>
                    </a:p>
                  </a:txBody>
                  <a:tcPr marL="88900" marR="88900" marT="25400" marB="25400" anchor="ctr">
                    <a:solidFill>
                      <a:srgbClr val="FFFFFF"/>
                    </a:solidFill>
                  </a:tcPr>
                </a:tc>
              </a:tr>
              <a:tr h="429768">
                <a:tc>
                  <a:txBody>
                    <a:bodyPr wrap="square"/>
                    <a:lstStyle/>
                    <a:p>
                      <a:pPr algn="l"/>
                      <a:r>
                        <a:rPr sz="1150" b="0">
                          <a:solidFill>
                            <a:srgbClr val="37474F"/>
                          </a:solidFill>
                          <a:latin typeface="Calibri"/>
                        </a:rPr>
                        <a:t>Isolation combles ouate 400 mm</a:t>
                      </a:r>
                    </a:p>
                  </a:txBody>
                  <a:tcPr marL="88900" marR="88900" marT="25400" marB="25400" anchor="ctr">
                    <a:solidFill>
                      <a:srgbClr val="E8F5E9"/>
                    </a:solidFill>
                  </a:tcPr>
                </a:tc>
                <a:tc>
                  <a:txBody>
                    <a:bodyPr wrap="square"/>
                    <a:lstStyle/>
                    <a:p>
                      <a:pPr algn="ctr"/>
                      <a:r>
                        <a:rPr sz="1150" b="0">
                          <a:solidFill>
                            <a:srgbClr val="37474F"/>
                          </a:solidFill>
                          <a:latin typeface="Calibri"/>
                        </a:rPr>
                        <a:t>2 500 €</a:t>
                      </a:r>
                    </a:p>
                  </a:txBody>
                  <a:tcPr marL="88900" marR="88900" marT="25400" marB="25400" anchor="ctr">
                    <a:solidFill>
                      <a:srgbClr val="E8F5E9"/>
                    </a:solidFill>
                  </a:tcPr>
                </a:tc>
              </a:tr>
              <a:tr h="429768">
                <a:tc>
                  <a:txBody>
                    <a:bodyPr wrap="square"/>
                    <a:lstStyle/>
                    <a:p>
                      <a:pPr algn="l"/>
                      <a:r>
                        <a:rPr sz="1150" b="0">
                          <a:solidFill>
                            <a:srgbClr val="37474F"/>
                          </a:solidFill>
                          <a:latin typeface="Calibri"/>
                        </a:rPr>
                        <a:t>VMC Hygro B</a:t>
                      </a:r>
                    </a:p>
                  </a:txBody>
                  <a:tcPr marL="88900" marR="88900" marT="25400" marB="25400" anchor="ctr">
                    <a:solidFill>
                      <a:srgbClr val="FFFFFF"/>
                    </a:solidFill>
                  </a:tcPr>
                </a:tc>
                <a:tc>
                  <a:txBody>
                    <a:bodyPr wrap="square"/>
                    <a:lstStyle/>
                    <a:p>
                      <a:pPr algn="ctr"/>
                      <a:r>
                        <a:rPr sz="1150" b="0">
                          <a:solidFill>
                            <a:srgbClr val="37474F"/>
                          </a:solidFill>
                          <a:latin typeface="Calibri"/>
                        </a:rPr>
                        <a:t>2 000 €</a:t>
                      </a:r>
                    </a:p>
                  </a:txBody>
                  <a:tcPr marL="88900" marR="88900" marT="25400" marB="25400" anchor="ctr">
                    <a:solidFill>
                      <a:srgbClr val="FFFFFF"/>
                    </a:solidFill>
                  </a:tcPr>
                </a:tc>
              </a:tr>
              <a:tr h="429768">
                <a:tc>
                  <a:txBody>
                    <a:bodyPr wrap="square"/>
                    <a:lstStyle/>
                    <a:p>
                      <a:pPr algn="l"/>
                      <a:r>
                        <a:rPr sz="1150" b="0">
                          <a:solidFill>
                            <a:srgbClr val="37474F"/>
                          </a:solidFill>
                          <a:latin typeface="Calibri"/>
                        </a:rPr>
                        <a:t>Chaudière à granulés 12 kW</a:t>
                      </a:r>
                    </a:p>
                  </a:txBody>
                  <a:tcPr marL="88900" marR="88900" marT="25400" marB="25400" anchor="ctr">
                    <a:solidFill>
                      <a:srgbClr val="E8F5E9"/>
                    </a:solidFill>
                  </a:tcPr>
                </a:tc>
                <a:tc>
                  <a:txBody>
                    <a:bodyPr wrap="square"/>
                    <a:lstStyle/>
                    <a:p>
                      <a:pPr algn="ctr"/>
                      <a:r>
                        <a:rPr sz="1150" b="0">
                          <a:solidFill>
                            <a:srgbClr val="37474F"/>
                          </a:solidFill>
                          <a:latin typeface="Calibri"/>
                        </a:rPr>
                        <a:t>13 000 €</a:t>
                      </a:r>
                    </a:p>
                  </a:txBody>
                  <a:tcPr marL="88900" marR="88900" marT="25400" marB="25400" anchor="ctr">
                    <a:solidFill>
                      <a:srgbClr val="E8F5E9"/>
                    </a:solidFill>
                  </a:tcPr>
                </a:tc>
              </a:tr>
              <a:tr h="429768">
                <a:tc>
                  <a:txBody>
                    <a:bodyPr wrap="square"/>
                    <a:lstStyle/>
                    <a:p>
                      <a:pPr algn="l"/>
                      <a:r>
                        <a:rPr sz="1150" b="0">
                          <a:solidFill>
                            <a:srgbClr val="37474F"/>
                          </a:solidFill>
                          <a:latin typeface="Calibri"/>
                        </a:rPr>
                        <a:t>Silo de stockage</a:t>
                      </a:r>
                    </a:p>
                  </a:txBody>
                  <a:tcPr marL="88900" marR="88900" marT="25400" marB="25400" anchor="ctr">
                    <a:solidFill>
                      <a:srgbClr val="FFFFFF"/>
                    </a:solidFill>
                  </a:tcPr>
                </a:tc>
                <a:tc>
                  <a:txBody>
                    <a:bodyPr wrap="square"/>
                    <a:lstStyle/>
                    <a:p>
                      <a:pPr algn="ctr"/>
                      <a:r>
                        <a:rPr sz="1150" b="0">
                          <a:solidFill>
                            <a:srgbClr val="37474F"/>
                          </a:solidFill>
                          <a:latin typeface="Calibri"/>
                        </a:rPr>
                        <a:t>2 500 €</a:t>
                      </a:r>
                    </a:p>
                  </a:txBody>
                  <a:tcPr marL="88900" marR="88900" marT="25400" marB="25400" anchor="ctr">
                    <a:solidFill>
                      <a:srgbClr val="FFFFFF"/>
                    </a:solidFill>
                  </a:tcPr>
                </a:tc>
              </a:tr>
              <a:tr h="429768">
                <a:tc>
                  <a:txBody>
                    <a:bodyPr wrap="square"/>
                    <a:lstStyle/>
                    <a:p>
                      <a:pPr algn="l"/>
                      <a:r>
                        <a:rPr sz="1150" b="0">
                          <a:solidFill>
                            <a:srgbClr val="37474F"/>
                          </a:solidFill>
                          <a:latin typeface="Calibri"/>
                        </a:rPr>
                        <a:t>Divers et raccordements</a:t>
                      </a:r>
                    </a:p>
                  </a:txBody>
                  <a:tcPr marL="88900" marR="88900" marT="25400" marB="25400" anchor="ctr">
                    <a:solidFill>
                      <a:srgbClr val="E8F5E9"/>
                    </a:solidFill>
                  </a:tcPr>
                </a:tc>
                <a:tc>
                  <a:txBody>
                    <a:bodyPr wrap="square"/>
                    <a:lstStyle/>
                    <a:p>
                      <a:pPr algn="ctr"/>
                      <a:r>
                        <a:rPr sz="1150" b="0">
                          <a:solidFill>
                            <a:srgbClr val="37474F"/>
                          </a:solidFill>
                          <a:latin typeface="Calibri"/>
                        </a:rPr>
                        <a:t>2 000 €</a:t>
                      </a:r>
                    </a:p>
                  </a:txBody>
                  <a:tcPr marL="88900" marR="88900" marT="25400" marB="25400" anchor="ctr">
                    <a:solidFill>
                      <a:srgbClr val="E8F5E9"/>
                    </a:solidFill>
                  </a:tcPr>
                </a:tc>
              </a:tr>
              <a:tr h="429768">
                <a:tc>
                  <a:txBody>
                    <a:bodyPr wrap="square"/>
                    <a:lstStyle/>
                    <a:p>
                      <a:pPr algn="l"/>
                      <a:r>
                        <a:rPr sz="1150" b="0">
                          <a:solidFill>
                            <a:srgbClr val="37474F"/>
                          </a:solidFill>
                          <a:latin typeface="Calibri"/>
                        </a:rPr>
                        <a:t>Total</a:t>
                      </a:r>
                    </a:p>
                  </a:txBody>
                  <a:tcPr marL="88900" marR="88900" marT="25400" marB="25400" anchor="ctr">
                    <a:solidFill>
                      <a:srgbClr val="FFFFFF"/>
                    </a:solidFill>
                  </a:tcPr>
                </a:tc>
                <a:tc>
                  <a:txBody>
                    <a:bodyPr wrap="square"/>
                    <a:lstStyle/>
                    <a:p>
                      <a:pPr algn="ctr"/>
                      <a:r>
                        <a:rPr sz="1150" b="0">
                          <a:solidFill>
                            <a:srgbClr val="37474F"/>
                          </a:solidFill>
                          <a:latin typeface="Calibri"/>
                        </a:rPr>
                        <a:t>40 000 €</a:t>
                      </a:r>
                    </a:p>
                  </a:txBody>
                  <a:tcPr marL="88900" marR="88900" marT="25400" marB="25400" anchor="ct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6</a:t>
            </a:r>
          </a:p>
        </p:txBody>
      </p:sp>
      <p:sp>
        <p:nvSpPr>
          <p:cNvPr id="6" name="TextBox 5"/>
          <p:cNvSpPr txBox="1"/>
          <p:nvPr/>
        </p:nvSpPr>
        <p:spPr>
          <a:xfrm>
            <a:off x="1325880" y="365760"/>
            <a:ext cx="10332720" cy="777240"/>
          </a:xfrm>
          <a:prstGeom prst="rect">
            <a:avLst/>
          </a:prstGeom>
          <a:noFill/>
        </p:spPr>
        <p:txBody>
          <a:bodyPr wrap="square" anchor="ctr" lIns="25400" rIns="25400" tIns="25400" bIns="25400">
            <a:spAutoFit/>
          </a:bodyPr>
          <a:lstStyle/>
          <a:p>
            <a:pPr algn="l">
              <a:lnSpc>
                <a:spcPct val="100000"/>
              </a:lnSpc>
              <a:spcAft>
                <a:spcPts val="400"/>
              </a:spcAft>
            </a:pPr>
            <a:r>
              <a:rPr sz="3000" b="1" i="0">
                <a:solidFill>
                  <a:srgbClr val="1B5E20"/>
                </a:solidFill>
                <a:latin typeface="Calibri"/>
              </a:rPr>
              <a:t>Plan de financement</a:t>
            </a:r>
          </a:p>
        </p:txBody>
      </p:sp>
      <p:sp>
        <p:nvSpPr>
          <p:cNvPr id="7" name="TextBox 6"/>
          <p:cNvSpPr txBox="1"/>
          <p:nvPr/>
        </p:nvSpPr>
        <p:spPr>
          <a:xfrm>
            <a:off x="1325880" y="1078992"/>
            <a:ext cx="10332720" cy="365760"/>
          </a:xfrm>
          <a:prstGeom prst="rect">
            <a:avLst/>
          </a:prstGeom>
          <a:noFill/>
        </p:spPr>
        <p:txBody>
          <a:bodyPr wrap="square" anchor="t" lIns="25400" rIns="25400" tIns="25400" bIns="25400">
            <a:spAutoFit/>
          </a:bodyPr>
          <a:lstStyle/>
          <a:p>
            <a:pPr algn="l">
              <a:lnSpc>
                <a:spcPct val="100000"/>
              </a:lnSpc>
              <a:spcAft>
                <a:spcPts val="400"/>
              </a:spcAft>
            </a:pPr>
            <a:r>
              <a:rPr sz="1500" b="0" i="1">
                <a:solidFill>
                  <a:srgbClr val="90A4AE"/>
                </a:solidFill>
                <a:latin typeface="Calibri"/>
              </a:rPr>
              <a:t>Reste à charge après aides</a:t>
            </a:r>
          </a:p>
        </p:txBody>
      </p:sp>
      <p:sp>
        <p:nvSpPr>
          <p:cNvPr id="8" name="Rectangle 7"/>
          <p:cNvSpPr/>
          <p:nvPr/>
        </p:nvSpPr>
        <p:spPr>
          <a:xfrm>
            <a:off x="1325880" y="1188720"/>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46520"/>
            <a:ext cx="8229600" cy="320040"/>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Rénovation énergétique – Saint-Jean-de-Chevelu (73)</a:t>
            </a:r>
          </a:p>
        </p:txBody>
      </p:sp>
      <p:sp>
        <p:nvSpPr>
          <p:cNvPr id="10" name="TextBox 9"/>
          <p:cNvSpPr txBox="1"/>
          <p:nvPr/>
        </p:nvSpPr>
        <p:spPr>
          <a:xfrm>
            <a:off x="9418320" y="6446520"/>
            <a:ext cx="2286000" cy="320040"/>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graphicFrame>
        <p:nvGraphicFramePr>
          <p:cNvPr id="11" name="Table 10"/>
          <p:cNvGraphicFramePr>
            <a:graphicFrameLocks noGrp="1"/>
          </p:cNvGraphicFramePr>
          <p:nvPr/>
        </p:nvGraphicFramePr>
        <p:xfrm>
          <a:off x="822960" y="1737360"/>
          <a:ext cx="5029200" cy="2514600"/>
        </p:xfrm>
        <a:graphic>
          <a:graphicData uri="http://schemas.openxmlformats.org/drawingml/2006/table">
            <a:tbl>
              <a:tblPr>
                <a:tableStyleId>{5C22544A-7EE6-4342-B048-85BDC9FD1C3A}</a:tableStyleId>
              </a:tblPr>
              <a:tblGrid>
                <a:gridCol w="3200400"/>
                <a:gridCol w="1828800"/>
              </a:tblGrid>
              <a:tr h="502920">
                <a:tc>
                  <a:txBody>
                    <a:bodyPr wrap="square"/>
                    <a:lstStyle/>
                    <a:p>
                      <a:pPr algn="l"/>
                      <a:r>
                        <a:rPr sz="1300" b="1">
                          <a:solidFill>
                            <a:srgbClr val="FFFFFF"/>
                          </a:solidFill>
                          <a:latin typeface="Calibri"/>
                        </a:rPr>
                        <a:t>Scénario 1</a:t>
                      </a:r>
                    </a:p>
                  </a:txBody>
                  <a:tcPr marL="88900" marR="88900" marT="25400" marB="25400" anchor="ctr">
                    <a:solidFill>
                      <a:srgbClr val="1B5E20"/>
                    </a:solidFill>
                  </a:tcPr>
                </a:tc>
                <a:tc>
                  <a:txBody>
                    <a:bodyPr wrap="square"/>
                    <a:lstStyle/>
                    <a:p>
                      <a:pPr algn="ctr"/>
                      <a:r>
                        <a:rPr sz="1300" b="1">
                          <a:solidFill>
                            <a:srgbClr val="FFFFFF"/>
                          </a:solidFill>
                          <a:latin typeface="Calibri"/>
                        </a:rPr>
                        <a:t>Montant</a:t>
                      </a:r>
                    </a:p>
                  </a:txBody>
                  <a:tcPr marL="88900" marR="88900" marT="25400" marB="25400" anchor="ctr">
                    <a:solidFill>
                      <a:srgbClr val="1B5E20"/>
                    </a:solidFill>
                  </a:tcPr>
                </a:tc>
              </a:tr>
              <a:tr h="502920">
                <a:tc>
                  <a:txBody>
                    <a:bodyPr wrap="square"/>
                    <a:lstStyle/>
                    <a:p>
                      <a:pPr algn="l"/>
                      <a:r>
                        <a:rPr sz="1200" b="0">
                          <a:solidFill>
                            <a:srgbClr val="37474F"/>
                          </a:solidFill>
                          <a:latin typeface="Calibri"/>
                        </a:rPr>
                        <a:t>Coût total des travaux</a:t>
                      </a:r>
                    </a:p>
                  </a:txBody>
                  <a:tcPr marL="88900" marR="88900" marT="25400" marB="25400" anchor="ctr">
                    <a:solidFill>
                      <a:srgbClr val="FFFFFF"/>
                    </a:solidFill>
                  </a:tcPr>
                </a:tc>
                <a:tc>
                  <a:txBody>
                    <a:bodyPr wrap="square"/>
                    <a:lstStyle/>
                    <a:p>
                      <a:pPr algn="ctr"/>
                      <a:r>
                        <a:rPr sz="1200" b="0">
                          <a:solidFill>
                            <a:srgbClr val="37474F"/>
                          </a:solidFill>
                          <a:latin typeface="Calibri"/>
                        </a:rPr>
                        <a:t>24 000 €</a:t>
                      </a:r>
                    </a:p>
                  </a:txBody>
                  <a:tcPr marL="88900" marR="88900" marT="25400" marB="25400" anchor="ctr">
                    <a:solidFill>
                      <a:srgbClr val="FFFFFF"/>
                    </a:solidFill>
                  </a:tcPr>
                </a:tc>
              </a:tr>
              <a:tr h="502920">
                <a:tc>
                  <a:txBody>
                    <a:bodyPr wrap="square"/>
                    <a:lstStyle/>
                    <a:p>
                      <a:pPr algn="l"/>
                      <a:r>
                        <a:rPr sz="1200" b="0">
                          <a:solidFill>
                            <a:srgbClr val="37474F"/>
                          </a:solidFill>
                          <a:latin typeface="Calibri"/>
                        </a:rPr>
                        <a:t>MaPrimeRénov’</a:t>
                      </a:r>
                    </a:p>
                  </a:txBody>
                  <a:tcPr marL="88900" marR="88900" marT="25400" marB="25400" anchor="ctr">
                    <a:solidFill>
                      <a:srgbClr val="E8F5E9"/>
                    </a:solidFill>
                  </a:tcPr>
                </a:tc>
                <a:tc>
                  <a:txBody>
                    <a:bodyPr wrap="square"/>
                    <a:lstStyle/>
                    <a:p>
                      <a:pPr algn="ctr"/>
                      <a:r>
                        <a:rPr sz="1200" b="0">
                          <a:solidFill>
                            <a:srgbClr val="37474F"/>
                          </a:solidFill>
                          <a:latin typeface="Calibri"/>
                        </a:rPr>
                        <a:t>− 5 000 €</a:t>
                      </a:r>
                    </a:p>
                  </a:txBody>
                  <a:tcPr marL="88900" marR="88900" marT="25400" marB="25400" anchor="ctr">
                    <a:solidFill>
                      <a:srgbClr val="E8F5E9"/>
                    </a:solidFill>
                  </a:tcPr>
                </a:tc>
              </a:tr>
              <a:tr h="502920">
                <a:tc>
                  <a:txBody>
                    <a:bodyPr wrap="square"/>
                    <a:lstStyle/>
                    <a:p>
                      <a:pPr algn="l"/>
                      <a:r>
                        <a:rPr sz="1200" b="0">
                          <a:solidFill>
                            <a:srgbClr val="37474F"/>
                          </a:solidFill>
                          <a:latin typeface="Calibri"/>
                        </a:rPr>
                        <a:t>CEE</a:t>
                      </a:r>
                    </a:p>
                  </a:txBody>
                  <a:tcPr marL="88900" marR="88900" marT="25400" marB="25400" anchor="ctr">
                    <a:solidFill>
                      <a:srgbClr val="FFFFFF"/>
                    </a:solidFill>
                  </a:tcPr>
                </a:tc>
                <a:tc>
                  <a:txBody>
                    <a:bodyPr wrap="square"/>
                    <a:lstStyle/>
                    <a:p>
                      <a:pPr algn="ctr"/>
                      <a:r>
                        <a:rPr sz="1200" b="0">
                          <a:solidFill>
                            <a:srgbClr val="37474F"/>
                          </a:solidFill>
                          <a:latin typeface="Calibri"/>
                        </a:rPr>
                        <a:t>− 2 000 €</a:t>
                      </a:r>
                    </a:p>
                  </a:txBody>
                  <a:tcPr marL="88900" marR="88900" marT="25400" marB="25400" anchor="ctr">
                    <a:solidFill>
                      <a:srgbClr val="FFFFFF"/>
                    </a:solidFill>
                  </a:tcPr>
                </a:tc>
              </a:tr>
              <a:tr h="502920">
                <a:tc>
                  <a:txBody>
                    <a:bodyPr wrap="square"/>
                    <a:lstStyle/>
                    <a:p>
                      <a:pPr algn="l"/>
                      <a:r>
                        <a:rPr sz="1200" b="0">
                          <a:solidFill>
                            <a:srgbClr val="37474F"/>
                          </a:solidFill>
                          <a:latin typeface="Calibri"/>
                        </a:rPr>
                        <a:t>Reste à charge</a:t>
                      </a:r>
                    </a:p>
                  </a:txBody>
                  <a:tcPr marL="88900" marR="88900" marT="25400" marB="25400" anchor="ctr">
                    <a:solidFill>
                      <a:srgbClr val="E8F5E9"/>
                    </a:solidFill>
                  </a:tcPr>
                </a:tc>
                <a:tc>
                  <a:txBody>
                    <a:bodyPr wrap="square"/>
                    <a:lstStyle/>
                    <a:p>
                      <a:pPr algn="ctr"/>
                      <a:r>
                        <a:rPr sz="1200" b="0">
                          <a:solidFill>
                            <a:srgbClr val="37474F"/>
                          </a:solidFill>
                          <a:latin typeface="Calibri"/>
                        </a:rPr>
                        <a:t>17 000 €</a:t>
                      </a:r>
                    </a:p>
                  </a:txBody>
                  <a:tcPr marL="88900" marR="88900" marT="25400" marB="25400" anchor="ctr">
                    <a:solidFill>
                      <a:srgbClr val="E8F5E9"/>
                    </a:solidFill>
                  </a:tcPr>
                </a:tc>
              </a:tr>
            </a:tbl>
          </a:graphicData>
        </a:graphic>
      </p:graphicFrame>
      <p:graphicFrame>
        <p:nvGraphicFramePr>
          <p:cNvPr id="12" name="Table 11"/>
          <p:cNvGraphicFramePr>
            <a:graphicFrameLocks noGrp="1"/>
          </p:cNvGraphicFramePr>
          <p:nvPr/>
        </p:nvGraphicFramePr>
        <p:xfrm>
          <a:off x="6217920" y="1737360"/>
          <a:ext cx="5029200" cy="2743200"/>
        </p:xfrm>
        <a:graphic>
          <a:graphicData uri="http://schemas.openxmlformats.org/drawingml/2006/table">
            <a:tbl>
              <a:tblPr>
                <a:tableStyleId>{5C22544A-7EE6-4342-B048-85BDC9FD1C3A}</a:tableStyleId>
              </a:tblPr>
              <a:tblGrid>
                <a:gridCol w="3200400"/>
                <a:gridCol w="1828800"/>
              </a:tblGrid>
              <a:tr h="457200">
                <a:tc>
                  <a:txBody>
                    <a:bodyPr wrap="square"/>
                    <a:lstStyle/>
                    <a:p>
                      <a:pPr algn="l"/>
                      <a:r>
                        <a:rPr sz="1300" b="1">
                          <a:solidFill>
                            <a:srgbClr val="FFFFFF"/>
                          </a:solidFill>
                          <a:latin typeface="Calibri"/>
                        </a:rPr>
                        <a:t>Scénario 2</a:t>
                      </a:r>
                    </a:p>
                  </a:txBody>
                  <a:tcPr marL="88900" marR="88900" marT="25400" marB="25400" anchor="ctr">
                    <a:solidFill>
                      <a:srgbClr val="1B5E20"/>
                    </a:solidFill>
                  </a:tcPr>
                </a:tc>
                <a:tc>
                  <a:txBody>
                    <a:bodyPr wrap="square"/>
                    <a:lstStyle/>
                    <a:p>
                      <a:pPr algn="ctr"/>
                      <a:r>
                        <a:rPr sz="1300" b="1">
                          <a:solidFill>
                            <a:srgbClr val="FFFFFF"/>
                          </a:solidFill>
                          <a:latin typeface="Calibri"/>
                        </a:rPr>
                        <a:t>Montant</a:t>
                      </a:r>
                    </a:p>
                  </a:txBody>
                  <a:tcPr marL="88900" marR="88900" marT="25400" marB="25400" anchor="ctr">
                    <a:solidFill>
                      <a:srgbClr val="1B5E20"/>
                    </a:solidFill>
                  </a:tcPr>
                </a:tc>
              </a:tr>
              <a:tr h="457200">
                <a:tc>
                  <a:txBody>
                    <a:bodyPr wrap="square"/>
                    <a:lstStyle/>
                    <a:p>
                      <a:pPr algn="l"/>
                      <a:r>
                        <a:rPr sz="1200" b="0">
                          <a:solidFill>
                            <a:srgbClr val="37474F"/>
                          </a:solidFill>
                          <a:latin typeface="Calibri"/>
                        </a:rPr>
                        <a:t>Coût total des travaux</a:t>
                      </a:r>
                    </a:p>
                  </a:txBody>
                  <a:tcPr marL="88900" marR="88900" marT="25400" marB="25400" anchor="ctr">
                    <a:solidFill>
                      <a:srgbClr val="FFFFFF"/>
                    </a:solidFill>
                  </a:tcPr>
                </a:tc>
                <a:tc>
                  <a:txBody>
                    <a:bodyPr wrap="square"/>
                    <a:lstStyle/>
                    <a:p>
                      <a:pPr algn="ctr"/>
                      <a:r>
                        <a:rPr sz="1200" b="0">
                          <a:solidFill>
                            <a:srgbClr val="37474F"/>
                          </a:solidFill>
                          <a:latin typeface="Calibri"/>
                        </a:rPr>
                        <a:t>40 000 €</a:t>
                      </a:r>
                    </a:p>
                  </a:txBody>
                  <a:tcPr marL="88900" marR="88900" marT="25400" marB="25400" anchor="ctr">
                    <a:solidFill>
                      <a:srgbClr val="FFFFFF"/>
                    </a:solidFill>
                  </a:tcPr>
                </a:tc>
              </a:tr>
              <a:tr h="457200">
                <a:tc>
                  <a:txBody>
                    <a:bodyPr wrap="square"/>
                    <a:lstStyle/>
                    <a:p>
                      <a:pPr algn="l"/>
                      <a:r>
                        <a:rPr sz="1200" b="0">
                          <a:solidFill>
                            <a:srgbClr val="37474F"/>
                          </a:solidFill>
                          <a:latin typeface="Calibri"/>
                        </a:rPr>
                        <a:t>MaPrimeRénov’</a:t>
                      </a:r>
                    </a:p>
                  </a:txBody>
                  <a:tcPr marL="88900" marR="88900" marT="25400" marB="25400" anchor="ctr">
                    <a:solidFill>
                      <a:srgbClr val="E8F5E9"/>
                    </a:solidFill>
                  </a:tcPr>
                </a:tc>
                <a:tc>
                  <a:txBody>
                    <a:bodyPr wrap="square"/>
                    <a:lstStyle/>
                    <a:p>
                      <a:pPr algn="ctr"/>
                      <a:r>
                        <a:rPr sz="1200" b="0">
                          <a:solidFill>
                            <a:srgbClr val="37474F"/>
                          </a:solidFill>
                          <a:latin typeface="Calibri"/>
                        </a:rPr>
                        <a:t>− 8 000 €</a:t>
                      </a:r>
                    </a:p>
                  </a:txBody>
                  <a:tcPr marL="88900" marR="88900" marT="25400" marB="25400" anchor="ctr">
                    <a:solidFill>
                      <a:srgbClr val="E8F5E9"/>
                    </a:solidFill>
                  </a:tcPr>
                </a:tc>
              </a:tr>
              <a:tr h="457200">
                <a:tc>
                  <a:txBody>
                    <a:bodyPr wrap="square"/>
                    <a:lstStyle/>
                    <a:p>
                      <a:pPr algn="l"/>
                      <a:r>
                        <a:rPr sz="1200" b="0">
                          <a:solidFill>
                            <a:srgbClr val="37474F"/>
                          </a:solidFill>
                          <a:latin typeface="Calibri"/>
                        </a:rPr>
                        <a:t>CEE</a:t>
                      </a:r>
                    </a:p>
                  </a:txBody>
                  <a:tcPr marL="88900" marR="88900" marT="25400" marB="25400" anchor="ctr">
                    <a:solidFill>
                      <a:srgbClr val="FFFFFF"/>
                    </a:solidFill>
                  </a:tcPr>
                </a:tc>
                <a:tc>
                  <a:txBody>
                    <a:bodyPr wrap="square"/>
                    <a:lstStyle/>
                    <a:p>
                      <a:pPr algn="ctr"/>
                      <a:r>
                        <a:rPr sz="1200" b="0">
                          <a:solidFill>
                            <a:srgbClr val="37474F"/>
                          </a:solidFill>
                          <a:latin typeface="Calibri"/>
                        </a:rPr>
                        <a:t>− 4 000 €</a:t>
                      </a:r>
                    </a:p>
                  </a:txBody>
                  <a:tcPr marL="88900" marR="88900" marT="25400" marB="25400" anchor="ctr">
                    <a:solidFill>
                      <a:srgbClr val="FFFFFF"/>
                    </a:solidFill>
                  </a:tcPr>
                </a:tc>
              </a:tr>
              <a:tr h="457200">
                <a:tc>
                  <a:txBody>
                    <a:bodyPr wrap="square"/>
                    <a:lstStyle/>
                    <a:p>
                      <a:pPr algn="l"/>
                      <a:r>
                        <a:rPr sz="1200" b="0">
                          <a:solidFill>
                            <a:srgbClr val="37474F"/>
                          </a:solidFill>
                          <a:latin typeface="Calibri"/>
                        </a:rPr>
                        <a:t>Aides locales</a:t>
                      </a:r>
                    </a:p>
                  </a:txBody>
                  <a:tcPr marL="88900" marR="88900" marT="25400" marB="25400" anchor="ctr">
                    <a:solidFill>
                      <a:srgbClr val="E8F5E9"/>
                    </a:solidFill>
                  </a:tcPr>
                </a:tc>
                <a:tc>
                  <a:txBody>
                    <a:bodyPr wrap="square"/>
                    <a:lstStyle/>
                    <a:p>
                      <a:pPr algn="ctr"/>
                      <a:r>
                        <a:rPr sz="1200" b="0">
                          <a:solidFill>
                            <a:srgbClr val="37474F"/>
                          </a:solidFill>
                          <a:latin typeface="Calibri"/>
                        </a:rPr>
                        <a:t>− 1 000 €</a:t>
                      </a:r>
                    </a:p>
                  </a:txBody>
                  <a:tcPr marL="88900" marR="88900" marT="25400" marB="25400" anchor="ctr">
                    <a:solidFill>
                      <a:srgbClr val="E8F5E9"/>
                    </a:solidFill>
                  </a:tcPr>
                </a:tc>
              </a:tr>
              <a:tr h="457200">
                <a:tc>
                  <a:txBody>
                    <a:bodyPr wrap="square"/>
                    <a:lstStyle/>
                    <a:p>
                      <a:pPr algn="l"/>
                      <a:r>
                        <a:rPr sz="1200" b="0">
                          <a:solidFill>
                            <a:srgbClr val="37474F"/>
                          </a:solidFill>
                          <a:latin typeface="Calibri"/>
                        </a:rPr>
                        <a:t>Reste à charge</a:t>
                      </a:r>
                    </a:p>
                  </a:txBody>
                  <a:tcPr marL="88900" marR="88900" marT="25400" marB="25400" anchor="ctr">
                    <a:solidFill>
                      <a:srgbClr val="FFFFFF"/>
                    </a:solidFill>
                  </a:tcPr>
                </a:tc>
                <a:tc>
                  <a:txBody>
                    <a:bodyPr wrap="square"/>
                    <a:lstStyle/>
                    <a:p>
                      <a:pPr algn="ctr"/>
                      <a:r>
                        <a:rPr sz="1200" b="0">
                          <a:solidFill>
                            <a:srgbClr val="37474F"/>
                          </a:solidFill>
                          <a:latin typeface="Calibri"/>
                        </a:rPr>
                        <a:t>27 000 €</a:t>
                      </a:r>
                    </a:p>
                  </a:txBody>
                  <a:tcPr marL="88900" marR="88900" marT="25400" marB="25400" anchor="ctr">
                    <a:solidFill>
                      <a:srgbClr val="FFFFFF"/>
                    </a:solidFill>
                  </a:tcPr>
                </a:tc>
              </a:tr>
            </a:tbl>
          </a:graphicData>
        </a:graphic>
      </p:graphicFrame>
      <p:sp>
        <p:nvSpPr>
          <p:cNvPr id="13" name="Rounded Rectangle 12"/>
          <p:cNvSpPr/>
          <p:nvPr/>
        </p:nvSpPr>
        <p:spPr>
          <a:xfrm>
            <a:off x="822960" y="5029200"/>
            <a:ext cx="10515600" cy="91440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5120640"/>
            <a:ext cx="10058400" cy="731520"/>
          </a:xfrm>
          <a:prstGeom prst="rect">
            <a:avLst/>
          </a:prstGeom>
          <a:noFill/>
        </p:spPr>
        <p:txBody>
          <a:bodyPr wrap="square" anchor="ctr" lIns="25400" rIns="25400" tIns="25400" bIns="25400">
            <a:spAutoFit/>
          </a:bodyPr>
          <a:lstStyle/>
          <a:p>
            <a:pPr algn="l">
              <a:lnSpc>
                <a:spcPct val="100000"/>
              </a:lnSpc>
              <a:spcAft>
                <a:spcPts val="400"/>
              </a:spcAft>
            </a:pPr>
            <a:r>
              <a:rPr sz="1400" b="0" i="0">
                <a:solidFill>
                  <a:srgbClr val="37474F"/>
                </a:solidFill>
                <a:latin typeface="Calibri"/>
              </a:rPr>
              <a:t>Les aides (MaPrimeRénov’, CEE, aides locales) réduisent fortement le reste à charge — et sont conditionnées au respect des critères techniques des travaux.</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6</a:t>
            </a:r>
          </a:p>
        </p:txBody>
      </p:sp>
      <p:sp>
        <p:nvSpPr>
          <p:cNvPr id="6" name="TextBox 5"/>
          <p:cNvSpPr txBox="1"/>
          <p:nvPr/>
        </p:nvSpPr>
        <p:spPr>
          <a:xfrm>
            <a:off x="1325880" y="365760"/>
            <a:ext cx="10332720" cy="777240"/>
          </a:xfrm>
          <a:prstGeom prst="rect">
            <a:avLst/>
          </a:prstGeom>
          <a:noFill/>
        </p:spPr>
        <p:txBody>
          <a:bodyPr wrap="square" anchor="ctr" lIns="25400" rIns="25400" tIns="25400" bIns="25400">
            <a:spAutoFit/>
          </a:bodyPr>
          <a:lstStyle/>
          <a:p>
            <a:pPr algn="l">
              <a:lnSpc>
                <a:spcPct val="100000"/>
              </a:lnSpc>
              <a:spcAft>
                <a:spcPts val="400"/>
              </a:spcAft>
            </a:pPr>
            <a:r>
              <a:rPr sz="3000" b="1" i="0">
                <a:solidFill>
                  <a:srgbClr val="1B5E20"/>
                </a:solidFill>
                <a:latin typeface="Calibri"/>
              </a:rPr>
              <a:t>Rentabilité : coût global sur 30 ans &amp; ROI</a:t>
            </a:r>
          </a:p>
        </p:txBody>
      </p:sp>
      <p:sp>
        <p:nvSpPr>
          <p:cNvPr id="7" name="Rectangle 6"/>
          <p:cNvSpPr/>
          <p:nvPr/>
        </p:nvSpPr>
        <p:spPr>
          <a:xfrm>
            <a:off x="1325880" y="1188720"/>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46520"/>
            <a:ext cx="8229600" cy="320040"/>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Rénovation énergétique – Saint-Jean-de-Chevelu (73)</a:t>
            </a:r>
          </a:p>
        </p:txBody>
      </p:sp>
      <p:sp>
        <p:nvSpPr>
          <p:cNvPr id="9" name="TextBox 8"/>
          <p:cNvSpPr txBox="1"/>
          <p:nvPr/>
        </p:nvSpPr>
        <p:spPr>
          <a:xfrm>
            <a:off x="9418320" y="6446520"/>
            <a:ext cx="2286000" cy="320040"/>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graphicFrame>
        <p:nvGraphicFramePr>
          <p:cNvPr id="10" name="Chart 9"/>
          <p:cNvGraphicFramePr>
            <a:graphicFrameLocks noGrp="1"/>
          </p:cNvGraphicFramePr>
          <p:nvPr/>
        </p:nvGraphicFramePr>
        <p:xfrm>
          <a:off x="822960" y="1600200"/>
          <a:ext cx="6035040" cy="3108960"/>
        </p:xfrm>
        <a:graphic>
          <a:graphicData uri="http://schemas.openxmlformats.org/drawingml/2006/chart">
            <c:chart xmlns:c="http://schemas.openxmlformats.org/drawingml/2006/chart" r:id="rId2"/>
          </a:graphicData>
        </a:graphic>
      </p:graphicFrame>
      <p:sp>
        <p:nvSpPr>
          <p:cNvPr id="11" name="TextBox 10"/>
          <p:cNvSpPr txBox="1"/>
          <p:nvPr/>
        </p:nvSpPr>
        <p:spPr>
          <a:xfrm>
            <a:off x="7223760" y="1554480"/>
            <a:ext cx="4114800" cy="365760"/>
          </a:xfrm>
          <a:prstGeom prst="rect">
            <a:avLst/>
          </a:prstGeom>
          <a:noFill/>
        </p:spPr>
        <p:txBody>
          <a:bodyPr wrap="square" anchor="t" lIns="25400" rIns="25400" tIns="25400" bIns="25400">
            <a:spAutoFit/>
          </a:bodyPr>
          <a:lstStyle/>
          <a:p>
            <a:pPr algn="l">
              <a:lnSpc>
                <a:spcPct val="100000"/>
              </a:lnSpc>
              <a:spcAft>
                <a:spcPts val="400"/>
              </a:spcAft>
            </a:pPr>
            <a:r>
              <a:rPr sz="1300" b="1" i="0">
                <a:solidFill>
                  <a:srgbClr val="1B5E20"/>
                </a:solidFill>
                <a:latin typeface="Calibri"/>
              </a:rPr>
              <a:t>Coûts &amp; retour sur investissement</a:t>
            </a:r>
          </a:p>
        </p:txBody>
      </p:sp>
      <p:graphicFrame>
        <p:nvGraphicFramePr>
          <p:cNvPr id="12" name="Table 11"/>
          <p:cNvGraphicFramePr>
            <a:graphicFrameLocks noGrp="1"/>
          </p:cNvGraphicFramePr>
          <p:nvPr/>
        </p:nvGraphicFramePr>
        <p:xfrm>
          <a:off x="7223760" y="2011680"/>
          <a:ext cx="4114800" cy="1719072"/>
        </p:xfrm>
        <a:graphic>
          <a:graphicData uri="http://schemas.openxmlformats.org/drawingml/2006/table">
            <a:tbl>
              <a:tblPr>
                <a:tableStyleId>{5C22544A-7EE6-4342-B048-85BDC9FD1C3A}</a:tableStyleId>
              </a:tblPr>
              <a:tblGrid>
                <a:gridCol w="1737360"/>
                <a:gridCol w="1188720"/>
                <a:gridCol w="1188720"/>
              </a:tblGrid>
              <a:tr h="429768">
                <a:tc>
                  <a:txBody>
                    <a:bodyPr wrap="square"/>
                    <a:lstStyle/>
                    <a:p>
                      <a:pPr algn="l"/>
                      <a:r>
                        <a:rPr sz="1150" b="1">
                          <a:solidFill>
                            <a:srgbClr val="FFFFFF"/>
                          </a:solidFill>
                          <a:latin typeface="Calibri"/>
                        </a:rPr>
                        <a:t>Situation</a:t>
                      </a:r>
                    </a:p>
                  </a:txBody>
                  <a:tcPr marL="88900" marR="88900" marT="25400" marB="25400" anchor="ctr">
                    <a:solidFill>
                      <a:srgbClr val="1B5E20"/>
                    </a:solidFill>
                  </a:tcPr>
                </a:tc>
                <a:tc>
                  <a:txBody>
                    <a:bodyPr wrap="square"/>
                    <a:lstStyle/>
                    <a:p>
                      <a:pPr algn="ctr"/>
                      <a:r>
                        <a:rPr sz="1150" b="1">
                          <a:solidFill>
                            <a:srgbClr val="FFFFFF"/>
                          </a:solidFill>
                          <a:latin typeface="Calibri"/>
                        </a:rPr>
                        <a:t>€/an</a:t>
                      </a:r>
                    </a:p>
                  </a:txBody>
                  <a:tcPr marL="88900" marR="88900" marT="25400" marB="25400" anchor="ctr">
                    <a:solidFill>
                      <a:srgbClr val="1B5E20"/>
                    </a:solidFill>
                  </a:tcPr>
                </a:tc>
                <a:tc>
                  <a:txBody>
                    <a:bodyPr wrap="square"/>
                    <a:lstStyle/>
                    <a:p>
                      <a:pPr algn="ctr"/>
                      <a:r>
                        <a:rPr sz="1150" b="1">
                          <a:solidFill>
                            <a:srgbClr val="FFFFFF"/>
                          </a:solidFill>
                          <a:latin typeface="Calibri"/>
                        </a:rPr>
                        <a:t>€/mois</a:t>
                      </a:r>
                    </a:p>
                  </a:txBody>
                  <a:tcPr marL="88900" marR="88900" marT="25400" marB="25400" anchor="ctr">
                    <a:solidFill>
                      <a:srgbClr val="1B5E20"/>
                    </a:solidFill>
                  </a:tcPr>
                </a:tc>
              </a:tr>
              <a:tr h="429768">
                <a:tc>
                  <a:txBody>
                    <a:bodyPr wrap="square"/>
                    <a:lstStyle/>
                    <a:p>
                      <a:pPr algn="l"/>
                      <a:r>
                        <a:rPr sz="1100" b="0">
                          <a:solidFill>
                            <a:srgbClr val="37474F"/>
                          </a:solidFill>
                          <a:latin typeface="Calibri"/>
                        </a:rPr>
                        <a:t>Avant travaux</a:t>
                      </a:r>
                    </a:p>
                  </a:txBody>
                  <a:tcPr marL="88900" marR="88900" marT="25400" marB="25400" anchor="ctr">
                    <a:solidFill>
                      <a:srgbClr val="FFFFFF"/>
                    </a:solidFill>
                  </a:tcPr>
                </a:tc>
                <a:tc>
                  <a:txBody>
                    <a:bodyPr wrap="square"/>
                    <a:lstStyle/>
                    <a:p>
                      <a:pPr algn="ctr"/>
                      <a:r>
                        <a:rPr sz="1100" b="0">
                          <a:solidFill>
                            <a:srgbClr val="37474F"/>
                          </a:solidFill>
                          <a:latin typeface="Calibri"/>
                        </a:rPr>
                        <a:t>8 355</a:t>
                      </a:r>
                    </a:p>
                  </a:txBody>
                  <a:tcPr marL="88900" marR="88900" marT="25400" marB="25400" anchor="ctr">
                    <a:solidFill>
                      <a:srgbClr val="FFFFFF"/>
                    </a:solidFill>
                  </a:tcPr>
                </a:tc>
                <a:tc>
                  <a:txBody>
                    <a:bodyPr wrap="square"/>
                    <a:lstStyle/>
                    <a:p>
                      <a:pPr algn="ctr"/>
                      <a:r>
                        <a:rPr sz="1100" b="0">
                          <a:solidFill>
                            <a:srgbClr val="37474F"/>
                          </a:solidFill>
                          <a:latin typeface="Calibri"/>
                        </a:rPr>
                        <a:t>696</a:t>
                      </a:r>
                    </a:p>
                  </a:txBody>
                  <a:tcPr marL="88900" marR="88900" marT="25400" marB="25400" anchor="ctr">
                    <a:solidFill>
                      <a:srgbClr val="FFFFFF"/>
                    </a:solidFill>
                  </a:tcPr>
                </a:tc>
              </a:tr>
              <a:tr h="429768">
                <a:tc>
                  <a:txBody>
                    <a:bodyPr wrap="square"/>
                    <a:lstStyle/>
                    <a:p>
                      <a:pPr algn="l"/>
                      <a:r>
                        <a:rPr sz="1100" b="0">
                          <a:solidFill>
                            <a:srgbClr val="37474F"/>
                          </a:solidFill>
                          <a:latin typeface="Calibri"/>
                        </a:rPr>
                        <a:t>Scénario 1</a:t>
                      </a:r>
                    </a:p>
                  </a:txBody>
                  <a:tcPr marL="88900" marR="88900" marT="25400" marB="25400" anchor="ctr">
                    <a:solidFill>
                      <a:srgbClr val="E8F5E9"/>
                    </a:solidFill>
                  </a:tcPr>
                </a:tc>
                <a:tc>
                  <a:txBody>
                    <a:bodyPr wrap="square"/>
                    <a:lstStyle/>
                    <a:p>
                      <a:pPr algn="ctr"/>
                      <a:r>
                        <a:rPr sz="1100" b="0">
                          <a:solidFill>
                            <a:srgbClr val="37474F"/>
                          </a:solidFill>
                          <a:latin typeface="Calibri"/>
                        </a:rPr>
                        <a:t>4 500</a:t>
                      </a:r>
                    </a:p>
                  </a:txBody>
                  <a:tcPr marL="88900" marR="88900" marT="25400" marB="25400" anchor="ctr">
                    <a:solidFill>
                      <a:srgbClr val="E8F5E9"/>
                    </a:solidFill>
                  </a:tcPr>
                </a:tc>
                <a:tc>
                  <a:txBody>
                    <a:bodyPr wrap="square"/>
                    <a:lstStyle/>
                    <a:p>
                      <a:pPr algn="ctr"/>
                      <a:r>
                        <a:rPr sz="1100" b="0">
                          <a:solidFill>
                            <a:srgbClr val="37474F"/>
                          </a:solidFill>
                          <a:latin typeface="Calibri"/>
                        </a:rPr>
                        <a:t>375</a:t>
                      </a:r>
                    </a:p>
                  </a:txBody>
                  <a:tcPr marL="88900" marR="88900" marT="25400" marB="25400" anchor="ctr">
                    <a:solidFill>
                      <a:srgbClr val="E8F5E9"/>
                    </a:solidFill>
                  </a:tcPr>
                </a:tc>
              </a:tr>
              <a:tr h="429768">
                <a:tc>
                  <a:txBody>
                    <a:bodyPr wrap="square"/>
                    <a:lstStyle/>
                    <a:p>
                      <a:pPr algn="l"/>
                      <a:r>
                        <a:rPr sz="1100" b="0">
                          <a:solidFill>
                            <a:srgbClr val="37474F"/>
                          </a:solidFill>
                          <a:latin typeface="Calibri"/>
                        </a:rPr>
                        <a:t>Scénario 2</a:t>
                      </a:r>
                    </a:p>
                  </a:txBody>
                  <a:tcPr marL="88900" marR="88900" marT="25400" marB="25400" anchor="ctr">
                    <a:solidFill>
                      <a:srgbClr val="FFFFFF"/>
                    </a:solidFill>
                  </a:tcPr>
                </a:tc>
                <a:tc>
                  <a:txBody>
                    <a:bodyPr wrap="square"/>
                    <a:lstStyle/>
                    <a:p>
                      <a:pPr algn="ctr"/>
                      <a:r>
                        <a:rPr sz="1100" b="0">
                          <a:solidFill>
                            <a:srgbClr val="37474F"/>
                          </a:solidFill>
                          <a:latin typeface="Calibri"/>
                        </a:rPr>
                        <a:t>3 000</a:t>
                      </a:r>
                    </a:p>
                  </a:txBody>
                  <a:tcPr marL="88900" marR="88900" marT="25400" marB="25400" anchor="ctr">
                    <a:solidFill>
                      <a:srgbClr val="FFFFFF"/>
                    </a:solidFill>
                  </a:tcPr>
                </a:tc>
                <a:tc>
                  <a:txBody>
                    <a:bodyPr wrap="square"/>
                    <a:lstStyle/>
                    <a:p>
                      <a:pPr algn="ctr"/>
                      <a:r>
                        <a:rPr sz="1100" b="0">
                          <a:solidFill>
                            <a:srgbClr val="37474F"/>
                          </a:solidFill>
                          <a:latin typeface="Calibri"/>
                        </a:rPr>
                        <a:t>250</a:t>
                      </a:r>
                    </a:p>
                  </a:txBody>
                  <a:tcPr marL="88900" marR="88900" marT="25400" marB="25400" anchor="ctr">
                    <a:solidFill>
                      <a:srgbClr val="FFFFFF"/>
                    </a:solidFill>
                  </a:tcPr>
                </a:tc>
              </a:tr>
            </a:tbl>
          </a:graphicData>
        </a:graphic>
      </p:graphicFrame>
      <p:graphicFrame>
        <p:nvGraphicFramePr>
          <p:cNvPr id="13" name="Table 12"/>
          <p:cNvGraphicFramePr>
            <a:graphicFrameLocks noGrp="1"/>
          </p:cNvGraphicFramePr>
          <p:nvPr/>
        </p:nvGraphicFramePr>
        <p:xfrm>
          <a:off x="7223760" y="4160520"/>
          <a:ext cx="4114800" cy="1719072"/>
        </p:xfrm>
        <a:graphic>
          <a:graphicData uri="http://schemas.openxmlformats.org/drawingml/2006/table">
            <a:tbl>
              <a:tblPr>
                <a:tableStyleId>{5C22544A-7EE6-4342-B048-85BDC9FD1C3A}</a:tableStyleId>
              </a:tblPr>
              <a:tblGrid>
                <a:gridCol w="1737360"/>
                <a:gridCol w="1188720"/>
                <a:gridCol w="1188720"/>
              </a:tblGrid>
              <a:tr h="429768">
                <a:tc>
                  <a:txBody>
                    <a:bodyPr wrap="square"/>
                    <a:lstStyle/>
                    <a:p>
                      <a:pPr algn="l"/>
                      <a:r>
                        <a:rPr sz="1150" b="1">
                          <a:solidFill>
                            <a:srgbClr val="FFFFFF"/>
                          </a:solidFill>
                          <a:latin typeface="Calibri"/>
                        </a:rPr>
                        <a:t>ROI</a:t>
                      </a:r>
                    </a:p>
                  </a:txBody>
                  <a:tcPr marL="88900" marR="88900" marT="25400" marB="25400" anchor="ctr">
                    <a:solidFill>
                      <a:srgbClr val="1B5E20"/>
                    </a:solidFill>
                  </a:tcPr>
                </a:tc>
                <a:tc>
                  <a:txBody>
                    <a:bodyPr wrap="square"/>
                    <a:lstStyle/>
                    <a:p>
                      <a:pPr algn="ctr"/>
                      <a:r>
                        <a:rPr sz="1150" b="1">
                          <a:solidFill>
                            <a:srgbClr val="FFFFFF"/>
                          </a:solidFill>
                          <a:latin typeface="Calibri"/>
                        </a:rPr>
                        <a:t>Sc. 1</a:t>
                      </a:r>
                    </a:p>
                  </a:txBody>
                  <a:tcPr marL="88900" marR="88900" marT="25400" marB="25400" anchor="ctr">
                    <a:solidFill>
                      <a:srgbClr val="1B5E20"/>
                    </a:solidFill>
                  </a:tcPr>
                </a:tc>
                <a:tc>
                  <a:txBody>
                    <a:bodyPr wrap="square"/>
                    <a:lstStyle/>
                    <a:p>
                      <a:pPr algn="ctr"/>
                      <a:r>
                        <a:rPr sz="1150" b="1">
                          <a:solidFill>
                            <a:srgbClr val="FFFFFF"/>
                          </a:solidFill>
                          <a:latin typeface="Calibri"/>
                        </a:rPr>
                        <a:t>Sc. 2</a:t>
                      </a:r>
                    </a:p>
                  </a:txBody>
                  <a:tcPr marL="88900" marR="88900" marT="25400" marB="25400" anchor="ctr">
                    <a:solidFill>
                      <a:srgbClr val="1B5E20"/>
                    </a:solidFill>
                  </a:tcPr>
                </a:tc>
              </a:tr>
              <a:tr h="429768">
                <a:tc>
                  <a:txBody>
                    <a:bodyPr wrap="square"/>
                    <a:lstStyle/>
                    <a:p>
                      <a:pPr algn="l"/>
                      <a:r>
                        <a:rPr sz="1100" b="0">
                          <a:solidFill>
                            <a:srgbClr val="37474F"/>
                          </a:solidFill>
                          <a:latin typeface="Calibri"/>
                        </a:rPr>
                        <a:t>Reste à charge</a:t>
                      </a:r>
                    </a:p>
                  </a:txBody>
                  <a:tcPr marL="88900" marR="88900" marT="25400" marB="25400" anchor="ctr">
                    <a:solidFill>
                      <a:srgbClr val="FFFFFF"/>
                    </a:solidFill>
                  </a:tcPr>
                </a:tc>
                <a:tc>
                  <a:txBody>
                    <a:bodyPr wrap="square"/>
                    <a:lstStyle/>
                    <a:p>
                      <a:pPr algn="ctr"/>
                      <a:r>
                        <a:rPr sz="1100" b="0">
                          <a:solidFill>
                            <a:srgbClr val="37474F"/>
                          </a:solidFill>
                          <a:latin typeface="Calibri"/>
                        </a:rPr>
                        <a:t>17 000 €</a:t>
                      </a:r>
                    </a:p>
                  </a:txBody>
                  <a:tcPr marL="88900" marR="88900" marT="25400" marB="25400" anchor="ctr">
                    <a:solidFill>
                      <a:srgbClr val="FFFFFF"/>
                    </a:solidFill>
                  </a:tcPr>
                </a:tc>
                <a:tc>
                  <a:txBody>
                    <a:bodyPr wrap="square"/>
                    <a:lstStyle/>
                    <a:p>
                      <a:pPr algn="ctr"/>
                      <a:r>
                        <a:rPr sz="1100" b="0">
                          <a:solidFill>
                            <a:srgbClr val="37474F"/>
                          </a:solidFill>
                          <a:latin typeface="Calibri"/>
                        </a:rPr>
                        <a:t>27 000 €</a:t>
                      </a:r>
                    </a:p>
                  </a:txBody>
                  <a:tcPr marL="88900" marR="88900" marT="25400" marB="25400" anchor="ctr">
                    <a:solidFill>
                      <a:srgbClr val="FFFFFF"/>
                    </a:solidFill>
                  </a:tcPr>
                </a:tc>
              </a:tr>
              <a:tr h="429768">
                <a:tc>
                  <a:txBody>
                    <a:bodyPr wrap="square"/>
                    <a:lstStyle/>
                    <a:p>
                      <a:pPr algn="l"/>
                      <a:r>
                        <a:rPr sz="1100" b="0">
                          <a:solidFill>
                            <a:srgbClr val="37474F"/>
                          </a:solidFill>
                          <a:latin typeface="Calibri"/>
                        </a:rPr>
                        <a:t>Économies/an</a:t>
                      </a:r>
                    </a:p>
                  </a:txBody>
                  <a:tcPr marL="88900" marR="88900" marT="25400" marB="25400" anchor="ctr">
                    <a:solidFill>
                      <a:srgbClr val="E8F5E9"/>
                    </a:solidFill>
                  </a:tcPr>
                </a:tc>
                <a:tc>
                  <a:txBody>
                    <a:bodyPr wrap="square"/>
                    <a:lstStyle/>
                    <a:p>
                      <a:pPr algn="ctr"/>
                      <a:r>
                        <a:rPr sz="1100" b="0">
                          <a:solidFill>
                            <a:srgbClr val="37474F"/>
                          </a:solidFill>
                          <a:latin typeface="Calibri"/>
                        </a:rPr>
                        <a:t>3 000 €</a:t>
                      </a:r>
                    </a:p>
                  </a:txBody>
                  <a:tcPr marL="88900" marR="88900" marT="25400" marB="25400" anchor="ctr">
                    <a:solidFill>
                      <a:srgbClr val="E8F5E9"/>
                    </a:solidFill>
                  </a:tcPr>
                </a:tc>
                <a:tc>
                  <a:txBody>
                    <a:bodyPr wrap="square"/>
                    <a:lstStyle/>
                    <a:p>
                      <a:pPr algn="ctr"/>
                      <a:r>
                        <a:rPr sz="1100" b="0">
                          <a:solidFill>
                            <a:srgbClr val="37474F"/>
                          </a:solidFill>
                          <a:latin typeface="Calibri"/>
                        </a:rPr>
                        <a:t>5 000 €</a:t>
                      </a:r>
                    </a:p>
                  </a:txBody>
                  <a:tcPr marL="88900" marR="88900" marT="25400" marB="25400" anchor="ctr">
                    <a:solidFill>
                      <a:srgbClr val="E8F5E9"/>
                    </a:solidFill>
                  </a:tcPr>
                </a:tc>
              </a:tr>
              <a:tr h="429768">
                <a:tc>
                  <a:txBody>
                    <a:bodyPr wrap="square"/>
                    <a:lstStyle/>
                    <a:p>
                      <a:pPr algn="l"/>
                      <a:r>
                        <a:rPr sz="1100" b="0">
                          <a:solidFill>
                            <a:srgbClr val="37474F"/>
                          </a:solidFill>
                          <a:latin typeface="Calibri"/>
                        </a:rPr>
                        <a:t>Amortissement</a:t>
                      </a:r>
                    </a:p>
                  </a:txBody>
                  <a:tcPr marL="88900" marR="88900" marT="25400" marB="25400" anchor="ctr">
                    <a:solidFill>
                      <a:srgbClr val="FFFFFF"/>
                    </a:solidFill>
                  </a:tcPr>
                </a:tc>
                <a:tc>
                  <a:txBody>
                    <a:bodyPr wrap="square"/>
                    <a:lstStyle/>
                    <a:p>
                      <a:pPr algn="ctr"/>
                      <a:r>
                        <a:rPr sz="1100" b="0">
                          <a:solidFill>
                            <a:srgbClr val="37474F"/>
                          </a:solidFill>
                          <a:latin typeface="Calibri"/>
                        </a:rPr>
                        <a:t>5,7 ans</a:t>
                      </a:r>
                    </a:p>
                  </a:txBody>
                  <a:tcPr marL="88900" marR="88900" marT="25400" marB="25400" anchor="ctr">
                    <a:solidFill>
                      <a:srgbClr val="FFFFFF"/>
                    </a:solidFill>
                  </a:tcPr>
                </a:tc>
                <a:tc>
                  <a:txBody>
                    <a:bodyPr wrap="square"/>
                    <a:lstStyle/>
                    <a:p>
                      <a:pPr algn="ctr"/>
                      <a:r>
                        <a:rPr sz="1100" b="0">
                          <a:solidFill>
                            <a:srgbClr val="37474F"/>
                          </a:solidFill>
                          <a:latin typeface="Calibri"/>
                        </a:rPr>
                        <a:t>5,4 ans</a:t>
                      </a:r>
                    </a:p>
                  </a:txBody>
                  <a:tcPr marL="88900" marR="88900" marT="25400" marB="25400" anchor="ctr">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7</a:t>
            </a:r>
          </a:p>
        </p:txBody>
      </p:sp>
      <p:sp>
        <p:nvSpPr>
          <p:cNvPr id="6" name="TextBox 5"/>
          <p:cNvSpPr txBox="1"/>
          <p:nvPr/>
        </p:nvSpPr>
        <p:spPr>
          <a:xfrm>
            <a:off x="1325880" y="365760"/>
            <a:ext cx="10332720" cy="777240"/>
          </a:xfrm>
          <a:prstGeom prst="rect">
            <a:avLst/>
          </a:prstGeom>
          <a:noFill/>
        </p:spPr>
        <p:txBody>
          <a:bodyPr wrap="square" anchor="ctr" lIns="25400" rIns="25400" tIns="25400" bIns="25400">
            <a:spAutoFit/>
          </a:bodyPr>
          <a:lstStyle/>
          <a:p>
            <a:pPr algn="l">
              <a:lnSpc>
                <a:spcPct val="100000"/>
              </a:lnSpc>
              <a:spcAft>
                <a:spcPts val="400"/>
              </a:spcAft>
            </a:pPr>
            <a:r>
              <a:rPr sz="3000" b="1" i="0">
                <a:solidFill>
                  <a:srgbClr val="1B5E20"/>
                </a:solidFill>
                <a:latin typeface="Calibri"/>
              </a:rPr>
              <a:t>Plan de sobriété</a:t>
            </a:r>
          </a:p>
        </p:txBody>
      </p:sp>
      <p:sp>
        <p:nvSpPr>
          <p:cNvPr id="7" name="TextBox 6"/>
          <p:cNvSpPr txBox="1"/>
          <p:nvPr/>
        </p:nvSpPr>
        <p:spPr>
          <a:xfrm>
            <a:off x="1325880" y="1078992"/>
            <a:ext cx="10332720" cy="365760"/>
          </a:xfrm>
          <a:prstGeom prst="rect">
            <a:avLst/>
          </a:prstGeom>
          <a:noFill/>
        </p:spPr>
        <p:txBody>
          <a:bodyPr wrap="square" anchor="t" lIns="25400" rIns="25400" tIns="25400" bIns="25400">
            <a:spAutoFit/>
          </a:bodyPr>
          <a:lstStyle/>
          <a:p>
            <a:pPr algn="l">
              <a:lnSpc>
                <a:spcPct val="100000"/>
              </a:lnSpc>
              <a:spcAft>
                <a:spcPts val="400"/>
              </a:spcAft>
            </a:pPr>
            <a:r>
              <a:rPr sz="1500" b="0" i="1">
                <a:solidFill>
                  <a:srgbClr val="90A4AE"/>
                </a:solidFill>
                <a:latin typeface="Calibri"/>
              </a:rPr>
              <a:t>Des gestes complémentaires aux travaux</a:t>
            </a:r>
          </a:p>
        </p:txBody>
      </p:sp>
      <p:sp>
        <p:nvSpPr>
          <p:cNvPr id="8" name="Rectangle 7"/>
          <p:cNvSpPr/>
          <p:nvPr/>
        </p:nvSpPr>
        <p:spPr>
          <a:xfrm>
            <a:off x="1325880" y="1188720"/>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46520"/>
            <a:ext cx="8229600" cy="320040"/>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Rénovation énergétique – Saint-Jean-de-Chevelu (73)</a:t>
            </a:r>
          </a:p>
        </p:txBody>
      </p:sp>
      <p:sp>
        <p:nvSpPr>
          <p:cNvPr id="10" name="TextBox 9"/>
          <p:cNvSpPr txBox="1"/>
          <p:nvPr/>
        </p:nvSpPr>
        <p:spPr>
          <a:xfrm>
            <a:off x="9418320" y="6446520"/>
            <a:ext cx="2286000" cy="320040"/>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TextBox 10"/>
          <p:cNvSpPr txBox="1"/>
          <p:nvPr/>
        </p:nvSpPr>
        <p:spPr>
          <a:xfrm>
            <a:off x="822960" y="1691640"/>
            <a:ext cx="5212080" cy="4114800"/>
          </a:xfrm>
          <a:prstGeom prst="rect">
            <a:avLst/>
          </a:prstGeom>
          <a:noFill/>
        </p:spPr>
        <p:txBody>
          <a:bodyPr wrap="square">
            <a:spAutoFit/>
          </a:bodyPr>
          <a:lstStyle/>
          <a:p>
            <a:pPr>
              <a:lnSpc>
                <a:spcPct val="105000"/>
              </a:lnSpc>
              <a:spcAft>
                <a:spcPts val="1300"/>
              </a:spcAft>
            </a:pPr>
            <a:r>
              <a:rPr sz="1500" b="1">
                <a:solidFill>
                  <a:srgbClr val="2E7D32"/>
                </a:solidFill>
                <a:latin typeface="Calibri"/>
              </a:rPr>
              <a:t>●  </a:t>
            </a:r>
            <a:r>
              <a:rPr sz="1500">
                <a:solidFill>
                  <a:srgbClr val="37474F"/>
                </a:solidFill>
                <a:latin typeface="Calibri"/>
              </a:rPr>
              <a:t>Chauffer entre 19 °C et 20 °C dans les pièces de vie</a:t>
            </a:r>
          </a:p>
          <a:p>
            <a:pPr>
              <a:lnSpc>
                <a:spcPct val="105000"/>
              </a:lnSpc>
              <a:spcAft>
                <a:spcPts val="1300"/>
              </a:spcAft>
            </a:pPr>
            <a:r>
              <a:rPr sz="1500" b="1">
                <a:solidFill>
                  <a:srgbClr val="2E7D32"/>
                </a:solidFill>
                <a:latin typeface="Calibri"/>
              </a:rPr>
              <a:t>●  </a:t>
            </a:r>
            <a:r>
              <a:rPr sz="1500">
                <a:solidFill>
                  <a:srgbClr val="37474F"/>
                </a:solidFill>
                <a:latin typeface="Calibri"/>
              </a:rPr>
              <a:t>Réduire la température durant les absences</a:t>
            </a:r>
          </a:p>
          <a:p>
            <a:pPr>
              <a:lnSpc>
                <a:spcPct val="105000"/>
              </a:lnSpc>
              <a:spcAft>
                <a:spcPts val="1300"/>
              </a:spcAft>
            </a:pPr>
            <a:r>
              <a:rPr sz="1500" b="1">
                <a:solidFill>
                  <a:srgbClr val="2E7D32"/>
                </a:solidFill>
                <a:latin typeface="Calibri"/>
              </a:rPr>
              <a:t>●  </a:t>
            </a:r>
            <a:r>
              <a:rPr sz="1500">
                <a:solidFill>
                  <a:srgbClr val="37474F"/>
                </a:solidFill>
                <a:latin typeface="Calibri"/>
              </a:rPr>
              <a:t>Entretien régulier de la chaudière et de la VMC</a:t>
            </a:r>
          </a:p>
          <a:p>
            <a:pPr>
              <a:lnSpc>
                <a:spcPct val="105000"/>
              </a:lnSpc>
              <a:spcAft>
                <a:spcPts val="1300"/>
              </a:spcAft>
            </a:pPr>
            <a:r>
              <a:rPr sz="1500" b="1">
                <a:solidFill>
                  <a:srgbClr val="2E7D32"/>
                </a:solidFill>
                <a:latin typeface="Calibri"/>
              </a:rPr>
              <a:t>●  </a:t>
            </a:r>
            <a:r>
              <a:rPr sz="1500">
                <a:solidFill>
                  <a:srgbClr val="37474F"/>
                </a:solidFill>
                <a:latin typeface="Calibri"/>
              </a:rPr>
              <a:t>Limiter les consommations d’eau chaude sanitaire</a:t>
            </a:r>
          </a:p>
        </p:txBody>
      </p:sp>
      <p:sp>
        <p:nvSpPr>
          <p:cNvPr id="12" name="TextBox 11"/>
          <p:cNvSpPr txBox="1"/>
          <p:nvPr/>
        </p:nvSpPr>
        <p:spPr>
          <a:xfrm>
            <a:off x="6309360" y="1691640"/>
            <a:ext cx="5029200" cy="4114800"/>
          </a:xfrm>
          <a:prstGeom prst="rect">
            <a:avLst/>
          </a:prstGeom>
          <a:noFill/>
        </p:spPr>
        <p:txBody>
          <a:bodyPr wrap="square">
            <a:spAutoFit/>
          </a:bodyPr>
          <a:lstStyle/>
          <a:p>
            <a:pPr>
              <a:lnSpc>
                <a:spcPct val="105000"/>
              </a:lnSpc>
              <a:spcAft>
                <a:spcPts val="1300"/>
              </a:spcAft>
            </a:pPr>
            <a:r>
              <a:rPr sz="1500" b="1">
                <a:solidFill>
                  <a:srgbClr val="2E7D32"/>
                </a:solidFill>
                <a:latin typeface="Calibri"/>
              </a:rPr>
              <a:t>●  </a:t>
            </a:r>
            <a:r>
              <a:rPr sz="1500">
                <a:solidFill>
                  <a:srgbClr val="37474F"/>
                </a:solidFill>
                <a:latin typeface="Calibri"/>
              </a:rPr>
              <a:t>Fermer les volets la nuit en hiver</a:t>
            </a:r>
          </a:p>
          <a:p>
            <a:pPr>
              <a:lnSpc>
                <a:spcPct val="105000"/>
              </a:lnSpc>
              <a:spcAft>
                <a:spcPts val="1300"/>
              </a:spcAft>
            </a:pPr>
            <a:r>
              <a:rPr sz="1500" b="1">
                <a:solidFill>
                  <a:srgbClr val="2E7D32"/>
                </a:solidFill>
                <a:latin typeface="Calibri"/>
              </a:rPr>
              <a:t>●  </a:t>
            </a:r>
            <a:r>
              <a:rPr sz="1500">
                <a:solidFill>
                  <a:srgbClr val="37474F"/>
                </a:solidFill>
                <a:latin typeface="Calibri"/>
              </a:rPr>
              <a:t>Privilégier l’électroménager performant</a:t>
            </a:r>
          </a:p>
          <a:p>
            <a:pPr>
              <a:lnSpc>
                <a:spcPct val="105000"/>
              </a:lnSpc>
              <a:spcAft>
                <a:spcPts val="1300"/>
              </a:spcAft>
            </a:pPr>
            <a:r>
              <a:rPr sz="1500" b="1">
                <a:solidFill>
                  <a:srgbClr val="2E7D32"/>
                </a:solidFill>
                <a:latin typeface="Calibri"/>
              </a:rPr>
              <a:t>●  </a:t>
            </a:r>
            <a:r>
              <a:rPr sz="1500">
                <a:solidFill>
                  <a:srgbClr val="37474F"/>
                </a:solidFill>
                <a:latin typeface="Calibri"/>
              </a:rPr>
              <a:t>Éteindre les appareils en veille</a:t>
            </a:r>
          </a:p>
          <a:p>
            <a:pPr>
              <a:lnSpc>
                <a:spcPct val="105000"/>
              </a:lnSpc>
              <a:spcAft>
                <a:spcPts val="1300"/>
              </a:spcAft>
            </a:pPr>
            <a:r>
              <a:rPr sz="1500" b="1">
                <a:solidFill>
                  <a:srgbClr val="2E7D32"/>
                </a:solidFill>
                <a:latin typeface="Calibri"/>
              </a:rPr>
              <a:t>●  </a:t>
            </a:r>
            <a:r>
              <a:rPr sz="1500">
                <a:solidFill>
                  <a:srgbClr val="37474F"/>
                </a:solidFill>
                <a:latin typeface="Calibri"/>
              </a:rPr>
              <a:t>Suivre régulièrement ses consommations</a:t>
            </a:r>
          </a:p>
        </p:txBody>
      </p:sp>
      <p:sp>
        <p:nvSpPr>
          <p:cNvPr id="13" name="Rounded Rectangle 12"/>
          <p:cNvSpPr/>
          <p:nvPr/>
        </p:nvSpPr>
        <p:spPr>
          <a:xfrm>
            <a:off x="822960" y="5394960"/>
            <a:ext cx="10515600" cy="77724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5486400"/>
            <a:ext cx="10058400" cy="594360"/>
          </a:xfrm>
          <a:prstGeom prst="rect">
            <a:avLst/>
          </a:prstGeom>
          <a:noFill/>
        </p:spPr>
        <p:txBody>
          <a:bodyPr wrap="square" anchor="ctr" lIns="25400" rIns="25400" tIns="25400" bIns="25400">
            <a:spAutoFit/>
          </a:bodyPr>
          <a:lstStyle/>
          <a:p>
            <a:pPr algn="l">
              <a:lnSpc>
                <a:spcPct val="100000"/>
              </a:lnSpc>
              <a:spcAft>
                <a:spcPts val="400"/>
              </a:spcAft>
            </a:pPr>
            <a:r>
              <a:rPr sz="1400" b="1" i="0">
                <a:solidFill>
                  <a:srgbClr val="1B5E20"/>
                </a:solidFill>
                <a:latin typeface="Calibri"/>
              </a:rPr>
              <a:t>La sobriété ne coûte rien et amplifie les économies générées par les travaux.</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7</a:t>
            </a:r>
          </a:p>
        </p:txBody>
      </p:sp>
      <p:sp>
        <p:nvSpPr>
          <p:cNvPr id="6" name="TextBox 5"/>
          <p:cNvSpPr txBox="1"/>
          <p:nvPr/>
        </p:nvSpPr>
        <p:spPr>
          <a:xfrm>
            <a:off x="1325880" y="365760"/>
            <a:ext cx="10332720" cy="777240"/>
          </a:xfrm>
          <a:prstGeom prst="rect">
            <a:avLst/>
          </a:prstGeom>
          <a:noFill/>
        </p:spPr>
        <p:txBody>
          <a:bodyPr wrap="square" anchor="ctr" lIns="25400" rIns="25400" tIns="25400" bIns="25400">
            <a:spAutoFit/>
          </a:bodyPr>
          <a:lstStyle/>
          <a:p>
            <a:pPr algn="l">
              <a:lnSpc>
                <a:spcPct val="100000"/>
              </a:lnSpc>
              <a:spcAft>
                <a:spcPts val="400"/>
              </a:spcAft>
            </a:pPr>
            <a:r>
              <a:rPr sz="3000" b="1" i="0">
                <a:solidFill>
                  <a:srgbClr val="1B5E20"/>
                </a:solidFill>
                <a:latin typeface="Calibri"/>
              </a:rPr>
              <a:t>Synthèse comparative des scénarios</a:t>
            </a:r>
          </a:p>
        </p:txBody>
      </p:sp>
      <p:sp>
        <p:nvSpPr>
          <p:cNvPr id="7" name="Rectangle 6"/>
          <p:cNvSpPr/>
          <p:nvPr/>
        </p:nvSpPr>
        <p:spPr>
          <a:xfrm>
            <a:off x="1325880" y="1188720"/>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46520"/>
            <a:ext cx="8229600" cy="320040"/>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Rénovation énergétique – Saint-Jean-de-Chevelu (73)</a:t>
            </a:r>
          </a:p>
        </p:txBody>
      </p:sp>
      <p:sp>
        <p:nvSpPr>
          <p:cNvPr id="9" name="TextBox 8"/>
          <p:cNvSpPr txBox="1"/>
          <p:nvPr/>
        </p:nvSpPr>
        <p:spPr>
          <a:xfrm>
            <a:off x="9418320" y="6446520"/>
            <a:ext cx="2286000" cy="320040"/>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graphicFrame>
        <p:nvGraphicFramePr>
          <p:cNvPr id="10" name="Table 9"/>
          <p:cNvGraphicFramePr>
            <a:graphicFrameLocks noGrp="1"/>
          </p:cNvGraphicFramePr>
          <p:nvPr/>
        </p:nvGraphicFramePr>
        <p:xfrm>
          <a:off x="822960" y="1691640"/>
          <a:ext cx="10515600" cy="3803904"/>
        </p:xfrm>
        <a:graphic>
          <a:graphicData uri="http://schemas.openxmlformats.org/drawingml/2006/table">
            <a:tbl>
              <a:tblPr>
                <a:tableStyleId>{5C22544A-7EE6-4342-B048-85BDC9FD1C3A}</a:tableStyleId>
              </a:tblPr>
              <a:tblGrid>
                <a:gridCol w="2926080"/>
                <a:gridCol w="2377440"/>
                <a:gridCol w="2606040"/>
                <a:gridCol w="2606040"/>
              </a:tblGrid>
              <a:tr h="475488">
                <a:tc>
                  <a:txBody>
                    <a:bodyPr wrap="square"/>
                    <a:lstStyle/>
                    <a:p>
                      <a:pPr algn="l"/>
                      <a:r>
                        <a:rPr sz="1300" b="1">
                          <a:solidFill>
                            <a:srgbClr val="FFFFFF"/>
                          </a:solidFill>
                          <a:latin typeface="Calibri"/>
                        </a:rPr>
                        <a:t>Critère</a:t>
                      </a:r>
                    </a:p>
                  </a:txBody>
                  <a:tcPr marL="88900" marR="88900" marT="25400" marB="25400" anchor="ctr">
                    <a:solidFill>
                      <a:srgbClr val="1B5E20"/>
                    </a:solidFill>
                  </a:tcPr>
                </a:tc>
                <a:tc>
                  <a:txBody>
                    <a:bodyPr wrap="square"/>
                    <a:lstStyle/>
                    <a:p>
                      <a:pPr algn="ctr"/>
                      <a:r>
                        <a:rPr sz="1300" b="1">
                          <a:solidFill>
                            <a:srgbClr val="FFFFFF"/>
                          </a:solidFill>
                          <a:latin typeface="Calibri"/>
                        </a:rPr>
                        <a:t>État initial</a:t>
                      </a:r>
                    </a:p>
                  </a:txBody>
                  <a:tcPr marL="88900" marR="88900" marT="25400" marB="25400" anchor="ctr">
                    <a:solidFill>
                      <a:srgbClr val="1B5E20"/>
                    </a:solidFill>
                  </a:tcPr>
                </a:tc>
                <a:tc>
                  <a:txBody>
                    <a:bodyPr wrap="square"/>
                    <a:lstStyle/>
                    <a:p>
                      <a:pPr algn="ctr"/>
                      <a:r>
                        <a:rPr sz="1300" b="1">
                          <a:solidFill>
                            <a:srgbClr val="FFFFFF"/>
                          </a:solidFill>
                          <a:latin typeface="Calibri"/>
                        </a:rPr>
                        <a:t>Scénario 1</a:t>
                      </a:r>
                    </a:p>
                  </a:txBody>
                  <a:tcPr marL="88900" marR="88900" marT="25400" marB="25400" anchor="ctr">
                    <a:solidFill>
                      <a:srgbClr val="1B5E20"/>
                    </a:solidFill>
                  </a:tcPr>
                </a:tc>
                <a:tc>
                  <a:txBody>
                    <a:bodyPr wrap="square"/>
                    <a:lstStyle/>
                    <a:p>
                      <a:pPr algn="ctr"/>
                      <a:r>
                        <a:rPr sz="1300" b="1">
                          <a:solidFill>
                            <a:srgbClr val="FFFFFF"/>
                          </a:solidFill>
                          <a:latin typeface="Calibri"/>
                        </a:rPr>
                        <a:t>Scénario 2</a:t>
                      </a:r>
                    </a:p>
                  </a:txBody>
                  <a:tcPr marL="88900" marR="88900" marT="25400" marB="25400" anchor="ctr">
                    <a:solidFill>
                      <a:srgbClr val="1B5E20"/>
                    </a:solidFill>
                  </a:tcPr>
                </a:tc>
              </a:tr>
              <a:tr h="475488">
                <a:tc>
                  <a:txBody>
                    <a:bodyPr wrap="square"/>
                    <a:lstStyle/>
                    <a:p>
                      <a:pPr algn="l"/>
                      <a:r>
                        <a:rPr sz="1200" b="1">
                          <a:solidFill>
                            <a:srgbClr val="37474F"/>
                          </a:solidFill>
                          <a:latin typeface="Calibri"/>
                        </a:rPr>
                        <a:t>Étiquette DPE</a:t>
                      </a:r>
                    </a:p>
                  </a:txBody>
                  <a:tcPr marL="88900" marR="88900" marT="25400" marB="25400" anchor="ctr">
                    <a:solidFill>
                      <a:srgbClr val="FFFFFF"/>
                    </a:solidFill>
                  </a:tcPr>
                </a:tc>
                <a:tc>
                  <a:txBody>
                    <a:bodyPr wrap="square"/>
                    <a:lstStyle/>
                    <a:p>
                      <a:pPr algn="ctr"/>
                      <a:r>
                        <a:rPr sz="1200" b="0">
                          <a:solidFill>
                            <a:srgbClr val="37474F"/>
                          </a:solidFill>
                          <a:latin typeface="Calibri"/>
                        </a:rPr>
                        <a:t>G / G</a:t>
                      </a:r>
                    </a:p>
                  </a:txBody>
                  <a:tcPr marL="88900" marR="88900" marT="25400" marB="25400" anchor="ctr">
                    <a:solidFill>
                      <a:srgbClr val="FFFFFF"/>
                    </a:solidFill>
                  </a:tcPr>
                </a:tc>
                <a:tc>
                  <a:txBody>
                    <a:bodyPr wrap="square"/>
                    <a:lstStyle/>
                    <a:p>
                      <a:pPr algn="ctr"/>
                      <a:r>
                        <a:rPr sz="1200" b="0">
                          <a:solidFill>
                            <a:srgbClr val="37474F"/>
                          </a:solidFill>
                          <a:latin typeface="Calibri"/>
                        </a:rPr>
                        <a:t>B / B</a:t>
                      </a:r>
                    </a:p>
                  </a:txBody>
                  <a:tcPr marL="88900" marR="88900" marT="25400" marB="25400" anchor="ctr">
                    <a:solidFill>
                      <a:srgbClr val="FFFFFF"/>
                    </a:solidFill>
                  </a:tcPr>
                </a:tc>
                <a:tc>
                  <a:txBody>
                    <a:bodyPr wrap="square"/>
                    <a:lstStyle/>
                    <a:p>
                      <a:pPr algn="ctr"/>
                      <a:r>
                        <a:rPr sz="1200" b="0">
                          <a:solidFill>
                            <a:srgbClr val="37474F"/>
                          </a:solidFill>
                          <a:latin typeface="Calibri"/>
                        </a:rPr>
                        <a:t>A / B</a:t>
                      </a:r>
                    </a:p>
                  </a:txBody>
                  <a:tcPr marL="88900" marR="88900" marT="25400" marB="25400" anchor="ctr">
                    <a:solidFill>
                      <a:srgbClr val="FFFFFF"/>
                    </a:solidFill>
                  </a:tcPr>
                </a:tc>
              </a:tr>
              <a:tr h="475488">
                <a:tc>
                  <a:txBody>
                    <a:bodyPr wrap="square"/>
                    <a:lstStyle/>
                    <a:p>
                      <a:pPr algn="l"/>
                      <a:r>
                        <a:rPr sz="1200" b="1">
                          <a:solidFill>
                            <a:srgbClr val="37474F"/>
                          </a:solidFill>
                          <a:latin typeface="Calibri"/>
                        </a:rPr>
                        <a:t>Chauffage</a:t>
                      </a:r>
                    </a:p>
                  </a:txBody>
                  <a:tcPr marL="88900" marR="88900" marT="25400" marB="25400" anchor="ctr">
                    <a:solidFill>
                      <a:srgbClr val="E8F5E9"/>
                    </a:solidFill>
                  </a:tcPr>
                </a:tc>
                <a:tc>
                  <a:txBody>
                    <a:bodyPr wrap="square"/>
                    <a:lstStyle/>
                    <a:p>
                      <a:pPr algn="ctr"/>
                      <a:r>
                        <a:rPr sz="1200" b="0">
                          <a:solidFill>
                            <a:srgbClr val="37474F"/>
                          </a:solidFill>
                          <a:latin typeface="Calibri"/>
                        </a:rPr>
                        <a:t>Fioul (1991)</a:t>
                      </a:r>
                    </a:p>
                  </a:txBody>
                  <a:tcPr marL="88900" marR="88900" marT="25400" marB="25400" anchor="ctr">
                    <a:solidFill>
                      <a:srgbClr val="E8F5E9"/>
                    </a:solidFill>
                  </a:tcPr>
                </a:tc>
                <a:tc>
                  <a:txBody>
                    <a:bodyPr wrap="square"/>
                    <a:lstStyle/>
                    <a:p>
                      <a:pPr algn="ctr"/>
                      <a:r>
                        <a:rPr sz="1200" b="0">
                          <a:solidFill>
                            <a:srgbClr val="37474F"/>
                          </a:solidFill>
                          <a:latin typeface="Calibri"/>
                        </a:rPr>
                        <a:t>Fioul conservé</a:t>
                      </a:r>
                    </a:p>
                  </a:txBody>
                  <a:tcPr marL="88900" marR="88900" marT="25400" marB="25400" anchor="ctr">
                    <a:solidFill>
                      <a:srgbClr val="E8F5E9"/>
                    </a:solidFill>
                  </a:tcPr>
                </a:tc>
                <a:tc>
                  <a:txBody>
                    <a:bodyPr wrap="square"/>
                    <a:lstStyle/>
                    <a:p>
                      <a:pPr algn="ctr"/>
                      <a:r>
                        <a:rPr sz="1200" b="0">
                          <a:solidFill>
                            <a:srgbClr val="37474F"/>
                          </a:solidFill>
                          <a:latin typeface="Calibri"/>
                        </a:rPr>
                        <a:t>Granulés 12 kW</a:t>
                      </a:r>
                    </a:p>
                  </a:txBody>
                  <a:tcPr marL="88900" marR="88900" marT="25400" marB="25400" anchor="ctr">
                    <a:solidFill>
                      <a:srgbClr val="E8F5E9"/>
                    </a:solidFill>
                  </a:tcPr>
                </a:tc>
              </a:tr>
              <a:tr h="475488">
                <a:tc>
                  <a:txBody>
                    <a:bodyPr wrap="square"/>
                    <a:lstStyle/>
                    <a:p>
                      <a:pPr algn="l"/>
                      <a:r>
                        <a:rPr sz="1200" b="1">
                          <a:solidFill>
                            <a:srgbClr val="37474F"/>
                          </a:solidFill>
                          <a:latin typeface="Calibri"/>
                        </a:rPr>
                        <a:t>Coût des travaux</a:t>
                      </a:r>
                    </a:p>
                  </a:txBody>
                  <a:tcPr marL="88900" marR="88900" marT="25400" marB="25400" anchor="ctr">
                    <a:solidFill>
                      <a:srgbClr val="FFFFFF"/>
                    </a:solidFill>
                  </a:tcPr>
                </a:tc>
                <a:tc>
                  <a:txBody>
                    <a:bodyPr wrap="square"/>
                    <a:lstStyle/>
                    <a:p>
                      <a:pPr algn="ctr"/>
                      <a:r>
                        <a:rPr sz="1200" b="0">
                          <a:solidFill>
                            <a:srgbClr val="37474F"/>
                          </a:solidFill>
                          <a:latin typeface="Calibri"/>
                        </a:rPr>
                        <a:t>—</a:t>
                      </a:r>
                    </a:p>
                  </a:txBody>
                  <a:tcPr marL="88900" marR="88900" marT="25400" marB="25400" anchor="ctr">
                    <a:solidFill>
                      <a:srgbClr val="FFFFFF"/>
                    </a:solidFill>
                  </a:tcPr>
                </a:tc>
                <a:tc>
                  <a:txBody>
                    <a:bodyPr wrap="square"/>
                    <a:lstStyle/>
                    <a:p>
                      <a:pPr algn="ctr"/>
                      <a:r>
                        <a:rPr sz="1200" b="0">
                          <a:solidFill>
                            <a:srgbClr val="37474F"/>
                          </a:solidFill>
                          <a:latin typeface="Calibri"/>
                        </a:rPr>
                        <a:t>24 000 €</a:t>
                      </a:r>
                    </a:p>
                  </a:txBody>
                  <a:tcPr marL="88900" marR="88900" marT="25400" marB="25400" anchor="ctr">
                    <a:solidFill>
                      <a:srgbClr val="FFFFFF"/>
                    </a:solidFill>
                  </a:tcPr>
                </a:tc>
                <a:tc>
                  <a:txBody>
                    <a:bodyPr wrap="square"/>
                    <a:lstStyle/>
                    <a:p>
                      <a:pPr algn="ctr"/>
                      <a:r>
                        <a:rPr sz="1200" b="0">
                          <a:solidFill>
                            <a:srgbClr val="37474F"/>
                          </a:solidFill>
                          <a:latin typeface="Calibri"/>
                        </a:rPr>
                        <a:t>40 000 €</a:t>
                      </a:r>
                    </a:p>
                  </a:txBody>
                  <a:tcPr marL="88900" marR="88900" marT="25400" marB="25400" anchor="ctr">
                    <a:solidFill>
                      <a:srgbClr val="FFFFFF"/>
                    </a:solidFill>
                  </a:tcPr>
                </a:tc>
              </a:tr>
              <a:tr h="475488">
                <a:tc>
                  <a:txBody>
                    <a:bodyPr wrap="square"/>
                    <a:lstStyle/>
                    <a:p>
                      <a:pPr algn="l"/>
                      <a:r>
                        <a:rPr sz="1200" b="1">
                          <a:solidFill>
                            <a:srgbClr val="37474F"/>
                          </a:solidFill>
                          <a:latin typeface="Calibri"/>
                        </a:rPr>
                        <a:t>Reste à charge</a:t>
                      </a:r>
                    </a:p>
                  </a:txBody>
                  <a:tcPr marL="88900" marR="88900" marT="25400" marB="25400" anchor="ctr">
                    <a:solidFill>
                      <a:srgbClr val="E8F5E9"/>
                    </a:solidFill>
                  </a:tcPr>
                </a:tc>
                <a:tc>
                  <a:txBody>
                    <a:bodyPr wrap="square"/>
                    <a:lstStyle/>
                    <a:p>
                      <a:pPr algn="ctr"/>
                      <a:r>
                        <a:rPr sz="1200" b="0">
                          <a:solidFill>
                            <a:srgbClr val="37474F"/>
                          </a:solidFill>
                          <a:latin typeface="Calibri"/>
                        </a:rPr>
                        <a:t>—</a:t>
                      </a:r>
                    </a:p>
                  </a:txBody>
                  <a:tcPr marL="88900" marR="88900" marT="25400" marB="25400" anchor="ctr">
                    <a:solidFill>
                      <a:srgbClr val="E8F5E9"/>
                    </a:solidFill>
                  </a:tcPr>
                </a:tc>
                <a:tc>
                  <a:txBody>
                    <a:bodyPr wrap="square"/>
                    <a:lstStyle/>
                    <a:p>
                      <a:pPr algn="ctr"/>
                      <a:r>
                        <a:rPr sz="1200" b="0">
                          <a:solidFill>
                            <a:srgbClr val="37474F"/>
                          </a:solidFill>
                          <a:latin typeface="Calibri"/>
                        </a:rPr>
                        <a:t>17 000 €</a:t>
                      </a:r>
                    </a:p>
                  </a:txBody>
                  <a:tcPr marL="88900" marR="88900" marT="25400" marB="25400" anchor="ctr">
                    <a:solidFill>
                      <a:srgbClr val="E8F5E9"/>
                    </a:solidFill>
                  </a:tcPr>
                </a:tc>
                <a:tc>
                  <a:txBody>
                    <a:bodyPr wrap="square"/>
                    <a:lstStyle/>
                    <a:p>
                      <a:pPr algn="ctr"/>
                      <a:r>
                        <a:rPr sz="1200" b="0">
                          <a:solidFill>
                            <a:srgbClr val="37474F"/>
                          </a:solidFill>
                          <a:latin typeface="Calibri"/>
                        </a:rPr>
                        <a:t>27 000 €</a:t>
                      </a:r>
                    </a:p>
                  </a:txBody>
                  <a:tcPr marL="88900" marR="88900" marT="25400" marB="25400" anchor="ctr">
                    <a:solidFill>
                      <a:srgbClr val="E8F5E9"/>
                    </a:solidFill>
                  </a:tcPr>
                </a:tc>
              </a:tr>
              <a:tr h="475488">
                <a:tc>
                  <a:txBody>
                    <a:bodyPr wrap="square"/>
                    <a:lstStyle/>
                    <a:p>
                      <a:pPr algn="l"/>
                      <a:r>
                        <a:rPr sz="1200" b="1">
                          <a:solidFill>
                            <a:srgbClr val="37474F"/>
                          </a:solidFill>
                          <a:latin typeface="Calibri"/>
                        </a:rPr>
                        <a:t>Coût annuel</a:t>
                      </a:r>
                    </a:p>
                  </a:txBody>
                  <a:tcPr marL="88900" marR="88900" marT="25400" marB="25400" anchor="ctr">
                    <a:solidFill>
                      <a:srgbClr val="FFFFFF"/>
                    </a:solidFill>
                  </a:tcPr>
                </a:tc>
                <a:tc>
                  <a:txBody>
                    <a:bodyPr wrap="square"/>
                    <a:lstStyle/>
                    <a:p>
                      <a:pPr algn="ctr"/>
                      <a:r>
                        <a:rPr sz="1200" b="0">
                          <a:solidFill>
                            <a:srgbClr val="37474F"/>
                          </a:solidFill>
                          <a:latin typeface="Calibri"/>
                        </a:rPr>
                        <a:t>8 355 €</a:t>
                      </a:r>
                    </a:p>
                  </a:txBody>
                  <a:tcPr marL="88900" marR="88900" marT="25400" marB="25400" anchor="ctr">
                    <a:solidFill>
                      <a:srgbClr val="FFFFFF"/>
                    </a:solidFill>
                  </a:tcPr>
                </a:tc>
                <a:tc>
                  <a:txBody>
                    <a:bodyPr wrap="square"/>
                    <a:lstStyle/>
                    <a:p>
                      <a:pPr algn="ctr"/>
                      <a:r>
                        <a:rPr sz="1200" b="0">
                          <a:solidFill>
                            <a:srgbClr val="37474F"/>
                          </a:solidFill>
                          <a:latin typeface="Calibri"/>
                        </a:rPr>
                        <a:t>4 500 €</a:t>
                      </a:r>
                    </a:p>
                  </a:txBody>
                  <a:tcPr marL="88900" marR="88900" marT="25400" marB="25400" anchor="ctr">
                    <a:solidFill>
                      <a:srgbClr val="FFFFFF"/>
                    </a:solidFill>
                  </a:tcPr>
                </a:tc>
                <a:tc>
                  <a:txBody>
                    <a:bodyPr wrap="square"/>
                    <a:lstStyle/>
                    <a:p>
                      <a:pPr algn="ctr"/>
                      <a:r>
                        <a:rPr sz="1200" b="0">
                          <a:solidFill>
                            <a:srgbClr val="37474F"/>
                          </a:solidFill>
                          <a:latin typeface="Calibri"/>
                        </a:rPr>
                        <a:t>3 000 €</a:t>
                      </a:r>
                    </a:p>
                  </a:txBody>
                  <a:tcPr marL="88900" marR="88900" marT="25400" marB="25400" anchor="ctr">
                    <a:solidFill>
                      <a:srgbClr val="FFFFFF"/>
                    </a:solidFill>
                  </a:tcPr>
                </a:tc>
              </a:tr>
              <a:tr h="475488">
                <a:tc>
                  <a:txBody>
                    <a:bodyPr wrap="square"/>
                    <a:lstStyle/>
                    <a:p>
                      <a:pPr algn="l"/>
                      <a:r>
                        <a:rPr sz="1200" b="1">
                          <a:solidFill>
                            <a:srgbClr val="37474F"/>
                          </a:solidFill>
                          <a:latin typeface="Calibri"/>
                        </a:rPr>
                        <a:t>Coût global 30 ans</a:t>
                      </a:r>
                    </a:p>
                  </a:txBody>
                  <a:tcPr marL="88900" marR="88900" marT="25400" marB="25400" anchor="ctr">
                    <a:solidFill>
                      <a:srgbClr val="E8F5E9"/>
                    </a:solidFill>
                  </a:tcPr>
                </a:tc>
                <a:tc>
                  <a:txBody>
                    <a:bodyPr wrap="square"/>
                    <a:lstStyle/>
                    <a:p>
                      <a:pPr algn="ctr"/>
                      <a:r>
                        <a:rPr sz="1200" b="0">
                          <a:solidFill>
                            <a:srgbClr val="37474F"/>
                          </a:solidFill>
                          <a:latin typeface="Calibri"/>
                        </a:rPr>
                        <a:t>250 650 €</a:t>
                      </a:r>
                    </a:p>
                  </a:txBody>
                  <a:tcPr marL="88900" marR="88900" marT="25400" marB="25400" anchor="ctr">
                    <a:solidFill>
                      <a:srgbClr val="E8F5E9"/>
                    </a:solidFill>
                  </a:tcPr>
                </a:tc>
                <a:tc>
                  <a:txBody>
                    <a:bodyPr wrap="square"/>
                    <a:lstStyle/>
                    <a:p>
                      <a:pPr algn="ctr"/>
                      <a:r>
                        <a:rPr sz="1200" b="0">
                          <a:solidFill>
                            <a:srgbClr val="37474F"/>
                          </a:solidFill>
                          <a:latin typeface="Calibri"/>
                        </a:rPr>
                        <a:t>159 000 €</a:t>
                      </a:r>
                    </a:p>
                  </a:txBody>
                  <a:tcPr marL="88900" marR="88900" marT="25400" marB="25400" anchor="ctr">
                    <a:solidFill>
                      <a:srgbClr val="E8F5E9"/>
                    </a:solidFill>
                  </a:tcPr>
                </a:tc>
                <a:tc>
                  <a:txBody>
                    <a:bodyPr wrap="square"/>
                    <a:lstStyle/>
                    <a:p>
                      <a:pPr algn="ctr"/>
                      <a:r>
                        <a:rPr sz="1200" b="0">
                          <a:solidFill>
                            <a:srgbClr val="37474F"/>
                          </a:solidFill>
                          <a:latin typeface="Calibri"/>
                        </a:rPr>
                        <a:t>130 000 €</a:t>
                      </a:r>
                    </a:p>
                  </a:txBody>
                  <a:tcPr marL="88900" marR="88900" marT="25400" marB="25400" anchor="ctr">
                    <a:solidFill>
                      <a:srgbClr val="E8F5E9"/>
                    </a:solidFill>
                  </a:tcPr>
                </a:tc>
              </a:tr>
              <a:tr h="475488">
                <a:tc>
                  <a:txBody>
                    <a:bodyPr wrap="square"/>
                    <a:lstStyle/>
                    <a:p>
                      <a:pPr algn="l"/>
                      <a:r>
                        <a:rPr sz="1200" b="1">
                          <a:solidFill>
                            <a:srgbClr val="37474F"/>
                          </a:solidFill>
                          <a:latin typeface="Calibri"/>
                        </a:rPr>
                        <a:t>Retour sur investissement</a:t>
                      </a:r>
                    </a:p>
                  </a:txBody>
                  <a:tcPr marL="88900" marR="88900" marT="25400" marB="25400" anchor="ctr">
                    <a:solidFill>
                      <a:srgbClr val="FFFFFF"/>
                    </a:solidFill>
                  </a:tcPr>
                </a:tc>
                <a:tc>
                  <a:txBody>
                    <a:bodyPr wrap="square"/>
                    <a:lstStyle/>
                    <a:p>
                      <a:pPr algn="ctr"/>
                      <a:r>
                        <a:rPr sz="1200" b="0">
                          <a:solidFill>
                            <a:srgbClr val="37474F"/>
                          </a:solidFill>
                          <a:latin typeface="Calibri"/>
                        </a:rPr>
                        <a:t>—</a:t>
                      </a:r>
                    </a:p>
                  </a:txBody>
                  <a:tcPr marL="88900" marR="88900" marT="25400" marB="25400" anchor="ctr">
                    <a:solidFill>
                      <a:srgbClr val="FFFFFF"/>
                    </a:solidFill>
                  </a:tcPr>
                </a:tc>
                <a:tc>
                  <a:txBody>
                    <a:bodyPr wrap="square"/>
                    <a:lstStyle/>
                    <a:p>
                      <a:pPr algn="ctr"/>
                      <a:r>
                        <a:rPr sz="1200" b="0">
                          <a:solidFill>
                            <a:srgbClr val="37474F"/>
                          </a:solidFill>
                          <a:latin typeface="Calibri"/>
                        </a:rPr>
                        <a:t>5,7 ans</a:t>
                      </a:r>
                    </a:p>
                  </a:txBody>
                  <a:tcPr marL="88900" marR="88900" marT="25400" marB="25400" anchor="ctr">
                    <a:solidFill>
                      <a:srgbClr val="FFFFFF"/>
                    </a:solidFill>
                  </a:tcPr>
                </a:tc>
                <a:tc>
                  <a:txBody>
                    <a:bodyPr wrap="square"/>
                    <a:lstStyle/>
                    <a:p>
                      <a:pPr algn="ctr"/>
                      <a:r>
                        <a:rPr sz="1200" b="0">
                          <a:solidFill>
                            <a:srgbClr val="37474F"/>
                          </a:solidFill>
                          <a:latin typeface="Calibri"/>
                        </a:rPr>
                        <a:t>5,4 ans</a:t>
                      </a:r>
                    </a:p>
                  </a:txBody>
                  <a:tcPr marL="88900" marR="88900" marT="25400" marB="25400" anchor="ctr">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3716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65760"/>
            <a:ext cx="10515600" cy="822960"/>
          </a:xfrm>
          <a:prstGeom prst="rect">
            <a:avLst/>
          </a:prstGeom>
          <a:noFill/>
        </p:spPr>
        <p:txBody>
          <a:bodyPr wrap="square" anchor="ctr" lIns="25400" rIns="25400" tIns="25400" bIns="25400">
            <a:spAutoFit/>
          </a:bodyPr>
          <a:lstStyle/>
          <a:p>
            <a:pPr algn="l">
              <a:lnSpc>
                <a:spcPct val="100000"/>
              </a:lnSpc>
              <a:spcAft>
                <a:spcPts val="400"/>
              </a:spcAft>
            </a:pPr>
            <a:r>
              <a:rPr sz="3200" b="1" i="0">
                <a:solidFill>
                  <a:srgbClr val="FFFFFF"/>
                </a:solidFill>
                <a:latin typeface="Calibri"/>
              </a:rPr>
              <a:t>Conclusion &amp; recommandation</a:t>
            </a:r>
          </a:p>
        </p:txBody>
      </p:sp>
      <p:sp>
        <p:nvSpPr>
          <p:cNvPr id="5" name="Rounded Rectangle 4"/>
          <p:cNvSpPr/>
          <p:nvPr/>
        </p:nvSpPr>
        <p:spPr>
          <a:xfrm>
            <a:off x="822960" y="1737360"/>
            <a:ext cx="10515600" cy="22860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1874519"/>
            <a:ext cx="10058400" cy="457200"/>
          </a:xfrm>
          <a:prstGeom prst="rect">
            <a:avLst/>
          </a:prstGeom>
          <a:noFill/>
        </p:spPr>
        <p:txBody>
          <a:bodyPr wrap="square" anchor="t" lIns="25400" rIns="25400" tIns="25400" bIns="25400">
            <a:spAutoFit/>
          </a:bodyPr>
          <a:lstStyle/>
          <a:p>
            <a:pPr algn="l">
              <a:lnSpc>
                <a:spcPct val="100000"/>
              </a:lnSpc>
              <a:spcAft>
                <a:spcPts val="400"/>
              </a:spcAft>
            </a:pPr>
            <a:r>
              <a:rPr sz="2200" b="1" i="0">
                <a:solidFill>
                  <a:srgbClr val="1B5E20"/>
                </a:solidFill>
                <a:latin typeface="Calibri"/>
              </a:rPr>
              <a:t>→ Je recommande le Scénario 2 (rénovation globale)</a:t>
            </a:r>
          </a:p>
        </p:txBody>
      </p:sp>
      <p:sp>
        <p:nvSpPr>
          <p:cNvPr id="7" name="TextBox 6"/>
          <p:cNvSpPr txBox="1"/>
          <p:nvPr/>
        </p:nvSpPr>
        <p:spPr>
          <a:xfrm>
            <a:off x="1097280" y="2468880"/>
            <a:ext cx="10058400" cy="1463040"/>
          </a:xfrm>
          <a:prstGeom prst="rect">
            <a:avLst/>
          </a:prstGeom>
          <a:noFill/>
        </p:spPr>
        <p:txBody>
          <a:bodyPr wrap="square">
            <a:spAutoFit/>
          </a:bodyPr>
          <a:lstStyle/>
          <a:p>
            <a:pPr>
              <a:lnSpc>
                <a:spcPct val="105000"/>
              </a:lnSpc>
              <a:spcAft>
                <a:spcPts val="700"/>
              </a:spcAft>
            </a:pPr>
            <a:r>
              <a:rPr sz="1400" b="1">
                <a:solidFill>
                  <a:srgbClr val="2E7D32"/>
                </a:solidFill>
                <a:latin typeface="Calibri"/>
              </a:rPr>
              <a:t>●  </a:t>
            </a:r>
            <a:r>
              <a:rPr sz="1400" b="1">
                <a:solidFill>
                  <a:srgbClr val="37474F"/>
                </a:solidFill>
                <a:latin typeface="Calibri"/>
              </a:rPr>
              <a:t>Performance maximale : </a:t>
            </a:r>
            <a:r>
              <a:rPr sz="1400">
                <a:solidFill>
                  <a:srgbClr val="37474F"/>
                </a:solidFill>
                <a:latin typeface="Calibri"/>
              </a:rPr>
              <a:t>passage de G à A / B (énergie / climat)</a:t>
            </a:r>
          </a:p>
          <a:p>
            <a:pPr>
              <a:lnSpc>
                <a:spcPct val="105000"/>
              </a:lnSpc>
              <a:spcAft>
                <a:spcPts val="700"/>
              </a:spcAft>
            </a:pPr>
            <a:r>
              <a:rPr sz="1400" b="1">
                <a:solidFill>
                  <a:srgbClr val="2E7D32"/>
                </a:solidFill>
                <a:latin typeface="Calibri"/>
              </a:rPr>
              <a:t>●  </a:t>
            </a:r>
            <a:r>
              <a:rPr sz="1400" b="1">
                <a:solidFill>
                  <a:srgbClr val="37474F"/>
                </a:solidFill>
                <a:latin typeface="Calibri"/>
              </a:rPr>
              <a:t>Sortie du fioul : </a:t>
            </a:r>
            <a:r>
              <a:rPr sz="1400">
                <a:solidFill>
                  <a:srgbClr val="37474F"/>
                </a:solidFill>
                <a:latin typeface="Calibri"/>
              </a:rPr>
              <a:t>énergie renouvelable et locale (granulés savoyards)</a:t>
            </a:r>
          </a:p>
          <a:p>
            <a:pPr>
              <a:lnSpc>
                <a:spcPct val="105000"/>
              </a:lnSpc>
              <a:spcAft>
                <a:spcPts val="700"/>
              </a:spcAft>
            </a:pPr>
            <a:r>
              <a:rPr sz="1400" b="1">
                <a:solidFill>
                  <a:srgbClr val="2E7D32"/>
                </a:solidFill>
                <a:latin typeface="Calibri"/>
              </a:rPr>
              <a:t>●  </a:t>
            </a:r>
            <a:r>
              <a:rPr sz="1400" b="1">
                <a:solidFill>
                  <a:srgbClr val="37474F"/>
                </a:solidFill>
                <a:latin typeface="Calibri"/>
              </a:rPr>
              <a:t>Meilleure rentabilité long terme : </a:t>
            </a:r>
            <a:r>
              <a:rPr sz="1400">
                <a:solidFill>
                  <a:srgbClr val="37474F"/>
                </a:solidFill>
                <a:latin typeface="Calibri"/>
              </a:rPr>
              <a:t>coût global le plus bas et ROI de 5,4 ans</a:t>
            </a:r>
          </a:p>
          <a:p>
            <a:pPr>
              <a:lnSpc>
                <a:spcPct val="105000"/>
              </a:lnSpc>
              <a:spcAft>
                <a:spcPts val="700"/>
              </a:spcAft>
            </a:pPr>
            <a:r>
              <a:rPr sz="1400" b="1">
                <a:solidFill>
                  <a:srgbClr val="2E7D32"/>
                </a:solidFill>
                <a:latin typeface="Calibri"/>
              </a:rPr>
              <a:t>●  </a:t>
            </a:r>
            <a:r>
              <a:rPr sz="1400" b="1">
                <a:solidFill>
                  <a:srgbClr val="37474F"/>
                </a:solidFill>
                <a:latin typeface="Calibri"/>
              </a:rPr>
              <a:t>Compatible avec le bâti : </a:t>
            </a:r>
            <a:r>
              <a:rPr sz="1400">
                <a:solidFill>
                  <a:srgbClr val="37474F"/>
                </a:solidFill>
                <a:latin typeface="Calibri"/>
              </a:rPr>
              <a:t>ITE biosourcée + radiateurs fonte conservés</a:t>
            </a:r>
          </a:p>
        </p:txBody>
      </p:sp>
      <p:sp>
        <p:nvSpPr>
          <p:cNvPr id="8" name="Rectangle 7"/>
          <p:cNvSpPr/>
          <p:nvPr/>
        </p:nvSpPr>
        <p:spPr>
          <a:xfrm>
            <a:off x="0" y="4297680"/>
            <a:ext cx="12191695" cy="256032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4572000"/>
            <a:ext cx="10515600" cy="548640"/>
          </a:xfrm>
          <a:prstGeom prst="rect">
            <a:avLst/>
          </a:prstGeom>
          <a:noFill/>
        </p:spPr>
        <p:txBody>
          <a:bodyPr wrap="square" anchor="t" lIns="25400" rIns="25400" tIns="25400" bIns="25400">
            <a:spAutoFit/>
          </a:bodyPr>
          <a:lstStyle/>
          <a:p>
            <a:pPr algn="l">
              <a:lnSpc>
                <a:spcPct val="100000"/>
              </a:lnSpc>
              <a:spcAft>
                <a:spcPts val="400"/>
              </a:spcAft>
            </a:pPr>
            <a:r>
              <a:rPr sz="1500" b="0" i="1">
                <a:solidFill>
                  <a:srgbClr val="C8E6C9"/>
                </a:solidFill>
                <a:latin typeface="Calibri"/>
              </a:rPr>
              <a:t>Si le budget initial est contraint, le Scénario 1 reste une excellente première étape (G → B / B).</a:t>
            </a:r>
          </a:p>
        </p:txBody>
      </p:sp>
      <p:sp>
        <p:nvSpPr>
          <p:cNvPr id="10" name="TextBox 9"/>
          <p:cNvSpPr txBox="1"/>
          <p:nvPr/>
        </p:nvSpPr>
        <p:spPr>
          <a:xfrm>
            <a:off x="822960" y="5394960"/>
            <a:ext cx="10515600" cy="1280160"/>
          </a:xfrm>
          <a:prstGeom prst="rect">
            <a:avLst/>
          </a:prstGeom>
          <a:noFill/>
        </p:spPr>
        <p:txBody>
          <a:bodyPr wrap="square" anchor="t" lIns="25400" rIns="25400" tIns="25400" bIns="25400">
            <a:spAutoFit/>
          </a:bodyPr>
          <a:lstStyle/>
          <a:p>
            <a:pPr algn="l">
              <a:lnSpc>
                <a:spcPct val="110000"/>
              </a:lnSpc>
              <a:spcAft>
                <a:spcPts val="400"/>
              </a:spcAft>
            </a:pPr>
            <a:r>
              <a:rPr sz="3000" b="1" i="0">
                <a:solidFill>
                  <a:srgbClr val="FFFFFF"/>
                </a:solidFill>
                <a:latin typeface="Calibri"/>
              </a:rPr>
              <a:t>Merci de votre attention.</a:t>
            </a:r>
          </a:p>
          <a:p>
            <a:pPr algn="l">
              <a:lnSpc>
                <a:spcPct val="110000"/>
              </a:lnSpc>
              <a:spcAft>
                <a:spcPts val="400"/>
              </a:spcAft>
            </a:pPr>
            <a:r>
              <a:rPr sz="1600" b="0" i="0">
                <a:solidFill>
                  <a:srgbClr val="C8E6C9"/>
                </a:solidFill>
                <a:latin typeface="Calibri"/>
              </a:rPr>
              <a:t>Je suis à votre disposition pour vos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