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Evolution des consommations facturees</a:t>
            </a:r>
          </a:p>
        </c:rich>
      </c:tx>
      <c:layout/>
      <c:overlay val="0"/>
    </c:title>
    <c:autoTitleDeleted val="0"/>
    <c:plotArea>
      <c:barChart>
        <c:barDir val="col"/>
        <c:grouping val="clustered"/>
        <c:ser>
          <c:idx val="0"/>
          <c:order val="0"/>
          <c:tx>
            <c:strRef>
              <c:f>Sheet1!$B$1</c:f>
              <c:strCache>
                <c:ptCount val="1"/>
                <c:pt idx="0">
                  <c:v>Fioul (L)</c:v>
                </c:pt>
              </c:strCache>
            </c:strRef>
          </c:tx>
          <c:spPr>
            <a:solidFill>
              <a:srgbClr val="E65100"/>
            </a:solidFill>
          </c:spPr>
          <c:cat>
            <c:strRef>
              <c:f>Sheet1!$A$2:$A$6</c:f>
              <c:strCache>
                <c:ptCount val="5"/>
                <c:pt idx="0">
                  <c:v>19-20</c:v>
                </c:pt>
                <c:pt idx="1">
                  <c:v>20-21</c:v>
                </c:pt>
                <c:pt idx="2">
                  <c:v>21-22</c:v>
                </c:pt>
                <c:pt idx="3">
                  <c:v>22-23</c:v>
                </c:pt>
                <c:pt idx="4">
                  <c:v>23-24</c:v>
                </c:pt>
              </c:strCache>
            </c:strRef>
          </c:cat>
          <c:val>
            <c:numRef>
              <c:f>Sheet1!$B$2:$B$6</c:f>
              <c:numCache>
                <c:formatCode>General</c:formatCode>
                <c:ptCount val="5"/>
                <c:pt idx="0">
                  <c:v>1500</c:v>
                </c:pt>
                <c:pt idx="1">
                  <c:v>1800</c:v>
                </c:pt>
                <c:pt idx="2">
                  <c:v>1700</c:v>
                </c:pt>
                <c:pt idx="3">
                  <c:v>1400</c:v>
                </c:pt>
                <c:pt idx="4">
                  <c:v>1400</c:v>
                </c:pt>
              </c:numCache>
            </c:numRef>
          </c:val>
        </c:ser>
        <c:ser>
          <c:idx val="1"/>
          <c:order val="1"/>
          <c:tx>
            <c:strRef>
              <c:f>Sheet1!$C$1</c:f>
              <c:strCache>
                <c:ptCount val="1"/>
                <c:pt idx="0">
                  <c:v>Electricite (kWh)</c:v>
                </c:pt>
              </c:strCache>
            </c:strRef>
          </c:tx>
          <c:spPr>
            <a:solidFill>
              <a:srgbClr val="1565C0"/>
            </a:solidFill>
          </c:spPr>
          <c:cat>
            <c:strRef>
              <c:f>Sheet1!$A$2:$A$6</c:f>
              <c:strCache>
                <c:ptCount val="5"/>
                <c:pt idx="0">
                  <c:v>19-20</c:v>
                </c:pt>
                <c:pt idx="1">
                  <c:v>20-21</c:v>
                </c:pt>
                <c:pt idx="2">
                  <c:v>21-22</c:v>
                </c:pt>
                <c:pt idx="3">
                  <c:v>22-23</c:v>
                </c:pt>
                <c:pt idx="4">
                  <c:v>23-24</c:v>
                </c:pt>
              </c:strCache>
            </c:strRef>
          </c:cat>
          <c:val>
            <c:numRef>
              <c:f>Sheet1!$C$2:$C$6</c:f>
              <c:numCache>
                <c:formatCode>General</c:formatCode>
                <c:ptCount val="5"/>
                <c:pt idx="0">
                  <c:v>5552</c:v>
                </c:pt>
                <c:pt idx="1">
                  <c:v>5679</c:v>
                </c:pt>
                <c:pt idx="2">
                  <c:v>5334</c:v>
                </c:pt>
                <c:pt idx="3">
                  <c:v>5207</c:v>
                </c:pt>
                <c:pt idx="4">
                  <c:v>5461</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900"/>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200"/>
            </a:pPr>
            <a:r>
              <a:t>Repartition des depenses energetiques</a:t>
            </a:r>
          </a:p>
        </c:rich>
      </c:tx>
      <c:layout/>
      <c:overlay val="0"/>
    </c:title>
    <c:autoTitleDeleted val="0"/>
    <c:plotArea>
      <c:pieChart>
        <c:varyColors val="1"/>
        <c:ser>
          <c:idx val="0"/>
          <c:order val="0"/>
          <c:tx>
            <c:strRef>
              <c:f>Sheet1!$B$1</c:f>
              <c:strCache>
                <c:ptCount val="1"/>
                <c:pt idx="0">
                  <c:v>Postes</c:v>
                </c:pt>
              </c:strCache>
            </c:strRef>
          </c:tx>
          <c:dPt>
            <c:idx val="0"/>
            <c:spPr>
              <a:solidFill>
                <a:srgbClr val="E65100"/>
              </a:solidFill>
            </c:spPr>
          </c:dPt>
          <c:dPt>
            <c:idx val="1"/>
            <c:spPr>
              <a:solidFill>
                <a:srgbClr val="1565C0"/>
              </a:solidFill>
            </c:spPr>
          </c:dPt>
          <c:dPt>
            <c:idx val="2"/>
            <c:spPr>
              <a:solidFill>
                <a:srgbClr val="90A4AE"/>
              </a:solidFill>
            </c:spPr>
          </c:dPt>
          <c:cat>
            <c:strRef>
              <c:f>Sheet1!$A$2:$A$4</c:f>
              <c:strCache>
                <c:ptCount val="3"/>
                <c:pt idx="0">
                  <c:v>Chauffage (fioul + bois)</c:v>
                </c:pt>
                <c:pt idx="1">
                  <c:v>ECS (ballon elec.)</c:v>
                </c:pt>
                <c:pt idx="2">
                  <c:v>Electricite specifique</c:v>
                </c:pt>
              </c:strCache>
            </c:strRef>
          </c:cat>
          <c:val>
            <c:numRef>
              <c:f>Sheet1!$B$2:$B$4</c:f>
              <c:numCache>
                <c:formatCode>General</c:formatCode>
                <c:ptCount val="3"/>
                <c:pt idx="0">
                  <c:v>78</c:v>
                </c:pt>
                <c:pt idx="1">
                  <c:v>9</c:v>
                </c:pt>
                <c:pt idx="2">
                  <c:v>13</c:v>
                </c:pt>
              </c:numCache>
            </c:numRef>
          </c:val>
        </c:ser>
        <c:dLbls>
          <c:numFmt formatCode="0&quot;%&quot;" sourceLinked="0"/>
          <c:txPr>
            <a:bodyPr/>
            <a:lstStyle/>
            <a:p>
              <a:pPr>
                <a:defRPr sz="1200" b="1">
                  <a:solidFill>
                    <a:srgbClr val="FFFFFF"/>
                  </a:solidFill>
                </a:defRPr>
              </a:pPr>
            </a:p>
          </c:txPr>
          <c:dLblPos val="inEnd"/>
          <c:showLegendKey val="0"/>
          <c:showVal val="1"/>
          <c:showCatName val="0"/>
          <c:showSerName val="0"/>
          <c:showPercent val="0"/>
          <c:showBubbleSize val="0"/>
          <c:showLeaderLines val="1"/>
        </c:dLbls>
      </c:pieChart>
    </c:plotArea>
    <c:legend>
      <c:legendPos val="b"/>
      <c:overlay val="0"/>
      <c:txPr>
        <a:bodyPr/>
        <a:lstStyle/>
        <a:p>
          <a:pPr>
            <a:defRPr sz="1000"/>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Deperditions</c:v>
                </c:pt>
              </c:strCache>
            </c:strRef>
          </c:tx>
          <c:dPt>
            <c:idx val="0"/>
            <c:spPr>
              <a:solidFill>
                <a:srgbClr val="C62828"/>
              </a:solidFill>
            </c:spPr>
          </c:dPt>
          <c:dPt>
            <c:idx val="1"/>
            <c:spPr>
              <a:solidFill>
                <a:srgbClr val="E65100"/>
              </a:solidFill>
            </c:spPr>
          </c:dPt>
          <c:dPt>
            <c:idx val="2"/>
            <c:spPr>
              <a:solidFill>
                <a:srgbClr val="1565C0"/>
              </a:solidFill>
            </c:spPr>
          </c:dPt>
          <c:dPt>
            <c:idx val="3"/>
            <c:spPr>
              <a:solidFill>
                <a:srgbClr val="8E24AA"/>
              </a:solidFill>
            </c:spPr>
          </c:dPt>
          <c:dPt>
            <c:idx val="4"/>
            <c:spPr>
              <a:solidFill>
                <a:srgbClr val="2E7D32"/>
              </a:solidFill>
            </c:spPr>
          </c:dPt>
          <c:dPt>
            <c:idx val="5"/>
            <c:spPr>
              <a:solidFill>
                <a:srgbClr val="90A4AE"/>
              </a:solidFill>
            </c:spPr>
          </c:dPt>
          <c:cat>
            <c:strRef>
              <c:f>Sheet1!$A$2:$A$7</c:f>
              <c:strCache>
                <c:ptCount val="6"/>
                <c:pt idx="0">
                  <c:v>Murs</c:v>
                </c:pt>
                <c:pt idx="1">
                  <c:v>Toiture</c:v>
                </c:pt>
                <c:pt idx="2">
                  <c:v>Ventilation</c:v>
                </c:pt>
                <c:pt idx="3">
                  <c:v>Ponts therm.</c:v>
                </c:pt>
                <c:pt idx="4">
                  <c:v>Fenetres</c:v>
                </c:pt>
                <c:pt idx="5">
                  <c:v>Plancher</c:v>
                </c:pt>
              </c:strCache>
            </c:strRef>
          </c:cat>
          <c:val>
            <c:numRef>
              <c:f>Sheet1!$B$2:$B$7</c:f>
              <c:numCache>
                <c:formatCode>General</c:formatCode>
                <c:ptCount val="6"/>
                <c:pt idx="0">
                  <c:v>42</c:v>
                </c:pt>
                <c:pt idx="1">
                  <c:v>20</c:v>
                </c:pt>
                <c:pt idx="2">
                  <c:v>20</c:v>
                </c:pt>
                <c:pt idx="3">
                  <c:v>10</c:v>
                </c:pt>
                <c:pt idx="4">
                  <c:v>4</c:v>
                </c:pt>
                <c:pt idx="5">
                  <c:v>4</c:v>
                </c:pt>
              </c:numCache>
            </c:numRef>
          </c:val>
        </c:ser>
        <c:dLbls>
          <c:numFmt formatCode="0&quot;%&quot;" sourceLinked="0"/>
          <c:txPr>
            <a:bodyPr/>
            <a:lstStyle/>
            <a:p>
              <a:pPr>
                <a:defRPr sz="1100" b="1">
                  <a:solidFill>
                    <a:srgbClr val="FFFFFF"/>
                  </a:solidFill>
                </a:defRPr>
              </a:pPr>
            </a:p>
          </c:txPr>
          <c:dLblPos val="inEnd"/>
          <c:showLegendKey val="0"/>
          <c:showVal val="1"/>
          <c:showCatName val="0"/>
          <c:showSerName val="0"/>
          <c:showPercent val="0"/>
          <c:showBubbleSize val="0"/>
          <c:showLeaderLines val="1"/>
        </c:dLbls>
      </c:pieChart>
    </c:plotArea>
    <c:legend>
      <c:legendPos/>
      <c:overlay val="0"/>
      <c:txPr>
        <a:bodyPr/>
        <a:lstStyle/>
        <a:p>
          <a:pPr>
            <a:defRPr sz="1000"/>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Cout global 30 ans (travaux + energie, +5 %/an)</a:t>
            </a:r>
          </a:p>
        </c:rich>
      </c:tx>
      <c:layout/>
      <c:overlay val="0"/>
    </c:title>
    <c:autoTitleDeleted val="0"/>
    <c:plotArea>
      <c:barChart>
        <c:barDir val="col"/>
        <c:grouping val="clustered"/>
        <c:ser>
          <c:idx val="0"/>
          <c:order val="0"/>
          <c:tx>
            <c:strRef>
              <c:f>Sheet1!$B$1</c:f>
              <c:strCache>
                <c:ptCount val="1"/>
                <c:pt idx="0">
                  <c:v>Cout global sur 30 ans (€)</c:v>
                </c:pt>
              </c:strCache>
            </c:strRef>
          </c:tx>
          <c:dPt>
            <c:idx val="0"/>
            <c:spPr>
              <a:solidFill>
                <a:srgbClr val="C62828"/>
              </a:solidFill>
            </c:spPr>
          </c:dPt>
          <c:dPt>
            <c:idx val="1"/>
            <c:spPr>
              <a:solidFill>
                <a:srgbClr val="1565C0"/>
              </a:solidFill>
            </c:spPr>
          </c:dPt>
          <c:dPt>
            <c:idx val="2"/>
            <c:spPr>
              <a:solidFill>
                <a:srgbClr val="1B5E20"/>
              </a:solidFill>
            </c:spPr>
          </c:dPt>
          <c:cat>
            <c:strRef>
              <c:f>Sheet1!$A$2:$A$4</c:f>
              <c:strCache>
                <c:ptCount val="3"/>
                <c:pt idx="0">
                  <c:v>Etat initial</c:v>
                </c:pt>
                <c:pt idx="1">
                  <c:v>Scenario 1</c:v>
                </c:pt>
                <c:pt idx="2">
                  <c:v>Scenario 2</c:v>
                </c:pt>
              </c:strCache>
            </c:strRef>
          </c:cat>
          <c:val>
            <c:numRef>
              <c:f>Sheet1!$B$2:$B$4</c:f>
              <c:numCache>
                <c:formatCode>General</c:formatCode>
                <c:ptCount val="3"/>
                <c:pt idx="0">
                  <c:v>252000</c:v>
                </c:pt>
                <c:pt idx="1">
                  <c:v>188500</c:v>
                </c:pt>
                <c:pt idx="2">
                  <c:v>169000</c:v>
                </c:pt>
              </c:numCache>
            </c:numRef>
          </c:val>
        </c:ser>
        <c:dLbls>
          <c:numFmt formatCode="# ##0 &quot;€&quot;" sourceLinked="0"/>
          <c:txPr>
            <a:bodyPr/>
            <a:lstStyle/>
            <a:p>
              <a:pPr>
                <a:defRPr sz="1000" b="1"/>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suis Guillaume Tardy. Je vous presente mon etude de renovation energetique realisee pour un maitre d'ouvrage occupant : une ancienne ferme savoyarde de la fin du XIXe siecle a Saint-Jean-de-Chevelu. Ma demarche : diagnostiquer l'existant, le comparer aux references, puis proposer deux scenarios de renovation performante - un par etapes et un global - chiffres et argumentes. Le photovoltaique et la climatisation sont hors etude.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mon plan : contexte et moyens du maitre d'ouvrage, puis le diagnostic technique complet. J'en tire les deperditions et le DPE actuel. Je presente ensuite mes deux scenarios, le calcul de leur DPE, leur dimensionnement, l'analyse economique en cout global, et je termine par la sobriete et ma recommandation.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batiment est une ancienne ferme savoyarde de la fin du XIXe, 99 m2 chauffes sur deux niveaux sous combles perdus, avec des murs en pierre de 50 cm - forte inertie mais aucune isolation. Cote foyer, element essentiel pour les aides : une famille de 4 personnes, un revenu d'environ 40 000 euros par an - ce qui les place en categorie 'revenus modestes' au sens de l'Anah - et un apport personnel de 10 000 euros. Ils ont un budget pour des travaux importants, mais veulent qu'ils soient justifies par les economies et bien aides. Orientation Sud-Est : un atout pour les apports solaires d'hiver.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m'appuie sur les plans et la coupe fournis. Le RDC regroupe les pieces de vie, l'etage les chambres. La coupe montre les combles perdus non chauffes au-dessus de l'etage, une interface tres deperditive. A noter : les plans portent encore les anciennes menuiseries de 1990, mais elles ont ete remplacees en 2019 par du double vitrage bois pose en tunnel.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L'analyse bioclimatique : le batiment est sur un versant Sud-Est a 498 m, en milieu rural. Le diagramme de masque montre un masque lointain - le relief - qui limite un peu les apports a certaines heures, mais l'exposition reste bonne. L'orientation Sud-Est est un atout : apports solaires gratuits en hiver. Le revers : un risque de surchauffe estivale, que je traite par des isolants dephasants et la gestion des volets.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Lors de la rencontre, j'ai recueilli ses objectifs : baisser ses factures, gagner en confort hiver comme ete, sortir du fioul, reduire son empreinte carbone et valoriser son bien. Cote moyens : un budget complete par un apport de 10 000 euros, mais un foyer modeste qui veut des investissements justifies par les economies et bien aides. Ses contraintes orientent le projet : preserver le cachet de la ferme, respecter les murs en pierre et gerer l'humidite - d'ou une isolation par l'exterieur perspirante.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formule des objectifs de confort sur les quatre dimensions attendues : thermique d'hiver, thermique d'ete, qualite de l'air et confort visuel. Hiver : fin des parois froides via isolation et regulation. Ete : dephasage des isolants. Air : VMC hygro B. Visuel : tout LED et valorisation de la lumiere naturelle. J'ajoute l'acoustique, amelioree par l'ITE. Enfin, j'ai verifie qu'aucun besoin d'accessibilite PMR n'etait a prevoir.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analyse les factures sur 5 ans, au-dela des 3 ans minimum attendus. Chauffage : chaudiere fioul de 1991 + poele bois. Moyennes : 1 560 L de fioul, 6 steres, 5 447 kWh d'electricite dont l'ECS. Le chauffage pese environ 80 % de la depense. J'ai integre la rigueur climatique - zone H1, 498 m, donc des besoins eleves - verifie la coherence entre factures et DPE, et compare a la moyenne nationale : 535 contre environ 250 kWh primaire au m2, soit plus du double. Une vraie passoire thermique.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detaille la repartition des depenses par poste, comme l'attend la grille : le chauffage represente pres de 80 % de la depense, l'ECS electrique environ 10 %, et l'electricite specifique le reste. J'ai integre la rigueur climatique - zone H1, 498 m - et verifie la coherence entre les factures et l'estimation du DPE. Point important que je tiens a souligner : compare a la moyenne nationale, ce logement consomme 535 kWh primaire au metre carre contre environ 250 en moyenne, soit plus du double. Cela confirme objectivement le caractere energivore du batiment.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L'enveloppe poste par poste. Murs pierre 50 cm : inertie mais pas d'isolation. Combles : seulement 8 cm de laine ancienne. Menuiseries : double vitrage bois argon de 2019, performantes. Plancher sur terre-plein non isole. Etancheite a l'air non maitrisee. Conclusion : comme les fenetres sont deja bonnes, je concentre l'isolation sur les murs et la toiture.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systemes : chaudiere fioul de 1991 sans sonde exterieure, alimentant des radiateurs fonte haute temperature sans robinets thermostatiques - donc pas de reglage piece par piece. Poele bois 6 kW non labellise. ECS par vieux ballon electrique hors volume chauffe, source de pertes. Aucune VMC. Ces trois points - chauffage, regulation, ventilation - sont mes principaux leviers.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conforts souvent oublies mais notes. Eclairage : 25 % d'halogenes energivores, 75 % de LED, 200 W ; je preconise le tout LED et la lumiere naturelle. QAI : la ventilation naturelle ne maitrise pas les debits et favorise l'humidite ; je propose une VMC hygro B. Acoustique : les bruits exterieurs sont mal filtres, or l'isolation par l'exterieur ameliore aussi l'affaiblissement acoustique.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coeur du diagnostic. A gauche, le calcul des deperditions : 42 % par les murs, 20 % toiture, 20 % ventilation, 10 % ponts thermiques, 4 % fenetres et plancher. A droite, le DPE : classe G sur les deux axes - 535 kWh primaire au m2, 156 kg de CO2, facture de 7 100 a 9 610 euros par an. Le Ubat de 2,03 vaut environ quatre fois la reference. Murs, toiture et ventilation cumulent plus de 80 % des pertes : c'est ce qui guide mes priorites de travaux.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 premier scenario est une renovation performante PAR ETAPES. L'etape 1 cible l'enveloppe : ITE laine de bois 200 mm, combles ouate 400 mm, VMC hygro B, et je remplace le vieux ballon par un chauffe-eau thermodynamique. La chaudiere fioul est conservee a ce stade. C'est coherent avec l'attendu : cette etape traite les DEUX premiers postes d'isolation - murs et toiture - et fait gagner 3 classes, de G a D. En reduisant d'abord les besoins, on prepare le changement de chauffage a l'etape suivante, qu'on pourra dimensionner plus petit. Sa limite, et c'est important : meme bien isole, le fioul plafonne le DPE a D a cause de ses emissions de CO2. Reglementation : l'ITE necessite une declaration prealable en mairie. Investissement : environ 42 500 euros.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 second scenario est une renovation GLOBALE : toute l'isolation du scenario 1 en une fois, plus le remplacement du chauffage. J'ai compare deux solutions bas carbone. La PAC air/eau donne la meilleure energie primaire, mais elle est moins efficace sur les radiateurs fonte HAUTE temperature deja en place. La chaudiere a granules, elle, est tres adaptee a ces radiateurs et au bati ancien, avec une energie renouvelable locale. Je la retiens, AVEC tremie integree pour eviter le silo. Resultat DPE : energie B, climat A - le granule fait basculer l'etiquette en B. C'est tout l'interet de sortir du fioul. Investissement : environ 63 000 euros.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diapo repond a un attendu fortement coefficiente : adapter et optimiser les equipements. Cote regulation, le diagnostic a montre l'absence de sonde exterieure et de robinets thermostatiques. Je preconise : une sonde exterieure pour piloter par loi d'eau, des robinets thermostatiques sur les radiateurs fonte, et un thermostat programmable - on ameliore le rendement global. Cote eau chaude : le vieux ballon electrique hors volume chauffe est un gouffre ; je propose un chauffe-eau thermodynamique, COP environ 3, qui divise la conso par trois, et je le replace dans le volume chauffe. Ce poste ECS optimise est integre dans les deux scenarios.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diapo sur laquelle j'insiste. Je calcule le DPE selon la logique 3CL : energie primaire d'un cote, emissions de CO2 de l'autre, et la classe finale est la MOINS bonne des deux. J'ancre tout sur mon etude thermique : un besoin de chauffage ramene a 7 020 kWh par an apres isolation. En energie primaire, les deux scenarios sont proches : le scenario 1 atteint C (128), le scenario 2 B (109) grace au meilleur rendement de la chaudiere granules. Mais c'est le CO2 qui fait la difference : avec le fioul conserve, le scenario 1 reste a 33 kg, soit classe D - le fioul plafonne. Avec le granule, le scenario 2 tombe a 3 kg, classe A. Resultat : on passe de G a D avec le scenario par etapes, et a B avec le scenario global. Le message cle : a isolation egale, c'est le choix de l'energie de chauffage qui determine l'etiquette finale.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dimensionnement. Pour l'isolation : R = epaisseur / lambda donne R = 5,26 pour les murs et 10,26 pour les combles, conformes a une renovation performante. Pour le chauffage : 21,3 kW initiaux, reduits de 55 % par l'isolation et la VMC -&gt; environ 10 kW, donc une chaudiere de 12 kW avec marge. La conso est d'environ 1,5 tonne de granules par an ; j'ai SUPPRIME le silo au profit d'une tremie integree. La VMC hygro B est dimensionnee a 180 m3/h. Cote materiaux, j'ai choisi des biosources - laine de bois et ouate - pour le faible carbone, le dephasage qui apporte le confort d'ete, et la perspirance indispensable sur des murs en pierre.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chiffrage, sur la base de prix de marche par type de travaux et de marques reelles, en fourni-pose TTC main d'oeuvre comprise. Scenario 1, 42 500 euros : le gros poste est l'ITE laine de bois - type Steico avec enduit - a 30 000 euros, dont environ 40 % de main d'oeuvre et l'echafaudage ; puis les combles en ouate Ouateco, l'etancheite a l'air, la VMC Aldes ou Atlantic, et le chauffe-eau thermodynamique Atlantic Calypso. Scenario 2 : on ajoute la chaudiere granules ÖkoFEN ou Hargassner a 15 000 euros, le ballon tampon et le tubage, et la depose de la cuve fioul - soit 63 000 euros au total. Plus de silo. L'ecart de 20 500 euros correspond au changement de chauffage.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financement, avec une estimation PRUDENTE des aides - plus realiste que les taux maximaux. Pour ce foyer de 4 personnes, MaPrimeRenov' et les CEE couvrent environ 20 000 euros au scenario 1 et 30 000 euros au scenario 2. Le reste a charge s'eleve donc a 22 500 euros pour le scenario 1 et 33 000 euros pour le scenario 2 - des montants coherents avec ce qu'observent des projets comparables. On deduit l'apport de 10 000 euros, et le solde - 12 500 a 23 000 euros - est finance par un eco-PTZ a taux zero. Le projet reste dans le budget : la mensualite de l'eco-PTZ est largement couverte par les economies d'energie.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L'analyse economique se base sur la facture REELLE du foyer - environ 3 800 euros par an - et non sur le cout conventionnel du DPE, qui le surestime. Apres travaux, la facture tombe a 2 200 euros au scenario 1 et 1 600 euros au scenario 2, soit des economies de 1 600 a 2 200 euros par an. Sur le reste a charge, le retour sur investissement est d'environ 14 ans pour le scenario 1 et 15 ans pour le scenario 2 - coherent avec des projets comparables. Pour le cout global, j'integre une hausse du prix de l'energie de 5 % par an, comme attendu : sur 30 ans, ne rien faire coute 252 000 euros, le scenario 1 188 500, et le scenario 2 169 000. Malgre un investissement plus eleve, le scenario 2 reste le plus avantageux sur la duree.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synthese recapitule tout. On lit la progression du DPE : de G a D avec le scenario par etapes, jusqu'a B avec le scenario global. Le scenario 2 coute plus cher a l'achat mais affiche le cout annuel le plus bas, le cout global le plus faible et l'amortissement le plus court. C'est la base de ma recommandation.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 : au regard de la performance, de la sortie du fioul, de la rentabilite et du respect du bati, je recommande le scenario 2, qui fait passer le logement de G a B et reste le moins cher sur 30 ans (avec hausse de l'energie), tout en restant dans le budget grace aux aides et a l'apport. Si le budget initial est un frein, le scenario 1 par etapes est une excellente premiere etape, completee plus tard par le chauffage. J'ai aussi remis au maitre d'ouvrage des conseils de sobriete simples qui amplifient les economies. Je vous remercie et je suis pret pour vos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la transparence : l'essentiel de l'etude - la modelisation, le bilan des deperditions, le calcul du DPE, la simulation des gains et le dimensionnement - a ete realise avec le logiciel Pleiades, d'IZUBA energies, qui fournit aussi les estimations de couts. En complement, je me suis appuye sur France Renov' et son simulateur pour les aides, l'ASDER comme conseil local en Savoie, Legifrance pour la reglementation, les documentations des fabricants pour les produits, et l'ADEME comme reference energie-climat. Je peux detailler n'importe lequel de ces points si vous le souhaitez.</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france-renov.gouv.fr" TargetMode="External"/><Relationship Id="rId3" Type="http://schemas.openxmlformats.org/officeDocument/2006/relationships/hyperlink" Target="https://asder.asso.fr" TargetMode="External"/><Relationship Id="rId4" Type="http://schemas.openxmlformats.org/officeDocument/2006/relationships/hyperlink" Target="https://legifrance.gouv.fr" TargetMode="External"/><Relationship Id="rId5" Type="http://schemas.openxmlformats.org/officeDocument/2006/relationships/hyperlink" Target="https://documentations techniques fabricants" TargetMode="External"/><Relationship Id="rId6" Type="http://schemas.openxmlformats.org/officeDocument/2006/relationships/hyperlink" Target="https://ademe.fr" TargetMode="External"/><Relationship Id="rId7"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852160"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05_x55_658x390.png"/>
          <p:cNvPicPr>
            <a:picLocks noChangeAspect="1"/>
          </p:cNvPicPr>
          <p:nvPr/>
        </p:nvPicPr>
        <p:blipFill>
          <a:blip r:embed="rId2"/>
          <a:stretch>
            <a:fillRect/>
          </a:stretch>
        </p:blipFill>
        <p:spPr>
          <a:xfrm>
            <a:off x="0" y="1694697"/>
            <a:ext cx="5852160" cy="3468605"/>
          </a:xfrm>
          <a:prstGeom prst="rect">
            <a:avLst/>
          </a:prstGeom>
        </p:spPr>
      </p:pic>
      <p:sp>
        <p:nvSpPr>
          <p:cNvPr id="5" name="Rectangle 4"/>
          <p:cNvSpPr/>
          <p:nvPr/>
        </p:nvSpPr>
        <p:spPr>
          <a:xfrm>
            <a:off x="5852160" y="0"/>
            <a:ext cx="76200" cy="6858000"/>
          </a:xfrm>
          <a:prstGeom prst="rect">
            <a:avLst/>
          </a:prstGeom>
          <a:solidFill>
            <a:srgbClr val="A5D6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63640" y="640080"/>
            <a:ext cx="5669280" cy="457200"/>
          </a:xfrm>
          <a:prstGeom prst="rect">
            <a:avLst/>
          </a:prstGeom>
          <a:noFill/>
        </p:spPr>
        <p:txBody>
          <a:bodyPr wrap="square" anchor="t" lIns="25400" rIns="25400" tIns="25400" bIns="25400">
            <a:spAutoFit/>
          </a:bodyPr>
          <a:lstStyle/>
          <a:p>
            <a:pPr algn="l">
              <a:lnSpc>
                <a:spcPct val="100000"/>
              </a:lnSpc>
              <a:spcAft>
                <a:spcPts val="400"/>
              </a:spcAft>
            </a:pPr>
            <a:r>
              <a:rPr sz="1200" b="1" i="0">
                <a:solidFill>
                  <a:srgbClr val="C8E6C9"/>
                </a:solidFill>
                <a:latin typeface="Calibri"/>
              </a:rPr>
              <a:t>BLOC 1 - CHARGE DE PROJET ENERGIE ET BATIMENT DURABLES</a:t>
            </a:r>
          </a:p>
        </p:txBody>
      </p:sp>
      <p:sp>
        <p:nvSpPr>
          <p:cNvPr id="7" name="TextBox 6"/>
          <p:cNvSpPr txBox="1"/>
          <p:nvPr/>
        </p:nvSpPr>
        <p:spPr>
          <a:xfrm>
            <a:off x="6263640" y="1371600"/>
            <a:ext cx="5669280" cy="2377440"/>
          </a:xfrm>
          <a:prstGeom prst="rect">
            <a:avLst/>
          </a:prstGeom>
          <a:noFill/>
        </p:spPr>
        <p:txBody>
          <a:bodyPr wrap="square" anchor="t" lIns="25400" rIns="25400" tIns="25400" bIns="25400">
            <a:spAutoFit/>
          </a:bodyPr>
          <a:lstStyle/>
          <a:p>
            <a:pPr algn="l">
              <a:lnSpc>
                <a:spcPct val="100000"/>
              </a:lnSpc>
              <a:spcAft>
                <a:spcPts val="400"/>
              </a:spcAft>
            </a:pPr>
            <a:r>
              <a:rPr sz="3800" b="1" i="0">
                <a:solidFill>
                  <a:srgbClr val="FFFFFF"/>
                </a:solidFill>
                <a:latin typeface="Calibri"/>
              </a:rPr>
              <a:t>Renovation</a:t>
            </a:r>
          </a:p>
          <a:p>
            <a:pPr algn="l">
              <a:lnSpc>
                <a:spcPct val="100000"/>
              </a:lnSpc>
              <a:spcAft>
                <a:spcPts val="400"/>
              </a:spcAft>
            </a:pPr>
            <a:r>
              <a:rPr sz="3800" b="1" i="0">
                <a:solidFill>
                  <a:srgbClr val="FFFFFF"/>
                </a:solidFill>
                <a:latin typeface="Calibri"/>
              </a:rPr>
              <a:t>energetique d'une</a:t>
            </a:r>
          </a:p>
          <a:p>
            <a:pPr algn="l">
              <a:lnSpc>
                <a:spcPct val="100000"/>
              </a:lnSpc>
              <a:spcAft>
                <a:spcPts val="400"/>
              </a:spcAft>
            </a:pPr>
            <a:r>
              <a:rPr sz="3800" b="1" i="0">
                <a:solidFill>
                  <a:srgbClr val="C8E6C9"/>
                </a:solidFill>
                <a:latin typeface="Calibri"/>
              </a:rPr>
              <a:t>ancienne ferme</a:t>
            </a:r>
          </a:p>
          <a:p>
            <a:pPr algn="l">
              <a:lnSpc>
                <a:spcPct val="100000"/>
              </a:lnSpc>
              <a:spcAft>
                <a:spcPts val="400"/>
              </a:spcAft>
            </a:pPr>
            <a:r>
              <a:rPr sz="3800" b="1" i="0">
                <a:solidFill>
                  <a:srgbClr val="C8E6C9"/>
                </a:solidFill>
                <a:latin typeface="Calibri"/>
              </a:rPr>
              <a:t>savoyarde</a:t>
            </a:r>
          </a:p>
        </p:txBody>
      </p:sp>
      <p:sp>
        <p:nvSpPr>
          <p:cNvPr id="8" name="TextBox 7"/>
          <p:cNvSpPr txBox="1"/>
          <p:nvPr/>
        </p:nvSpPr>
        <p:spPr>
          <a:xfrm>
            <a:off x="6263640" y="4297680"/>
            <a:ext cx="5669280" cy="548640"/>
          </a:xfrm>
          <a:prstGeom prst="rect">
            <a:avLst/>
          </a:prstGeom>
          <a:noFill/>
        </p:spPr>
        <p:txBody>
          <a:bodyPr wrap="square" anchor="t" lIns="25400" rIns="25400" tIns="25400" bIns="25400">
            <a:spAutoFit/>
          </a:bodyPr>
          <a:lstStyle/>
          <a:p>
            <a:pPr algn="l">
              <a:lnSpc>
                <a:spcPct val="100000"/>
              </a:lnSpc>
              <a:spcAft>
                <a:spcPts val="400"/>
              </a:spcAft>
            </a:pPr>
            <a:r>
              <a:rPr sz="1500" b="0" i="0">
                <a:solidFill>
                  <a:srgbClr val="FFFFFF"/>
                </a:solidFill>
                <a:latin typeface="Calibri"/>
              </a:rPr>
              <a:t>Etude pour un maitre d'ouvrage - Saint-Jean-de-Chevelu (73)</a:t>
            </a:r>
          </a:p>
        </p:txBody>
      </p:sp>
      <p:sp>
        <p:nvSpPr>
          <p:cNvPr id="9" name="Rectangle 8"/>
          <p:cNvSpPr/>
          <p:nvPr/>
        </p:nvSpPr>
        <p:spPr>
          <a:xfrm>
            <a:off x="6263640" y="5029200"/>
            <a:ext cx="5394960" cy="25400"/>
          </a:xfrm>
          <a:prstGeom prst="rect">
            <a:avLst/>
          </a:prstGeom>
          <a:solidFill>
            <a:srgbClr val="A5D6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5257800"/>
            <a:ext cx="5669280" cy="914400"/>
          </a:xfrm>
          <a:prstGeom prst="rect">
            <a:avLst/>
          </a:prstGeom>
          <a:noFill/>
        </p:spPr>
        <p:txBody>
          <a:bodyPr wrap="square" anchor="t" lIns="25400" rIns="25400" tIns="25400" bIns="25400">
            <a:spAutoFit/>
          </a:bodyPr>
          <a:lstStyle/>
          <a:p>
            <a:pPr algn="l">
              <a:lnSpc>
                <a:spcPct val="115000"/>
              </a:lnSpc>
              <a:spcAft>
                <a:spcPts val="400"/>
              </a:spcAft>
            </a:pPr>
            <a:r>
              <a:rPr sz="1700" b="1" i="0">
                <a:solidFill>
                  <a:srgbClr val="FFFFFF"/>
                </a:solidFill>
                <a:latin typeface="Calibri"/>
              </a:rPr>
              <a:t>Presente par Guillaume Tardy</a:t>
            </a:r>
          </a:p>
          <a:p>
            <a:pPr algn="l">
              <a:lnSpc>
                <a:spcPct val="115000"/>
              </a:lnSpc>
              <a:spcAft>
                <a:spcPts val="400"/>
              </a:spcAft>
            </a:pPr>
            <a:r>
              <a:rPr sz="1300" b="0" i="0">
                <a:solidFill>
                  <a:srgbClr val="C8E6C9"/>
                </a:solidFill>
                <a:latin typeface="Calibri"/>
              </a:rPr>
              <a:t>Soutenance orale - Sujet 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332720" cy="566928"/>
          </a:xfrm>
          <a:prstGeom prst="rect">
            <a:avLst/>
          </a:prstGeom>
          <a:noFill/>
        </p:spPr>
        <p:txBody>
          <a:bodyPr wrap="square" anchor="ctr" lIns="25400" rIns="25400" tIns="25400" bIns="25400">
            <a:spAutoFit/>
          </a:bodyPr>
          <a:lstStyle/>
          <a:p>
            <a:pPr algn="l">
              <a:lnSpc>
                <a:spcPct val="100000"/>
              </a:lnSpc>
              <a:spcAft>
                <a:spcPts val="400"/>
              </a:spcAft>
            </a:pPr>
            <a:r>
              <a:rPr sz="2800" b="1" i="0">
                <a:solidFill>
                  <a:srgbClr val="1B5E20"/>
                </a:solidFill>
                <a:latin typeface="Calibri"/>
              </a:rPr>
              <a:t>Sommaire</a:t>
            </a:r>
          </a:p>
        </p:txBody>
      </p:sp>
      <p:sp>
        <p:nvSpPr>
          <p:cNvPr id="5" name="Rectangle 4"/>
          <p:cNvSpPr/>
          <p:nvPr/>
        </p:nvSpPr>
        <p:spPr>
          <a:xfrm>
            <a:off x="548640" y="1225296"/>
            <a:ext cx="10058400" cy="279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8229600" cy="292608"/>
          </a:xfrm>
          <a:prstGeom prst="rect">
            <a:avLst/>
          </a:prstGeom>
          <a:noFill/>
        </p:spPr>
        <p:txBody>
          <a:bodyPr wrap="square" anchor="t" lIns="25400" rIns="25400" tIns="25400" bIns="25400">
            <a:spAutoFit/>
          </a:bodyPr>
          <a:lstStyle/>
          <a:p>
            <a:pPr algn="l">
              <a:lnSpc>
                <a:spcPct val="100000"/>
              </a:lnSpc>
              <a:spcAft>
                <a:spcPts val="400"/>
              </a:spcAft>
            </a:pPr>
            <a:r>
              <a:rPr sz="900" b="0" i="0">
                <a:solidFill>
                  <a:srgbClr val="90A4AE"/>
                </a:solidFill>
                <a:latin typeface="Calibri"/>
              </a:rPr>
              <a:t>Renovation energetique - Saint-Jean-de-Chevelu (73) - Bloc 1</a:t>
            </a:r>
          </a:p>
        </p:txBody>
      </p:sp>
      <p:sp>
        <p:nvSpPr>
          <p:cNvPr id="7" name="TextBox 6"/>
          <p:cNvSpPr txBox="1"/>
          <p:nvPr/>
        </p:nvSpPr>
        <p:spPr>
          <a:xfrm>
            <a:off x="9418320" y="6473952"/>
            <a:ext cx="2286000" cy="292608"/>
          </a:xfrm>
          <a:prstGeom prst="rect">
            <a:avLst/>
          </a:prstGeom>
          <a:noFill/>
        </p:spPr>
        <p:txBody>
          <a:bodyPr wrap="square" anchor="t" lIns="25400" rIns="25400" tIns="25400" bIns="25400">
            <a:spAutoFit/>
          </a:bodyPr>
          <a:lstStyle/>
          <a:p>
            <a:pPr algn="r">
              <a:lnSpc>
                <a:spcPct val="100000"/>
              </a:lnSpc>
              <a:spcAft>
                <a:spcPts val="400"/>
              </a:spcAft>
            </a:pPr>
            <a:r>
              <a:rPr sz="900" b="0" i="0">
                <a:solidFill>
                  <a:srgbClr val="90A4AE"/>
                </a:solidFill>
                <a:latin typeface="Calibri"/>
              </a:rPr>
              <a:t>Guillaume Tardy</a:t>
            </a:r>
          </a:p>
        </p:txBody>
      </p:sp>
      <p:sp>
        <p:nvSpPr>
          <p:cNvPr id="8" name="Oval 7"/>
          <p:cNvSpPr/>
          <p:nvPr/>
        </p:nvSpPr>
        <p:spPr>
          <a:xfrm>
            <a:off x="822960" y="1554480"/>
            <a:ext cx="475488" cy="47548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54480"/>
            <a:ext cx="475488" cy="475488"/>
          </a:xfrm>
          <a:prstGeom prst="rect">
            <a:avLst/>
          </a:prstGeom>
          <a:noFill/>
        </p:spPr>
        <p:txBody>
          <a:bodyPr wrap="square" anchor="ctr" lIns="25400" rIns="25400" tIns="25400" bIns="25400">
            <a:spAutoFit/>
          </a:bodyPr>
          <a:lstStyle/>
          <a:p>
            <a:pPr algn="ctr">
              <a:lnSpc>
                <a:spcPct val="100000"/>
              </a:lnSpc>
              <a:spcAft>
                <a:spcPts val="400"/>
              </a:spcAft>
            </a:pPr>
            <a:r>
              <a:rPr sz="1700" b="1" i="0">
                <a:solidFill>
                  <a:srgbClr val="FFFFFF"/>
                </a:solidFill>
                <a:latin typeface="Calibri"/>
              </a:rPr>
              <a:t>1</a:t>
            </a:r>
          </a:p>
        </p:txBody>
      </p:sp>
      <p:sp>
        <p:nvSpPr>
          <p:cNvPr id="10" name="TextBox 9"/>
          <p:cNvSpPr txBox="1"/>
          <p:nvPr/>
        </p:nvSpPr>
        <p:spPr>
          <a:xfrm>
            <a:off x="1508760" y="1527048"/>
            <a:ext cx="7315200" cy="365760"/>
          </a:xfrm>
          <a:prstGeom prst="rect">
            <a:avLst/>
          </a:prstGeom>
          <a:noFill/>
        </p:spPr>
        <p:txBody>
          <a:bodyPr wrap="square" anchor="ctr" lIns="25400" rIns="25400" tIns="25400" bIns="25400">
            <a:spAutoFit/>
          </a:bodyPr>
          <a:lstStyle/>
          <a:p>
            <a:pPr algn="l">
              <a:lnSpc>
                <a:spcPct val="100000"/>
              </a:lnSpc>
              <a:spcAft>
                <a:spcPts val="400"/>
              </a:spcAft>
            </a:pPr>
            <a:r>
              <a:rPr sz="1700" b="1" i="0">
                <a:solidFill>
                  <a:srgbClr val="37474F"/>
                </a:solidFill>
                <a:latin typeface="Calibri"/>
              </a:rPr>
              <a:t>Situation, foyer &amp; objectifs</a:t>
            </a:r>
          </a:p>
        </p:txBody>
      </p:sp>
      <p:sp>
        <p:nvSpPr>
          <p:cNvPr id="11" name="TextBox 10"/>
          <p:cNvSpPr txBox="1"/>
          <p:nvPr/>
        </p:nvSpPr>
        <p:spPr>
          <a:xfrm>
            <a:off x="1508760" y="1828800"/>
            <a:ext cx="9601200" cy="274320"/>
          </a:xfrm>
          <a:prstGeom prst="rect">
            <a:avLst/>
          </a:prstGeom>
          <a:noFill/>
        </p:spPr>
        <p:txBody>
          <a:bodyPr wrap="square" anchor="t" lIns="25400" rIns="25400" tIns="25400" bIns="25400">
            <a:spAutoFit/>
          </a:bodyPr>
          <a:lstStyle/>
          <a:p>
            <a:pPr algn="l">
              <a:lnSpc>
                <a:spcPct val="100000"/>
              </a:lnSpc>
              <a:spcAft>
                <a:spcPts val="400"/>
              </a:spcAft>
            </a:pPr>
            <a:r>
              <a:rPr sz="1200" b="0" i="1">
                <a:solidFill>
                  <a:srgbClr val="90A4AE"/>
                </a:solidFill>
                <a:latin typeface="Calibri"/>
              </a:rPr>
              <a:t>Contexte, moyens du MOA, confort vise</a:t>
            </a:r>
          </a:p>
        </p:txBody>
      </p:sp>
      <p:sp>
        <p:nvSpPr>
          <p:cNvPr id="12" name="Oval 11"/>
          <p:cNvSpPr/>
          <p:nvPr/>
        </p:nvSpPr>
        <p:spPr>
          <a:xfrm>
            <a:off x="822960" y="2194560"/>
            <a:ext cx="475488" cy="47548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194560"/>
            <a:ext cx="475488" cy="475488"/>
          </a:xfrm>
          <a:prstGeom prst="rect">
            <a:avLst/>
          </a:prstGeom>
          <a:noFill/>
        </p:spPr>
        <p:txBody>
          <a:bodyPr wrap="square" anchor="ctr" lIns="25400" rIns="25400" tIns="25400" bIns="25400">
            <a:spAutoFit/>
          </a:bodyPr>
          <a:lstStyle/>
          <a:p>
            <a:pPr algn="ctr">
              <a:lnSpc>
                <a:spcPct val="100000"/>
              </a:lnSpc>
              <a:spcAft>
                <a:spcPts val="400"/>
              </a:spcAft>
            </a:pPr>
            <a:r>
              <a:rPr sz="1700" b="1" i="0">
                <a:solidFill>
                  <a:srgbClr val="FFFFFF"/>
                </a:solidFill>
                <a:latin typeface="Calibri"/>
              </a:rPr>
              <a:t>2</a:t>
            </a:r>
          </a:p>
        </p:txBody>
      </p:sp>
      <p:sp>
        <p:nvSpPr>
          <p:cNvPr id="14" name="TextBox 13"/>
          <p:cNvSpPr txBox="1"/>
          <p:nvPr/>
        </p:nvSpPr>
        <p:spPr>
          <a:xfrm>
            <a:off x="1508760" y="2167128"/>
            <a:ext cx="7315200" cy="365760"/>
          </a:xfrm>
          <a:prstGeom prst="rect">
            <a:avLst/>
          </a:prstGeom>
          <a:noFill/>
        </p:spPr>
        <p:txBody>
          <a:bodyPr wrap="square" anchor="ctr" lIns="25400" rIns="25400" tIns="25400" bIns="25400">
            <a:spAutoFit/>
          </a:bodyPr>
          <a:lstStyle/>
          <a:p>
            <a:pPr algn="l">
              <a:lnSpc>
                <a:spcPct val="100000"/>
              </a:lnSpc>
              <a:spcAft>
                <a:spcPts val="400"/>
              </a:spcAft>
            </a:pPr>
            <a:r>
              <a:rPr sz="1700" b="1" i="0">
                <a:solidFill>
                  <a:srgbClr val="37474F"/>
                </a:solidFill>
                <a:latin typeface="Calibri"/>
              </a:rPr>
              <a:t>Diagnostic technique de l'existant</a:t>
            </a:r>
          </a:p>
        </p:txBody>
      </p:sp>
      <p:sp>
        <p:nvSpPr>
          <p:cNvPr id="15" name="TextBox 14"/>
          <p:cNvSpPr txBox="1"/>
          <p:nvPr/>
        </p:nvSpPr>
        <p:spPr>
          <a:xfrm>
            <a:off x="1508760" y="2468880"/>
            <a:ext cx="9601200" cy="274320"/>
          </a:xfrm>
          <a:prstGeom prst="rect">
            <a:avLst/>
          </a:prstGeom>
          <a:noFill/>
        </p:spPr>
        <p:txBody>
          <a:bodyPr wrap="square" anchor="t" lIns="25400" rIns="25400" tIns="25400" bIns="25400">
            <a:spAutoFit/>
          </a:bodyPr>
          <a:lstStyle/>
          <a:p>
            <a:pPr algn="l">
              <a:lnSpc>
                <a:spcPct val="100000"/>
              </a:lnSpc>
              <a:spcAft>
                <a:spcPts val="400"/>
              </a:spcAft>
            </a:pPr>
            <a:r>
              <a:rPr sz="1200" b="0" i="1">
                <a:solidFill>
                  <a:srgbClr val="90A4AE"/>
                </a:solidFill>
                <a:latin typeface="Calibri"/>
              </a:rPr>
              <a:t>Consommations, enveloppe, systemes, eclairage</a:t>
            </a:r>
          </a:p>
        </p:txBody>
      </p:sp>
      <p:sp>
        <p:nvSpPr>
          <p:cNvPr id="16" name="Oval 15"/>
          <p:cNvSpPr/>
          <p:nvPr/>
        </p:nvSpPr>
        <p:spPr>
          <a:xfrm>
            <a:off x="822960" y="2834640"/>
            <a:ext cx="475488" cy="47548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834640"/>
            <a:ext cx="475488" cy="475488"/>
          </a:xfrm>
          <a:prstGeom prst="rect">
            <a:avLst/>
          </a:prstGeom>
          <a:noFill/>
        </p:spPr>
        <p:txBody>
          <a:bodyPr wrap="square" anchor="ctr" lIns="25400" rIns="25400" tIns="25400" bIns="25400">
            <a:spAutoFit/>
          </a:bodyPr>
          <a:lstStyle/>
          <a:p>
            <a:pPr algn="ctr">
              <a:lnSpc>
                <a:spcPct val="100000"/>
              </a:lnSpc>
              <a:spcAft>
                <a:spcPts val="400"/>
              </a:spcAft>
            </a:pPr>
            <a:r>
              <a:rPr sz="1700" b="1" i="0">
                <a:solidFill>
                  <a:srgbClr val="FFFFFF"/>
                </a:solidFill>
                <a:latin typeface="Calibri"/>
              </a:rPr>
              <a:t>3</a:t>
            </a:r>
          </a:p>
        </p:txBody>
      </p:sp>
      <p:sp>
        <p:nvSpPr>
          <p:cNvPr id="18" name="TextBox 17"/>
          <p:cNvSpPr txBox="1"/>
          <p:nvPr/>
        </p:nvSpPr>
        <p:spPr>
          <a:xfrm>
            <a:off x="1508760" y="2807208"/>
            <a:ext cx="7315200" cy="365760"/>
          </a:xfrm>
          <a:prstGeom prst="rect">
            <a:avLst/>
          </a:prstGeom>
          <a:noFill/>
        </p:spPr>
        <p:txBody>
          <a:bodyPr wrap="square" anchor="ctr" lIns="25400" rIns="25400" tIns="25400" bIns="25400">
            <a:spAutoFit/>
          </a:bodyPr>
          <a:lstStyle/>
          <a:p>
            <a:pPr algn="l">
              <a:lnSpc>
                <a:spcPct val="100000"/>
              </a:lnSpc>
              <a:spcAft>
                <a:spcPts val="400"/>
              </a:spcAft>
            </a:pPr>
            <a:r>
              <a:rPr sz="1700" b="1" i="0">
                <a:solidFill>
                  <a:srgbClr val="37474F"/>
                </a:solidFill>
                <a:latin typeface="Calibri"/>
              </a:rPr>
              <a:t>Deperditions &amp; DPE de l'existant</a:t>
            </a:r>
          </a:p>
        </p:txBody>
      </p:sp>
      <p:sp>
        <p:nvSpPr>
          <p:cNvPr id="19" name="TextBox 18"/>
          <p:cNvSpPr txBox="1"/>
          <p:nvPr/>
        </p:nvSpPr>
        <p:spPr>
          <a:xfrm>
            <a:off x="1508760" y="3108960"/>
            <a:ext cx="9601200" cy="274320"/>
          </a:xfrm>
          <a:prstGeom prst="rect">
            <a:avLst/>
          </a:prstGeom>
          <a:noFill/>
        </p:spPr>
        <p:txBody>
          <a:bodyPr wrap="square" anchor="t" lIns="25400" rIns="25400" tIns="25400" bIns="25400">
            <a:spAutoFit/>
          </a:bodyPr>
          <a:lstStyle/>
          <a:p>
            <a:pPr algn="l">
              <a:lnSpc>
                <a:spcPct val="100000"/>
              </a:lnSpc>
              <a:spcAft>
                <a:spcPts val="400"/>
              </a:spcAft>
            </a:pPr>
            <a:r>
              <a:rPr sz="1200" b="0" i="1">
                <a:solidFill>
                  <a:srgbClr val="90A4AE"/>
                </a:solidFill>
                <a:latin typeface="Calibri"/>
              </a:rPr>
              <a:t>Calcul thermique, etiquette G</a:t>
            </a:r>
          </a:p>
        </p:txBody>
      </p:sp>
      <p:sp>
        <p:nvSpPr>
          <p:cNvPr id="20" name="Oval 19"/>
          <p:cNvSpPr/>
          <p:nvPr/>
        </p:nvSpPr>
        <p:spPr>
          <a:xfrm>
            <a:off x="822960" y="3474720"/>
            <a:ext cx="475488" cy="47548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474720"/>
            <a:ext cx="475488" cy="475488"/>
          </a:xfrm>
          <a:prstGeom prst="rect">
            <a:avLst/>
          </a:prstGeom>
          <a:noFill/>
        </p:spPr>
        <p:txBody>
          <a:bodyPr wrap="square" anchor="ctr" lIns="25400" rIns="25400" tIns="25400" bIns="25400">
            <a:spAutoFit/>
          </a:bodyPr>
          <a:lstStyle/>
          <a:p>
            <a:pPr algn="ctr">
              <a:lnSpc>
                <a:spcPct val="100000"/>
              </a:lnSpc>
              <a:spcAft>
                <a:spcPts val="400"/>
              </a:spcAft>
            </a:pPr>
            <a:r>
              <a:rPr sz="1700" b="1" i="0">
                <a:solidFill>
                  <a:srgbClr val="FFFFFF"/>
                </a:solidFill>
                <a:latin typeface="Calibri"/>
              </a:rPr>
              <a:t>4</a:t>
            </a:r>
          </a:p>
        </p:txBody>
      </p:sp>
      <p:sp>
        <p:nvSpPr>
          <p:cNvPr id="22" name="TextBox 21"/>
          <p:cNvSpPr txBox="1"/>
          <p:nvPr/>
        </p:nvSpPr>
        <p:spPr>
          <a:xfrm>
            <a:off x="1508760" y="3447288"/>
            <a:ext cx="7315200" cy="365760"/>
          </a:xfrm>
          <a:prstGeom prst="rect">
            <a:avLst/>
          </a:prstGeom>
          <a:noFill/>
        </p:spPr>
        <p:txBody>
          <a:bodyPr wrap="square" anchor="ctr" lIns="25400" rIns="25400" tIns="25400" bIns="25400">
            <a:spAutoFit/>
          </a:bodyPr>
          <a:lstStyle/>
          <a:p>
            <a:pPr algn="l">
              <a:lnSpc>
                <a:spcPct val="100000"/>
              </a:lnSpc>
              <a:spcAft>
                <a:spcPts val="400"/>
              </a:spcAft>
            </a:pPr>
            <a:r>
              <a:rPr sz="1700" b="1" i="0">
                <a:solidFill>
                  <a:srgbClr val="37474F"/>
                </a:solidFill>
                <a:latin typeface="Calibri"/>
              </a:rPr>
              <a:t>Deux scenarios de renovation</a:t>
            </a:r>
          </a:p>
        </p:txBody>
      </p:sp>
      <p:sp>
        <p:nvSpPr>
          <p:cNvPr id="23" name="TextBox 22"/>
          <p:cNvSpPr txBox="1"/>
          <p:nvPr/>
        </p:nvSpPr>
        <p:spPr>
          <a:xfrm>
            <a:off x="1508760" y="3749040"/>
            <a:ext cx="9601200" cy="274320"/>
          </a:xfrm>
          <a:prstGeom prst="rect">
            <a:avLst/>
          </a:prstGeom>
          <a:noFill/>
        </p:spPr>
        <p:txBody>
          <a:bodyPr wrap="square" anchor="t" lIns="25400" rIns="25400" tIns="25400" bIns="25400">
            <a:spAutoFit/>
          </a:bodyPr>
          <a:lstStyle/>
          <a:p>
            <a:pPr algn="l">
              <a:lnSpc>
                <a:spcPct val="100000"/>
              </a:lnSpc>
              <a:spcAft>
                <a:spcPts val="400"/>
              </a:spcAft>
            </a:pPr>
            <a:r>
              <a:rPr sz="1200" b="0" i="1">
                <a:solidFill>
                  <a:srgbClr val="90A4AE"/>
                </a:solidFill>
                <a:latin typeface="Calibri"/>
              </a:rPr>
              <a:t>Par etapes (D) et global (B)</a:t>
            </a:r>
          </a:p>
        </p:txBody>
      </p:sp>
      <p:sp>
        <p:nvSpPr>
          <p:cNvPr id="24" name="Oval 23"/>
          <p:cNvSpPr/>
          <p:nvPr/>
        </p:nvSpPr>
        <p:spPr>
          <a:xfrm>
            <a:off x="822960" y="4114800"/>
            <a:ext cx="475488" cy="47548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114800"/>
            <a:ext cx="475488" cy="475488"/>
          </a:xfrm>
          <a:prstGeom prst="rect">
            <a:avLst/>
          </a:prstGeom>
          <a:noFill/>
        </p:spPr>
        <p:txBody>
          <a:bodyPr wrap="square" anchor="ctr" lIns="25400" rIns="25400" tIns="25400" bIns="25400">
            <a:spAutoFit/>
          </a:bodyPr>
          <a:lstStyle/>
          <a:p>
            <a:pPr algn="ctr">
              <a:lnSpc>
                <a:spcPct val="100000"/>
              </a:lnSpc>
              <a:spcAft>
                <a:spcPts val="400"/>
              </a:spcAft>
            </a:pPr>
            <a:r>
              <a:rPr sz="1700" b="1" i="0">
                <a:solidFill>
                  <a:srgbClr val="FFFFFF"/>
                </a:solidFill>
                <a:latin typeface="Calibri"/>
              </a:rPr>
              <a:t>5</a:t>
            </a:r>
          </a:p>
        </p:txBody>
      </p:sp>
      <p:sp>
        <p:nvSpPr>
          <p:cNvPr id="26" name="TextBox 25"/>
          <p:cNvSpPr txBox="1"/>
          <p:nvPr/>
        </p:nvSpPr>
        <p:spPr>
          <a:xfrm>
            <a:off x="1508760" y="4087368"/>
            <a:ext cx="7315200" cy="365760"/>
          </a:xfrm>
          <a:prstGeom prst="rect">
            <a:avLst/>
          </a:prstGeom>
          <a:noFill/>
        </p:spPr>
        <p:txBody>
          <a:bodyPr wrap="square" anchor="ctr" lIns="25400" rIns="25400" tIns="25400" bIns="25400">
            <a:spAutoFit/>
          </a:bodyPr>
          <a:lstStyle/>
          <a:p>
            <a:pPr algn="l">
              <a:lnSpc>
                <a:spcPct val="100000"/>
              </a:lnSpc>
              <a:spcAft>
                <a:spcPts val="400"/>
              </a:spcAft>
            </a:pPr>
            <a:r>
              <a:rPr sz="1700" b="1" i="0">
                <a:solidFill>
                  <a:srgbClr val="37474F"/>
                </a:solidFill>
                <a:latin typeface="Calibri"/>
              </a:rPr>
              <a:t>DPE des scenarios &amp; dimensionnement</a:t>
            </a:r>
          </a:p>
        </p:txBody>
      </p:sp>
      <p:sp>
        <p:nvSpPr>
          <p:cNvPr id="27" name="TextBox 26"/>
          <p:cNvSpPr txBox="1"/>
          <p:nvPr/>
        </p:nvSpPr>
        <p:spPr>
          <a:xfrm>
            <a:off x="1508760" y="4389120"/>
            <a:ext cx="9601200" cy="274320"/>
          </a:xfrm>
          <a:prstGeom prst="rect">
            <a:avLst/>
          </a:prstGeom>
          <a:noFill/>
        </p:spPr>
        <p:txBody>
          <a:bodyPr wrap="square" anchor="t" lIns="25400" rIns="25400" tIns="25400" bIns="25400">
            <a:spAutoFit/>
          </a:bodyPr>
          <a:lstStyle/>
          <a:p>
            <a:pPr algn="l">
              <a:lnSpc>
                <a:spcPct val="100000"/>
              </a:lnSpc>
              <a:spcAft>
                <a:spcPts val="400"/>
              </a:spcAft>
            </a:pPr>
            <a:r>
              <a:rPr sz="1200" b="0" i="1">
                <a:solidFill>
                  <a:srgbClr val="90A4AE"/>
                </a:solidFill>
                <a:latin typeface="Calibri"/>
              </a:rPr>
              <a:t>Calculs DPE, regulation, ECS, materiaux</a:t>
            </a:r>
          </a:p>
        </p:txBody>
      </p:sp>
      <p:sp>
        <p:nvSpPr>
          <p:cNvPr id="28" name="Oval 27"/>
          <p:cNvSpPr/>
          <p:nvPr/>
        </p:nvSpPr>
        <p:spPr>
          <a:xfrm>
            <a:off x="822960" y="4754880"/>
            <a:ext cx="475488" cy="47548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754880"/>
            <a:ext cx="475488" cy="475488"/>
          </a:xfrm>
          <a:prstGeom prst="rect">
            <a:avLst/>
          </a:prstGeom>
          <a:noFill/>
        </p:spPr>
        <p:txBody>
          <a:bodyPr wrap="square" anchor="ctr" lIns="25400" rIns="25400" tIns="25400" bIns="25400">
            <a:spAutoFit/>
          </a:bodyPr>
          <a:lstStyle/>
          <a:p>
            <a:pPr algn="ctr">
              <a:lnSpc>
                <a:spcPct val="100000"/>
              </a:lnSpc>
              <a:spcAft>
                <a:spcPts val="400"/>
              </a:spcAft>
            </a:pPr>
            <a:r>
              <a:rPr sz="1700" b="1" i="0">
                <a:solidFill>
                  <a:srgbClr val="FFFFFF"/>
                </a:solidFill>
                <a:latin typeface="Calibri"/>
              </a:rPr>
              <a:t>6</a:t>
            </a:r>
          </a:p>
        </p:txBody>
      </p:sp>
      <p:sp>
        <p:nvSpPr>
          <p:cNvPr id="30" name="TextBox 29"/>
          <p:cNvSpPr txBox="1"/>
          <p:nvPr/>
        </p:nvSpPr>
        <p:spPr>
          <a:xfrm>
            <a:off x="1508760" y="4727448"/>
            <a:ext cx="7315200" cy="365760"/>
          </a:xfrm>
          <a:prstGeom prst="rect">
            <a:avLst/>
          </a:prstGeom>
          <a:noFill/>
        </p:spPr>
        <p:txBody>
          <a:bodyPr wrap="square" anchor="ctr" lIns="25400" rIns="25400" tIns="25400" bIns="25400">
            <a:spAutoFit/>
          </a:bodyPr>
          <a:lstStyle/>
          <a:p>
            <a:pPr algn="l">
              <a:lnSpc>
                <a:spcPct val="100000"/>
              </a:lnSpc>
              <a:spcAft>
                <a:spcPts val="400"/>
              </a:spcAft>
            </a:pPr>
            <a:r>
              <a:rPr sz="1700" b="1" i="0">
                <a:solidFill>
                  <a:srgbClr val="37474F"/>
                </a:solidFill>
                <a:latin typeface="Calibri"/>
              </a:rPr>
              <a:t>Analyse economique en cout global</a:t>
            </a:r>
          </a:p>
        </p:txBody>
      </p:sp>
      <p:sp>
        <p:nvSpPr>
          <p:cNvPr id="31" name="TextBox 30"/>
          <p:cNvSpPr txBox="1"/>
          <p:nvPr/>
        </p:nvSpPr>
        <p:spPr>
          <a:xfrm>
            <a:off x="1508760" y="5029200"/>
            <a:ext cx="9601200" cy="274320"/>
          </a:xfrm>
          <a:prstGeom prst="rect">
            <a:avLst/>
          </a:prstGeom>
          <a:noFill/>
        </p:spPr>
        <p:txBody>
          <a:bodyPr wrap="square" anchor="t" lIns="25400" rIns="25400" tIns="25400" bIns="25400">
            <a:spAutoFit/>
          </a:bodyPr>
          <a:lstStyle/>
          <a:p>
            <a:pPr algn="l">
              <a:lnSpc>
                <a:spcPct val="100000"/>
              </a:lnSpc>
              <a:spcAft>
                <a:spcPts val="400"/>
              </a:spcAft>
            </a:pPr>
            <a:r>
              <a:rPr sz="1200" b="0" i="1">
                <a:solidFill>
                  <a:srgbClr val="90A4AE"/>
                </a:solidFill>
                <a:latin typeface="Calibri"/>
              </a:rPr>
              <a:t>Chiffrage, aides, reste a charge, ROI</a:t>
            </a:r>
          </a:p>
        </p:txBody>
      </p:sp>
      <p:sp>
        <p:nvSpPr>
          <p:cNvPr id="32" name="Oval 31"/>
          <p:cNvSpPr/>
          <p:nvPr/>
        </p:nvSpPr>
        <p:spPr>
          <a:xfrm>
            <a:off x="822960" y="5394960"/>
            <a:ext cx="475488" cy="47548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5394960"/>
            <a:ext cx="475488" cy="475488"/>
          </a:xfrm>
          <a:prstGeom prst="rect">
            <a:avLst/>
          </a:prstGeom>
          <a:noFill/>
        </p:spPr>
        <p:txBody>
          <a:bodyPr wrap="square" anchor="ctr" lIns="25400" rIns="25400" tIns="25400" bIns="25400">
            <a:spAutoFit/>
          </a:bodyPr>
          <a:lstStyle/>
          <a:p>
            <a:pPr algn="ctr">
              <a:lnSpc>
                <a:spcPct val="100000"/>
              </a:lnSpc>
              <a:spcAft>
                <a:spcPts val="400"/>
              </a:spcAft>
            </a:pPr>
            <a:r>
              <a:rPr sz="1700" b="1" i="0">
                <a:solidFill>
                  <a:srgbClr val="FFFFFF"/>
                </a:solidFill>
                <a:latin typeface="Calibri"/>
              </a:rPr>
              <a:t>7</a:t>
            </a:r>
          </a:p>
        </p:txBody>
      </p:sp>
      <p:sp>
        <p:nvSpPr>
          <p:cNvPr id="34" name="TextBox 33"/>
          <p:cNvSpPr txBox="1"/>
          <p:nvPr/>
        </p:nvSpPr>
        <p:spPr>
          <a:xfrm>
            <a:off x="1508760" y="5367528"/>
            <a:ext cx="7315200" cy="365760"/>
          </a:xfrm>
          <a:prstGeom prst="rect">
            <a:avLst/>
          </a:prstGeom>
          <a:noFill/>
        </p:spPr>
        <p:txBody>
          <a:bodyPr wrap="square" anchor="ctr" lIns="25400" rIns="25400" tIns="25400" bIns="25400">
            <a:spAutoFit/>
          </a:bodyPr>
          <a:lstStyle/>
          <a:p>
            <a:pPr algn="l">
              <a:lnSpc>
                <a:spcPct val="100000"/>
              </a:lnSpc>
              <a:spcAft>
                <a:spcPts val="400"/>
              </a:spcAft>
            </a:pPr>
            <a:r>
              <a:rPr sz="1700" b="1" i="0">
                <a:solidFill>
                  <a:srgbClr val="37474F"/>
                </a:solidFill>
                <a:latin typeface="Calibri"/>
              </a:rPr>
              <a:t>Sobriete &amp; conclusion</a:t>
            </a:r>
          </a:p>
        </p:txBody>
      </p:sp>
      <p:sp>
        <p:nvSpPr>
          <p:cNvPr id="35" name="TextBox 34"/>
          <p:cNvSpPr txBox="1"/>
          <p:nvPr/>
        </p:nvSpPr>
        <p:spPr>
          <a:xfrm>
            <a:off x="1508760" y="5669280"/>
            <a:ext cx="9601200" cy="274320"/>
          </a:xfrm>
          <a:prstGeom prst="rect">
            <a:avLst/>
          </a:prstGeom>
          <a:noFill/>
        </p:spPr>
        <p:txBody>
          <a:bodyPr wrap="square" anchor="t" lIns="25400" rIns="25400" tIns="25400" bIns="25400">
            <a:spAutoFit/>
          </a:bodyPr>
          <a:lstStyle/>
          <a:p>
            <a:pPr algn="l">
              <a:lnSpc>
                <a:spcPct val="100000"/>
              </a:lnSpc>
              <a:spcAft>
                <a:spcPts val="400"/>
              </a:spcAft>
            </a:pPr>
            <a:r>
              <a:rPr sz="1200" b="0" i="1">
                <a:solidFill>
                  <a:srgbClr val="90A4AE"/>
                </a:solidFill>
                <a:latin typeface="Calibri"/>
              </a:rPr>
              <a:t>Conseils occupants, recommandation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384048"/>
            <a:ext cx="658368" cy="65836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84048"/>
            <a:ext cx="658368" cy="658368"/>
          </a:xfrm>
          <a:prstGeom prst="rect">
            <a:avLst/>
          </a:prstGeom>
          <a:noFill/>
        </p:spPr>
        <p:txBody>
          <a:bodyPr wrap="square" anchor="ctr" lIns="25400" rIns="25400" tIns="25400" bIns="25400">
            <a:spAutoFit/>
          </a:bodyPr>
          <a:lstStyle/>
          <a:p>
            <a:pPr algn="ctr">
              <a:lnSpc>
                <a:spcPct val="100000"/>
              </a:lnSpc>
              <a:spcAft>
                <a:spcPts val="400"/>
              </a:spcAft>
            </a:pPr>
            <a:r>
              <a:rPr sz="2600" b="1" i="0">
                <a:solidFill>
                  <a:srgbClr val="FFFFFF"/>
                </a:solidFill>
                <a:latin typeface="Calibri"/>
              </a:rPr>
              <a:t>1</a:t>
            </a:r>
          </a:p>
        </p:txBody>
      </p:sp>
      <p:sp>
        <p:nvSpPr>
          <p:cNvPr id="6" name="TextBox 5"/>
          <p:cNvSpPr txBox="1"/>
          <p:nvPr/>
        </p:nvSpPr>
        <p:spPr>
          <a:xfrm>
            <a:off x="1325880" y="310896"/>
            <a:ext cx="10332720" cy="566928"/>
          </a:xfrm>
          <a:prstGeom prst="rect">
            <a:avLst/>
          </a:prstGeom>
          <a:noFill/>
        </p:spPr>
        <p:txBody>
          <a:bodyPr wrap="square" anchor="ctr" lIns="25400" rIns="25400" tIns="25400" bIns="25400">
            <a:spAutoFit/>
          </a:bodyPr>
          <a:lstStyle/>
          <a:p>
            <a:pPr algn="l">
              <a:lnSpc>
                <a:spcPct val="100000"/>
              </a:lnSpc>
              <a:spcAft>
                <a:spcPts val="400"/>
              </a:spcAft>
            </a:pPr>
            <a:r>
              <a:rPr sz="2800" b="1" i="0">
                <a:solidFill>
                  <a:srgbClr val="1B5E20"/>
                </a:solidFill>
                <a:latin typeface="Calibri"/>
              </a:rPr>
              <a:t>Analyse de la situation</a:t>
            </a:r>
          </a:p>
        </p:txBody>
      </p:sp>
      <p:sp>
        <p:nvSpPr>
          <p:cNvPr id="7" name="TextBox 6"/>
          <p:cNvSpPr txBox="1"/>
          <p:nvPr/>
        </p:nvSpPr>
        <p:spPr>
          <a:xfrm>
            <a:off x="1325880" y="905256"/>
            <a:ext cx="10332720" cy="292608"/>
          </a:xfrm>
          <a:prstGeom prst="rect">
            <a:avLst/>
          </a:prstGeom>
          <a:noFill/>
        </p:spPr>
        <p:txBody>
          <a:bodyPr wrap="square" anchor="t" lIns="25400" rIns="25400" tIns="25400" bIns="25400">
            <a:spAutoFit/>
          </a:bodyPr>
          <a:lstStyle/>
          <a:p>
            <a:pPr algn="l">
              <a:lnSpc>
                <a:spcPct val="100000"/>
              </a:lnSpc>
              <a:spcAft>
                <a:spcPts val="400"/>
              </a:spcAft>
            </a:pPr>
            <a:r>
              <a:rPr sz="1350" b="0" i="1">
                <a:solidFill>
                  <a:srgbClr val="37474F"/>
                </a:solidFill>
                <a:latin typeface="Calibri"/>
              </a:rPr>
              <a:t>Le batiment et le foyer</a:t>
            </a:r>
          </a:p>
        </p:txBody>
      </p:sp>
      <p:sp>
        <p:nvSpPr>
          <p:cNvPr id="8" name="Rectangle 7"/>
          <p:cNvSpPr/>
          <p:nvPr/>
        </p:nvSpPr>
        <p:spPr>
          <a:xfrm>
            <a:off x="1325880" y="1225296"/>
            <a:ext cx="10058400" cy="279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8229600" cy="292608"/>
          </a:xfrm>
          <a:prstGeom prst="rect">
            <a:avLst/>
          </a:prstGeom>
          <a:noFill/>
        </p:spPr>
        <p:txBody>
          <a:bodyPr wrap="square" anchor="t" lIns="25400" rIns="25400" tIns="25400" bIns="25400">
            <a:spAutoFit/>
          </a:bodyPr>
          <a:lstStyle/>
          <a:p>
            <a:pPr algn="l">
              <a:lnSpc>
                <a:spcPct val="100000"/>
              </a:lnSpc>
              <a:spcAft>
                <a:spcPts val="400"/>
              </a:spcAft>
            </a:pPr>
            <a:r>
              <a:rPr sz="900" b="0" i="0">
                <a:solidFill>
                  <a:srgbClr val="90A4AE"/>
                </a:solidFill>
                <a:latin typeface="Calibri"/>
              </a:rPr>
              <a:t>Renovation energetique - Saint-Jean-de-Chevelu (73) - Bloc 1</a:t>
            </a:r>
          </a:p>
        </p:txBody>
      </p:sp>
      <p:sp>
        <p:nvSpPr>
          <p:cNvPr id="10" name="TextBox 9"/>
          <p:cNvSpPr txBox="1"/>
          <p:nvPr/>
        </p:nvSpPr>
        <p:spPr>
          <a:xfrm>
            <a:off x="9418320" y="6473952"/>
            <a:ext cx="2286000" cy="292608"/>
          </a:xfrm>
          <a:prstGeom prst="rect">
            <a:avLst/>
          </a:prstGeom>
          <a:noFill/>
        </p:spPr>
        <p:txBody>
          <a:bodyPr wrap="square" anchor="t" lIns="25400" rIns="25400" tIns="25400" bIns="25400">
            <a:spAutoFit/>
          </a:bodyPr>
          <a:lstStyle/>
          <a:p>
            <a:pPr algn="r">
              <a:lnSpc>
                <a:spcPct val="100000"/>
              </a:lnSpc>
              <a:spcAft>
                <a:spcPts val="400"/>
              </a:spcAft>
            </a:pPr>
            <a:r>
              <a:rPr sz="900" b="0" i="0">
                <a:solidFill>
                  <a:srgbClr val="90A4AE"/>
                </a:solidFill>
                <a:latin typeface="Calibri"/>
              </a:rPr>
              <a:t>Guillaume Tardy</a:t>
            </a:r>
          </a:p>
        </p:txBody>
      </p:sp>
      <p:sp>
        <p:nvSpPr>
          <p:cNvPr id="11" name="TextBox 10"/>
          <p:cNvSpPr txBox="1"/>
          <p:nvPr/>
        </p:nvSpPr>
        <p:spPr>
          <a:xfrm>
            <a:off x="822960" y="1554480"/>
            <a:ext cx="5486400" cy="2743200"/>
          </a:xfrm>
          <a:prstGeom prst="rect">
            <a:avLst/>
          </a:prstGeom>
          <a:noFill/>
        </p:spPr>
        <p:txBody>
          <a:bodyPr wrap="square">
            <a:spAutoFit/>
          </a:bodyPr>
          <a:lstStyle/>
          <a:p>
            <a:pPr>
              <a:lnSpc>
                <a:spcPct val="105000"/>
              </a:lnSpc>
              <a:spcAft>
                <a:spcPts val="900"/>
              </a:spcAft>
            </a:pPr>
            <a:r>
              <a:rPr sz="1400" b="1">
                <a:solidFill>
                  <a:srgbClr val="2E7D32"/>
                </a:solidFill>
                <a:latin typeface="Calibri"/>
              </a:rPr>
              <a:t>●  </a:t>
            </a:r>
            <a:r>
              <a:rPr sz="1400" b="1">
                <a:solidFill>
                  <a:srgbClr val="37474F"/>
                </a:solidFill>
                <a:latin typeface="Calibri"/>
              </a:rPr>
              <a:t>Ancienne ferme </a:t>
            </a:r>
            <a:r>
              <a:rPr sz="1400">
                <a:solidFill>
                  <a:srgbClr val="37474F"/>
                </a:solidFill>
                <a:latin typeface="Calibri"/>
              </a:rPr>
              <a:t>fin XIXe s., rehabilitee dans les annees 1990</a:t>
            </a:r>
          </a:p>
          <a:p>
            <a:pPr>
              <a:lnSpc>
                <a:spcPct val="105000"/>
              </a:lnSpc>
              <a:spcAft>
                <a:spcPts val="900"/>
              </a:spcAft>
            </a:pPr>
            <a:r>
              <a:rPr sz="1400" b="1">
                <a:solidFill>
                  <a:srgbClr val="2E7D32"/>
                </a:solidFill>
                <a:latin typeface="Calibri"/>
              </a:rPr>
              <a:t>●  </a:t>
            </a:r>
            <a:r>
              <a:rPr sz="1400" b="1">
                <a:solidFill>
                  <a:srgbClr val="37474F"/>
                </a:solidFill>
                <a:latin typeface="Calibri"/>
              </a:rPr>
              <a:t>99 m2 habitables chauffes </a:t>
            </a:r>
            <a:r>
              <a:rPr sz="1400">
                <a:solidFill>
                  <a:srgbClr val="37474F"/>
                </a:solidFill>
                <a:latin typeface="Calibri"/>
              </a:rPr>
              <a:t>sur 2 niveaux, sous combles perdus</a:t>
            </a:r>
          </a:p>
          <a:p>
            <a:pPr>
              <a:lnSpc>
                <a:spcPct val="105000"/>
              </a:lnSpc>
              <a:spcAft>
                <a:spcPts val="900"/>
              </a:spcAft>
            </a:pPr>
            <a:r>
              <a:rPr sz="1400" b="1">
                <a:solidFill>
                  <a:srgbClr val="2E7D32"/>
                </a:solidFill>
                <a:latin typeface="Calibri"/>
              </a:rPr>
              <a:t>●  </a:t>
            </a:r>
            <a:r>
              <a:rPr sz="1400" b="1">
                <a:solidFill>
                  <a:srgbClr val="37474F"/>
                </a:solidFill>
                <a:latin typeface="Calibri"/>
              </a:rPr>
              <a:t>Partie non chauffee </a:t>
            </a:r>
            <a:r>
              <a:rPr sz="1400">
                <a:solidFill>
                  <a:srgbClr val="37474F"/>
                </a:solidFill>
                <a:latin typeface="Calibri"/>
              </a:rPr>
              <a:t>a l'Est : garage / debarras</a:t>
            </a:r>
          </a:p>
          <a:p>
            <a:pPr>
              <a:lnSpc>
                <a:spcPct val="105000"/>
              </a:lnSpc>
              <a:spcAft>
                <a:spcPts val="900"/>
              </a:spcAft>
            </a:pPr>
            <a:r>
              <a:rPr sz="1400" b="1">
                <a:solidFill>
                  <a:srgbClr val="2E7D32"/>
                </a:solidFill>
                <a:latin typeface="Calibri"/>
              </a:rPr>
              <a:t>●  </a:t>
            </a:r>
            <a:r>
              <a:rPr sz="1400" b="1">
                <a:solidFill>
                  <a:srgbClr val="37474F"/>
                </a:solidFill>
                <a:latin typeface="Calibri"/>
              </a:rPr>
              <a:t>Murs en pierre calcaire 50 cm </a:t>
            </a:r>
            <a:r>
              <a:rPr sz="1400">
                <a:solidFill>
                  <a:srgbClr val="37474F"/>
                </a:solidFill>
                <a:latin typeface="Calibri"/>
              </a:rPr>
              <a:t>-&gt; forte inertie, patrimoine local</a:t>
            </a:r>
          </a:p>
          <a:p>
            <a:pPr>
              <a:lnSpc>
                <a:spcPct val="105000"/>
              </a:lnSpc>
              <a:spcAft>
                <a:spcPts val="900"/>
              </a:spcAft>
            </a:pPr>
            <a:r>
              <a:rPr sz="1400" b="1">
                <a:solidFill>
                  <a:srgbClr val="2E7D32"/>
                </a:solidFill>
                <a:latin typeface="Calibri"/>
              </a:rPr>
              <a:t>●  </a:t>
            </a:r>
            <a:r>
              <a:rPr sz="1400" b="1">
                <a:solidFill>
                  <a:srgbClr val="37474F"/>
                </a:solidFill>
                <a:latin typeface="Calibri"/>
              </a:rPr>
              <a:t>Versant Sud-Est, 498 m, rural </a:t>
            </a:r>
            <a:r>
              <a:rPr sz="1400">
                <a:solidFill>
                  <a:srgbClr val="37474F"/>
                </a:solidFill>
                <a:latin typeface="Calibri"/>
              </a:rPr>
              <a:t>-&gt; apports solaires d'hiver favorables</a:t>
            </a:r>
          </a:p>
        </p:txBody>
      </p:sp>
      <p:sp>
        <p:nvSpPr>
          <p:cNvPr id="12" name="Rectangle 11"/>
          <p:cNvSpPr/>
          <p:nvPr/>
        </p:nvSpPr>
        <p:spPr>
          <a:xfrm>
            <a:off x="7309105" y="1534480"/>
            <a:ext cx="3395470" cy="2106544"/>
          </a:xfrm>
          <a:prstGeom prst="rect">
            <a:avLst/>
          </a:prstGeom>
          <a:solidFill>
            <a:srgbClr val="FFFFFF"/>
          </a:solidFill>
          <a:ln w="1524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05_x56_630x388.png"/>
          <p:cNvPicPr>
            <a:picLocks noChangeAspect="1"/>
          </p:cNvPicPr>
          <p:nvPr/>
        </p:nvPicPr>
        <p:blipFill>
          <a:blip r:embed="rId2"/>
          <a:stretch>
            <a:fillRect/>
          </a:stretch>
        </p:blipFill>
        <p:spPr>
          <a:xfrm>
            <a:off x="7329105" y="1554480"/>
            <a:ext cx="3355470" cy="2066544"/>
          </a:xfrm>
          <a:prstGeom prst="rect">
            <a:avLst/>
          </a:prstGeom>
        </p:spPr>
      </p:pic>
      <p:sp>
        <p:nvSpPr>
          <p:cNvPr id="14" name="TextBox 13"/>
          <p:cNvSpPr txBox="1"/>
          <p:nvPr/>
        </p:nvSpPr>
        <p:spPr>
          <a:xfrm>
            <a:off x="6675120" y="3641024"/>
            <a:ext cx="4663440" cy="310896"/>
          </a:xfrm>
          <a:prstGeom prst="rect">
            <a:avLst/>
          </a:prstGeom>
          <a:noFill/>
        </p:spPr>
        <p:txBody>
          <a:bodyPr wrap="square" anchor="t" lIns="25400" rIns="25400" tIns="25400" bIns="25400">
            <a:spAutoFit/>
          </a:bodyPr>
          <a:lstStyle/>
          <a:p>
            <a:pPr algn="ctr">
              <a:lnSpc>
                <a:spcPct val="100000"/>
              </a:lnSpc>
              <a:spcAft>
                <a:spcPts val="400"/>
              </a:spcAft>
            </a:pPr>
            <a:r>
              <a:rPr sz="1100" b="0" i="1">
                <a:solidFill>
                  <a:srgbClr val="90A4AE"/>
                </a:solidFill>
                <a:latin typeface="Calibri"/>
              </a:rPr>
              <a:t>Facade de la maison</a:t>
            </a:r>
          </a:p>
        </p:txBody>
      </p:sp>
      <p:sp>
        <p:nvSpPr>
          <p:cNvPr id="15" name="Rounded Rectangle 14"/>
          <p:cNvSpPr/>
          <p:nvPr/>
        </p:nvSpPr>
        <p:spPr>
          <a:xfrm>
            <a:off x="822960" y="4526280"/>
            <a:ext cx="10515600" cy="137160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4617720"/>
            <a:ext cx="10058400" cy="365760"/>
          </a:xfrm>
          <a:prstGeom prst="rect">
            <a:avLst/>
          </a:prstGeom>
          <a:noFill/>
        </p:spPr>
        <p:txBody>
          <a:bodyPr wrap="square" anchor="t" lIns="25400" rIns="25400" tIns="25400" bIns="25400">
            <a:spAutoFit/>
          </a:bodyPr>
          <a:lstStyle/>
          <a:p>
            <a:pPr algn="l">
              <a:lnSpc>
                <a:spcPct val="100000"/>
              </a:lnSpc>
              <a:spcAft>
                <a:spcPts val="400"/>
              </a:spcAft>
            </a:pPr>
            <a:r>
              <a:rPr sz="1400" b="1" i="0">
                <a:solidFill>
                  <a:srgbClr val="1B5E20"/>
                </a:solidFill>
                <a:latin typeface="Calibri"/>
              </a:rPr>
              <a:t>Profil et moyens du maitre d'ouvrage</a:t>
            </a:r>
          </a:p>
        </p:txBody>
      </p:sp>
      <p:sp>
        <p:nvSpPr>
          <p:cNvPr id="17" name="TextBox 16"/>
          <p:cNvSpPr txBox="1"/>
          <p:nvPr/>
        </p:nvSpPr>
        <p:spPr>
          <a:xfrm>
            <a:off x="1051560" y="5029200"/>
            <a:ext cx="10058400" cy="822960"/>
          </a:xfrm>
          <a:prstGeom prst="rect">
            <a:avLst/>
          </a:prstGeom>
          <a:noFill/>
        </p:spPr>
        <p:txBody>
          <a:bodyPr wrap="square" anchor="t" lIns="25400" rIns="25400" tIns="25400" bIns="25400">
            <a:spAutoFit/>
          </a:bodyPr>
          <a:lstStyle/>
          <a:p>
            <a:pPr algn="l">
              <a:lnSpc>
                <a:spcPct val="115000"/>
              </a:lnSpc>
              <a:spcAft>
                <a:spcPts val="400"/>
              </a:spcAft>
            </a:pPr>
            <a:r>
              <a:rPr sz="1350" b="0" i="0">
                <a:solidFill>
                  <a:srgbClr val="37474F"/>
                </a:solidFill>
                <a:latin typeface="Calibri"/>
              </a:rPr>
              <a:t>Famille de 4 personnes  -  revenu ~40 000 €/an (categorie « revenus modestes »)  -  apport personnel de 10 000 €.</a:t>
            </a:r>
          </a:p>
          <a:p>
            <a:pPr algn="l">
              <a:lnSpc>
                <a:spcPct val="115000"/>
              </a:lnSpc>
              <a:spcAft>
                <a:spcPts val="400"/>
              </a:spcAft>
            </a:pPr>
            <a:r>
              <a:rPr sz="1250" b="0" i="1">
                <a:solidFill>
                  <a:srgbClr val="90A4AE"/>
                </a:solidFill>
                <a:latin typeface="Calibri"/>
              </a:rPr>
              <a:t>Budget pour des travaux importants, a condition qu'ils soient justifies par les economies et soutenus par les aides.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384048"/>
            <a:ext cx="658368" cy="65836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84048"/>
            <a:ext cx="658368" cy="658368"/>
          </a:xfrm>
          <a:prstGeom prst="rect">
            <a:avLst/>
          </a:prstGeom>
          <a:noFill/>
        </p:spPr>
        <p:txBody>
          <a:bodyPr wrap="square" anchor="ctr" lIns="25400" rIns="25400" tIns="25400" bIns="25400">
            <a:spAutoFit/>
          </a:bodyPr>
          <a:lstStyle/>
          <a:p>
            <a:pPr algn="ctr">
              <a:lnSpc>
                <a:spcPct val="100000"/>
              </a:lnSpc>
              <a:spcAft>
                <a:spcPts val="400"/>
              </a:spcAft>
            </a:pPr>
            <a:r>
              <a:rPr sz="2600" b="1" i="0">
                <a:solidFill>
                  <a:srgbClr val="FFFFFF"/>
                </a:solidFill>
                <a:latin typeface="Calibri"/>
              </a:rPr>
              <a:t>1</a:t>
            </a:r>
          </a:p>
        </p:txBody>
      </p:sp>
      <p:sp>
        <p:nvSpPr>
          <p:cNvPr id="6" name="TextBox 5"/>
          <p:cNvSpPr txBox="1"/>
          <p:nvPr/>
        </p:nvSpPr>
        <p:spPr>
          <a:xfrm>
            <a:off x="1325880" y="310896"/>
            <a:ext cx="10332720" cy="566928"/>
          </a:xfrm>
          <a:prstGeom prst="rect">
            <a:avLst/>
          </a:prstGeom>
          <a:noFill/>
        </p:spPr>
        <p:txBody>
          <a:bodyPr wrap="square" anchor="ctr" lIns="25400" rIns="25400" tIns="25400" bIns="25400">
            <a:spAutoFit/>
          </a:bodyPr>
          <a:lstStyle/>
          <a:p>
            <a:pPr algn="l">
              <a:lnSpc>
                <a:spcPct val="100000"/>
              </a:lnSpc>
              <a:spcAft>
                <a:spcPts val="400"/>
              </a:spcAft>
            </a:pPr>
            <a:r>
              <a:rPr sz="2800" b="1" i="0">
                <a:solidFill>
                  <a:srgbClr val="1B5E20"/>
                </a:solidFill>
                <a:latin typeface="Calibri"/>
              </a:rPr>
              <a:t>Le batiment en plans</a:t>
            </a:r>
          </a:p>
        </p:txBody>
      </p:sp>
      <p:sp>
        <p:nvSpPr>
          <p:cNvPr id="7" name="TextBox 6"/>
          <p:cNvSpPr txBox="1"/>
          <p:nvPr/>
        </p:nvSpPr>
        <p:spPr>
          <a:xfrm>
            <a:off x="1325880" y="905256"/>
            <a:ext cx="10332720" cy="292608"/>
          </a:xfrm>
          <a:prstGeom prst="rect">
            <a:avLst/>
          </a:prstGeom>
          <a:noFill/>
        </p:spPr>
        <p:txBody>
          <a:bodyPr wrap="square" anchor="t" lIns="25400" rIns="25400" tIns="25400" bIns="25400">
            <a:spAutoFit/>
          </a:bodyPr>
          <a:lstStyle/>
          <a:p>
            <a:pPr algn="l">
              <a:lnSpc>
                <a:spcPct val="100000"/>
              </a:lnSpc>
              <a:spcAft>
                <a:spcPts val="400"/>
              </a:spcAft>
            </a:pPr>
            <a:r>
              <a:rPr sz="1350" b="0" i="1">
                <a:solidFill>
                  <a:srgbClr val="37474F"/>
                </a:solidFill>
                <a:latin typeface="Calibri"/>
              </a:rPr>
              <a:t>Organisation des espaces et coupe</a:t>
            </a:r>
          </a:p>
        </p:txBody>
      </p:sp>
      <p:sp>
        <p:nvSpPr>
          <p:cNvPr id="8" name="Rectangle 7"/>
          <p:cNvSpPr/>
          <p:nvPr/>
        </p:nvSpPr>
        <p:spPr>
          <a:xfrm>
            <a:off x="1325880" y="1225296"/>
            <a:ext cx="10058400" cy="279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8229600" cy="292608"/>
          </a:xfrm>
          <a:prstGeom prst="rect">
            <a:avLst/>
          </a:prstGeom>
          <a:noFill/>
        </p:spPr>
        <p:txBody>
          <a:bodyPr wrap="square" anchor="t" lIns="25400" rIns="25400" tIns="25400" bIns="25400">
            <a:spAutoFit/>
          </a:bodyPr>
          <a:lstStyle/>
          <a:p>
            <a:pPr algn="l">
              <a:lnSpc>
                <a:spcPct val="100000"/>
              </a:lnSpc>
              <a:spcAft>
                <a:spcPts val="400"/>
              </a:spcAft>
            </a:pPr>
            <a:r>
              <a:rPr sz="900" b="0" i="0">
                <a:solidFill>
                  <a:srgbClr val="90A4AE"/>
                </a:solidFill>
                <a:latin typeface="Calibri"/>
              </a:rPr>
              <a:t>Renovation energetique - Saint-Jean-de-Chevelu (73) - Bloc 1</a:t>
            </a:r>
          </a:p>
        </p:txBody>
      </p:sp>
      <p:sp>
        <p:nvSpPr>
          <p:cNvPr id="10" name="TextBox 9"/>
          <p:cNvSpPr txBox="1"/>
          <p:nvPr/>
        </p:nvSpPr>
        <p:spPr>
          <a:xfrm>
            <a:off x="9418320" y="6473952"/>
            <a:ext cx="2286000" cy="292608"/>
          </a:xfrm>
          <a:prstGeom prst="rect">
            <a:avLst/>
          </a:prstGeom>
          <a:noFill/>
        </p:spPr>
        <p:txBody>
          <a:bodyPr wrap="square" anchor="t" lIns="25400" rIns="25400" tIns="25400" bIns="25400">
            <a:spAutoFit/>
          </a:bodyPr>
          <a:lstStyle/>
          <a:p>
            <a:pPr algn="r">
              <a:lnSpc>
                <a:spcPct val="100000"/>
              </a:lnSpc>
              <a:spcAft>
                <a:spcPts val="400"/>
              </a:spcAft>
            </a:pPr>
            <a:r>
              <a:rPr sz="900" b="0" i="0">
                <a:solidFill>
                  <a:srgbClr val="90A4AE"/>
                </a:solidFill>
                <a:latin typeface="Calibri"/>
              </a:rPr>
              <a:t>Guillaume Tardy</a:t>
            </a:r>
          </a:p>
        </p:txBody>
      </p:sp>
      <p:sp>
        <p:nvSpPr>
          <p:cNvPr id="11" name="Rectangle 10"/>
          <p:cNvSpPr/>
          <p:nvPr/>
        </p:nvSpPr>
        <p:spPr>
          <a:xfrm>
            <a:off x="620080" y="1563403"/>
            <a:ext cx="3789039" cy="2688777"/>
          </a:xfrm>
          <a:prstGeom prst="rect">
            <a:avLst/>
          </a:prstGeom>
          <a:solidFill>
            <a:srgbClr val="FFFFFF"/>
          </a:solidFill>
          <a:ln w="1524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07_x68_1196x845.png"/>
          <p:cNvPicPr>
            <a:picLocks noChangeAspect="1"/>
          </p:cNvPicPr>
          <p:nvPr/>
        </p:nvPicPr>
        <p:blipFill>
          <a:blip r:embed="rId2"/>
          <a:stretch>
            <a:fillRect/>
          </a:stretch>
        </p:blipFill>
        <p:spPr>
          <a:xfrm>
            <a:off x="640080" y="1583403"/>
            <a:ext cx="3749039" cy="2648777"/>
          </a:xfrm>
          <a:prstGeom prst="rect">
            <a:avLst/>
          </a:prstGeom>
        </p:spPr>
      </p:pic>
      <p:sp>
        <p:nvSpPr>
          <p:cNvPr id="13" name="TextBox 12"/>
          <p:cNvSpPr txBox="1"/>
          <p:nvPr/>
        </p:nvSpPr>
        <p:spPr>
          <a:xfrm>
            <a:off x="640080" y="4326824"/>
            <a:ext cx="3749039" cy="310896"/>
          </a:xfrm>
          <a:prstGeom prst="rect">
            <a:avLst/>
          </a:prstGeom>
          <a:noFill/>
        </p:spPr>
        <p:txBody>
          <a:bodyPr wrap="square" anchor="t" lIns="25400" rIns="25400" tIns="25400" bIns="25400">
            <a:spAutoFit/>
          </a:bodyPr>
          <a:lstStyle/>
          <a:p>
            <a:pPr algn="ctr">
              <a:lnSpc>
                <a:spcPct val="100000"/>
              </a:lnSpc>
              <a:spcAft>
                <a:spcPts val="400"/>
              </a:spcAft>
            </a:pPr>
            <a:r>
              <a:rPr sz="1100" b="0" i="1">
                <a:solidFill>
                  <a:srgbClr val="90A4AE"/>
                </a:solidFill>
                <a:latin typeface="Calibri"/>
              </a:rPr>
              <a:t>Plan RDC - pieces de vie</a:t>
            </a:r>
          </a:p>
        </p:txBody>
      </p:sp>
      <p:sp>
        <p:nvSpPr>
          <p:cNvPr id="14" name="Rectangle 13"/>
          <p:cNvSpPr/>
          <p:nvPr/>
        </p:nvSpPr>
        <p:spPr>
          <a:xfrm>
            <a:off x="4460560" y="1611314"/>
            <a:ext cx="3697600" cy="2592955"/>
          </a:xfrm>
          <a:prstGeom prst="rect">
            <a:avLst/>
          </a:prstGeom>
          <a:solidFill>
            <a:srgbClr val="FFFFFF"/>
          </a:solidFill>
          <a:ln w="1524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p08_x72_1192x832.png"/>
          <p:cNvPicPr>
            <a:picLocks noChangeAspect="1"/>
          </p:cNvPicPr>
          <p:nvPr/>
        </p:nvPicPr>
        <p:blipFill>
          <a:blip r:embed="rId3"/>
          <a:stretch>
            <a:fillRect/>
          </a:stretch>
        </p:blipFill>
        <p:spPr>
          <a:xfrm>
            <a:off x="4480560" y="1631314"/>
            <a:ext cx="3657600" cy="2552955"/>
          </a:xfrm>
          <a:prstGeom prst="rect">
            <a:avLst/>
          </a:prstGeom>
        </p:spPr>
      </p:pic>
      <p:sp>
        <p:nvSpPr>
          <p:cNvPr id="16" name="TextBox 15"/>
          <p:cNvSpPr txBox="1"/>
          <p:nvPr/>
        </p:nvSpPr>
        <p:spPr>
          <a:xfrm>
            <a:off x="4480560" y="4326824"/>
            <a:ext cx="3657600" cy="310896"/>
          </a:xfrm>
          <a:prstGeom prst="rect">
            <a:avLst/>
          </a:prstGeom>
          <a:noFill/>
        </p:spPr>
        <p:txBody>
          <a:bodyPr wrap="square" anchor="t" lIns="25400" rIns="25400" tIns="25400" bIns="25400">
            <a:spAutoFit/>
          </a:bodyPr>
          <a:lstStyle/>
          <a:p>
            <a:pPr algn="ctr">
              <a:lnSpc>
                <a:spcPct val="100000"/>
              </a:lnSpc>
              <a:spcAft>
                <a:spcPts val="400"/>
              </a:spcAft>
            </a:pPr>
            <a:r>
              <a:rPr sz="1100" b="0" i="1">
                <a:solidFill>
                  <a:srgbClr val="90A4AE"/>
                </a:solidFill>
                <a:latin typeface="Calibri"/>
              </a:rPr>
              <a:t>Plan R+1 - espaces de nuit</a:t>
            </a:r>
          </a:p>
        </p:txBody>
      </p:sp>
      <p:sp>
        <p:nvSpPr>
          <p:cNvPr id="17" name="Rectangle 16"/>
          <p:cNvSpPr/>
          <p:nvPr/>
        </p:nvSpPr>
        <p:spPr>
          <a:xfrm>
            <a:off x="8209600" y="1999716"/>
            <a:ext cx="3331840" cy="1816152"/>
          </a:xfrm>
          <a:prstGeom prst="rect">
            <a:avLst/>
          </a:prstGeom>
          <a:solidFill>
            <a:srgbClr val="FFFFFF"/>
          </a:solidFill>
          <a:ln w="1524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08_x73_1188x641.png"/>
          <p:cNvPicPr>
            <a:picLocks noChangeAspect="1"/>
          </p:cNvPicPr>
          <p:nvPr/>
        </p:nvPicPr>
        <p:blipFill>
          <a:blip r:embed="rId4"/>
          <a:stretch>
            <a:fillRect/>
          </a:stretch>
        </p:blipFill>
        <p:spPr>
          <a:xfrm>
            <a:off x="8229600" y="2019716"/>
            <a:ext cx="3291840" cy="1776152"/>
          </a:xfrm>
          <a:prstGeom prst="rect">
            <a:avLst/>
          </a:prstGeom>
        </p:spPr>
      </p:pic>
      <p:sp>
        <p:nvSpPr>
          <p:cNvPr id="19" name="TextBox 18"/>
          <p:cNvSpPr txBox="1"/>
          <p:nvPr/>
        </p:nvSpPr>
        <p:spPr>
          <a:xfrm>
            <a:off x="8229600" y="4326824"/>
            <a:ext cx="3291840" cy="310896"/>
          </a:xfrm>
          <a:prstGeom prst="rect">
            <a:avLst/>
          </a:prstGeom>
          <a:noFill/>
        </p:spPr>
        <p:txBody>
          <a:bodyPr wrap="square" anchor="t" lIns="25400" rIns="25400" tIns="25400" bIns="25400">
            <a:spAutoFit/>
          </a:bodyPr>
          <a:lstStyle/>
          <a:p>
            <a:pPr algn="ctr">
              <a:lnSpc>
                <a:spcPct val="100000"/>
              </a:lnSpc>
              <a:spcAft>
                <a:spcPts val="400"/>
              </a:spcAft>
            </a:pPr>
            <a:r>
              <a:rPr sz="1100" b="0" i="1">
                <a:solidFill>
                  <a:srgbClr val="90A4AE"/>
                </a:solidFill>
                <a:latin typeface="Calibri"/>
              </a:rPr>
              <a:t>Coupe sur la zone chauffee</a:t>
            </a:r>
          </a:p>
        </p:txBody>
      </p:sp>
      <p:sp>
        <p:nvSpPr>
          <p:cNvPr id="20" name="Rounded Rectangle 19"/>
          <p:cNvSpPr/>
          <p:nvPr/>
        </p:nvSpPr>
        <p:spPr>
          <a:xfrm>
            <a:off x="640080" y="5074920"/>
            <a:ext cx="10881360" cy="9601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5166360"/>
            <a:ext cx="10424160" cy="777240"/>
          </a:xfrm>
          <a:prstGeom prst="rect">
            <a:avLst/>
          </a:prstGeom>
          <a:noFill/>
        </p:spPr>
        <p:txBody>
          <a:bodyPr wrap="square" anchor="ctr" lIns="25400" rIns="25400" tIns="25400" bIns="25400">
            <a:spAutoFit/>
          </a:bodyPr>
          <a:lstStyle/>
          <a:p>
            <a:pPr algn="l">
              <a:lnSpc>
                <a:spcPct val="100000"/>
              </a:lnSpc>
              <a:spcAft>
                <a:spcPts val="400"/>
              </a:spcAft>
            </a:pPr>
            <a:r>
              <a:rPr sz="1300" b="1" i="0">
                <a:solidFill>
                  <a:srgbClr val="1B5E20"/>
                </a:solidFill>
                <a:latin typeface="Calibri"/>
              </a:rPr>
              <a:t>Lecture : </a:t>
            </a:r>
            <a:r>
              <a:rPr sz="1300" b="0" i="0">
                <a:solidFill>
                  <a:srgbClr val="37474F"/>
                </a:solidFill>
                <a:latin typeface="Calibri"/>
              </a:rPr>
              <a:t>RDC = pieces de vie, R+1 = chambres. Les combles perdus non chauffes surplombent l'etage : cette interface favorise les deperditions par la toiture, confirmees plus loin.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384048"/>
            <a:ext cx="658368" cy="65836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84048"/>
            <a:ext cx="658368" cy="658368"/>
          </a:xfrm>
          <a:prstGeom prst="rect">
            <a:avLst/>
          </a:prstGeom>
          <a:noFill/>
        </p:spPr>
        <p:txBody>
          <a:bodyPr wrap="square" anchor="ctr" lIns="25400" rIns="25400" tIns="25400" bIns="25400">
            <a:spAutoFit/>
          </a:bodyPr>
          <a:lstStyle/>
          <a:p>
            <a:pPr algn="ctr">
              <a:lnSpc>
                <a:spcPct val="100000"/>
              </a:lnSpc>
              <a:spcAft>
                <a:spcPts val="400"/>
              </a:spcAft>
            </a:pPr>
            <a:r>
              <a:rPr sz="2600" b="1" i="0">
                <a:solidFill>
                  <a:srgbClr val="FFFFFF"/>
                </a:solidFill>
                <a:latin typeface="Calibri"/>
              </a:rPr>
              <a:t>1</a:t>
            </a:r>
          </a:p>
        </p:txBody>
      </p:sp>
      <p:sp>
        <p:nvSpPr>
          <p:cNvPr id="6" name="TextBox 5"/>
          <p:cNvSpPr txBox="1"/>
          <p:nvPr/>
        </p:nvSpPr>
        <p:spPr>
          <a:xfrm>
            <a:off x="1325880" y="310896"/>
            <a:ext cx="10332720" cy="566928"/>
          </a:xfrm>
          <a:prstGeom prst="rect">
            <a:avLst/>
          </a:prstGeom>
          <a:noFill/>
        </p:spPr>
        <p:txBody>
          <a:bodyPr wrap="square" anchor="ctr" lIns="25400" rIns="25400" tIns="25400" bIns="25400">
            <a:spAutoFit/>
          </a:bodyPr>
          <a:lstStyle/>
          <a:p>
            <a:pPr algn="l">
              <a:lnSpc>
                <a:spcPct val="100000"/>
              </a:lnSpc>
              <a:spcAft>
                <a:spcPts val="400"/>
              </a:spcAft>
            </a:pPr>
            <a:r>
              <a:rPr sz="2800" b="1" i="0">
                <a:solidFill>
                  <a:srgbClr val="1B5E20"/>
                </a:solidFill>
                <a:latin typeface="Calibri"/>
              </a:rPr>
              <a:t>Analyse bioclimatique du site</a:t>
            </a:r>
          </a:p>
        </p:txBody>
      </p:sp>
      <p:sp>
        <p:nvSpPr>
          <p:cNvPr id="7" name="Rectangle 6"/>
          <p:cNvSpPr/>
          <p:nvPr/>
        </p:nvSpPr>
        <p:spPr>
          <a:xfrm>
            <a:off x="1325880" y="1225296"/>
            <a:ext cx="10058400" cy="279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92608"/>
          </a:xfrm>
          <a:prstGeom prst="rect">
            <a:avLst/>
          </a:prstGeom>
          <a:noFill/>
        </p:spPr>
        <p:txBody>
          <a:bodyPr wrap="square" anchor="t" lIns="25400" rIns="25400" tIns="25400" bIns="25400">
            <a:spAutoFit/>
          </a:bodyPr>
          <a:lstStyle/>
          <a:p>
            <a:pPr algn="l">
              <a:lnSpc>
                <a:spcPct val="100000"/>
              </a:lnSpc>
              <a:spcAft>
                <a:spcPts val="400"/>
              </a:spcAft>
            </a:pPr>
            <a:r>
              <a:rPr sz="900" b="0" i="0">
                <a:solidFill>
                  <a:srgbClr val="90A4AE"/>
                </a:solidFill>
                <a:latin typeface="Calibri"/>
              </a:rPr>
              <a:t>Renovation energetique - Saint-Jean-de-Chevelu (73) - Bloc 1</a:t>
            </a:r>
          </a:p>
        </p:txBody>
      </p:sp>
      <p:sp>
        <p:nvSpPr>
          <p:cNvPr id="9" name="TextBox 8"/>
          <p:cNvSpPr txBox="1"/>
          <p:nvPr/>
        </p:nvSpPr>
        <p:spPr>
          <a:xfrm>
            <a:off x="9418320" y="6473952"/>
            <a:ext cx="2286000" cy="292608"/>
          </a:xfrm>
          <a:prstGeom prst="rect">
            <a:avLst/>
          </a:prstGeom>
          <a:noFill/>
        </p:spPr>
        <p:txBody>
          <a:bodyPr wrap="square" anchor="t" lIns="25400" rIns="25400" tIns="25400" bIns="25400">
            <a:spAutoFit/>
          </a:bodyPr>
          <a:lstStyle/>
          <a:p>
            <a:pPr algn="r">
              <a:lnSpc>
                <a:spcPct val="100000"/>
              </a:lnSpc>
              <a:spcAft>
                <a:spcPts val="400"/>
              </a:spcAft>
            </a:pPr>
            <a:r>
              <a:rPr sz="900" b="0" i="0">
                <a:solidFill>
                  <a:srgbClr val="90A4AE"/>
                </a:solidFill>
                <a:latin typeface="Calibri"/>
              </a:rPr>
              <a:t>Guillaume Tardy</a:t>
            </a:r>
          </a:p>
        </p:txBody>
      </p:sp>
      <p:sp>
        <p:nvSpPr>
          <p:cNvPr id="10" name="Rectangle 9"/>
          <p:cNvSpPr/>
          <p:nvPr/>
        </p:nvSpPr>
        <p:spPr>
          <a:xfrm>
            <a:off x="802960" y="1672861"/>
            <a:ext cx="4246240" cy="2469862"/>
          </a:xfrm>
          <a:prstGeom prst="rect">
            <a:avLst/>
          </a:prstGeom>
          <a:solidFill>
            <a:srgbClr val="FFFFFF"/>
          </a:solidFill>
          <a:ln w="1524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03_x47_914x528.png"/>
          <p:cNvPicPr>
            <a:picLocks noChangeAspect="1"/>
          </p:cNvPicPr>
          <p:nvPr/>
        </p:nvPicPr>
        <p:blipFill>
          <a:blip r:embed="rId2"/>
          <a:stretch>
            <a:fillRect/>
          </a:stretch>
        </p:blipFill>
        <p:spPr>
          <a:xfrm>
            <a:off x="822960" y="1692861"/>
            <a:ext cx="4206240" cy="2429862"/>
          </a:xfrm>
          <a:prstGeom prst="rect">
            <a:avLst/>
          </a:prstGeom>
        </p:spPr>
      </p:pic>
      <p:sp>
        <p:nvSpPr>
          <p:cNvPr id="12" name="TextBox 11"/>
          <p:cNvSpPr txBox="1"/>
          <p:nvPr/>
        </p:nvSpPr>
        <p:spPr>
          <a:xfrm>
            <a:off x="822960" y="4189664"/>
            <a:ext cx="4206240" cy="310896"/>
          </a:xfrm>
          <a:prstGeom prst="rect">
            <a:avLst/>
          </a:prstGeom>
          <a:noFill/>
        </p:spPr>
        <p:txBody>
          <a:bodyPr wrap="square" anchor="t" lIns="25400" rIns="25400" tIns="25400" bIns="25400">
            <a:spAutoFit/>
          </a:bodyPr>
          <a:lstStyle/>
          <a:p>
            <a:pPr algn="ctr">
              <a:lnSpc>
                <a:spcPct val="100000"/>
              </a:lnSpc>
              <a:spcAft>
                <a:spcPts val="400"/>
              </a:spcAft>
            </a:pPr>
            <a:r>
              <a:rPr sz="1100" b="0" i="1">
                <a:solidFill>
                  <a:srgbClr val="90A4AE"/>
                </a:solidFill>
                <a:latin typeface="Calibri"/>
              </a:rPr>
              <a:t>Localisation - versant Sud-Est</a:t>
            </a:r>
          </a:p>
        </p:txBody>
      </p:sp>
      <p:sp>
        <p:nvSpPr>
          <p:cNvPr id="13" name="Rectangle 12"/>
          <p:cNvSpPr/>
          <p:nvPr/>
        </p:nvSpPr>
        <p:spPr>
          <a:xfrm>
            <a:off x="5513845" y="1625920"/>
            <a:ext cx="3785590" cy="2563744"/>
          </a:xfrm>
          <a:prstGeom prst="rect">
            <a:avLst/>
          </a:prstGeom>
          <a:solidFill>
            <a:srgbClr val="FFFFFF"/>
          </a:solidFill>
          <a:ln w="1524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04_x51_889x599.png"/>
          <p:cNvPicPr>
            <a:picLocks noChangeAspect="1"/>
          </p:cNvPicPr>
          <p:nvPr/>
        </p:nvPicPr>
        <p:blipFill>
          <a:blip r:embed="rId3"/>
          <a:stretch>
            <a:fillRect/>
          </a:stretch>
        </p:blipFill>
        <p:spPr>
          <a:xfrm>
            <a:off x="5533845" y="1645920"/>
            <a:ext cx="3745590" cy="2523744"/>
          </a:xfrm>
          <a:prstGeom prst="rect">
            <a:avLst/>
          </a:prstGeom>
        </p:spPr>
      </p:pic>
      <p:sp>
        <p:nvSpPr>
          <p:cNvPr id="15" name="TextBox 14"/>
          <p:cNvSpPr txBox="1"/>
          <p:nvPr/>
        </p:nvSpPr>
        <p:spPr>
          <a:xfrm>
            <a:off x="5303520" y="4189664"/>
            <a:ext cx="4206240" cy="310896"/>
          </a:xfrm>
          <a:prstGeom prst="rect">
            <a:avLst/>
          </a:prstGeom>
          <a:noFill/>
        </p:spPr>
        <p:txBody>
          <a:bodyPr wrap="square" anchor="t" lIns="25400" rIns="25400" tIns="25400" bIns="25400">
            <a:spAutoFit/>
          </a:bodyPr>
          <a:lstStyle/>
          <a:p>
            <a:pPr algn="ctr">
              <a:lnSpc>
                <a:spcPct val="100000"/>
              </a:lnSpc>
              <a:spcAft>
                <a:spcPts val="400"/>
              </a:spcAft>
            </a:pPr>
            <a:r>
              <a:rPr sz="1100" b="0" i="1">
                <a:solidFill>
                  <a:srgbClr val="90A4AE"/>
                </a:solidFill>
                <a:latin typeface="Calibri"/>
              </a:rPr>
              <a:t>Diagramme de masque solaire lointain</a:t>
            </a:r>
          </a:p>
        </p:txBody>
      </p:sp>
      <p:sp>
        <p:nvSpPr>
          <p:cNvPr id="16" name="TextBox 15"/>
          <p:cNvSpPr txBox="1"/>
          <p:nvPr/>
        </p:nvSpPr>
        <p:spPr>
          <a:xfrm>
            <a:off x="9692640" y="1737360"/>
            <a:ext cx="2103120" cy="2743200"/>
          </a:xfrm>
          <a:prstGeom prst="rect">
            <a:avLst/>
          </a:prstGeom>
          <a:noFill/>
        </p:spPr>
        <p:txBody>
          <a:bodyPr wrap="square">
            <a:spAutoFit/>
          </a:bodyPr>
          <a:lstStyle/>
          <a:p>
            <a:pPr>
              <a:lnSpc>
                <a:spcPct val="105000"/>
              </a:lnSpc>
              <a:spcAft>
                <a:spcPts val="900"/>
              </a:spcAft>
            </a:pPr>
            <a:r>
              <a:rPr sz="1200" b="1">
                <a:solidFill>
                  <a:srgbClr val="2E7D32"/>
                </a:solidFill>
                <a:latin typeface="Calibri"/>
              </a:rPr>
              <a:t>●  </a:t>
            </a:r>
            <a:r>
              <a:rPr sz="1200">
                <a:solidFill>
                  <a:srgbClr val="37474F"/>
                </a:solidFill>
                <a:latin typeface="Calibri"/>
              </a:rPr>
              <a:t>Altitude 498 m</a:t>
            </a:r>
          </a:p>
          <a:p>
            <a:pPr>
              <a:lnSpc>
                <a:spcPct val="105000"/>
              </a:lnSpc>
              <a:spcAft>
                <a:spcPts val="900"/>
              </a:spcAft>
            </a:pPr>
            <a:r>
              <a:rPr sz="1200" b="1">
                <a:solidFill>
                  <a:srgbClr val="2E7D32"/>
                </a:solidFill>
                <a:latin typeface="Calibri"/>
              </a:rPr>
              <a:t>●  </a:t>
            </a:r>
            <a:r>
              <a:rPr sz="1200">
                <a:solidFill>
                  <a:srgbClr val="37474F"/>
                </a:solidFill>
                <a:latin typeface="Calibri"/>
              </a:rPr>
              <a:t>Orientation Sud-Est</a:t>
            </a:r>
          </a:p>
          <a:p>
            <a:pPr>
              <a:lnSpc>
                <a:spcPct val="105000"/>
              </a:lnSpc>
              <a:spcAft>
                <a:spcPts val="900"/>
              </a:spcAft>
            </a:pPr>
            <a:r>
              <a:rPr sz="1200" b="1">
                <a:solidFill>
                  <a:srgbClr val="2E7D32"/>
                </a:solidFill>
                <a:latin typeface="Calibri"/>
              </a:rPr>
              <a:t>●  </a:t>
            </a:r>
            <a:r>
              <a:rPr sz="1200">
                <a:solidFill>
                  <a:srgbClr val="37474F"/>
                </a:solidFill>
                <a:latin typeface="Calibri"/>
              </a:rPr>
              <a:t>Contexte rural</a:t>
            </a:r>
          </a:p>
          <a:p>
            <a:pPr>
              <a:lnSpc>
                <a:spcPct val="105000"/>
              </a:lnSpc>
              <a:spcAft>
                <a:spcPts val="900"/>
              </a:spcAft>
            </a:pPr>
            <a:r>
              <a:rPr sz="1200" b="1">
                <a:solidFill>
                  <a:srgbClr val="2E7D32"/>
                </a:solidFill>
                <a:latin typeface="Calibri"/>
              </a:rPr>
              <a:t>●  </a:t>
            </a:r>
            <a:r>
              <a:rPr sz="1200">
                <a:solidFill>
                  <a:srgbClr val="37474F"/>
                </a:solidFill>
                <a:latin typeface="Calibri"/>
              </a:rPr>
              <a:t>Masque lointain (relief)</a:t>
            </a:r>
          </a:p>
          <a:p>
            <a:pPr>
              <a:lnSpc>
                <a:spcPct val="105000"/>
              </a:lnSpc>
              <a:spcAft>
                <a:spcPts val="900"/>
              </a:spcAft>
            </a:pPr>
            <a:r>
              <a:rPr sz="1200" b="1">
                <a:solidFill>
                  <a:srgbClr val="2E7D32"/>
                </a:solidFill>
                <a:latin typeface="Calibri"/>
              </a:rPr>
              <a:t>●  </a:t>
            </a:r>
            <a:r>
              <a:rPr sz="1200">
                <a:solidFill>
                  <a:srgbClr val="37474F"/>
                </a:solidFill>
                <a:latin typeface="Calibri"/>
              </a:rPr>
              <a:t>Solaire d'hiver favorable</a:t>
            </a:r>
          </a:p>
        </p:txBody>
      </p:sp>
      <p:sp>
        <p:nvSpPr>
          <p:cNvPr id="17" name="Rounded Rectangle 16"/>
          <p:cNvSpPr/>
          <p:nvPr/>
        </p:nvSpPr>
        <p:spPr>
          <a:xfrm>
            <a:off x="822960" y="4846320"/>
            <a:ext cx="10515600" cy="11887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4937760"/>
            <a:ext cx="10149840" cy="1005840"/>
          </a:xfrm>
          <a:prstGeom prst="rect">
            <a:avLst/>
          </a:prstGeom>
          <a:noFill/>
        </p:spPr>
        <p:txBody>
          <a:bodyPr wrap="square" anchor="t" lIns="25400" rIns="25400" tIns="25400" bIns="25400">
            <a:spAutoFit/>
          </a:bodyPr>
          <a:lstStyle/>
          <a:p>
            <a:pPr algn="l">
              <a:lnSpc>
                <a:spcPct val="120000"/>
              </a:lnSpc>
              <a:spcAft>
                <a:spcPts val="400"/>
              </a:spcAft>
            </a:pPr>
            <a:r>
              <a:rPr sz="1300" b="1" i="0">
                <a:solidFill>
                  <a:srgbClr val="1B5E20"/>
                </a:solidFill>
                <a:latin typeface="Calibri"/>
              </a:rPr>
              <a:t>Atout : </a:t>
            </a:r>
            <a:r>
              <a:rPr sz="1300" b="0" i="0">
                <a:solidFill>
                  <a:srgbClr val="37474F"/>
                </a:solidFill>
                <a:latin typeface="Calibri"/>
              </a:rPr>
              <a:t>l'orientation Sud-Est favorise les apports solaires gratuits en hiver. </a:t>
            </a:r>
          </a:p>
          <a:p>
            <a:pPr algn="l">
              <a:lnSpc>
                <a:spcPct val="120000"/>
              </a:lnSpc>
              <a:spcAft>
                <a:spcPts val="400"/>
              </a:spcAft>
            </a:pPr>
            <a:r>
              <a:rPr sz="1300" b="1" i="0">
                <a:solidFill>
                  <a:srgbClr val="E65100"/>
                </a:solidFill>
                <a:latin typeface="Calibri"/>
              </a:rPr>
              <a:t>Vigilance : </a:t>
            </a:r>
            <a:r>
              <a:rPr sz="1300" b="0" i="0">
                <a:solidFill>
                  <a:srgbClr val="37474F"/>
                </a:solidFill>
                <a:latin typeface="Calibri"/>
              </a:rPr>
              <a:t>ces apports peuvent provoquer des surchauffes l'ete -&gt; isolants dephasants + gestion des volets.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384048"/>
            <a:ext cx="658368" cy="65836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84048"/>
            <a:ext cx="658368" cy="658368"/>
          </a:xfrm>
          <a:prstGeom prst="rect">
            <a:avLst/>
          </a:prstGeom>
          <a:noFill/>
        </p:spPr>
        <p:txBody>
          <a:bodyPr wrap="square" anchor="ctr" lIns="25400" rIns="25400" tIns="25400" bIns="25400">
            <a:spAutoFit/>
          </a:bodyPr>
          <a:lstStyle/>
          <a:p>
            <a:pPr algn="ctr">
              <a:lnSpc>
                <a:spcPct val="100000"/>
              </a:lnSpc>
              <a:spcAft>
                <a:spcPts val="400"/>
              </a:spcAft>
            </a:pPr>
            <a:r>
              <a:rPr sz="2600" b="1" i="0">
                <a:solidFill>
                  <a:srgbClr val="FFFFFF"/>
                </a:solidFill>
                <a:latin typeface="Calibri"/>
              </a:rPr>
              <a:t>1</a:t>
            </a:r>
          </a:p>
        </p:txBody>
      </p:sp>
      <p:sp>
        <p:nvSpPr>
          <p:cNvPr id="6" name="TextBox 5"/>
          <p:cNvSpPr txBox="1"/>
          <p:nvPr/>
        </p:nvSpPr>
        <p:spPr>
          <a:xfrm>
            <a:off x="1325880" y="310896"/>
            <a:ext cx="10332720" cy="566928"/>
          </a:xfrm>
          <a:prstGeom prst="rect">
            <a:avLst/>
          </a:prstGeom>
          <a:noFill/>
        </p:spPr>
        <p:txBody>
          <a:bodyPr wrap="square" anchor="ctr" lIns="25400" rIns="25400" tIns="25400" bIns="25400">
            <a:spAutoFit/>
          </a:bodyPr>
          <a:lstStyle/>
          <a:p>
            <a:pPr algn="l">
              <a:lnSpc>
                <a:spcPct val="100000"/>
              </a:lnSpc>
              <a:spcAft>
                <a:spcPts val="400"/>
              </a:spcAft>
            </a:pPr>
            <a:r>
              <a:rPr sz="2800" b="1" i="0">
                <a:solidFill>
                  <a:srgbClr val="1B5E20"/>
                </a:solidFill>
                <a:latin typeface="Calibri"/>
              </a:rPr>
              <a:t>Objectifs et attentes du maitre d'ouvrage</a:t>
            </a:r>
          </a:p>
        </p:txBody>
      </p:sp>
      <p:sp>
        <p:nvSpPr>
          <p:cNvPr id="7" name="Rectangle 6"/>
          <p:cNvSpPr/>
          <p:nvPr/>
        </p:nvSpPr>
        <p:spPr>
          <a:xfrm>
            <a:off x="1325880" y="1225296"/>
            <a:ext cx="10058400" cy="279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92608"/>
          </a:xfrm>
          <a:prstGeom prst="rect">
            <a:avLst/>
          </a:prstGeom>
          <a:noFill/>
        </p:spPr>
        <p:txBody>
          <a:bodyPr wrap="square" anchor="t" lIns="25400" rIns="25400" tIns="25400" bIns="25400">
            <a:spAutoFit/>
          </a:bodyPr>
          <a:lstStyle/>
          <a:p>
            <a:pPr algn="l">
              <a:lnSpc>
                <a:spcPct val="100000"/>
              </a:lnSpc>
              <a:spcAft>
                <a:spcPts val="400"/>
              </a:spcAft>
            </a:pPr>
            <a:r>
              <a:rPr sz="900" b="0" i="0">
                <a:solidFill>
                  <a:srgbClr val="90A4AE"/>
                </a:solidFill>
                <a:latin typeface="Calibri"/>
              </a:rPr>
              <a:t>Renovation energetique - Saint-Jean-de-Chevelu (73) - Bloc 1</a:t>
            </a:r>
          </a:p>
        </p:txBody>
      </p:sp>
      <p:sp>
        <p:nvSpPr>
          <p:cNvPr id="9" name="TextBox 8"/>
          <p:cNvSpPr txBox="1"/>
          <p:nvPr/>
        </p:nvSpPr>
        <p:spPr>
          <a:xfrm>
            <a:off x="9418320" y="6473952"/>
            <a:ext cx="2286000" cy="292608"/>
          </a:xfrm>
          <a:prstGeom prst="rect">
            <a:avLst/>
          </a:prstGeom>
          <a:noFill/>
        </p:spPr>
        <p:txBody>
          <a:bodyPr wrap="square" anchor="t" lIns="25400" rIns="25400" tIns="25400" bIns="25400">
            <a:spAutoFit/>
          </a:bodyPr>
          <a:lstStyle/>
          <a:p>
            <a:pPr algn="r">
              <a:lnSpc>
                <a:spcPct val="100000"/>
              </a:lnSpc>
              <a:spcAft>
                <a:spcPts val="400"/>
              </a:spcAft>
            </a:pPr>
            <a:r>
              <a:rPr sz="900" b="0" i="0">
                <a:solidFill>
                  <a:srgbClr val="90A4AE"/>
                </a:solidFill>
                <a:latin typeface="Calibri"/>
              </a:rPr>
              <a:t>Guillaume Tardy</a:t>
            </a:r>
          </a:p>
        </p:txBody>
      </p:sp>
      <p:sp>
        <p:nvSpPr>
          <p:cNvPr id="10" name="TextBox 9"/>
          <p:cNvSpPr txBox="1"/>
          <p:nvPr/>
        </p:nvSpPr>
        <p:spPr>
          <a:xfrm>
            <a:off x="822960" y="1920240"/>
            <a:ext cx="5120640" cy="365760"/>
          </a:xfrm>
          <a:prstGeom prst="rect">
            <a:avLst/>
          </a:prstGeom>
          <a:noFill/>
        </p:spPr>
        <p:txBody>
          <a:bodyPr wrap="square" anchor="t" lIns="25400" rIns="25400" tIns="25400" bIns="25400">
            <a:spAutoFit/>
          </a:bodyPr>
          <a:lstStyle/>
          <a:p>
            <a:pPr algn="l">
              <a:lnSpc>
                <a:spcPct val="100000"/>
              </a:lnSpc>
              <a:spcAft>
                <a:spcPts val="400"/>
              </a:spcAft>
            </a:pPr>
            <a:r>
              <a:rPr sz="1600" b="1" i="0">
                <a:solidFill>
                  <a:srgbClr val="1B5E20"/>
                </a:solidFill>
                <a:latin typeface="Calibri"/>
              </a:rPr>
              <a:t>Besoins &amp; objectifs</a:t>
            </a:r>
          </a:p>
        </p:txBody>
      </p:sp>
      <p:sp>
        <p:nvSpPr>
          <p:cNvPr id="11" name="TextBox 10"/>
          <p:cNvSpPr txBox="1"/>
          <p:nvPr/>
        </p:nvSpPr>
        <p:spPr>
          <a:xfrm>
            <a:off x="822960" y="2377440"/>
            <a:ext cx="5120640" cy="3657600"/>
          </a:xfrm>
          <a:prstGeom prst="rect">
            <a:avLst/>
          </a:prstGeom>
          <a:noFill/>
        </p:spPr>
        <p:txBody>
          <a:bodyPr wrap="square">
            <a:spAutoFit/>
          </a:bodyPr>
          <a:lstStyle/>
          <a:p>
            <a:pPr>
              <a:lnSpc>
                <a:spcPct val="105000"/>
              </a:lnSpc>
              <a:spcAft>
                <a:spcPts val="900"/>
              </a:spcAft>
            </a:pPr>
            <a:r>
              <a:rPr sz="1400" b="1">
                <a:solidFill>
                  <a:srgbClr val="2E7D32"/>
                </a:solidFill>
                <a:latin typeface="Calibri"/>
              </a:rPr>
              <a:t>●  </a:t>
            </a:r>
            <a:r>
              <a:rPr sz="1400">
                <a:solidFill>
                  <a:srgbClr val="37474F"/>
                </a:solidFill>
                <a:latin typeface="Calibri"/>
              </a:rPr>
              <a:t>Reduire les depenses energetiques</a:t>
            </a:r>
          </a:p>
          <a:p>
            <a:pPr>
              <a:lnSpc>
                <a:spcPct val="105000"/>
              </a:lnSpc>
              <a:spcAft>
                <a:spcPts val="900"/>
              </a:spcAft>
            </a:pPr>
            <a:r>
              <a:rPr sz="1400" b="1">
                <a:solidFill>
                  <a:srgbClr val="2E7D32"/>
                </a:solidFill>
                <a:latin typeface="Calibri"/>
              </a:rPr>
              <a:t>●  </a:t>
            </a:r>
            <a:r>
              <a:rPr sz="1400">
                <a:solidFill>
                  <a:srgbClr val="37474F"/>
                </a:solidFill>
                <a:latin typeface="Calibri"/>
              </a:rPr>
              <a:t>Confort d'hiver (supprimer parois froides)</a:t>
            </a:r>
          </a:p>
          <a:p>
            <a:pPr>
              <a:lnSpc>
                <a:spcPct val="105000"/>
              </a:lnSpc>
              <a:spcAft>
                <a:spcPts val="900"/>
              </a:spcAft>
            </a:pPr>
            <a:r>
              <a:rPr sz="1400" b="1">
                <a:solidFill>
                  <a:srgbClr val="2E7D32"/>
                </a:solidFill>
                <a:latin typeface="Calibri"/>
              </a:rPr>
              <a:t>●  </a:t>
            </a:r>
            <a:r>
              <a:rPr sz="1400">
                <a:solidFill>
                  <a:srgbClr val="37474F"/>
                </a:solidFill>
                <a:latin typeface="Calibri"/>
              </a:rPr>
              <a:t>Confort d'ete (surchauffe sous toiture)</a:t>
            </a:r>
          </a:p>
          <a:p>
            <a:pPr>
              <a:lnSpc>
                <a:spcPct val="105000"/>
              </a:lnSpc>
              <a:spcAft>
                <a:spcPts val="900"/>
              </a:spcAft>
            </a:pPr>
            <a:r>
              <a:rPr sz="1400" b="1">
                <a:solidFill>
                  <a:srgbClr val="2E7D32"/>
                </a:solidFill>
                <a:latin typeface="Calibri"/>
              </a:rPr>
              <a:t>●  </a:t>
            </a:r>
            <a:r>
              <a:rPr sz="1400">
                <a:solidFill>
                  <a:srgbClr val="37474F"/>
                </a:solidFill>
                <a:latin typeface="Calibri"/>
              </a:rPr>
              <a:t>Remplacer a terme la chaudiere fioul</a:t>
            </a:r>
          </a:p>
          <a:p>
            <a:pPr>
              <a:lnSpc>
                <a:spcPct val="105000"/>
              </a:lnSpc>
              <a:spcAft>
                <a:spcPts val="900"/>
              </a:spcAft>
            </a:pPr>
            <a:r>
              <a:rPr sz="1400" b="1">
                <a:solidFill>
                  <a:srgbClr val="2E7D32"/>
                </a:solidFill>
                <a:latin typeface="Calibri"/>
              </a:rPr>
              <a:t>●  </a:t>
            </a:r>
            <a:r>
              <a:rPr sz="1400">
                <a:solidFill>
                  <a:srgbClr val="37474F"/>
                </a:solidFill>
                <a:latin typeface="Calibri"/>
              </a:rPr>
              <a:t>Reduire les emissions de CO2</a:t>
            </a:r>
          </a:p>
          <a:p>
            <a:pPr>
              <a:lnSpc>
                <a:spcPct val="105000"/>
              </a:lnSpc>
              <a:spcAft>
                <a:spcPts val="900"/>
              </a:spcAft>
            </a:pPr>
            <a:r>
              <a:rPr sz="1400" b="1">
                <a:solidFill>
                  <a:srgbClr val="2E7D32"/>
                </a:solidFill>
                <a:latin typeface="Calibri"/>
              </a:rPr>
              <a:t>●  </a:t>
            </a:r>
            <a:r>
              <a:rPr sz="1400">
                <a:solidFill>
                  <a:srgbClr val="37474F"/>
                </a:solidFill>
                <a:latin typeface="Calibri"/>
              </a:rPr>
              <a:t>Valoriser le patrimoine immobilier</a:t>
            </a:r>
          </a:p>
        </p:txBody>
      </p:sp>
      <p:sp>
        <p:nvSpPr>
          <p:cNvPr id="12" name="TextBox 11"/>
          <p:cNvSpPr txBox="1"/>
          <p:nvPr/>
        </p:nvSpPr>
        <p:spPr>
          <a:xfrm>
            <a:off x="6309360" y="1920240"/>
            <a:ext cx="5120640" cy="365760"/>
          </a:xfrm>
          <a:prstGeom prst="rect">
            <a:avLst/>
          </a:prstGeom>
          <a:noFill/>
        </p:spPr>
        <p:txBody>
          <a:bodyPr wrap="square" anchor="t" lIns="25400" rIns="25400" tIns="25400" bIns="25400">
            <a:spAutoFit/>
          </a:bodyPr>
          <a:lstStyle/>
          <a:p>
            <a:pPr algn="l">
              <a:lnSpc>
                <a:spcPct val="100000"/>
              </a:lnSpc>
              <a:spcAft>
                <a:spcPts val="400"/>
              </a:spcAft>
            </a:pPr>
            <a:r>
              <a:rPr sz="1600" b="1" i="0">
                <a:solidFill>
                  <a:srgbClr val="1B5E20"/>
                </a:solidFill>
                <a:latin typeface="Calibri"/>
              </a:rPr>
              <a:t>Moyens &amp; contraintes</a:t>
            </a:r>
          </a:p>
        </p:txBody>
      </p:sp>
      <p:sp>
        <p:nvSpPr>
          <p:cNvPr id="13" name="TextBox 12"/>
          <p:cNvSpPr txBox="1"/>
          <p:nvPr/>
        </p:nvSpPr>
        <p:spPr>
          <a:xfrm>
            <a:off x="6309360" y="2377440"/>
            <a:ext cx="5120640" cy="3657600"/>
          </a:xfrm>
          <a:prstGeom prst="rect">
            <a:avLst/>
          </a:prstGeom>
          <a:noFill/>
        </p:spPr>
        <p:txBody>
          <a:bodyPr wrap="square">
            <a:spAutoFit/>
          </a:bodyPr>
          <a:lstStyle/>
          <a:p>
            <a:pPr>
              <a:lnSpc>
                <a:spcPct val="105000"/>
              </a:lnSpc>
              <a:spcAft>
                <a:spcPts val="900"/>
              </a:spcAft>
            </a:pPr>
            <a:r>
              <a:rPr sz="1400" b="1">
                <a:solidFill>
                  <a:srgbClr val="E65100"/>
                </a:solidFill>
                <a:latin typeface="Calibri"/>
              </a:rPr>
              <a:t>●  </a:t>
            </a:r>
            <a:r>
              <a:rPr sz="1400">
                <a:solidFill>
                  <a:srgbClr val="37474F"/>
                </a:solidFill>
                <a:latin typeface="Calibri"/>
              </a:rPr>
              <a:t>Budget + apport 10 000 €, foyer modeste</a:t>
            </a:r>
          </a:p>
          <a:p>
            <a:pPr>
              <a:lnSpc>
                <a:spcPct val="105000"/>
              </a:lnSpc>
              <a:spcAft>
                <a:spcPts val="900"/>
              </a:spcAft>
            </a:pPr>
            <a:r>
              <a:rPr sz="1400" b="1">
                <a:solidFill>
                  <a:srgbClr val="E65100"/>
                </a:solidFill>
                <a:latin typeface="Calibri"/>
              </a:rPr>
              <a:t>●  </a:t>
            </a:r>
            <a:r>
              <a:rPr sz="1400">
                <a:solidFill>
                  <a:srgbClr val="37474F"/>
                </a:solidFill>
                <a:latin typeface="Calibri"/>
              </a:rPr>
              <a:t>Investissements justifies par les economies</a:t>
            </a:r>
          </a:p>
          <a:p>
            <a:pPr>
              <a:lnSpc>
                <a:spcPct val="105000"/>
              </a:lnSpc>
              <a:spcAft>
                <a:spcPts val="900"/>
              </a:spcAft>
            </a:pPr>
            <a:r>
              <a:rPr sz="1400" b="1">
                <a:solidFill>
                  <a:srgbClr val="E65100"/>
                </a:solidFill>
                <a:latin typeface="Calibri"/>
              </a:rPr>
              <a:t>●  </a:t>
            </a:r>
            <a:r>
              <a:rPr sz="1400">
                <a:solidFill>
                  <a:srgbClr val="37474F"/>
                </a:solidFill>
                <a:latin typeface="Calibri"/>
              </a:rPr>
              <a:t>Conserver le caractere de la ferme</a:t>
            </a:r>
          </a:p>
          <a:p>
            <a:pPr>
              <a:lnSpc>
                <a:spcPct val="105000"/>
              </a:lnSpc>
              <a:spcAft>
                <a:spcPts val="900"/>
              </a:spcAft>
            </a:pPr>
            <a:r>
              <a:rPr sz="1400" b="1">
                <a:solidFill>
                  <a:srgbClr val="E65100"/>
                </a:solidFill>
                <a:latin typeface="Calibri"/>
              </a:rPr>
              <a:t>●  </a:t>
            </a:r>
            <a:r>
              <a:rPr sz="1400">
                <a:solidFill>
                  <a:srgbClr val="37474F"/>
                </a:solidFill>
                <a:latin typeface="Calibri"/>
              </a:rPr>
              <a:t>Solutions compatibles avec les murs en pierre</a:t>
            </a:r>
          </a:p>
          <a:p>
            <a:pPr>
              <a:lnSpc>
                <a:spcPct val="105000"/>
              </a:lnSpc>
              <a:spcAft>
                <a:spcPts val="900"/>
              </a:spcAft>
            </a:pPr>
            <a:r>
              <a:rPr sz="1400" b="1">
                <a:solidFill>
                  <a:srgbClr val="E65100"/>
                </a:solidFill>
                <a:latin typeface="Calibri"/>
              </a:rPr>
              <a:t>●  </a:t>
            </a:r>
            <a:r>
              <a:rPr sz="1400">
                <a:solidFill>
                  <a:srgbClr val="37474F"/>
                </a:solidFill>
                <a:latin typeface="Calibri"/>
              </a:rPr>
              <a:t>Limiter les risques lies a l'humidite</a:t>
            </a:r>
          </a:p>
          <a:p>
            <a:pPr>
              <a:lnSpc>
                <a:spcPct val="105000"/>
              </a:lnSpc>
              <a:spcAft>
                <a:spcPts val="900"/>
              </a:spcAft>
            </a:pPr>
            <a:r>
              <a:rPr sz="1400" b="1">
                <a:solidFill>
                  <a:srgbClr val="E65100"/>
                </a:solidFill>
                <a:latin typeface="Calibri"/>
              </a:rPr>
              <a:t>●  </a:t>
            </a:r>
            <a:r>
              <a:rPr sz="1400">
                <a:solidFill>
                  <a:srgbClr val="37474F"/>
                </a:solidFill>
                <a:latin typeface="Calibri"/>
              </a:rPr>
              <a:t>Mobiliser un maximum d'aides</a:t>
            </a:r>
          </a:p>
        </p:txBody>
      </p:sp>
      <p:sp>
        <p:nvSpPr>
          <p:cNvPr id="14" name="TextBox 13"/>
          <p:cNvSpPr txBox="1"/>
          <p:nvPr/>
        </p:nvSpPr>
        <p:spPr>
          <a:xfrm>
            <a:off x="822960" y="1463040"/>
            <a:ext cx="10424160" cy="365760"/>
          </a:xfrm>
          <a:prstGeom prst="rect">
            <a:avLst/>
          </a:prstGeom>
          <a:noFill/>
        </p:spPr>
        <p:txBody>
          <a:bodyPr wrap="square" anchor="t" lIns="25400" rIns="25400" tIns="25400" bIns="25400">
            <a:spAutoFit/>
          </a:bodyPr>
          <a:lstStyle/>
          <a:p>
            <a:pPr algn="l">
              <a:lnSpc>
                <a:spcPct val="100000"/>
              </a:lnSpc>
              <a:spcAft>
                <a:spcPts val="400"/>
              </a:spcAft>
            </a:pPr>
            <a:r>
              <a:rPr sz="1400" b="0" i="1">
                <a:solidFill>
                  <a:srgbClr val="37474F"/>
                </a:solidFill>
                <a:latin typeface="Calibri"/>
              </a:rPr>
              <a:t>Recueil realise lors de la rencontre avec le maitre d'ouvrage occupant.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384048"/>
            <a:ext cx="658368" cy="65836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84048"/>
            <a:ext cx="658368" cy="658368"/>
          </a:xfrm>
          <a:prstGeom prst="rect">
            <a:avLst/>
          </a:prstGeom>
          <a:noFill/>
        </p:spPr>
        <p:txBody>
          <a:bodyPr wrap="square" anchor="ctr" lIns="25400" rIns="25400" tIns="25400" bIns="25400">
            <a:spAutoFit/>
          </a:bodyPr>
          <a:lstStyle/>
          <a:p>
            <a:pPr algn="ctr">
              <a:lnSpc>
                <a:spcPct val="100000"/>
              </a:lnSpc>
              <a:spcAft>
                <a:spcPts val="400"/>
              </a:spcAft>
            </a:pPr>
            <a:r>
              <a:rPr sz="2600" b="1" i="0">
                <a:solidFill>
                  <a:srgbClr val="FFFFFF"/>
                </a:solidFill>
                <a:latin typeface="Calibri"/>
              </a:rPr>
              <a:t>1</a:t>
            </a:r>
          </a:p>
        </p:txBody>
      </p:sp>
      <p:sp>
        <p:nvSpPr>
          <p:cNvPr id="6" name="TextBox 5"/>
          <p:cNvSpPr txBox="1"/>
          <p:nvPr/>
        </p:nvSpPr>
        <p:spPr>
          <a:xfrm>
            <a:off x="1325880" y="310896"/>
            <a:ext cx="10332720" cy="566928"/>
          </a:xfrm>
          <a:prstGeom prst="rect">
            <a:avLst/>
          </a:prstGeom>
          <a:noFill/>
        </p:spPr>
        <p:txBody>
          <a:bodyPr wrap="square" anchor="ctr" lIns="25400" rIns="25400" tIns="25400" bIns="25400">
            <a:spAutoFit/>
          </a:bodyPr>
          <a:lstStyle/>
          <a:p>
            <a:pPr algn="l">
              <a:lnSpc>
                <a:spcPct val="100000"/>
              </a:lnSpc>
              <a:spcAft>
                <a:spcPts val="400"/>
              </a:spcAft>
            </a:pPr>
            <a:r>
              <a:rPr sz="2800" b="1" i="0">
                <a:solidFill>
                  <a:srgbClr val="1B5E20"/>
                </a:solidFill>
                <a:latin typeface="Calibri"/>
              </a:rPr>
              <a:t>Objectifs de confort a atteindre</a:t>
            </a:r>
          </a:p>
        </p:txBody>
      </p:sp>
      <p:sp>
        <p:nvSpPr>
          <p:cNvPr id="7" name="Rectangle 6"/>
          <p:cNvSpPr/>
          <p:nvPr/>
        </p:nvSpPr>
        <p:spPr>
          <a:xfrm>
            <a:off x="1325880" y="1225296"/>
            <a:ext cx="10058400" cy="279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92608"/>
          </a:xfrm>
          <a:prstGeom prst="rect">
            <a:avLst/>
          </a:prstGeom>
          <a:noFill/>
        </p:spPr>
        <p:txBody>
          <a:bodyPr wrap="square" anchor="t" lIns="25400" rIns="25400" tIns="25400" bIns="25400">
            <a:spAutoFit/>
          </a:bodyPr>
          <a:lstStyle/>
          <a:p>
            <a:pPr algn="l">
              <a:lnSpc>
                <a:spcPct val="100000"/>
              </a:lnSpc>
              <a:spcAft>
                <a:spcPts val="400"/>
              </a:spcAft>
            </a:pPr>
            <a:r>
              <a:rPr sz="900" b="0" i="0">
                <a:solidFill>
                  <a:srgbClr val="90A4AE"/>
                </a:solidFill>
                <a:latin typeface="Calibri"/>
              </a:rPr>
              <a:t>Renovation energetique - Saint-Jean-de-Chevelu (73) - Bloc 1</a:t>
            </a:r>
          </a:p>
        </p:txBody>
      </p:sp>
      <p:sp>
        <p:nvSpPr>
          <p:cNvPr id="9" name="TextBox 8"/>
          <p:cNvSpPr txBox="1"/>
          <p:nvPr/>
        </p:nvSpPr>
        <p:spPr>
          <a:xfrm>
            <a:off x="9418320" y="6473952"/>
            <a:ext cx="2286000" cy="292608"/>
          </a:xfrm>
          <a:prstGeom prst="rect">
            <a:avLst/>
          </a:prstGeom>
          <a:noFill/>
        </p:spPr>
        <p:txBody>
          <a:bodyPr wrap="square" anchor="t" lIns="25400" rIns="25400" tIns="25400" bIns="25400">
            <a:spAutoFit/>
          </a:bodyPr>
          <a:lstStyle/>
          <a:p>
            <a:pPr algn="r">
              <a:lnSpc>
                <a:spcPct val="100000"/>
              </a:lnSpc>
              <a:spcAft>
                <a:spcPts val="400"/>
              </a:spcAft>
            </a:pPr>
            <a:r>
              <a:rPr sz="900" b="0" i="0">
                <a:solidFill>
                  <a:srgbClr val="90A4AE"/>
                </a:solidFill>
                <a:latin typeface="Calibri"/>
              </a:rPr>
              <a:t>Guillaume Tardy</a:t>
            </a:r>
          </a:p>
        </p:txBody>
      </p:sp>
      <p:graphicFrame>
        <p:nvGraphicFramePr>
          <p:cNvPr id="10" name="Table 9"/>
          <p:cNvGraphicFramePr>
            <a:graphicFrameLocks noGrp="1"/>
          </p:cNvGraphicFramePr>
          <p:nvPr/>
        </p:nvGraphicFramePr>
        <p:xfrm>
          <a:off x="822960" y="1600200"/>
          <a:ext cx="10515600" cy="3968496"/>
        </p:xfrm>
        <a:graphic>
          <a:graphicData uri="http://schemas.openxmlformats.org/drawingml/2006/table">
            <a:tbl>
              <a:tblPr>
                <a:tableStyleId>{5C22544A-7EE6-4342-B048-85BDC9FD1C3A}</a:tableStyleId>
              </a:tblPr>
              <a:tblGrid>
                <a:gridCol w="2103120"/>
                <a:gridCol w="4023360"/>
                <a:gridCol w="4389120"/>
              </a:tblGrid>
              <a:tr h="566928">
                <a:tc>
                  <a:txBody>
                    <a:bodyPr wrap="square"/>
                    <a:lstStyle/>
                    <a:p>
                      <a:pPr algn="l"/>
                      <a:r>
                        <a:rPr sz="1300" b="1">
                          <a:solidFill>
                            <a:srgbClr val="FFFFFF"/>
                          </a:solidFill>
                          <a:latin typeface="Calibri"/>
                        </a:rPr>
                        <a:t>Type de confort</a:t>
                      </a:r>
                    </a:p>
                  </a:txBody>
                  <a:tcPr marL="76200" marR="76200" marT="12700" marB="12700" anchor="ctr">
                    <a:solidFill>
                      <a:srgbClr val="1B5E20"/>
                    </a:solidFill>
                  </a:tcPr>
                </a:tc>
                <a:tc>
                  <a:txBody>
                    <a:bodyPr wrap="square"/>
                    <a:lstStyle/>
                    <a:p>
                      <a:pPr algn="ctr"/>
                      <a:r>
                        <a:rPr sz="1300" b="1">
                          <a:solidFill>
                            <a:srgbClr val="FFFFFF"/>
                          </a:solidFill>
                          <a:latin typeface="Calibri"/>
                        </a:rPr>
                        <a:t>Situation actuelle</a:t>
                      </a:r>
                    </a:p>
                  </a:txBody>
                  <a:tcPr marL="76200" marR="76200" marT="12700" marB="12700" anchor="ctr">
                    <a:solidFill>
                      <a:srgbClr val="1B5E20"/>
                    </a:solidFill>
                  </a:tcPr>
                </a:tc>
                <a:tc>
                  <a:txBody>
                    <a:bodyPr wrap="square"/>
                    <a:lstStyle/>
                    <a:p>
                      <a:pPr algn="ctr"/>
                      <a:r>
                        <a:rPr sz="1300" b="1">
                          <a:solidFill>
                            <a:srgbClr val="FFFFFF"/>
                          </a:solidFill>
                          <a:latin typeface="Calibri"/>
                        </a:rPr>
                        <a:t>Amelioration visee</a:t>
                      </a:r>
                    </a:p>
                  </a:txBody>
                  <a:tcPr marL="76200" marR="76200" marT="12700" marB="12700" anchor="ctr">
                    <a:solidFill>
                      <a:srgbClr val="1B5E20"/>
                    </a:solidFill>
                  </a:tcPr>
                </a:tc>
              </a:tr>
              <a:tr h="566928">
                <a:tc>
                  <a:txBody>
                    <a:bodyPr wrap="square"/>
                    <a:lstStyle/>
                    <a:p>
                      <a:pPr algn="l"/>
                      <a:r>
                        <a:rPr sz="1200" b="1">
                          <a:solidFill>
                            <a:srgbClr val="37474F"/>
                          </a:solidFill>
                          <a:latin typeface="Calibri"/>
                        </a:rPr>
                        <a:t>Confort d'hiver</a:t>
                      </a:r>
                    </a:p>
                  </a:txBody>
                  <a:tcPr marL="76200" marR="76200" marT="12700" marB="12700" anchor="ctr">
                    <a:solidFill>
                      <a:srgbClr val="FFFFFF"/>
                    </a:solidFill>
                  </a:tcPr>
                </a:tc>
                <a:tc>
                  <a:txBody>
                    <a:bodyPr wrap="square"/>
                    <a:lstStyle/>
                    <a:p>
                      <a:pPr algn="ctr"/>
                      <a:r>
                        <a:rPr sz="1200" b="0">
                          <a:solidFill>
                            <a:srgbClr val="37474F"/>
                          </a:solidFill>
                          <a:latin typeface="Calibri"/>
                        </a:rPr>
                        <a:t>Parois froides, ecarts entre pieces</a:t>
                      </a:r>
                    </a:p>
                  </a:txBody>
                  <a:tcPr marL="76200" marR="76200" marT="12700" marB="12700" anchor="ctr">
                    <a:solidFill>
                      <a:srgbClr val="FFFFFF"/>
                    </a:solidFill>
                  </a:tcPr>
                </a:tc>
                <a:tc>
                  <a:txBody>
                    <a:bodyPr wrap="square"/>
                    <a:lstStyle/>
                    <a:p>
                      <a:pPr algn="ctr"/>
                      <a:r>
                        <a:rPr sz="1200" b="0">
                          <a:solidFill>
                            <a:srgbClr val="37474F"/>
                          </a:solidFill>
                          <a:latin typeface="Calibri"/>
                        </a:rPr>
                        <a:t>Temperatures homogenes (isolation + regulation)</a:t>
                      </a:r>
                    </a:p>
                  </a:txBody>
                  <a:tcPr marL="76200" marR="76200" marT="12700" marB="12700" anchor="ctr">
                    <a:solidFill>
                      <a:srgbClr val="FFFFFF"/>
                    </a:solidFill>
                  </a:tcPr>
                </a:tc>
              </a:tr>
              <a:tr h="566928">
                <a:tc>
                  <a:txBody>
                    <a:bodyPr wrap="square"/>
                    <a:lstStyle/>
                    <a:p>
                      <a:pPr algn="l"/>
                      <a:r>
                        <a:rPr sz="1200" b="1">
                          <a:solidFill>
                            <a:srgbClr val="37474F"/>
                          </a:solidFill>
                          <a:latin typeface="Calibri"/>
                        </a:rPr>
                        <a:t>Confort d'ete</a:t>
                      </a:r>
                    </a:p>
                  </a:txBody>
                  <a:tcPr marL="76200" marR="76200" marT="12700" marB="12700" anchor="ctr">
                    <a:solidFill>
                      <a:srgbClr val="E8F5E9"/>
                    </a:solidFill>
                  </a:tcPr>
                </a:tc>
                <a:tc>
                  <a:txBody>
                    <a:bodyPr wrap="square"/>
                    <a:lstStyle/>
                    <a:p>
                      <a:pPr algn="ctr"/>
                      <a:r>
                        <a:rPr sz="1200" b="0">
                          <a:solidFill>
                            <a:srgbClr val="37474F"/>
                          </a:solidFill>
                          <a:latin typeface="Calibri"/>
                        </a:rPr>
                        <a:t>Surchauffe sous toiture</a:t>
                      </a:r>
                    </a:p>
                  </a:txBody>
                  <a:tcPr marL="76200" marR="76200" marT="12700" marB="12700" anchor="ctr">
                    <a:solidFill>
                      <a:srgbClr val="E8F5E9"/>
                    </a:solidFill>
                  </a:tcPr>
                </a:tc>
                <a:tc>
                  <a:txBody>
                    <a:bodyPr wrap="square"/>
                    <a:lstStyle/>
                    <a:p>
                      <a:pPr algn="ctr"/>
                      <a:r>
                        <a:rPr sz="1200" b="0">
                          <a:solidFill>
                            <a:srgbClr val="37474F"/>
                          </a:solidFill>
                          <a:latin typeface="Calibri"/>
                        </a:rPr>
                        <a:t>Dephasage des isolants biosources</a:t>
                      </a:r>
                    </a:p>
                  </a:txBody>
                  <a:tcPr marL="76200" marR="76200" marT="12700" marB="12700" anchor="ctr">
                    <a:solidFill>
                      <a:srgbClr val="E8F5E9"/>
                    </a:solidFill>
                  </a:tcPr>
                </a:tc>
              </a:tr>
              <a:tr h="566928">
                <a:tc>
                  <a:txBody>
                    <a:bodyPr wrap="square"/>
                    <a:lstStyle/>
                    <a:p>
                      <a:pPr algn="l"/>
                      <a:r>
                        <a:rPr sz="1200" b="1">
                          <a:solidFill>
                            <a:srgbClr val="37474F"/>
                          </a:solidFill>
                          <a:latin typeface="Calibri"/>
                        </a:rPr>
                        <a:t>Qualite de l'air</a:t>
                      </a:r>
                    </a:p>
                  </a:txBody>
                  <a:tcPr marL="76200" marR="76200" marT="12700" marB="12700" anchor="ctr">
                    <a:solidFill>
                      <a:srgbClr val="FFFFFF"/>
                    </a:solidFill>
                  </a:tcPr>
                </a:tc>
                <a:tc>
                  <a:txBody>
                    <a:bodyPr wrap="square"/>
                    <a:lstStyle/>
                    <a:p>
                      <a:pPr algn="ctr"/>
                      <a:r>
                        <a:rPr sz="1200" b="0">
                          <a:solidFill>
                            <a:srgbClr val="37474F"/>
                          </a:solidFill>
                          <a:latin typeface="Calibri"/>
                        </a:rPr>
                        <a:t>Ventilation naturelle non maitrisee</a:t>
                      </a:r>
                    </a:p>
                  </a:txBody>
                  <a:tcPr marL="76200" marR="76200" marT="12700" marB="12700" anchor="ctr">
                    <a:solidFill>
                      <a:srgbClr val="FFFFFF"/>
                    </a:solidFill>
                  </a:tcPr>
                </a:tc>
                <a:tc>
                  <a:txBody>
                    <a:bodyPr wrap="square"/>
                    <a:lstStyle/>
                    <a:p>
                      <a:pPr algn="ctr"/>
                      <a:r>
                        <a:rPr sz="1200" b="0">
                          <a:solidFill>
                            <a:srgbClr val="37474F"/>
                          </a:solidFill>
                          <a:latin typeface="Calibri"/>
                        </a:rPr>
                        <a:t>Renouvellement d'air controle (VMC hygro B)</a:t>
                      </a:r>
                    </a:p>
                  </a:txBody>
                  <a:tcPr marL="76200" marR="76200" marT="12700" marB="12700" anchor="ctr">
                    <a:solidFill>
                      <a:srgbClr val="FFFFFF"/>
                    </a:solidFill>
                  </a:tcPr>
                </a:tc>
              </a:tr>
              <a:tr h="566928">
                <a:tc>
                  <a:txBody>
                    <a:bodyPr wrap="square"/>
                    <a:lstStyle/>
                    <a:p>
                      <a:pPr algn="l"/>
                      <a:r>
                        <a:rPr sz="1200" b="1">
                          <a:solidFill>
                            <a:srgbClr val="37474F"/>
                          </a:solidFill>
                          <a:latin typeface="Calibri"/>
                        </a:rPr>
                        <a:t>Confort visuel</a:t>
                      </a:r>
                    </a:p>
                  </a:txBody>
                  <a:tcPr marL="76200" marR="76200" marT="12700" marB="12700" anchor="ctr">
                    <a:solidFill>
                      <a:srgbClr val="E8F5E9"/>
                    </a:solidFill>
                  </a:tcPr>
                </a:tc>
                <a:tc>
                  <a:txBody>
                    <a:bodyPr wrap="square"/>
                    <a:lstStyle/>
                    <a:p>
                      <a:pPr algn="ctr"/>
                      <a:r>
                        <a:rPr sz="1200" b="0">
                          <a:solidFill>
                            <a:srgbClr val="37474F"/>
                          </a:solidFill>
                          <a:latin typeface="Calibri"/>
                        </a:rPr>
                        <a:t>Halogenes energivores (25 %)</a:t>
                      </a:r>
                    </a:p>
                  </a:txBody>
                  <a:tcPr marL="76200" marR="76200" marT="12700" marB="12700" anchor="ctr">
                    <a:solidFill>
                      <a:srgbClr val="E8F5E9"/>
                    </a:solidFill>
                  </a:tcPr>
                </a:tc>
                <a:tc>
                  <a:txBody>
                    <a:bodyPr wrap="square"/>
                    <a:lstStyle/>
                    <a:p>
                      <a:pPr algn="ctr"/>
                      <a:r>
                        <a:rPr sz="1200" b="0">
                          <a:solidFill>
                            <a:srgbClr val="37474F"/>
                          </a:solidFill>
                          <a:latin typeface="Calibri"/>
                        </a:rPr>
                        <a:t>Eclairage 100 % LED + lumiere naturelle</a:t>
                      </a:r>
                    </a:p>
                  </a:txBody>
                  <a:tcPr marL="76200" marR="76200" marT="12700" marB="12700" anchor="ctr">
                    <a:solidFill>
                      <a:srgbClr val="E8F5E9"/>
                    </a:solidFill>
                  </a:tcPr>
                </a:tc>
              </a:tr>
              <a:tr h="566928">
                <a:tc>
                  <a:txBody>
                    <a:bodyPr wrap="square"/>
                    <a:lstStyle/>
                    <a:p>
                      <a:pPr algn="l"/>
                      <a:r>
                        <a:rPr sz="1200" b="1">
                          <a:solidFill>
                            <a:srgbClr val="37474F"/>
                          </a:solidFill>
                          <a:latin typeface="Calibri"/>
                        </a:rPr>
                        <a:t>Confort acoustique</a:t>
                      </a:r>
                    </a:p>
                  </a:txBody>
                  <a:tcPr marL="76200" marR="76200" marT="12700" marB="12700" anchor="ctr">
                    <a:solidFill>
                      <a:srgbClr val="FFFFFF"/>
                    </a:solidFill>
                  </a:tcPr>
                </a:tc>
                <a:tc>
                  <a:txBody>
                    <a:bodyPr wrap="square"/>
                    <a:lstStyle/>
                    <a:p>
                      <a:pPr algn="ctr"/>
                      <a:r>
                        <a:rPr sz="1200" b="0">
                          <a:solidFill>
                            <a:srgbClr val="37474F"/>
                          </a:solidFill>
                          <a:latin typeface="Calibri"/>
                        </a:rPr>
                        <a:t>Isolation phonique limitee</a:t>
                      </a:r>
                    </a:p>
                  </a:txBody>
                  <a:tcPr marL="76200" marR="76200" marT="12700" marB="12700" anchor="ctr">
                    <a:solidFill>
                      <a:srgbClr val="FFFFFF"/>
                    </a:solidFill>
                  </a:tcPr>
                </a:tc>
                <a:tc>
                  <a:txBody>
                    <a:bodyPr wrap="square"/>
                    <a:lstStyle/>
                    <a:p>
                      <a:pPr algn="ctr"/>
                      <a:r>
                        <a:rPr sz="1200" b="0">
                          <a:solidFill>
                            <a:srgbClr val="37474F"/>
                          </a:solidFill>
                          <a:latin typeface="Calibri"/>
                        </a:rPr>
                        <a:t>Attenuation des bruits exterieurs (ITE)</a:t>
                      </a:r>
                    </a:p>
                  </a:txBody>
                  <a:tcPr marL="76200" marR="76200" marT="12700" marB="12700" anchor="ctr">
                    <a:solidFill>
                      <a:srgbClr val="FFFFFF"/>
                    </a:solidFill>
                  </a:tcPr>
                </a:tc>
              </a:tr>
              <a:tr h="566928">
                <a:tc>
                  <a:txBody>
                    <a:bodyPr wrap="square"/>
                    <a:lstStyle/>
                    <a:p>
                      <a:pPr algn="l"/>
                      <a:r>
                        <a:rPr sz="1200" b="1">
                          <a:solidFill>
                            <a:srgbClr val="37474F"/>
                          </a:solidFill>
                          <a:latin typeface="Calibri"/>
                        </a:rPr>
                        <a:t>Confort sanitaire</a:t>
                      </a:r>
                    </a:p>
                  </a:txBody>
                  <a:tcPr marL="76200" marR="76200" marT="12700" marB="12700" anchor="ctr">
                    <a:solidFill>
                      <a:srgbClr val="E8F5E9"/>
                    </a:solidFill>
                  </a:tcPr>
                </a:tc>
                <a:tc>
                  <a:txBody>
                    <a:bodyPr wrap="square"/>
                    <a:lstStyle/>
                    <a:p>
                      <a:pPr algn="ctr"/>
                      <a:r>
                        <a:rPr sz="1200" b="0">
                          <a:solidFill>
                            <a:srgbClr val="37474F"/>
                          </a:solidFill>
                          <a:latin typeface="Calibri"/>
                        </a:rPr>
                        <a:t>Risque de condensation</a:t>
                      </a:r>
                    </a:p>
                  </a:txBody>
                  <a:tcPr marL="76200" marR="76200" marT="12700" marB="12700" anchor="ctr">
                    <a:solidFill>
                      <a:srgbClr val="E8F5E9"/>
                    </a:solidFill>
                  </a:tcPr>
                </a:tc>
                <a:tc>
                  <a:txBody>
                    <a:bodyPr wrap="square"/>
                    <a:lstStyle/>
                    <a:p>
                      <a:pPr algn="ctr"/>
                      <a:r>
                        <a:rPr sz="1200" b="0">
                          <a:solidFill>
                            <a:srgbClr val="37474F"/>
                          </a:solidFill>
                          <a:latin typeface="Calibri"/>
                        </a:rPr>
                        <a:t>Regulation fine, reduction de l'humidite</a:t>
                      </a:r>
                    </a:p>
                  </a:txBody>
                  <a:tcPr marL="76200" marR="76200" marT="12700" marB="12700" anchor="ctr">
                    <a:solidFill>
                      <a:srgbClr val="E8F5E9"/>
                    </a:solidFill>
                  </a:tcPr>
                </a:tc>
              </a:tr>
            </a:tbl>
          </a:graphicData>
        </a:graphic>
      </p:graphicFrame>
      <p:sp>
        <p:nvSpPr>
          <p:cNvPr id="11" name="TextBox 10"/>
          <p:cNvSpPr txBox="1"/>
          <p:nvPr/>
        </p:nvSpPr>
        <p:spPr>
          <a:xfrm>
            <a:off x="822960" y="5989320"/>
            <a:ext cx="10424160" cy="457200"/>
          </a:xfrm>
          <a:prstGeom prst="rect">
            <a:avLst/>
          </a:prstGeom>
          <a:noFill/>
        </p:spPr>
        <p:txBody>
          <a:bodyPr wrap="square" anchor="t" lIns="25400" rIns="25400" tIns="25400" bIns="25400">
            <a:spAutoFit/>
          </a:bodyPr>
          <a:lstStyle/>
          <a:p>
            <a:pPr algn="l">
              <a:lnSpc>
                <a:spcPct val="100000"/>
              </a:lnSpc>
              <a:spcAft>
                <a:spcPts val="400"/>
              </a:spcAft>
            </a:pPr>
            <a:r>
              <a:rPr sz="1200" b="0" i="1">
                <a:solidFill>
                  <a:srgbClr val="90A4AE"/>
                </a:solidFill>
                <a:latin typeface="Calibri"/>
              </a:rPr>
              <a:t>Aucun besoin d'accessibilite / PMR identifie dans cette etude.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384048"/>
            <a:ext cx="658368" cy="65836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84048"/>
            <a:ext cx="658368" cy="658368"/>
          </a:xfrm>
          <a:prstGeom prst="rect">
            <a:avLst/>
          </a:prstGeom>
          <a:noFill/>
        </p:spPr>
        <p:txBody>
          <a:bodyPr wrap="square" anchor="ctr" lIns="25400" rIns="25400" tIns="25400" bIns="25400">
            <a:spAutoFit/>
          </a:bodyPr>
          <a:lstStyle/>
          <a:p>
            <a:pPr algn="ctr">
              <a:lnSpc>
                <a:spcPct val="100000"/>
              </a:lnSpc>
              <a:spcAft>
                <a:spcPts val="400"/>
              </a:spcAft>
            </a:pPr>
            <a:r>
              <a:rPr sz="2600" b="1" i="0">
                <a:solidFill>
                  <a:srgbClr val="FFFFFF"/>
                </a:solidFill>
                <a:latin typeface="Calibri"/>
              </a:rPr>
              <a:t>2</a:t>
            </a:r>
          </a:p>
        </p:txBody>
      </p:sp>
      <p:sp>
        <p:nvSpPr>
          <p:cNvPr id="6" name="TextBox 5"/>
          <p:cNvSpPr txBox="1"/>
          <p:nvPr/>
        </p:nvSpPr>
        <p:spPr>
          <a:xfrm>
            <a:off x="1325880" y="310896"/>
            <a:ext cx="10332720" cy="566928"/>
          </a:xfrm>
          <a:prstGeom prst="rect">
            <a:avLst/>
          </a:prstGeom>
          <a:noFill/>
        </p:spPr>
        <p:txBody>
          <a:bodyPr wrap="square" anchor="ctr" lIns="25400" rIns="25400" tIns="25400" bIns="25400">
            <a:spAutoFit/>
          </a:bodyPr>
          <a:lstStyle/>
          <a:p>
            <a:pPr algn="l">
              <a:lnSpc>
                <a:spcPct val="100000"/>
              </a:lnSpc>
              <a:spcAft>
                <a:spcPts val="400"/>
              </a:spcAft>
            </a:pPr>
            <a:r>
              <a:rPr sz="2800" b="1" i="0">
                <a:solidFill>
                  <a:srgbClr val="1B5E20"/>
                </a:solidFill>
                <a:latin typeface="Calibri"/>
              </a:rPr>
              <a:t>Analyse des consommations</a:t>
            </a:r>
          </a:p>
        </p:txBody>
      </p:sp>
      <p:sp>
        <p:nvSpPr>
          <p:cNvPr id="7" name="TextBox 6"/>
          <p:cNvSpPr txBox="1"/>
          <p:nvPr/>
        </p:nvSpPr>
        <p:spPr>
          <a:xfrm>
            <a:off x="1325880" y="905256"/>
            <a:ext cx="10332720" cy="292608"/>
          </a:xfrm>
          <a:prstGeom prst="rect">
            <a:avLst/>
          </a:prstGeom>
          <a:noFill/>
        </p:spPr>
        <p:txBody>
          <a:bodyPr wrap="square" anchor="t" lIns="25400" rIns="25400" tIns="25400" bIns="25400">
            <a:spAutoFit/>
          </a:bodyPr>
          <a:lstStyle/>
          <a:p>
            <a:pPr algn="l">
              <a:lnSpc>
                <a:spcPct val="100000"/>
              </a:lnSpc>
              <a:spcAft>
                <a:spcPts val="400"/>
              </a:spcAft>
            </a:pPr>
            <a:r>
              <a:rPr sz="1350" b="0" i="1">
                <a:solidFill>
                  <a:srgbClr val="37474F"/>
                </a:solidFill>
                <a:latin typeface="Calibri"/>
              </a:rPr>
              <a:t>Factures sur 5 ans</a:t>
            </a:r>
          </a:p>
        </p:txBody>
      </p:sp>
      <p:sp>
        <p:nvSpPr>
          <p:cNvPr id="8" name="Rectangle 7"/>
          <p:cNvSpPr/>
          <p:nvPr/>
        </p:nvSpPr>
        <p:spPr>
          <a:xfrm>
            <a:off x="1325880" y="1225296"/>
            <a:ext cx="10058400" cy="279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8229600" cy="292608"/>
          </a:xfrm>
          <a:prstGeom prst="rect">
            <a:avLst/>
          </a:prstGeom>
          <a:noFill/>
        </p:spPr>
        <p:txBody>
          <a:bodyPr wrap="square" anchor="t" lIns="25400" rIns="25400" tIns="25400" bIns="25400">
            <a:spAutoFit/>
          </a:bodyPr>
          <a:lstStyle/>
          <a:p>
            <a:pPr algn="l">
              <a:lnSpc>
                <a:spcPct val="100000"/>
              </a:lnSpc>
              <a:spcAft>
                <a:spcPts val="400"/>
              </a:spcAft>
            </a:pPr>
            <a:r>
              <a:rPr sz="900" b="0" i="0">
                <a:solidFill>
                  <a:srgbClr val="90A4AE"/>
                </a:solidFill>
                <a:latin typeface="Calibri"/>
              </a:rPr>
              <a:t>Renovation energetique - Saint-Jean-de-Chevelu (73) - Bloc 1</a:t>
            </a:r>
          </a:p>
        </p:txBody>
      </p:sp>
      <p:sp>
        <p:nvSpPr>
          <p:cNvPr id="10" name="TextBox 9"/>
          <p:cNvSpPr txBox="1"/>
          <p:nvPr/>
        </p:nvSpPr>
        <p:spPr>
          <a:xfrm>
            <a:off x="9418320" y="6473952"/>
            <a:ext cx="2286000" cy="292608"/>
          </a:xfrm>
          <a:prstGeom prst="rect">
            <a:avLst/>
          </a:prstGeom>
          <a:noFill/>
        </p:spPr>
        <p:txBody>
          <a:bodyPr wrap="square" anchor="t" lIns="25400" rIns="25400" tIns="25400" bIns="25400">
            <a:spAutoFit/>
          </a:bodyPr>
          <a:lstStyle/>
          <a:p>
            <a:pPr algn="r">
              <a:lnSpc>
                <a:spcPct val="100000"/>
              </a:lnSpc>
              <a:spcAft>
                <a:spcPts val="400"/>
              </a:spcAft>
            </a:pPr>
            <a:r>
              <a:rPr sz="900" b="0" i="0">
                <a:solidFill>
                  <a:srgbClr val="90A4AE"/>
                </a:solidFill>
                <a:latin typeface="Calibri"/>
              </a:rPr>
              <a:t>Guillaume Tardy</a:t>
            </a:r>
          </a:p>
        </p:txBody>
      </p:sp>
      <p:sp>
        <p:nvSpPr>
          <p:cNvPr id="11" name="Rounded Rectangle 10"/>
          <p:cNvSpPr/>
          <p:nvPr/>
        </p:nvSpPr>
        <p:spPr>
          <a:xfrm>
            <a:off x="822960" y="1508760"/>
            <a:ext cx="3291840" cy="1234440"/>
          </a:xfrm>
          <a:prstGeom prst="roundRect">
            <a:avLst/>
          </a:prstGeom>
          <a:solidFill>
            <a:srgbClr val="FFFFFF"/>
          </a:solidFill>
          <a:ln w="1270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2960" y="1508760"/>
            <a:ext cx="3291840" cy="109728"/>
          </a:xfrm>
          <a:prstGeom prst="round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655064"/>
            <a:ext cx="3291840" cy="685800"/>
          </a:xfrm>
          <a:prstGeom prst="rect">
            <a:avLst/>
          </a:prstGeom>
          <a:noFill/>
        </p:spPr>
        <p:txBody>
          <a:bodyPr wrap="square" anchor="ctr" lIns="25400" rIns="25400" tIns="25400" bIns="25400">
            <a:spAutoFit/>
          </a:bodyPr>
          <a:lstStyle/>
          <a:p>
            <a:pPr algn="ctr">
              <a:lnSpc>
                <a:spcPct val="100000"/>
              </a:lnSpc>
              <a:spcAft>
                <a:spcPts val="400"/>
              </a:spcAft>
            </a:pPr>
            <a:r>
              <a:rPr sz="2600" b="1" i="0">
                <a:solidFill>
                  <a:srgbClr val="E65100"/>
                </a:solidFill>
                <a:latin typeface="Calibri"/>
              </a:rPr>
              <a:t>1 560 L/an</a:t>
            </a:r>
          </a:p>
        </p:txBody>
      </p:sp>
      <p:sp>
        <p:nvSpPr>
          <p:cNvPr id="14" name="TextBox 13"/>
          <p:cNvSpPr txBox="1"/>
          <p:nvPr/>
        </p:nvSpPr>
        <p:spPr>
          <a:xfrm>
            <a:off x="822960" y="2267712"/>
            <a:ext cx="3291840" cy="438912"/>
          </a:xfrm>
          <a:prstGeom prst="rect">
            <a:avLst/>
          </a:prstGeom>
          <a:noFill/>
        </p:spPr>
        <p:txBody>
          <a:bodyPr wrap="square" anchor="ctr" lIns="25400" rIns="25400" tIns="25400" bIns="25400">
            <a:spAutoFit/>
          </a:bodyPr>
          <a:lstStyle/>
          <a:p>
            <a:pPr algn="ctr">
              <a:lnSpc>
                <a:spcPct val="100000"/>
              </a:lnSpc>
              <a:spcAft>
                <a:spcPts val="400"/>
              </a:spcAft>
            </a:pPr>
            <a:r>
              <a:rPr sz="1100" b="0" i="0">
                <a:solidFill>
                  <a:srgbClr val="37474F"/>
                </a:solidFill>
                <a:latin typeface="Calibri"/>
              </a:rPr>
              <a:t>Fioul (moy.) - chauffage</a:t>
            </a:r>
          </a:p>
        </p:txBody>
      </p:sp>
      <p:sp>
        <p:nvSpPr>
          <p:cNvPr id="15" name="Rounded Rectangle 14"/>
          <p:cNvSpPr/>
          <p:nvPr/>
        </p:nvSpPr>
        <p:spPr>
          <a:xfrm>
            <a:off x="4297680" y="1508760"/>
            <a:ext cx="3291840" cy="1234440"/>
          </a:xfrm>
          <a:prstGeom prst="roundRect">
            <a:avLst/>
          </a:prstGeom>
          <a:solidFill>
            <a:srgbClr val="FFFFFF"/>
          </a:solidFill>
          <a:ln w="1270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297680" y="1508760"/>
            <a:ext cx="3291840" cy="109728"/>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7680" y="1655064"/>
            <a:ext cx="3291840" cy="685800"/>
          </a:xfrm>
          <a:prstGeom prst="rect">
            <a:avLst/>
          </a:prstGeom>
          <a:noFill/>
        </p:spPr>
        <p:txBody>
          <a:bodyPr wrap="square" anchor="ctr" lIns="25400" rIns="25400" tIns="25400" bIns="25400">
            <a:spAutoFit/>
          </a:bodyPr>
          <a:lstStyle/>
          <a:p>
            <a:pPr algn="ctr">
              <a:lnSpc>
                <a:spcPct val="100000"/>
              </a:lnSpc>
              <a:spcAft>
                <a:spcPts val="400"/>
              </a:spcAft>
            </a:pPr>
            <a:r>
              <a:rPr sz="2600" b="1" i="0">
                <a:solidFill>
                  <a:srgbClr val="2E7D32"/>
                </a:solidFill>
                <a:latin typeface="Calibri"/>
              </a:rPr>
              <a:t>6 steres/an</a:t>
            </a:r>
          </a:p>
        </p:txBody>
      </p:sp>
      <p:sp>
        <p:nvSpPr>
          <p:cNvPr id="18" name="TextBox 17"/>
          <p:cNvSpPr txBox="1"/>
          <p:nvPr/>
        </p:nvSpPr>
        <p:spPr>
          <a:xfrm>
            <a:off x="4297680" y="2267712"/>
            <a:ext cx="3291840" cy="438912"/>
          </a:xfrm>
          <a:prstGeom prst="rect">
            <a:avLst/>
          </a:prstGeom>
          <a:noFill/>
        </p:spPr>
        <p:txBody>
          <a:bodyPr wrap="square" anchor="ctr" lIns="25400" rIns="25400" tIns="25400" bIns="25400">
            <a:spAutoFit/>
          </a:bodyPr>
          <a:lstStyle/>
          <a:p>
            <a:pPr algn="ctr">
              <a:lnSpc>
                <a:spcPct val="100000"/>
              </a:lnSpc>
              <a:spcAft>
                <a:spcPts val="400"/>
              </a:spcAft>
            </a:pPr>
            <a:r>
              <a:rPr sz="1100" b="0" i="0">
                <a:solidFill>
                  <a:srgbClr val="37474F"/>
                </a:solidFill>
                <a:latin typeface="Calibri"/>
              </a:rPr>
              <a:t>Bois - poele d'appoint</a:t>
            </a:r>
          </a:p>
        </p:txBody>
      </p:sp>
      <p:sp>
        <p:nvSpPr>
          <p:cNvPr id="19" name="Rounded Rectangle 18"/>
          <p:cNvSpPr/>
          <p:nvPr/>
        </p:nvSpPr>
        <p:spPr>
          <a:xfrm>
            <a:off x="7772400" y="1508760"/>
            <a:ext cx="3291840" cy="1234440"/>
          </a:xfrm>
          <a:prstGeom prst="roundRect">
            <a:avLst/>
          </a:prstGeom>
          <a:solidFill>
            <a:srgbClr val="FFFFFF"/>
          </a:solidFill>
          <a:ln w="1270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772400" y="1508760"/>
            <a:ext cx="3291840" cy="109728"/>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0" y="1655064"/>
            <a:ext cx="3291840" cy="685800"/>
          </a:xfrm>
          <a:prstGeom prst="rect">
            <a:avLst/>
          </a:prstGeom>
          <a:noFill/>
        </p:spPr>
        <p:txBody>
          <a:bodyPr wrap="square" anchor="ctr" lIns="25400" rIns="25400" tIns="25400" bIns="25400">
            <a:spAutoFit/>
          </a:bodyPr>
          <a:lstStyle/>
          <a:p>
            <a:pPr algn="ctr">
              <a:lnSpc>
                <a:spcPct val="100000"/>
              </a:lnSpc>
              <a:spcAft>
                <a:spcPts val="400"/>
              </a:spcAft>
            </a:pPr>
            <a:r>
              <a:rPr sz="2600" b="1" i="0">
                <a:solidFill>
                  <a:srgbClr val="1565C0"/>
                </a:solidFill>
                <a:latin typeface="Calibri"/>
              </a:rPr>
              <a:t>5 447 kWh/an</a:t>
            </a:r>
          </a:p>
        </p:txBody>
      </p:sp>
      <p:sp>
        <p:nvSpPr>
          <p:cNvPr id="22" name="TextBox 21"/>
          <p:cNvSpPr txBox="1"/>
          <p:nvPr/>
        </p:nvSpPr>
        <p:spPr>
          <a:xfrm>
            <a:off x="7772400" y="2267712"/>
            <a:ext cx="3291840" cy="438912"/>
          </a:xfrm>
          <a:prstGeom prst="rect">
            <a:avLst/>
          </a:prstGeom>
          <a:noFill/>
        </p:spPr>
        <p:txBody>
          <a:bodyPr wrap="square" anchor="ctr" lIns="25400" rIns="25400" tIns="25400" bIns="25400">
            <a:spAutoFit/>
          </a:bodyPr>
          <a:lstStyle/>
          <a:p>
            <a:pPr algn="ctr">
              <a:lnSpc>
                <a:spcPct val="100000"/>
              </a:lnSpc>
              <a:spcAft>
                <a:spcPts val="400"/>
              </a:spcAft>
            </a:pPr>
            <a:r>
              <a:rPr sz="1100" b="0" i="0">
                <a:solidFill>
                  <a:srgbClr val="37474F"/>
                </a:solidFill>
                <a:latin typeface="Calibri"/>
              </a:rPr>
              <a:t>Electricite - ECS, usages</a:t>
            </a:r>
          </a:p>
        </p:txBody>
      </p:sp>
      <p:graphicFrame>
        <p:nvGraphicFramePr>
          <p:cNvPr id="23" name="Chart 22"/>
          <p:cNvGraphicFramePr>
            <a:graphicFrameLocks noGrp="1"/>
          </p:cNvGraphicFramePr>
          <p:nvPr/>
        </p:nvGraphicFramePr>
        <p:xfrm>
          <a:off x="822960" y="2971800"/>
          <a:ext cx="6400800" cy="2468880"/>
        </p:xfrm>
        <a:graphic>
          <a:graphicData uri="http://schemas.openxmlformats.org/drawingml/2006/chart">
            <c:chart xmlns:c="http://schemas.openxmlformats.org/drawingml/2006/chart" r:id="rId2"/>
          </a:graphicData>
        </a:graphic>
      </p:graphicFrame>
      <p:sp>
        <p:nvSpPr>
          <p:cNvPr id="24" name="Rounded Rectangle 23"/>
          <p:cNvSpPr/>
          <p:nvPr/>
        </p:nvSpPr>
        <p:spPr>
          <a:xfrm>
            <a:off x="7589520" y="2971800"/>
            <a:ext cx="3749039" cy="24688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18120" y="3063240"/>
            <a:ext cx="3291840" cy="365760"/>
          </a:xfrm>
          <a:prstGeom prst="rect">
            <a:avLst/>
          </a:prstGeom>
          <a:noFill/>
        </p:spPr>
        <p:txBody>
          <a:bodyPr wrap="square" anchor="t" lIns="25400" rIns="25400" tIns="25400" bIns="25400">
            <a:spAutoFit/>
          </a:bodyPr>
          <a:lstStyle/>
          <a:p>
            <a:pPr algn="l">
              <a:lnSpc>
                <a:spcPct val="100000"/>
              </a:lnSpc>
              <a:spcAft>
                <a:spcPts val="400"/>
              </a:spcAft>
            </a:pPr>
            <a:r>
              <a:rPr sz="1300" b="1" i="0">
                <a:solidFill>
                  <a:srgbClr val="1B5E20"/>
                </a:solidFill>
                <a:latin typeface="Calibri"/>
              </a:rPr>
              <a:t>Lecture</a:t>
            </a:r>
          </a:p>
        </p:txBody>
      </p:sp>
      <p:sp>
        <p:nvSpPr>
          <p:cNvPr id="26" name="TextBox 25"/>
          <p:cNvSpPr txBox="1"/>
          <p:nvPr/>
        </p:nvSpPr>
        <p:spPr>
          <a:xfrm>
            <a:off x="7818120" y="3474720"/>
            <a:ext cx="3291840" cy="1920240"/>
          </a:xfrm>
          <a:prstGeom prst="rect">
            <a:avLst/>
          </a:prstGeom>
          <a:noFill/>
        </p:spPr>
        <p:txBody>
          <a:bodyPr wrap="square">
            <a:spAutoFit/>
          </a:bodyPr>
          <a:lstStyle/>
          <a:p>
            <a:pPr>
              <a:lnSpc>
                <a:spcPct val="105000"/>
              </a:lnSpc>
              <a:spcAft>
                <a:spcPts val="700"/>
              </a:spcAft>
            </a:pPr>
            <a:r>
              <a:rPr sz="1200" b="1">
                <a:solidFill>
                  <a:srgbClr val="2E7D32"/>
                </a:solidFill>
                <a:latin typeface="Calibri"/>
              </a:rPr>
              <a:t>●  </a:t>
            </a:r>
            <a:r>
              <a:rPr sz="1200">
                <a:solidFill>
                  <a:srgbClr val="37474F"/>
                </a:solidFill>
                <a:latin typeface="Calibri"/>
              </a:rPr>
              <a:t>Chauffage ~80 % de la depense</a:t>
            </a:r>
          </a:p>
          <a:p>
            <a:pPr>
              <a:lnSpc>
                <a:spcPct val="105000"/>
              </a:lnSpc>
              <a:spcAft>
                <a:spcPts val="700"/>
              </a:spcAft>
            </a:pPr>
            <a:r>
              <a:rPr sz="1200" b="1">
                <a:solidFill>
                  <a:srgbClr val="2E7D32"/>
                </a:solidFill>
                <a:latin typeface="Calibri"/>
              </a:rPr>
              <a:t>●  </a:t>
            </a:r>
            <a:r>
              <a:rPr sz="1200">
                <a:solidFill>
                  <a:srgbClr val="37474F"/>
                </a:solidFill>
                <a:latin typeface="Calibri"/>
              </a:rPr>
              <a:t>Forte dependance au fioul (1991)</a:t>
            </a:r>
          </a:p>
          <a:p>
            <a:pPr>
              <a:lnSpc>
                <a:spcPct val="105000"/>
              </a:lnSpc>
              <a:spcAft>
                <a:spcPts val="700"/>
              </a:spcAft>
            </a:pPr>
            <a:r>
              <a:rPr sz="1200" b="1">
                <a:solidFill>
                  <a:srgbClr val="2E7D32"/>
                </a:solidFill>
                <a:latin typeface="Calibri"/>
              </a:rPr>
              <a:t>●  </a:t>
            </a:r>
            <a:r>
              <a:rPr sz="1200">
                <a:solidFill>
                  <a:srgbClr val="37474F"/>
                </a:solidFill>
                <a:latin typeface="Calibri"/>
              </a:rPr>
              <a:t>ECS electrique = poste elec majeur</a:t>
            </a:r>
          </a:p>
        </p:txBody>
      </p:sp>
      <p:sp>
        <p:nvSpPr>
          <p:cNvPr id="27" name="Rounded Rectangle 26"/>
          <p:cNvSpPr/>
          <p:nvPr/>
        </p:nvSpPr>
        <p:spPr>
          <a:xfrm>
            <a:off x="822960" y="5532120"/>
            <a:ext cx="1051560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5596128"/>
            <a:ext cx="10058400" cy="731520"/>
          </a:xfrm>
          <a:prstGeom prst="rect">
            <a:avLst/>
          </a:prstGeom>
          <a:noFill/>
        </p:spPr>
        <p:txBody>
          <a:bodyPr wrap="square" anchor="ctr" lIns="25400" rIns="25400" tIns="25400" bIns="25400">
            <a:spAutoFit/>
          </a:bodyPr>
          <a:lstStyle/>
          <a:p>
            <a:pPr algn="l">
              <a:lnSpc>
                <a:spcPct val="100000"/>
              </a:lnSpc>
              <a:spcAft>
                <a:spcPts val="400"/>
              </a:spcAft>
            </a:pPr>
            <a:r>
              <a:rPr sz="1250" b="1" i="0">
                <a:solidFill>
                  <a:srgbClr val="E65100"/>
                </a:solidFill>
                <a:latin typeface="Calibri"/>
              </a:rPr>
              <a:t>Mise en perspective : </a:t>
            </a:r>
            <a:r>
              <a:rPr sz="1250" b="0" i="0">
                <a:solidFill>
                  <a:srgbClr val="37474F"/>
                </a:solidFill>
                <a:latin typeface="Calibri"/>
              </a:rPr>
              <a:t>rigueur climatique integree (Savoie, 498 m, zone H1) ; facture reelle ~3 800 €/an (chauffage partiel + appoint bois), inferieure a l'estimation conventionnelle du DPE.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384048"/>
            <a:ext cx="658368" cy="65836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84048"/>
            <a:ext cx="658368" cy="658368"/>
          </a:xfrm>
          <a:prstGeom prst="rect">
            <a:avLst/>
          </a:prstGeom>
          <a:noFill/>
        </p:spPr>
        <p:txBody>
          <a:bodyPr wrap="square" anchor="ctr" lIns="25400" rIns="25400" tIns="25400" bIns="25400">
            <a:spAutoFit/>
          </a:bodyPr>
          <a:lstStyle/>
          <a:p>
            <a:pPr algn="ctr">
              <a:lnSpc>
                <a:spcPct val="100000"/>
              </a:lnSpc>
              <a:spcAft>
                <a:spcPts val="400"/>
              </a:spcAft>
            </a:pPr>
            <a:r>
              <a:rPr sz="2600" b="1" i="0">
                <a:solidFill>
                  <a:srgbClr val="FFFFFF"/>
                </a:solidFill>
                <a:latin typeface="Calibri"/>
              </a:rPr>
              <a:t>2</a:t>
            </a:r>
          </a:p>
        </p:txBody>
      </p:sp>
      <p:sp>
        <p:nvSpPr>
          <p:cNvPr id="6" name="TextBox 5"/>
          <p:cNvSpPr txBox="1"/>
          <p:nvPr/>
        </p:nvSpPr>
        <p:spPr>
          <a:xfrm>
            <a:off x="1325880" y="310896"/>
            <a:ext cx="10332720" cy="566928"/>
          </a:xfrm>
          <a:prstGeom prst="rect">
            <a:avLst/>
          </a:prstGeom>
          <a:noFill/>
        </p:spPr>
        <p:txBody>
          <a:bodyPr wrap="square" anchor="ctr" lIns="25400" rIns="25400" tIns="25400" bIns="25400">
            <a:spAutoFit/>
          </a:bodyPr>
          <a:lstStyle/>
          <a:p>
            <a:pPr algn="l">
              <a:lnSpc>
                <a:spcPct val="100000"/>
              </a:lnSpc>
              <a:spcAft>
                <a:spcPts val="400"/>
              </a:spcAft>
            </a:pPr>
            <a:r>
              <a:rPr sz="2800" b="1" i="0">
                <a:solidFill>
                  <a:srgbClr val="1B5E20"/>
                </a:solidFill>
                <a:latin typeface="Calibri"/>
              </a:rPr>
              <a:t>Postes de depense &amp; comparaison</a:t>
            </a:r>
          </a:p>
        </p:txBody>
      </p:sp>
      <p:sp>
        <p:nvSpPr>
          <p:cNvPr id="7" name="TextBox 6"/>
          <p:cNvSpPr txBox="1"/>
          <p:nvPr/>
        </p:nvSpPr>
        <p:spPr>
          <a:xfrm>
            <a:off x="1325880" y="905256"/>
            <a:ext cx="10332720" cy="292608"/>
          </a:xfrm>
          <a:prstGeom prst="rect">
            <a:avLst/>
          </a:prstGeom>
          <a:noFill/>
        </p:spPr>
        <p:txBody>
          <a:bodyPr wrap="square" anchor="t" lIns="25400" rIns="25400" tIns="25400" bIns="25400">
            <a:spAutoFit/>
          </a:bodyPr>
          <a:lstStyle/>
          <a:p>
            <a:pPr algn="l">
              <a:lnSpc>
                <a:spcPct val="100000"/>
              </a:lnSpc>
              <a:spcAft>
                <a:spcPts val="400"/>
              </a:spcAft>
            </a:pPr>
            <a:r>
              <a:rPr sz="1350" b="0" i="1">
                <a:solidFill>
                  <a:srgbClr val="37474F"/>
                </a:solidFill>
                <a:latin typeface="Calibri"/>
              </a:rPr>
              <a:t>Repartition des usages et moyenne nationale</a:t>
            </a:r>
          </a:p>
        </p:txBody>
      </p:sp>
      <p:sp>
        <p:nvSpPr>
          <p:cNvPr id="8" name="Rectangle 7"/>
          <p:cNvSpPr/>
          <p:nvPr/>
        </p:nvSpPr>
        <p:spPr>
          <a:xfrm>
            <a:off x="1325880" y="1225296"/>
            <a:ext cx="10058400" cy="279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8229600" cy="292608"/>
          </a:xfrm>
          <a:prstGeom prst="rect">
            <a:avLst/>
          </a:prstGeom>
          <a:noFill/>
        </p:spPr>
        <p:txBody>
          <a:bodyPr wrap="square" anchor="t" lIns="25400" rIns="25400" tIns="25400" bIns="25400">
            <a:spAutoFit/>
          </a:bodyPr>
          <a:lstStyle/>
          <a:p>
            <a:pPr algn="l">
              <a:lnSpc>
                <a:spcPct val="100000"/>
              </a:lnSpc>
              <a:spcAft>
                <a:spcPts val="400"/>
              </a:spcAft>
            </a:pPr>
            <a:r>
              <a:rPr sz="900" b="0" i="0">
                <a:solidFill>
                  <a:srgbClr val="90A4AE"/>
                </a:solidFill>
                <a:latin typeface="Calibri"/>
              </a:rPr>
              <a:t>Renovation energetique - Saint-Jean-de-Chevelu (73) - Bloc 1</a:t>
            </a:r>
          </a:p>
        </p:txBody>
      </p:sp>
      <p:sp>
        <p:nvSpPr>
          <p:cNvPr id="10" name="TextBox 9"/>
          <p:cNvSpPr txBox="1"/>
          <p:nvPr/>
        </p:nvSpPr>
        <p:spPr>
          <a:xfrm>
            <a:off x="9418320" y="6473952"/>
            <a:ext cx="2286000" cy="292608"/>
          </a:xfrm>
          <a:prstGeom prst="rect">
            <a:avLst/>
          </a:prstGeom>
          <a:noFill/>
        </p:spPr>
        <p:txBody>
          <a:bodyPr wrap="square" anchor="t" lIns="25400" rIns="25400" tIns="25400" bIns="25400">
            <a:spAutoFit/>
          </a:bodyPr>
          <a:lstStyle/>
          <a:p>
            <a:pPr algn="r">
              <a:lnSpc>
                <a:spcPct val="100000"/>
              </a:lnSpc>
              <a:spcAft>
                <a:spcPts val="400"/>
              </a:spcAft>
            </a:pPr>
            <a:r>
              <a:rPr sz="900" b="0" i="0">
                <a:solidFill>
                  <a:srgbClr val="90A4AE"/>
                </a:solidFill>
                <a:latin typeface="Calibri"/>
              </a:rPr>
              <a:t>Guillaume Tardy</a:t>
            </a:r>
          </a:p>
        </p:txBody>
      </p:sp>
      <p:graphicFrame>
        <p:nvGraphicFramePr>
          <p:cNvPr id="11" name="Chart 10"/>
          <p:cNvGraphicFramePr>
            <a:graphicFrameLocks noGrp="1"/>
          </p:cNvGraphicFramePr>
          <p:nvPr/>
        </p:nvGraphicFramePr>
        <p:xfrm>
          <a:off x="548640" y="1645920"/>
          <a:ext cx="5120640" cy="4114800"/>
        </p:xfrm>
        <a:graphic>
          <a:graphicData uri="http://schemas.openxmlformats.org/drawingml/2006/chart">
            <c:chart xmlns:c="http://schemas.openxmlformats.org/drawingml/2006/chart" r:id="rId2"/>
          </a:graphicData>
        </a:graphic>
      </p:graphicFrame>
      <p:sp>
        <p:nvSpPr>
          <p:cNvPr id="12" name="TextBox 11"/>
          <p:cNvSpPr txBox="1"/>
          <p:nvPr/>
        </p:nvSpPr>
        <p:spPr>
          <a:xfrm>
            <a:off x="6126480" y="1645920"/>
            <a:ext cx="5303520" cy="365760"/>
          </a:xfrm>
          <a:prstGeom prst="rect">
            <a:avLst/>
          </a:prstGeom>
          <a:noFill/>
        </p:spPr>
        <p:txBody>
          <a:bodyPr wrap="square" anchor="t" lIns="25400" rIns="25400" tIns="25400" bIns="25400">
            <a:spAutoFit/>
          </a:bodyPr>
          <a:lstStyle/>
          <a:p>
            <a:pPr algn="l">
              <a:lnSpc>
                <a:spcPct val="100000"/>
              </a:lnSpc>
              <a:spcAft>
                <a:spcPts val="400"/>
              </a:spcAft>
            </a:pPr>
            <a:r>
              <a:rPr sz="1600" b="1" i="0">
                <a:solidFill>
                  <a:srgbClr val="1B5E20"/>
                </a:solidFill>
                <a:latin typeface="Calibri"/>
              </a:rPr>
              <a:t>Mise en perspective</a:t>
            </a:r>
          </a:p>
        </p:txBody>
      </p:sp>
      <p:sp>
        <p:nvSpPr>
          <p:cNvPr id="13" name="TextBox 12"/>
          <p:cNvSpPr txBox="1"/>
          <p:nvPr/>
        </p:nvSpPr>
        <p:spPr>
          <a:xfrm>
            <a:off x="6126480" y="2103120"/>
            <a:ext cx="5394960" cy="2194560"/>
          </a:xfrm>
          <a:prstGeom prst="rect">
            <a:avLst/>
          </a:prstGeom>
          <a:noFill/>
        </p:spPr>
        <p:txBody>
          <a:bodyPr wrap="square">
            <a:spAutoFit/>
          </a:bodyPr>
          <a:lstStyle/>
          <a:p>
            <a:pPr>
              <a:lnSpc>
                <a:spcPct val="105000"/>
              </a:lnSpc>
              <a:spcAft>
                <a:spcPts val="1100"/>
              </a:spcAft>
            </a:pPr>
            <a:r>
              <a:rPr sz="1350" b="1">
                <a:solidFill>
                  <a:srgbClr val="2E7D32"/>
                </a:solidFill>
                <a:latin typeface="Calibri"/>
              </a:rPr>
              <a:t>●  </a:t>
            </a:r>
            <a:r>
              <a:rPr sz="1350" b="1">
                <a:solidFill>
                  <a:srgbClr val="37474F"/>
                </a:solidFill>
                <a:latin typeface="Calibri"/>
              </a:rPr>
              <a:t>Chauffage = poste dominant : </a:t>
            </a:r>
            <a:r>
              <a:rPr sz="1350">
                <a:solidFill>
                  <a:srgbClr val="37474F"/>
                </a:solidFill>
                <a:latin typeface="Calibri"/>
              </a:rPr>
              <a:t>pres de 80 % de la depense energetique</a:t>
            </a:r>
          </a:p>
          <a:p>
            <a:pPr>
              <a:lnSpc>
                <a:spcPct val="105000"/>
              </a:lnSpc>
              <a:spcAft>
                <a:spcPts val="1100"/>
              </a:spcAft>
            </a:pPr>
            <a:r>
              <a:rPr sz="1350" b="1">
                <a:solidFill>
                  <a:srgbClr val="2E7D32"/>
                </a:solidFill>
                <a:latin typeface="Calibri"/>
              </a:rPr>
              <a:t>●  </a:t>
            </a:r>
            <a:r>
              <a:rPr sz="1350" b="1">
                <a:solidFill>
                  <a:srgbClr val="37474F"/>
                </a:solidFill>
                <a:latin typeface="Calibri"/>
              </a:rPr>
              <a:t>Rigueur climatique integree : </a:t>
            </a:r>
            <a:r>
              <a:rPr sz="1350">
                <a:solidFill>
                  <a:srgbClr val="37474F"/>
                </a:solidFill>
                <a:latin typeface="Calibri"/>
              </a:rPr>
              <a:t>Savoie, 498 m, zone H1 (climat froid)</a:t>
            </a:r>
          </a:p>
          <a:p>
            <a:pPr>
              <a:lnSpc>
                <a:spcPct val="105000"/>
              </a:lnSpc>
              <a:spcAft>
                <a:spcPts val="1100"/>
              </a:spcAft>
            </a:pPr>
            <a:r>
              <a:rPr sz="1350" b="1">
                <a:solidFill>
                  <a:srgbClr val="2E7D32"/>
                </a:solidFill>
                <a:latin typeface="Calibri"/>
              </a:rPr>
              <a:t>●  </a:t>
            </a:r>
            <a:r>
              <a:rPr sz="1350" b="1">
                <a:solidFill>
                  <a:srgbClr val="37474F"/>
                </a:solidFill>
                <a:latin typeface="Calibri"/>
              </a:rPr>
              <a:t>Coherence facture / DPE </a:t>
            </a:r>
            <a:r>
              <a:rPr sz="1350">
                <a:solidFill>
                  <a:srgbClr val="37474F"/>
                </a:solidFill>
                <a:latin typeface="Calibri"/>
              </a:rPr>
              <a:t>verifiee (theorique vs reel)</a:t>
            </a:r>
          </a:p>
        </p:txBody>
      </p:sp>
      <p:sp>
        <p:nvSpPr>
          <p:cNvPr id="14" name="Rounded Rectangle 13"/>
          <p:cNvSpPr/>
          <p:nvPr/>
        </p:nvSpPr>
        <p:spPr>
          <a:xfrm>
            <a:off x="6126480" y="4343400"/>
            <a:ext cx="5394960" cy="14173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4480560"/>
            <a:ext cx="4937760" cy="1234440"/>
          </a:xfrm>
          <a:prstGeom prst="rect">
            <a:avLst/>
          </a:prstGeom>
          <a:noFill/>
        </p:spPr>
        <p:txBody>
          <a:bodyPr wrap="square" anchor="t" lIns="25400" rIns="25400" tIns="25400" bIns="25400">
            <a:spAutoFit/>
          </a:bodyPr>
          <a:lstStyle/>
          <a:p>
            <a:pPr algn="l">
              <a:lnSpc>
                <a:spcPct val="115000"/>
              </a:lnSpc>
              <a:spcAft>
                <a:spcPts val="400"/>
              </a:spcAft>
            </a:pPr>
            <a:r>
              <a:rPr sz="1300" b="1" i="0">
                <a:solidFill>
                  <a:srgbClr val="E65100"/>
                </a:solidFill>
                <a:latin typeface="Calibri"/>
              </a:rPr>
              <a:t>Comparaison a la moyenne nationale</a:t>
            </a:r>
          </a:p>
          <a:p>
            <a:pPr algn="l">
              <a:lnSpc>
                <a:spcPct val="115000"/>
              </a:lnSpc>
              <a:spcAft>
                <a:spcPts val="400"/>
              </a:spcAft>
            </a:pPr>
            <a:r>
              <a:rPr sz="1600" b="1" i="0">
                <a:solidFill>
                  <a:srgbClr val="37474F"/>
                </a:solidFill>
                <a:latin typeface="Calibri"/>
              </a:rPr>
              <a:t>535 kWhEP/m2.an   vs   ~250 kWhEP/m2.an</a:t>
            </a:r>
          </a:p>
          <a:p>
            <a:pPr algn="l">
              <a:lnSpc>
                <a:spcPct val="115000"/>
              </a:lnSpc>
              <a:spcAft>
                <a:spcPts val="400"/>
              </a:spcAft>
            </a:pPr>
            <a:r>
              <a:rPr sz="1200" b="0" i="0">
                <a:solidFill>
                  <a:srgbClr val="37474F"/>
                </a:solidFill>
                <a:latin typeface="Calibri"/>
              </a:rPr>
              <a:t>-&gt; consommation plus du double d'une habitation moyenne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384048"/>
            <a:ext cx="658368" cy="65836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84048"/>
            <a:ext cx="658368" cy="658368"/>
          </a:xfrm>
          <a:prstGeom prst="rect">
            <a:avLst/>
          </a:prstGeom>
          <a:noFill/>
        </p:spPr>
        <p:txBody>
          <a:bodyPr wrap="square" anchor="ctr" lIns="25400" rIns="25400" tIns="25400" bIns="25400">
            <a:spAutoFit/>
          </a:bodyPr>
          <a:lstStyle/>
          <a:p>
            <a:pPr algn="ctr">
              <a:lnSpc>
                <a:spcPct val="100000"/>
              </a:lnSpc>
              <a:spcAft>
                <a:spcPts val="400"/>
              </a:spcAft>
            </a:pPr>
            <a:r>
              <a:rPr sz="2600" b="1" i="0">
                <a:solidFill>
                  <a:srgbClr val="FFFFFF"/>
                </a:solidFill>
                <a:latin typeface="Calibri"/>
              </a:rPr>
              <a:t>2</a:t>
            </a:r>
          </a:p>
        </p:txBody>
      </p:sp>
      <p:sp>
        <p:nvSpPr>
          <p:cNvPr id="6" name="TextBox 5"/>
          <p:cNvSpPr txBox="1"/>
          <p:nvPr/>
        </p:nvSpPr>
        <p:spPr>
          <a:xfrm>
            <a:off x="1325880" y="310896"/>
            <a:ext cx="10332720" cy="566928"/>
          </a:xfrm>
          <a:prstGeom prst="rect">
            <a:avLst/>
          </a:prstGeom>
          <a:noFill/>
        </p:spPr>
        <p:txBody>
          <a:bodyPr wrap="square" anchor="ctr" lIns="25400" rIns="25400" tIns="25400" bIns="25400">
            <a:spAutoFit/>
          </a:bodyPr>
          <a:lstStyle/>
          <a:p>
            <a:pPr algn="l">
              <a:lnSpc>
                <a:spcPct val="100000"/>
              </a:lnSpc>
              <a:spcAft>
                <a:spcPts val="400"/>
              </a:spcAft>
            </a:pPr>
            <a:r>
              <a:rPr sz="2800" b="1" i="0">
                <a:solidFill>
                  <a:srgbClr val="1B5E20"/>
                </a:solidFill>
                <a:latin typeface="Calibri"/>
              </a:rPr>
              <a:t>Diagnostic de l'enveloppe thermique</a:t>
            </a:r>
          </a:p>
        </p:txBody>
      </p:sp>
      <p:sp>
        <p:nvSpPr>
          <p:cNvPr id="7" name="Rectangle 6"/>
          <p:cNvSpPr/>
          <p:nvPr/>
        </p:nvSpPr>
        <p:spPr>
          <a:xfrm>
            <a:off x="1325880" y="1225296"/>
            <a:ext cx="10058400" cy="279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92608"/>
          </a:xfrm>
          <a:prstGeom prst="rect">
            <a:avLst/>
          </a:prstGeom>
          <a:noFill/>
        </p:spPr>
        <p:txBody>
          <a:bodyPr wrap="square" anchor="t" lIns="25400" rIns="25400" tIns="25400" bIns="25400">
            <a:spAutoFit/>
          </a:bodyPr>
          <a:lstStyle/>
          <a:p>
            <a:pPr algn="l">
              <a:lnSpc>
                <a:spcPct val="100000"/>
              </a:lnSpc>
              <a:spcAft>
                <a:spcPts val="400"/>
              </a:spcAft>
            </a:pPr>
            <a:r>
              <a:rPr sz="900" b="0" i="0">
                <a:solidFill>
                  <a:srgbClr val="90A4AE"/>
                </a:solidFill>
                <a:latin typeface="Calibri"/>
              </a:rPr>
              <a:t>Renovation energetique - Saint-Jean-de-Chevelu (73) - Bloc 1</a:t>
            </a:r>
          </a:p>
        </p:txBody>
      </p:sp>
      <p:sp>
        <p:nvSpPr>
          <p:cNvPr id="9" name="TextBox 8"/>
          <p:cNvSpPr txBox="1"/>
          <p:nvPr/>
        </p:nvSpPr>
        <p:spPr>
          <a:xfrm>
            <a:off x="9418320" y="6473952"/>
            <a:ext cx="2286000" cy="292608"/>
          </a:xfrm>
          <a:prstGeom prst="rect">
            <a:avLst/>
          </a:prstGeom>
          <a:noFill/>
        </p:spPr>
        <p:txBody>
          <a:bodyPr wrap="square" anchor="t" lIns="25400" rIns="25400" tIns="25400" bIns="25400">
            <a:spAutoFit/>
          </a:bodyPr>
          <a:lstStyle/>
          <a:p>
            <a:pPr algn="r">
              <a:lnSpc>
                <a:spcPct val="100000"/>
              </a:lnSpc>
              <a:spcAft>
                <a:spcPts val="400"/>
              </a:spcAft>
            </a:pPr>
            <a:r>
              <a:rPr sz="900" b="0" i="0">
                <a:solidFill>
                  <a:srgbClr val="90A4AE"/>
                </a:solidFill>
                <a:latin typeface="Calibri"/>
              </a:rPr>
              <a:t>Guillaume Tardy</a:t>
            </a:r>
          </a:p>
        </p:txBody>
      </p:sp>
      <p:graphicFrame>
        <p:nvGraphicFramePr>
          <p:cNvPr id="10" name="Table 9"/>
          <p:cNvGraphicFramePr>
            <a:graphicFrameLocks noGrp="1"/>
          </p:cNvGraphicFramePr>
          <p:nvPr/>
        </p:nvGraphicFramePr>
        <p:xfrm>
          <a:off x="822960" y="1554480"/>
          <a:ext cx="7315200" cy="3520440"/>
        </p:xfrm>
        <a:graphic>
          <a:graphicData uri="http://schemas.openxmlformats.org/drawingml/2006/table">
            <a:tbl>
              <a:tblPr>
                <a:tableStyleId>{5C22544A-7EE6-4342-B048-85BDC9FD1C3A}</a:tableStyleId>
              </a:tblPr>
              <a:tblGrid>
                <a:gridCol w="2011680"/>
                <a:gridCol w="3108960"/>
                <a:gridCol w="2194560"/>
              </a:tblGrid>
              <a:tr h="502920">
                <a:tc>
                  <a:txBody>
                    <a:bodyPr wrap="square"/>
                    <a:lstStyle/>
                    <a:p>
                      <a:pPr algn="l"/>
                      <a:r>
                        <a:rPr sz="1200" b="1">
                          <a:solidFill>
                            <a:srgbClr val="FFFFFF"/>
                          </a:solidFill>
                          <a:latin typeface="Calibri"/>
                        </a:rPr>
                        <a:t>Element</a:t>
                      </a:r>
                    </a:p>
                  </a:txBody>
                  <a:tcPr marL="76200" marR="76200" marT="12700" marB="12700" anchor="ctr">
                    <a:solidFill>
                      <a:srgbClr val="1B5E20"/>
                    </a:solidFill>
                  </a:tcPr>
                </a:tc>
                <a:tc>
                  <a:txBody>
                    <a:bodyPr wrap="square"/>
                    <a:lstStyle/>
                    <a:p>
                      <a:pPr algn="ctr"/>
                      <a:r>
                        <a:rPr sz="1200" b="1">
                          <a:solidFill>
                            <a:srgbClr val="FFFFFF"/>
                          </a:solidFill>
                          <a:latin typeface="Calibri"/>
                        </a:rPr>
                        <a:t>Composition</a:t>
                      </a:r>
                    </a:p>
                  </a:txBody>
                  <a:tcPr marL="76200" marR="76200" marT="12700" marB="12700" anchor="ctr">
                    <a:solidFill>
                      <a:srgbClr val="1B5E20"/>
                    </a:solidFill>
                  </a:tcPr>
                </a:tc>
                <a:tc>
                  <a:txBody>
                    <a:bodyPr wrap="square"/>
                    <a:lstStyle/>
                    <a:p>
                      <a:pPr algn="ctr"/>
                      <a:r>
                        <a:rPr sz="1200" b="1">
                          <a:solidFill>
                            <a:srgbClr val="FFFFFF"/>
                          </a:solidFill>
                          <a:latin typeface="Calibri"/>
                        </a:rPr>
                        <a:t>Observation</a:t>
                      </a:r>
                    </a:p>
                  </a:txBody>
                  <a:tcPr marL="76200" marR="76200" marT="12700" marB="12700" anchor="ctr">
                    <a:solidFill>
                      <a:srgbClr val="1B5E20"/>
                    </a:solidFill>
                  </a:tcPr>
                </a:tc>
              </a:tr>
              <a:tr h="502920">
                <a:tc>
                  <a:txBody>
                    <a:bodyPr wrap="square"/>
                    <a:lstStyle/>
                    <a:p>
                      <a:pPr algn="l"/>
                      <a:r>
                        <a:rPr sz="1150" b="1">
                          <a:solidFill>
                            <a:srgbClr val="37474F"/>
                          </a:solidFill>
                          <a:latin typeface="Calibri"/>
                        </a:rPr>
                        <a:t>Murs exterieurs</a:t>
                      </a:r>
                    </a:p>
                  </a:txBody>
                  <a:tcPr marL="76200" marR="76200" marT="12700" marB="12700" anchor="ctr">
                    <a:solidFill>
                      <a:srgbClr val="FFFFFF"/>
                    </a:solidFill>
                  </a:tcPr>
                </a:tc>
                <a:tc>
                  <a:txBody>
                    <a:bodyPr wrap="square"/>
                    <a:lstStyle/>
                    <a:p>
                      <a:pPr algn="ctr"/>
                      <a:r>
                        <a:rPr sz="1150" b="0">
                          <a:solidFill>
                            <a:srgbClr val="37474F"/>
                          </a:solidFill>
                          <a:latin typeface="Calibri"/>
                        </a:rPr>
                        <a:t>Pierre calcaire 50 cm</a:t>
                      </a:r>
                    </a:p>
                  </a:txBody>
                  <a:tcPr marL="76200" marR="76200" marT="12700" marB="12700" anchor="ctr">
                    <a:solidFill>
                      <a:srgbClr val="FFFFFF"/>
                    </a:solidFill>
                  </a:tcPr>
                </a:tc>
                <a:tc>
                  <a:txBody>
                    <a:bodyPr wrap="square"/>
                    <a:lstStyle/>
                    <a:p>
                      <a:pPr algn="ctr"/>
                      <a:r>
                        <a:rPr sz="1150" b="0">
                          <a:solidFill>
                            <a:srgbClr val="37474F"/>
                          </a:solidFill>
                          <a:latin typeface="Calibri"/>
                        </a:rPr>
                        <a:t>Forte inertie, faible isolation</a:t>
                      </a:r>
                    </a:p>
                  </a:txBody>
                  <a:tcPr marL="76200" marR="76200" marT="12700" marB="12700" anchor="ctr">
                    <a:solidFill>
                      <a:srgbClr val="FFFFFF"/>
                    </a:solidFill>
                  </a:tcPr>
                </a:tc>
              </a:tr>
              <a:tr h="502920">
                <a:tc>
                  <a:txBody>
                    <a:bodyPr wrap="square"/>
                    <a:lstStyle/>
                    <a:p>
                      <a:pPr algn="l"/>
                      <a:r>
                        <a:rPr sz="1150" b="1">
                          <a:solidFill>
                            <a:srgbClr val="37474F"/>
                          </a:solidFill>
                          <a:latin typeface="Calibri"/>
                        </a:rPr>
                        <a:t>Toiture / combles</a:t>
                      </a:r>
                    </a:p>
                  </a:txBody>
                  <a:tcPr marL="76200" marR="76200" marT="12700" marB="12700" anchor="ctr">
                    <a:solidFill>
                      <a:srgbClr val="E8F5E9"/>
                    </a:solidFill>
                  </a:tcPr>
                </a:tc>
                <a:tc>
                  <a:txBody>
                    <a:bodyPr wrap="square"/>
                    <a:lstStyle/>
                    <a:p>
                      <a:pPr algn="ctr"/>
                      <a:r>
                        <a:rPr sz="1150" b="0">
                          <a:solidFill>
                            <a:srgbClr val="37474F"/>
                          </a:solidFill>
                          <a:latin typeface="Calibri"/>
                        </a:rPr>
                        <a:t>8 cm laine minerale ancienne</a:t>
                      </a:r>
                    </a:p>
                  </a:txBody>
                  <a:tcPr marL="76200" marR="76200" marT="12700" marB="12700" anchor="ctr">
                    <a:solidFill>
                      <a:srgbClr val="E8F5E9"/>
                    </a:solidFill>
                  </a:tcPr>
                </a:tc>
                <a:tc>
                  <a:txBody>
                    <a:bodyPr wrap="square"/>
                    <a:lstStyle/>
                    <a:p>
                      <a:pPr algn="ctr"/>
                      <a:r>
                        <a:rPr sz="1150" b="0">
                          <a:solidFill>
                            <a:srgbClr val="37474F"/>
                          </a:solidFill>
                          <a:latin typeface="Calibri"/>
                        </a:rPr>
                        <a:t>Isolation insuffisante</a:t>
                      </a:r>
                    </a:p>
                  </a:txBody>
                  <a:tcPr marL="76200" marR="76200" marT="12700" marB="12700" anchor="ctr">
                    <a:solidFill>
                      <a:srgbClr val="E8F5E9"/>
                    </a:solidFill>
                  </a:tcPr>
                </a:tc>
              </a:tr>
              <a:tr h="502920">
                <a:tc>
                  <a:txBody>
                    <a:bodyPr wrap="square"/>
                    <a:lstStyle/>
                    <a:p>
                      <a:pPr algn="l"/>
                      <a:r>
                        <a:rPr sz="1150" b="1">
                          <a:solidFill>
                            <a:srgbClr val="37474F"/>
                          </a:solidFill>
                          <a:latin typeface="Calibri"/>
                        </a:rPr>
                        <a:t>Menuiseries</a:t>
                      </a:r>
                    </a:p>
                  </a:txBody>
                  <a:tcPr marL="76200" marR="76200" marT="12700" marB="12700" anchor="ctr">
                    <a:solidFill>
                      <a:srgbClr val="FFFFFF"/>
                    </a:solidFill>
                  </a:tcPr>
                </a:tc>
                <a:tc>
                  <a:txBody>
                    <a:bodyPr wrap="square"/>
                    <a:lstStyle/>
                    <a:p>
                      <a:pPr algn="ctr"/>
                      <a:r>
                        <a:rPr sz="1150" b="0">
                          <a:solidFill>
                            <a:srgbClr val="37474F"/>
                          </a:solidFill>
                          <a:latin typeface="Calibri"/>
                        </a:rPr>
                        <a:t>Double vitrage bois 4/16/4 Argon (2019)</a:t>
                      </a:r>
                    </a:p>
                  </a:txBody>
                  <a:tcPr marL="76200" marR="76200" marT="12700" marB="12700" anchor="ctr">
                    <a:solidFill>
                      <a:srgbClr val="FFFFFF"/>
                    </a:solidFill>
                  </a:tcPr>
                </a:tc>
                <a:tc>
                  <a:txBody>
                    <a:bodyPr wrap="square"/>
                    <a:lstStyle/>
                    <a:p>
                      <a:pPr algn="ctr"/>
                      <a:r>
                        <a:rPr sz="1150" b="0">
                          <a:solidFill>
                            <a:srgbClr val="37474F"/>
                          </a:solidFill>
                          <a:latin typeface="Calibri"/>
                        </a:rPr>
                        <a:t>Bon etat, performantes</a:t>
                      </a:r>
                    </a:p>
                  </a:txBody>
                  <a:tcPr marL="76200" marR="76200" marT="12700" marB="12700" anchor="ctr">
                    <a:solidFill>
                      <a:srgbClr val="FFFFFF"/>
                    </a:solidFill>
                  </a:tcPr>
                </a:tc>
              </a:tr>
              <a:tr h="502920">
                <a:tc>
                  <a:txBody>
                    <a:bodyPr wrap="square"/>
                    <a:lstStyle/>
                    <a:p>
                      <a:pPr algn="l"/>
                      <a:r>
                        <a:rPr sz="1150" b="1">
                          <a:solidFill>
                            <a:srgbClr val="37474F"/>
                          </a:solidFill>
                          <a:latin typeface="Calibri"/>
                        </a:rPr>
                        <a:t>Plancher bas</a:t>
                      </a:r>
                    </a:p>
                  </a:txBody>
                  <a:tcPr marL="76200" marR="76200" marT="12700" marB="12700" anchor="ctr">
                    <a:solidFill>
                      <a:srgbClr val="E8F5E9"/>
                    </a:solidFill>
                  </a:tcPr>
                </a:tc>
                <a:tc>
                  <a:txBody>
                    <a:bodyPr wrap="square"/>
                    <a:lstStyle/>
                    <a:p>
                      <a:pPr algn="ctr"/>
                      <a:r>
                        <a:rPr sz="1150" b="0">
                          <a:solidFill>
                            <a:srgbClr val="37474F"/>
                          </a:solidFill>
                          <a:latin typeface="Calibri"/>
                        </a:rPr>
                        <a:t>Dalle beton sur terre-plein</a:t>
                      </a:r>
                    </a:p>
                  </a:txBody>
                  <a:tcPr marL="76200" marR="76200" marT="12700" marB="12700" anchor="ctr">
                    <a:solidFill>
                      <a:srgbClr val="E8F5E9"/>
                    </a:solidFill>
                  </a:tcPr>
                </a:tc>
                <a:tc>
                  <a:txBody>
                    <a:bodyPr wrap="square"/>
                    <a:lstStyle/>
                    <a:p>
                      <a:pPr algn="ctr"/>
                      <a:r>
                        <a:rPr sz="1150" b="0">
                          <a:solidFill>
                            <a:srgbClr val="37474F"/>
                          </a:solidFill>
                          <a:latin typeface="Calibri"/>
                        </a:rPr>
                        <a:t>Non isole -&gt; deperditions</a:t>
                      </a:r>
                    </a:p>
                  </a:txBody>
                  <a:tcPr marL="76200" marR="76200" marT="12700" marB="12700" anchor="ctr">
                    <a:solidFill>
                      <a:srgbClr val="E8F5E9"/>
                    </a:solidFill>
                  </a:tcPr>
                </a:tc>
              </a:tr>
              <a:tr h="502920">
                <a:tc>
                  <a:txBody>
                    <a:bodyPr wrap="square"/>
                    <a:lstStyle/>
                    <a:p>
                      <a:pPr algn="l"/>
                      <a:r>
                        <a:rPr sz="1150" b="1">
                          <a:solidFill>
                            <a:srgbClr val="37474F"/>
                          </a:solidFill>
                          <a:latin typeface="Calibri"/>
                        </a:rPr>
                        <a:t>Ponts thermiques</a:t>
                      </a:r>
                    </a:p>
                  </a:txBody>
                  <a:tcPr marL="76200" marR="76200" marT="12700" marB="12700" anchor="ctr">
                    <a:solidFill>
                      <a:srgbClr val="FFFFFF"/>
                    </a:solidFill>
                  </a:tcPr>
                </a:tc>
                <a:tc>
                  <a:txBody>
                    <a:bodyPr wrap="square"/>
                    <a:lstStyle/>
                    <a:p>
                      <a:pPr algn="ctr"/>
                      <a:r>
                        <a:rPr sz="1150" b="0">
                          <a:solidFill>
                            <a:srgbClr val="37474F"/>
                          </a:solidFill>
                          <a:latin typeface="Calibri"/>
                        </a:rPr>
                        <a:t>Jonctions des parois</a:t>
                      </a:r>
                    </a:p>
                  </a:txBody>
                  <a:tcPr marL="76200" marR="76200" marT="12700" marB="12700" anchor="ctr">
                    <a:solidFill>
                      <a:srgbClr val="FFFFFF"/>
                    </a:solidFill>
                  </a:tcPr>
                </a:tc>
                <a:tc>
                  <a:txBody>
                    <a:bodyPr wrap="square"/>
                    <a:lstStyle/>
                    <a:p>
                      <a:pPr algn="ctr"/>
                      <a:r>
                        <a:rPr sz="1150" b="0">
                          <a:solidFill>
                            <a:srgbClr val="37474F"/>
                          </a:solidFill>
                          <a:latin typeface="Calibri"/>
                        </a:rPr>
                        <a:t>Pertes importantes</a:t>
                      </a:r>
                    </a:p>
                  </a:txBody>
                  <a:tcPr marL="76200" marR="76200" marT="12700" marB="12700" anchor="ctr">
                    <a:solidFill>
                      <a:srgbClr val="FFFFFF"/>
                    </a:solidFill>
                  </a:tcPr>
                </a:tc>
              </a:tr>
              <a:tr h="502920">
                <a:tc>
                  <a:txBody>
                    <a:bodyPr wrap="square"/>
                    <a:lstStyle/>
                    <a:p>
                      <a:pPr algn="l"/>
                      <a:r>
                        <a:rPr sz="1150" b="1">
                          <a:solidFill>
                            <a:srgbClr val="37474F"/>
                          </a:solidFill>
                          <a:latin typeface="Calibri"/>
                        </a:rPr>
                        <a:t>Etancheite a l'air</a:t>
                      </a:r>
                    </a:p>
                  </a:txBody>
                  <a:tcPr marL="76200" marR="76200" marT="12700" marB="12700" anchor="ctr">
                    <a:solidFill>
                      <a:srgbClr val="E8F5E9"/>
                    </a:solidFill>
                  </a:tcPr>
                </a:tc>
                <a:tc>
                  <a:txBody>
                    <a:bodyPr wrap="square"/>
                    <a:lstStyle/>
                    <a:p>
                      <a:pPr algn="ctr"/>
                      <a:r>
                        <a:rPr sz="1150" b="0">
                          <a:solidFill>
                            <a:srgbClr val="37474F"/>
                          </a:solidFill>
                          <a:latin typeface="Calibri"/>
                        </a:rPr>
                        <a:t>Non maitrisee (entrees d'air)</a:t>
                      </a:r>
                    </a:p>
                  </a:txBody>
                  <a:tcPr marL="76200" marR="76200" marT="12700" marB="12700" anchor="ctr">
                    <a:solidFill>
                      <a:srgbClr val="E8F5E9"/>
                    </a:solidFill>
                  </a:tcPr>
                </a:tc>
                <a:tc>
                  <a:txBody>
                    <a:bodyPr wrap="square"/>
                    <a:lstStyle/>
                    <a:p>
                      <a:pPr algn="ctr"/>
                      <a:r>
                        <a:rPr sz="1150" b="0">
                          <a:solidFill>
                            <a:srgbClr val="37474F"/>
                          </a:solidFill>
                          <a:latin typeface="Calibri"/>
                        </a:rPr>
                        <a:t>Infiltrations parasites</a:t>
                      </a:r>
                    </a:p>
                  </a:txBody>
                  <a:tcPr marL="76200" marR="76200" marT="12700" marB="12700" anchor="ctr">
                    <a:solidFill>
                      <a:srgbClr val="E8F5E9"/>
                    </a:solidFill>
                  </a:tcPr>
                </a:tc>
              </a:tr>
            </a:tbl>
          </a:graphicData>
        </a:graphic>
      </p:graphicFrame>
      <p:sp>
        <p:nvSpPr>
          <p:cNvPr id="11" name="Rectangle 10"/>
          <p:cNvSpPr/>
          <p:nvPr/>
        </p:nvSpPr>
        <p:spPr>
          <a:xfrm>
            <a:off x="8589356" y="1534480"/>
            <a:ext cx="2572328" cy="2197984"/>
          </a:xfrm>
          <a:prstGeom prst="rect">
            <a:avLst/>
          </a:prstGeom>
          <a:solidFill>
            <a:srgbClr val="FFFFFF"/>
          </a:solidFill>
          <a:ln w="1524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06_x62_460x392.png"/>
          <p:cNvPicPr>
            <a:picLocks noChangeAspect="1"/>
          </p:cNvPicPr>
          <p:nvPr/>
        </p:nvPicPr>
        <p:blipFill>
          <a:blip r:embed="rId2"/>
          <a:stretch>
            <a:fillRect/>
          </a:stretch>
        </p:blipFill>
        <p:spPr>
          <a:xfrm>
            <a:off x="8609356" y="1554480"/>
            <a:ext cx="2532328" cy="2157984"/>
          </a:xfrm>
          <a:prstGeom prst="rect">
            <a:avLst/>
          </a:prstGeom>
        </p:spPr>
      </p:pic>
      <p:sp>
        <p:nvSpPr>
          <p:cNvPr id="13" name="TextBox 12"/>
          <p:cNvSpPr txBox="1"/>
          <p:nvPr/>
        </p:nvSpPr>
        <p:spPr>
          <a:xfrm>
            <a:off x="8412480" y="3732464"/>
            <a:ext cx="2926080" cy="310896"/>
          </a:xfrm>
          <a:prstGeom prst="rect">
            <a:avLst/>
          </a:prstGeom>
          <a:noFill/>
        </p:spPr>
        <p:txBody>
          <a:bodyPr wrap="square" anchor="t" lIns="25400" rIns="25400" tIns="25400" bIns="25400">
            <a:spAutoFit/>
          </a:bodyPr>
          <a:lstStyle/>
          <a:p>
            <a:pPr algn="ctr">
              <a:lnSpc>
                <a:spcPct val="100000"/>
              </a:lnSpc>
              <a:spcAft>
                <a:spcPts val="400"/>
              </a:spcAft>
            </a:pPr>
            <a:r>
              <a:rPr sz="1100" b="0" i="1">
                <a:solidFill>
                  <a:srgbClr val="90A4AE"/>
                </a:solidFill>
                <a:latin typeface="Calibri"/>
              </a:rPr>
              <a:t>Menuiseries bois posees en 2019</a:t>
            </a:r>
          </a:p>
        </p:txBody>
      </p:sp>
      <p:sp>
        <p:nvSpPr>
          <p:cNvPr id="14" name="Rounded Rectangle 13"/>
          <p:cNvSpPr/>
          <p:nvPr/>
        </p:nvSpPr>
        <p:spPr>
          <a:xfrm>
            <a:off x="8412480" y="4343400"/>
            <a:ext cx="2926080" cy="14173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0" y="4434840"/>
            <a:ext cx="2606040" cy="1280160"/>
          </a:xfrm>
          <a:prstGeom prst="rect">
            <a:avLst/>
          </a:prstGeom>
          <a:noFill/>
        </p:spPr>
        <p:txBody>
          <a:bodyPr wrap="square" anchor="t" lIns="25400" rIns="25400" tIns="25400" bIns="25400">
            <a:spAutoFit/>
          </a:bodyPr>
          <a:lstStyle/>
          <a:p>
            <a:pPr algn="l">
              <a:lnSpc>
                <a:spcPct val="115000"/>
              </a:lnSpc>
              <a:spcAft>
                <a:spcPts val="400"/>
              </a:spcAft>
            </a:pPr>
            <a:r>
              <a:rPr sz="1300" b="1" i="0">
                <a:solidFill>
                  <a:srgbClr val="1B5E20"/>
                </a:solidFill>
                <a:latin typeface="Calibri"/>
              </a:rPr>
              <a:t>A retenir</a:t>
            </a:r>
          </a:p>
          <a:p>
            <a:pPr algn="l">
              <a:lnSpc>
                <a:spcPct val="115000"/>
              </a:lnSpc>
              <a:spcAft>
                <a:spcPts val="400"/>
              </a:spcAft>
            </a:pPr>
            <a:r>
              <a:rPr sz="1200" b="0" i="0">
                <a:solidFill>
                  <a:srgbClr val="37474F"/>
                </a:solidFill>
                <a:latin typeface="Calibri"/>
              </a:rPr>
              <a:t>Fenetres deja renovees -&gt;</a:t>
            </a:r>
          </a:p>
          <a:p>
            <a:pPr algn="l">
              <a:lnSpc>
                <a:spcPct val="115000"/>
              </a:lnSpc>
              <a:spcAft>
                <a:spcPts val="400"/>
              </a:spcAft>
            </a:pPr>
            <a:r>
              <a:rPr sz="1300" b="1" i="0">
                <a:solidFill>
                  <a:srgbClr val="1B5E20"/>
                </a:solidFill>
                <a:latin typeface="Calibri"/>
              </a:rPr>
              <a:t>priorite : murs + toiture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384048"/>
            <a:ext cx="658368" cy="65836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84048"/>
            <a:ext cx="658368" cy="658368"/>
          </a:xfrm>
          <a:prstGeom prst="rect">
            <a:avLst/>
          </a:prstGeom>
          <a:noFill/>
        </p:spPr>
        <p:txBody>
          <a:bodyPr wrap="square" anchor="ctr" lIns="25400" rIns="25400" tIns="25400" bIns="25400">
            <a:spAutoFit/>
          </a:bodyPr>
          <a:lstStyle/>
          <a:p>
            <a:pPr algn="ctr">
              <a:lnSpc>
                <a:spcPct val="100000"/>
              </a:lnSpc>
              <a:spcAft>
                <a:spcPts val="400"/>
              </a:spcAft>
            </a:pPr>
            <a:r>
              <a:rPr sz="2600" b="1" i="0">
                <a:solidFill>
                  <a:srgbClr val="FFFFFF"/>
                </a:solidFill>
                <a:latin typeface="Calibri"/>
              </a:rPr>
              <a:t>2</a:t>
            </a:r>
          </a:p>
        </p:txBody>
      </p:sp>
      <p:sp>
        <p:nvSpPr>
          <p:cNvPr id="6" name="TextBox 5"/>
          <p:cNvSpPr txBox="1"/>
          <p:nvPr/>
        </p:nvSpPr>
        <p:spPr>
          <a:xfrm>
            <a:off x="1325880" y="310896"/>
            <a:ext cx="10332720" cy="566928"/>
          </a:xfrm>
          <a:prstGeom prst="rect">
            <a:avLst/>
          </a:prstGeom>
          <a:noFill/>
        </p:spPr>
        <p:txBody>
          <a:bodyPr wrap="square" anchor="ctr" lIns="25400" rIns="25400" tIns="25400" bIns="25400">
            <a:spAutoFit/>
          </a:bodyPr>
          <a:lstStyle/>
          <a:p>
            <a:pPr algn="l">
              <a:lnSpc>
                <a:spcPct val="100000"/>
              </a:lnSpc>
              <a:spcAft>
                <a:spcPts val="400"/>
              </a:spcAft>
            </a:pPr>
            <a:r>
              <a:rPr sz="2800" b="1" i="0">
                <a:solidFill>
                  <a:srgbClr val="1B5E20"/>
                </a:solidFill>
                <a:latin typeface="Calibri"/>
              </a:rPr>
              <a:t>Diagnostic des systemes existants</a:t>
            </a:r>
          </a:p>
        </p:txBody>
      </p:sp>
      <p:sp>
        <p:nvSpPr>
          <p:cNvPr id="7" name="TextBox 6"/>
          <p:cNvSpPr txBox="1"/>
          <p:nvPr/>
        </p:nvSpPr>
        <p:spPr>
          <a:xfrm>
            <a:off x="1325880" y="905256"/>
            <a:ext cx="10332720" cy="292608"/>
          </a:xfrm>
          <a:prstGeom prst="rect">
            <a:avLst/>
          </a:prstGeom>
          <a:noFill/>
        </p:spPr>
        <p:txBody>
          <a:bodyPr wrap="square" anchor="t" lIns="25400" rIns="25400" tIns="25400" bIns="25400">
            <a:spAutoFit/>
          </a:bodyPr>
          <a:lstStyle/>
          <a:p>
            <a:pPr algn="l">
              <a:lnSpc>
                <a:spcPct val="100000"/>
              </a:lnSpc>
              <a:spcAft>
                <a:spcPts val="400"/>
              </a:spcAft>
            </a:pPr>
            <a:r>
              <a:rPr sz="1350" b="0" i="1">
                <a:solidFill>
                  <a:srgbClr val="37474F"/>
                </a:solidFill>
                <a:latin typeface="Calibri"/>
              </a:rPr>
              <a:t>Chauffage, ECS, ventilation</a:t>
            </a:r>
          </a:p>
        </p:txBody>
      </p:sp>
      <p:sp>
        <p:nvSpPr>
          <p:cNvPr id="8" name="Rectangle 7"/>
          <p:cNvSpPr/>
          <p:nvPr/>
        </p:nvSpPr>
        <p:spPr>
          <a:xfrm>
            <a:off x="1325880" y="1225296"/>
            <a:ext cx="10058400" cy="279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8229600" cy="292608"/>
          </a:xfrm>
          <a:prstGeom prst="rect">
            <a:avLst/>
          </a:prstGeom>
          <a:noFill/>
        </p:spPr>
        <p:txBody>
          <a:bodyPr wrap="square" anchor="t" lIns="25400" rIns="25400" tIns="25400" bIns="25400">
            <a:spAutoFit/>
          </a:bodyPr>
          <a:lstStyle/>
          <a:p>
            <a:pPr algn="l">
              <a:lnSpc>
                <a:spcPct val="100000"/>
              </a:lnSpc>
              <a:spcAft>
                <a:spcPts val="400"/>
              </a:spcAft>
            </a:pPr>
            <a:r>
              <a:rPr sz="900" b="0" i="0">
                <a:solidFill>
                  <a:srgbClr val="90A4AE"/>
                </a:solidFill>
                <a:latin typeface="Calibri"/>
              </a:rPr>
              <a:t>Renovation energetique - Saint-Jean-de-Chevelu (73) - Bloc 1</a:t>
            </a:r>
          </a:p>
        </p:txBody>
      </p:sp>
      <p:sp>
        <p:nvSpPr>
          <p:cNvPr id="10" name="TextBox 9"/>
          <p:cNvSpPr txBox="1"/>
          <p:nvPr/>
        </p:nvSpPr>
        <p:spPr>
          <a:xfrm>
            <a:off x="9418320" y="6473952"/>
            <a:ext cx="2286000" cy="292608"/>
          </a:xfrm>
          <a:prstGeom prst="rect">
            <a:avLst/>
          </a:prstGeom>
          <a:noFill/>
        </p:spPr>
        <p:txBody>
          <a:bodyPr wrap="square" anchor="t" lIns="25400" rIns="25400" tIns="25400" bIns="25400">
            <a:spAutoFit/>
          </a:bodyPr>
          <a:lstStyle/>
          <a:p>
            <a:pPr algn="r">
              <a:lnSpc>
                <a:spcPct val="100000"/>
              </a:lnSpc>
              <a:spcAft>
                <a:spcPts val="400"/>
              </a:spcAft>
            </a:pPr>
            <a:r>
              <a:rPr sz="900" b="0" i="0">
                <a:solidFill>
                  <a:srgbClr val="90A4AE"/>
                </a:solidFill>
                <a:latin typeface="Calibri"/>
              </a:rPr>
              <a:t>Guillaume Tardy</a:t>
            </a:r>
          </a:p>
        </p:txBody>
      </p:sp>
      <p:graphicFrame>
        <p:nvGraphicFramePr>
          <p:cNvPr id="11" name="Table 10"/>
          <p:cNvGraphicFramePr>
            <a:graphicFrameLocks noGrp="1"/>
          </p:cNvGraphicFramePr>
          <p:nvPr/>
        </p:nvGraphicFramePr>
        <p:xfrm>
          <a:off x="822960" y="1554480"/>
          <a:ext cx="7498080" cy="3182112"/>
        </p:xfrm>
        <a:graphic>
          <a:graphicData uri="http://schemas.openxmlformats.org/drawingml/2006/table">
            <a:tbl>
              <a:tblPr>
                <a:tableStyleId>{5C22544A-7EE6-4342-B048-85BDC9FD1C3A}</a:tableStyleId>
              </a:tblPr>
              <a:tblGrid>
                <a:gridCol w="2011680"/>
                <a:gridCol w="3200400"/>
                <a:gridCol w="2286000"/>
              </a:tblGrid>
              <a:tr h="530352">
                <a:tc>
                  <a:txBody>
                    <a:bodyPr wrap="square"/>
                    <a:lstStyle/>
                    <a:p>
                      <a:pPr algn="l"/>
                      <a:r>
                        <a:rPr sz="1200" b="1">
                          <a:solidFill>
                            <a:srgbClr val="FFFFFF"/>
                          </a:solidFill>
                          <a:latin typeface="Calibri"/>
                        </a:rPr>
                        <a:t>Equipement</a:t>
                      </a:r>
                    </a:p>
                  </a:txBody>
                  <a:tcPr marL="76200" marR="76200" marT="12700" marB="12700" anchor="ctr">
                    <a:solidFill>
                      <a:srgbClr val="1B5E20"/>
                    </a:solidFill>
                  </a:tcPr>
                </a:tc>
                <a:tc>
                  <a:txBody>
                    <a:bodyPr wrap="square"/>
                    <a:lstStyle/>
                    <a:p>
                      <a:pPr algn="ctr"/>
                      <a:r>
                        <a:rPr sz="1200" b="1">
                          <a:solidFill>
                            <a:srgbClr val="FFFFFF"/>
                          </a:solidFill>
                          <a:latin typeface="Calibri"/>
                        </a:rPr>
                        <a:t>Description</a:t>
                      </a:r>
                    </a:p>
                  </a:txBody>
                  <a:tcPr marL="76200" marR="76200" marT="12700" marB="12700" anchor="ctr">
                    <a:solidFill>
                      <a:srgbClr val="1B5E20"/>
                    </a:solidFill>
                  </a:tcPr>
                </a:tc>
                <a:tc>
                  <a:txBody>
                    <a:bodyPr wrap="square"/>
                    <a:lstStyle/>
                    <a:p>
                      <a:pPr algn="ctr"/>
                      <a:r>
                        <a:rPr sz="1200" b="1">
                          <a:solidFill>
                            <a:srgbClr val="FFFFFF"/>
                          </a:solidFill>
                          <a:latin typeface="Calibri"/>
                        </a:rPr>
                        <a:t>Limite principale</a:t>
                      </a:r>
                    </a:p>
                  </a:txBody>
                  <a:tcPr marL="76200" marR="76200" marT="12700" marB="12700" anchor="ctr">
                    <a:solidFill>
                      <a:srgbClr val="1B5E20"/>
                    </a:solidFill>
                  </a:tcPr>
                </a:tc>
              </a:tr>
              <a:tr h="530352">
                <a:tc>
                  <a:txBody>
                    <a:bodyPr wrap="square"/>
                    <a:lstStyle/>
                    <a:p>
                      <a:pPr algn="l"/>
                      <a:r>
                        <a:rPr sz="1150" b="1">
                          <a:solidFill>
                            <a:srgbClr val="37474F"/>
                          </a:solidFill>
                          <a:latin typeface="Calibri"/>
                        </a:rPr>
                        <a:t>Chaudiere fioul</a:t>
                      </a:r>
                    </a:p>
                  </a:txBody>
                  <a:tcPr marL="76200" marR="76200" marT="12700" marB="12700" anchor="ctr">
                    <a:solidFill>
                      <a:srgbClr val="FFFFFF"/>
                    </a:solidFill>
                  </a:tcPr>
                </a:tc>
                <a:tc>
                  <a:txBody>
                    <a:bodyPr wrap="square"/>
                    <a:lstStyle/>
                    <a:p>
                      <a:pPr algn="ctr"/>
                      <a:r>
                        <a:rPr sz="1150" b="0">
                          <a:solidFill>
                            <a:srgbClr val="37474F"/>
                          </a:solidFill>
                          <a:latin typeface="Calibri"/>
                        </a:rPr>
                        <a:t>Basse temperature, 1991</a:t>
                      </a:r>
                    </a:p>
                  </a:txBody>
                  <a:tcPr marL="76200" marR="76200" marT="12700" marB="12700" anchor="ctr">
                    <a:solidFill>
                      <a:srgbClr val="FFFFFF"/>
                    </a:solidFill>
                  </a:tcPr>
                </a:tc>
                <a:tc>
                  <a:txBody>
                    <a:bodyPr wrap="square"/>
                    <a:lstStyle/>
                    <a:p>
                      <a:pPr algn="ctr"/>
                      <a:r>
                        <a:rPr sz="1150" b="0">
                          <a:solidFill>
                            <a:srgbClr val="37474F"/>
                          </a:solidFill>
                          <a:latin typeface="Calibri"/>
                        </a:rPr>
                        <a:t>Ancienne, fossile, sans sonde exterieure</a:t>
                      </a:r>
                    </a:p>
                  </a:txBody>
                  <a:tcPr marL="76200" marR="76200" marT="12700" marB="12700" anchor="ctr">
                    <a:solidFill>
                      <a:srgbClr val="FFFFFF"/>
                    </a:solidFill>
                  </a:tcPr>
                </a:tc>
              </a:tr>
              <a:tr h="530352">
                <a:tc>
                  <a:txBody>
                    <a:bodyPr wrap="square"/>
                    <a:lstStyle/>
                    <a:p>
                      <a:pPr algn="l"/>
                      <a:r>
                        <a:rPr sz="1150" b="1">
                          <a:solidFill>
                            <a:srgbClr val="37474F"/>
                          </a:solidFill>
                          <a:latin typeface="Calibri"/>
                        </a:rPr>
                        <a:t>Radiateurs fonte</a:t>
                      </a:r>
                    </a:p>
                  </a:txBody>
                  <a:tcPr marL="76200" marR="76200" marT="12700" marB="12700" anchor="ctr">
                    <a:solidFill>
                      <a:srgbClr val="E8F5E9"/>
                    </a:solidFill>
                  </a:tcPr>
                </a:tc>
                <a:tc>
                  <a:txBody>
                    <a:bodyPr wrap="square"/>
                    <a:lstStyle/>
                    <a:p>
                      <a:pPr algn="ctr"/>
                      <a:r>
                        <a:rPr sz="1150" b="0">
                          <a:solidFill>
                            <a:srgbClr val="37474F"/>
                          </a:solidFill>
                          <a:latin typeface="Calibri"/>
                        </a:rPr>
                        <a:t>Haute T, sans robinet thermo.</a:t>
                      </a:r>
                    </a:p>
                  </a:txBody>
                  <a:tcPr marL="76200" marR="76200" marT="12700" marB="12700" anchor="ctr">
                    <a:solidFill>
                      <a:srgbClr val="E8F5E9"/>
                    </a:solidFill>
                  </a:tcPr>
                </a:tc>
                <a:tc>
                  <a:txBody>
                    <a:bodyPr wrap="square"/>
                    <a:lstStyle/>
                    <a:p>
                      <a:pPr algn="ctr"/>
                      <a:r>
                        <a:rPr sz="1150" b="0">
                          <a:solidFill>
                            <a:srgbClr val="37474F"/>
                          </a:solidFill>
                          <a:latin typeface="Calibri"/>
                        </a:rPr>
                        <a:t>Pas de regulation piece par piece</a:t>
                      </a:r>
                    </a:p>
                  </a:txBody>
                  <a:tcPr marL="76200" marR="76200" marT="12700" marB="12700" anchor="ctr">
                    <a:solidFill>
                      <a:srgbClr val="E8F5E9"/>
                    </a:solidFill>
                  </a:tcPr>
                </a:tc>
              </a:tr>
              <a:tr h="530352">
                <a:tc>
                  <a:txBody>
                    <a:bodyPr wrap="square"/>
                    <a:lstStyle/>
                    <a:p>
                      <a:pPr algn="l"/>
                      <a:r>
                        <a:rPr sz="1150" b="1">
                          <a:solidFill>
                            <a:srgbClr val="37474F"/>
                          </a:solidFill>
                          <a:latin typeface="Calibri"/>
                        </a:rPr>
                        <a:t>Poele a bois</a:t>
                      </a:r>
                    </a:p>
                  </a:txBody>
                  <a:tcPr marL="76200" marR="76200" marT="12700" marB="12700" anchor="ctr">
                    <a:solidFill>
                      <a:srgbClr val="FFFFFF"/>
                    </a:solidFill>
                  </a:tcPr>
                </a:tc>
                <a:tc>
                  <a:txBody>
                    <a:bodyPr wrap="square"/>
                    <a:lstStyle/>
                    <a:p>
                      <a:pPr algn="ctr"/>
                      <a:r>
                        <a:rPr sz="1150" b="0">
                          <a:solidFill>
                            <a:srgbClr val="37474F"/>
                          </a:solidFill>
                          <a:latin typeface="Calibri"/>
                        </a:rPr>
                        <a:t>Buches 6 kW (2010)</a:t>
                      </a:r>
                    </a:p>
                  </a:txBody>
                  <a:tcPr marL="76200" marR="76200" marT="12700" marB="12700" anchor="ctr">
                    <a:solidFill>
                      <a:srgbClr val="FFFFFF"/>
                    </a:solidFill>
                  </a:tcPr>
                </a:tc>
                <a:tc>
                  <a:txBody>
                    <a:bodyPr wrap="square"/>
                    <a:lstStyle/>
                    <a:p>
                      <a:pPr algn="ctr"/>
                      <a:r>
                        <a:rPr sz="1150" b="0">
                          <a:solidFill>
                            <a:srgbClr val="37474F"/>
                          </a:solidFill>
                          <a:latin typeface="Calibri"/>
                        </a:rPr>
                        <a:t>Pas de label Flamme Verte, non etanche</a:t>
                      </a:r>
                    </a:p>
                  </a:txBody>
                  <a:tcPr marL="76200" marR="76200" marT="12700" marB="12700" anchor="ctr">
                    <a:solidFill>
                      <a:srgbClr val="FFFFFF"/>
                    </a:solidFill>
                  </a:tcPr>
                </a:tc>
              </a:tr>
              <a:tr h="530352">
                <a:tc>
                  <a:txBody>
                    <a:bodyPr wrap="square"/>
                    <a:lstStyle/>
                    <a:p>
                      <a:pPr algn="l"/>
                      <a:r>
                        <a:rPr sz="1150" b="1">
                          <a:solidFill>
                            <a:srgbClr val="37474F"/>
                          </a:solidFill>
                          <a:latin typeface="Calibri"/>
                        </a:rPr>
                        <a:t>Ballon ECS</a:t>
                      </a:r>
                    </a:p>
                  </a:txBody>
                  <a:tcPr marL="76200" marR="76200" marT="12700" marB="12700" anchor="ctr">
                    <a:solidFill>
                      <a:srgbClr val="E8F5E9"/>
                    </a:solidFill>
                  </a:tcPr>
                </a:tc>
                <a:tc>
                  <a:txBody>
                    <a:bodyPr wrap="square"/>
                    <a:lstStyle/>
                    <a:p>
                      <a:pPr algn="ctr"/>
                      <a:r>
                        <a:rPr sz="1150" b="0">
                          <a:solidFill>
                            <a:srgbClr val="37474F"/>
                          </a:solidFill>
                          <a:latin typeface="Calibri"/>
                        </a:rPr>
                        <a:t>Electrique 200 L, hors volume chauffe</a:t>
                      </a:r>
                    </a:p>
                  </a:txBody>
                  <a:tcPr marL="76200" marR="76200" marT="12700" marB="12700" anchor="ctr">
                    <a:solidFill>
                      <a:srgbClr val="E8F5E9"/>
                    </a:solidFill>
                  </a:tcPr>
                </a:tc>
                <a:tc>
                  <a:txBody>
                    <a:bodyPr wrap="square"/>
                    <a:lstStyle/>
                    <a:p>
                      <a:pPr algn="ctr"/>
                      <a:r>
                        <a:rPr sz="1150" b="0">
                          <a:solidFill>
                            <a:srgbClr val="37474F"/>
                          </a:solidFill>
                          <a:latin typeface="Calibri"/>
                        </a:rPr>
                        <a:t>Pertes thermiques, conso elec.</a:t>
                      </a:r>
                    </a:p>
                  </a:txBody>
                  <a:tcPr marL="76200" marR="76200" marT="12700" marB="12700" anchor="ctr">
                    <a:solidFill>
                      <a:srgbClr val="E8F5E9"/>
                    </a:solidFill>
                  </a:tcPr>
                </a:tc>
              </a:tr>
              <a:tr h="530352">
                <a:tc>
                  <a:txBody>
                    <a:bodyPr wrap="square"/>
                    <a:lstStyle/>
                    <a:p>
                      <a:pPr algn="l"/>
                      <a:r>
                        <a:rPr sz="1150" b="1">
                          <a:solidFill>
                            <a:srgbClr val="37474F"/>
                          </a:solidFill>
                          <a:latin typeface="Calibri"/>
                        </a:rPr>
                        <a:t>Ventilation</a:t>
                      </a:r>
                    </a:p>
                  </a:txBody>
                  <a:tcPr marL="76200" marR="76200" marT="12700" marB="12700" anchor="ctr">
                    <a:solidFill>
                      <a:srgbClr val="FFFFFF"/>
                    </a:solidFill>
                  </a:tcPr>
                </a:tc>
                <a:tc>
                  <a:txBody>
                    <a:bodyPr wrap="square"/>
                    <a:lstStyle/>
                    <a:p>
                      <a:pPr algn="ctr"/>
                      <a:r>
                        <a:rPr sz="1150" b="0">
                          <a:solidFill>
                            <a:srgbClr val="37474F"/>
                          </a:solidFill>
                          <a:latin typeface="Calibri"/>
                        </a:rPr>
                        <a:t>Naturelle (pas de VMC)</a:t>
                      </a:r>
                    </a:p>
                  </a:txBody>
                  <a:tcPr marL="76200" marR="76200" marT="12700" marB="12700" anchor="ctr">
                    <a:solidFill>
                      <a:srgbClr val="FFFFFF"/>
                    </a:solidFill>
                  </a:tcPr>
                </a:tc>
                <a:tc>
                  <a:txBody>
                    <a:bodyPr wrap="square"/>
                    <a:lstStyle/>
                    <a:p>
                      <a:pPr algn="ctr"/>
                      <a:r>
                        <a:rPr sz="1150" b="0">
                          <a:solidFill>
                            <a:srgbClr val="37474F"/>
                          </a:solidFill>
                          <a:latin typeface="Calibri"/>
                        </a:rPr>
                        <a:t>Debits non maitrises, pertes</a:t>
                      </a:r>
                    </a:p>
                  </a:txBody>
                  <a:tcPr marL="76200" marR="76200" marT="12700" marB="12700" anchor="ctr">
                    <a:solidFill>
                      <a:srgbClr val="FFFFFF"/>
                    </a:solidFill>
                  </a:tcPr>
                </a:tc>
              </a:tr>
            </a:tbl>
          </a:graphicData>
        </a:graphic>
      </p:graphicFrame>
      <p:sp>
        <p:nvSpPr>
          <p:cNvPr id="12" name="Rectangle 11"/>
          <p:cNvSpPr/>
          <p:nvPr/>
        </p:nvSpPr>
        <p:spPr>
          <a:xfrm>
            <a:off x="8642480" y="1534480"/>
            <a:ext cx="1231640" cy="2060823"/>
          </a:xfrm>
          <a:prstGeom prst="rect">
            <a:avLst/>
          </a:prstGeom>
          <a:solidFill>
            <a:srgbClr val="FFFFFF"/>
          </a:solidFill>
          <a:ln w="1524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06_x64_240x407.png"/>
          <p:cNvPicPr>
            <a:picLocks noChangeAspect="1"/>
          </p:cNvPicPr>
          <p:nvPr/>
        </p:nvPicPr>
        <p:blipFill>
          <a:blip r:embed="rId2"/>
          <a:stretch>
            <a:fillRect/>
          </a:stretch>
        </p:blipFill>
        <p:spPr>
          <a:xfrm>
            <a:off x="8662480" y="1554480"/>
            <a:ext cx="1191640" cy="2020823"/>
          </a:xfrm>
          <a:prstGeom prst="rect">
            <a:avLst/>
          </a:prstGeom>
        </p:spPr>
      </p:pic>
      <p:sp>
        <p:nvSpPr>
          <p:cNvPr id="14" name="TextBox 13"/>
          <p:cNvSpPr txBox="1"/>
          <p:nvPr/>
        </p:nvSpPr>
        <p:spPr>
          <a:xfrm>
            <a:off x="8595360" y="3595304"/>
            <a:ext cx="1325880" cy="310896"/>
          </a:xfrm>
          <a:prstGeom prst="rect">
            <a:avLst/>
          </a:prstGeom>
          <a:noFill/>
        </p:spPr>
        <p:txBody>
          <a:bodyPr wrap="square" anchor="t" lIns="25400" rIns="25400" tIns="25400" bIns="25400">
            <a:spAutoFit/>
          </a:bodyPr>
          <a:lstStyle/>
          <a:p>
            <a:pPr algn="ctr">
              <a:lnSpc>
                <a:spcPct val="100000"/>
              </a:lnSpc>
              <a:spcAft>
                <a:spcPts val="400"/>
              </a:spcAft>
            </a:pPr>
            <a:r>
              <a:rPr sz="1100" b="0" i="1">
                <a:solidFill>
                  <a:srgbClr val="90A4AE"/>
                </a:solidFill>
                <a:latin typeface="Calibri"/>
              </a:rPr>
              <a:t>Chaudiere fioul (1991)</a:t>
            </a:r>
          </a:p>
        </p:txBody>
      </p:sp>
      <p:sp>
        <p:nvSpPr>
          <p:cNvPr id="15" name="Rectangle 14"/>
          <p:cNvSpPr/>
          <p:nvPr/>
        </p:nvSpPr>
        <p:spPr>
          <a:xfrm>
            <a:off x="10038400" y="1628368"/>
            <a:ext cx="1365880" cy="1873047"/>
          </a:xfrm>
          <a:prstGeom prst="rect">
            <a:avLst/>
          </a:prstGeom>
          <a:solidFill>
            <a:srgbClr val="FFFFFF"/>
          </a:solidFill>
          <a:ln w="1524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06_x63_366x506.png"/>
          <p:cNvPicPr>
            <a:picLocks noChangeAspect="1"/>
          </p:cNvPicPr>
          <p:nvPr/>
        </p:nvPicPr>
        <p:blipFill>
          <a:blip r:embed="rId3"/>
          <a:stretch>
            <a:fillRect/>
          </a:stretch>
        </p:blipFill>
        <p:spPr>
          <a:xfrm>
            <a:off x="10058400" y="1648368"/>
            <a:ext cx="1325880" cy="1833047"/>
          </a:xfrm>
          <a:prstGeom prst="rect">
            <a:avLst/>
          </a:prstGeom>
        </p:spPr>
      </p:pic>
      <p:sp>
        <p:nvSpPr>
          <p:cNvPr id="17" name="TextBox 16"/>
          <p:cNvSpPr txBox="1"/>
          <p:nvPr/>
        </p:nvSpPr>
        <p:spPr>
          <a:xfrm>
            <a:off x="10058400" y="3595304"/>
            <a:ext cx="1325880" cy="310896"/>
          </a:xfrm>
          <a:prstGeom prst="rect">
            <a:avLst/>
          </a:prstGeom>
          <a:noFill/>
        </p:spPr>
        <p:txBody>
          <a:bodyPr wrap="square" anchor="t" lIns="25400" rIns="25400" tIns="25400" bIns="25400">
            <a:spAutoFit/>
          </a:bodyPr>
          <a:lstStyle/>
          <a:p>
            <a:pPr algn="ctr">
              <a:lnSpc>
                <a:spcPct val="100000"/>
              </a:lnSpc>
              <a:spcAft>
                <a:spcPts val="400"/>
              </a:spcAft>
            </a:pPr>
            <a:r>
              <a:rPr sz="1100" b="0" i="1">
                <a:solidFill>
                  <a:srgbClr val="90A4AE"/>
                </a:solidFill>
                <a:latin typeface="Calibri"/>
              </a:rPr>
              <a:t>Ballon ECS</a:t>
            </a:r>
          </a:p>
        </p:txBody>
      </p:sp>
      <p:sp>
        <p:nvSpPr>
          <p:cNvPr id="18" name="Rounded Rectangle 17"/>
          <p:cNvSpPr/>
          <p:nvPr/>
        </p:nvSpPr>
        <p:spPr>
          <a:xfrm>
            <a:off x="822960" y="4983480"/>
            <a:ext cx="1051560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074920"/>
            <a:ext cx="10058400" cy="685800"/>
          </a:xfrm>
          <a:prstGeom prst="rect">
            <a:avLst/>
          </a:prstGeom>
          <a:noFill/>
        </p:spPr>
        <p:txBody>
          <a:bodyPr wrap="square" anchor="ctr" lIns="25400" rIns="25400" tIns="25400" bIns="25400">
            <a:spAutoFit/>
          </a:bodyPr>
          <a:lstStyle/>
          <a:p>
            <a:pPr algn="l">
              <a:lnSpc>
                <a:spcPct val="100000"/>
              </a:lnSpc>
              <a:spcAft>
                <a:spcPts val="400"/>
              </a:spcAft>
            </a:pPr>
            <a:r>
              <a:rPr sz="1300" b="1" i="0">
                <a:solidFill>
                  <a:srgbClr val="E65100"/>
                </a:solidFill>
                <a:latin typeface="Calibri"/>
              </a:rPr>
              <a:t>Constat : </a:t>
            </a:r>
            <a:r>
              <a:rPr sz="1300" b="0" i="0">
                <a:solidFill>
                  <a:srgbClr val="37474F"/>
                </a:solidFill>
                <a:latin typeface="Calibri"/>
              </a:rPr>
              <a:t>equipements vieillissants, regulation rudimentaire, absence de VMC -&gt; leviers majeurs d'economies.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384048"/>
            <a:ext cx="658368" cy="65836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84048"/>
            <a:ext cx="658368" cy="658368"/>
          </a:xfrm>
          <a:prstGeom prst="rect">
            <a:avLst/>
          </a:prstGeom>
          <a:noFill/>
        </p:spPr>
        <p:txBody>
          <a:bodyPr wrap="square" anchor="ctr" lIns="25400" rIns="25400" tIns="25400" bIns="25400">
            <a:spAutoFit/>
          </a:bodyPr>
          <a:lstStyle/>
          <a:p>
            <a:pPr algn="ctr">
              <a:lnSpc>
                <a:spcPct val="100000"/>
              </a:lnSpc>
              <a:spcAft>
                <a:spcPts val="400"/>
              </a:spcAft>
            </a:pPr>
            <a:r>
              <a:rPr sz="2600" b="1" i="0">
                <a:solidFill>
                  <a:srgbClr val="FFFFFF"/>
                </a:solidFill>
                <a:latin typeface="Calibri"/>
              </a:rPr>
              <a:t>2</a:t>
            </a:r>
          </a:p>
        </p:txBody>
      </p:sp>
      <p:sp>
        <p:nvSpPr>
          <p:cNvPr id="6" name="TextBox 5"/>
          <p:cNvSpPr txBox="1"/>
          <p:nvPr/>
        </p:nvSpPr>
        <p:spPr>
          <a:xfrm>
            <a:off x="1325880" y="310896"/>
            <a:ext cx="10332720" cy="566928"/>
          </a:xfrm>
          <a:prstGeom prst="rect">
            <a:avLst/>
          </a:prstGeom>
          <a:noFill/>
        </p:spPr>
        <p:txBody>
          <a:bodyPr wrap="square" anchor="ctr" lIns="25400" rIns="25400" tIns="25400" bIns="25400">
            <a:spAutoFit/>
          </a:bodyPr>
          <a:lstStyle/>
          <a:p>
            <a:pPr algn="l">
              <a:lnSpc>
                <a:spcPct val="100000"/>
              </a:lnSpc>
              <a:spcAft>
                <a:spcPts val="400"/>
              </a:spcAft>
            </a:pPr>
            <a:r>
              <a:rPr sz="2800" b="1" i="0">
                <a:solidFill>
                  <a:srgbClr val="1B5E20"/>
                </a:solidFill>
                <a:latin typeface="Calibri"/>
              </a:rPr>
              <a:t>Eclairage, qualite de l'air &amp; acoustique</a:t>
            </a:r>
          </a:p>
        </p:txBody>
      </p:sp>
      <p:sp>
        <p:nvSpPr>
          <p:cNvPr id="7" name="Rectangle 6"/>
          <p:cNvSpPr/>
          <p:nvPr/>
        </p:nvSpPr>
        <p:spPr>
          <a:xfrm>
            <a:off x="1325880" y="1225296"/>
            <a:ext cx="10058400" cy="279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92608"/>
          </a:xfrm>
          <a:prstGeom prst="rect">
            <a:avLst/>
          </a:prstGeom>
          <a:noFill/>
        </p:spPr>
        <p:txBody>
          <a:bodyPr wrap="square" anchor="t" lIns="25400" rIns="25400" tIns="25400" bIns="25400">
            <a:spAutoFit/>
          </a:bodyPr>
          <a:lstStyle/>
          <a:p>
            <a:pPr algn="l">
              <a:lnSpc>
                <a:spcPct val="100000"/>
              </a:lnSpc>
              <a:spcAft>
                <a:spcPts val="400"/>
              </a:spcAft>
            </a:pPr>
            <a:r>
              <a:rPr sz="900" b="0" i="0">
                <a:solidFill>
                  <a:srgbClr val="90A4AE"/>
                </a:solidFill>
                <a:latin typeface="Calibri"/>
              </a:rPr>
              <a:t>Renovation energetique - Saint-Jean-de-Chevelu (73) - Bloc 1</a:t>
            </a:r>
          </a:p>
        </p:txBody>
      </p:sp>
      <p:sp>
        <p:nvSpPr>
          <p:cNvPr id="9" name="TextBox 8"/>
          <p:cNvSpPr txBox="1"/>
          <p:nvPr/>
        </p:nvSpPr>
        <p:spPr>
          <a:xfrm>
            <a:off x="9418320" y="6473952"/>
            <a:ext cx="2286000" cy="292608"/>
          </a:xfrm>
          <a:prstGeom prst="rect">
            <a:avLst/>
          </a:prstGeom>
          <a:noFill/>
        </p:spPr>
        <p:txBody>
          <a:bodyPr wrap="square" anchor="t" lIns="25400" rIns="25400" tIns="25400" bIns="25400">
            <a:spAutoFit/>
          </a:bodyPr>
          <a:lstStyle/>
          <a:p>
            <a:pPr algn="r">
              <a:lnSpc>
                <a:spcPct val="100000"/>
              </a:lnSpc>
              <a:spcAft>
                <a:spcPts val="400"/>
              </a:spcAft>
            </a:pPr>
            <a:r>
              <a:rPr sz="900" b="0" i="0">
                <a:solidFill>
                  <a:srgbClr val="90A4AE"/>
                </a:solidFill>
                <a:latin typeface="Calibri"/>
              </a:rPr>
              <a:t>Guillaume Tardy</a:t>
            </a:r>
          </a:p>
        </p:txBody>
      </p:sp>
      <p:sp>
        <p:nvSpPr>
          <p:cNvPr id="10" name="Rounded Rectangle 9"/>
          <p:cNvSpPr/>
          <p:nvPr/>
        </p:nvSpPr>
        <p:spPr>
          <a:xfrm>
            <a:off x="822960" y="1554480"/>
            <a:ext cx="3383280" cy="3931920"/>
          </a:xfrm>
          <a:prstGeom prst="roundRect">
            <a:avLst/>
          </a:prstGeom>
          <a:solidFill>
            <a:srgbClr val="FFFFFF"/>
          </a:solidFill>
          <a:ln w="1270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22960" y="1554480"/>
            <a:ext cx="3383280" cy="548640"/>
          </a:xfrm>
          <a:prstGeom prst="round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554480"/>
            <a:ext cx="3383280" cy="548640"/>
          </a:xfrm>
          <a:prstGeom prst="rect">
            <a:avLst/>
          </a:prstGeom>
          <a:noFill/>
        </p:spPr>
        <p:txBody>
          <a:bodyPr wrap="square" anchor="ctr" lIns="25400" rIns="25400" tIns="25400" bIns="25400">
            <a:spAutoFit/>
          </a:bodyPr>
          <a:lstStyle/>
          <a:p>
            <a:pPr algn="ctr">
              <a:lnSpc>
                <a:spcPct val="100000"/>
              </a:lnSpc>
              <a:spcAft>
                <a:spcPts val="400"/>
              </a:spcAft>
            </a:pPr>
            <a:r>
              <a:rPr sz="1500" b="1" i="0">
                <a:solidFill>
                  <a:srgbClr val="FFFFFF"/>
                </a:solidFill>
                <a:latin typeface="Calibri"/>
              </a:rPr>
              <a:t>Eclairage / confort visuel</a:t>
            </a:r>
          </a:p>
        </p:txBody>
      </p:sp>
      <p:sp>
        <p:nvSpPr>
          <p:cNvPr id="13" name="TextBox 12"/>
          <p:cNvSpPr txBox="1"/>
          <p:nvPr/>
        </p:nvSpPr>
        <p:spPr>
          <a:xfrm>
            <a:off x="1005840" y="2286000"/>
            <a:ext cx="3063240" cy="3108960"/>
          </a:xfrm>
          <a:prstGeom prst="rect">
            <a:avLst/>
          </a:prstGeom>
          <a:noFill/>
        </p:spPr>
        <p:txBody>
          <a:bodyPr wrap="square">
            <a:spAutoFit/>
          </a:bodyPr>
          <a:lstStyle/>
          <a:p>
            <a:pPr>
              <a:lnSpc>
                <a:spcPct val="105000"/>
              </a:lnSpc>
              <a:spcAft>
                <a:spcPts val="800"/>
              </a:spcAft>
            </a:pPr>
            <a:r>
              <a:rPr sz="1250" b="1">
                <a:solidFill>
                  <a:srgbClr val="2E7D32"/>
                </a:solidFill>
                <a:latin typeface="Calibri"/>
              </a:rPr>
              <a:t>●  </a:t>
            </a:r>
            <a:r>
              <a:rPr sz="1250" b="1">
                <a:solidFill>
                  <a:srgbClr val="37474F"/>
                </a:solidFill>
                <a:latin typeface="Calibri"/>
              </a:rPr>
              <a:t>Existant : </a:t>
            </a:r>
            <a:r>
              <a:rPr sz="1250">
                <a:solidFill>
                  <a:srgbClr val="37474F"/>
                </a:solidFill>
                <a:latin typeface="Calibri"/>
              </a:rPr>
              <a:t>25 % halogenes + 75 % LED, 200 W</a:t>
            </a:r>
          </a:p>
          <a:p>
            <a:pPr>
              <a:lnSpc>
                <a:spcPct val="105000"/>
              </a:lnSpc>
              <a:spcAft>
                <a:spcPts val="800"/>
              </a:spcAft>
            </a:pPr>
            <a:r>
              <a:rPr sz="1250" b="1">
                <a:solidFill>
                  <a:srgbClr val="2E7D32"/>
                </a:solidFill>
                <a:latin typeface="Calibri"/>
              </a:rPr>
              <a:t>●  </a:t>
            </a:r>
            <a:r>
              <a:rPr sz="1250" b="1">
                <a:solidFill>
                  <a:srgbClr val="37474F"/>
                </a:solidFill>
                <a:latin typeface="Calibri"/>
              </a:rPr>
              <a:t>Propose : </a:t>
            </a:r>
            <a:r>
              <a:rPr sz="1250">
                <a:solidFill>
                  <a:srgbClr val="37474F"/>
                </a:solidFill>
                <a:latin typeface="Calibri"/>
              </a:rPr>
              <a:t>passage 100 % LED basse conso</a:t>
            </a:r>
          </a:p>
          <a:p>
            <a:pPr>
              <a:lnSpc>
                <a:spcPct val="105000"/>
              </a:lnSpc>
              <a:spcAft>
                <a:spcPts val="800"/>
              </a:spcAft>
            </a:pPr>
            <a:r>
              <a:rPr sz="1250" b="1">
                <a:solidFill>
                  <a:srgbClr val="2E7D32"/>
                </a:solidFill>
                <a:latin typeface="Calibri"/>
              </a:rPr>
              <a:t>●  </a:t>
            </a:r>
            <a:r>
              <a:rPr sz="1250" b="1">
                <a:solidFill>
                  <a:srgbClr val="37474F"/>
                </a:solidFill>
                <a:latin typeface="Calibri"/>
              </a:rPr>
              <a:t>Valoriser </a:t>
            </a:r>
            <a:r>
              <a:rPr sz="1250">
                <a:solidFill>
                  <a:srgbClr val="37474F"/>
                </a:solidFill>
                <a:latin typeface="Calibri"/>
              </a:rPr>
              <a:t>la lumiere naturelle (Sud-Est)</a:t>
            </a:r>
          </a:p>
        </p:txBody>
      </p:sp>
      <p:sp>
        <p:nvSpPr>
          <p:cNvPr id="14" name="Rounded Rectangle 13"/>
          <p:cNvSpPr/>
          <p:nvPr/>
        </p:nvSpPr>
        <p:spPr>
          <a:xfrm>
            <a:off x="4389120" y="1554480"/>
            <a:ext cx="3383280" cy="3931920"/>
          </a:xfrm>
          <a:prstGeom prst="roundRect">
            <a:avLst/>
          </a:prstGeom>
          <a:solidFill>
            <a:srgbClr val="FFFFFF"/>
          </a:solidFill>
          <a:ln w="1270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89120" y="1554480"/>
            <a:ext cx="3383280" cy="54864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0" y="1554480"/>
            <a:ext cx="3383280" cy="548640"/>
          </a:xfrm>
          <a:prstGeom prst="rect">
            <a:avLst/>
          </a:prstGeom>
          <a:noFill/>
        </p:spPr>
        <p:txBody>
          <a:bodyPr wrap="square" anchor="ctr" lIns="25400" rIns="25400" tIns="25400" bIns="25400">
            <a:spAutoFit/>
          </a:bodyPr>
          <a:lstStyle/>
          <a:p>
            <a:pPr algn="ctr">
              <a:lnSpc>
                <a:spcPct val="100000"/>
              </a:lnSpc>
              <a:spcAft>
                <a:spcPts val="400"/>
              </a:spcAft>
            </a:pPr>
            <a:r>
              <a:rPr sz="1500" b="1" i="0">
                <a:solidFill>
                  <a:srgbClr val="FFFFFF"/>
                </a:solidFill>
                <a:latin typeface="Calibri"/>
              </a:rPr>
              <a:t>Qualite de l'air (QAI)</a:t>
            </a:r>
          </a:p>
        </p:txBody>
      </p:sp>
      <p:sp>
        <p:nvSpPr>
          <p:cNvPr id="17" name="TextBox 16"/>
          <p:cNvSpPr txBox="1"/>
          <p:nvPr/>
        </p:nvSpPr>
        <p:spPr>
          <a:xfrm>
            <a:off x="4572000" y="2286000"/>
            <a:ext cx="3063240" cy="3108960"/>
          </a:xfrm>
          <a:prstGeom prst="rect">
            <a:avLst/>
          </a:prstGeom>
          <a:noFill/>
        </p:spPr>
        <p:txBody>
          <a:bodyPr wrap="square">
            <a:spAutoFit/>
          </a:bodyPr>
          <a:lstStyle/>
          <a:p>
            <a:pPr>
              <a:lnSpc>
                <a:spcPct val="105000"/>
              </a:lnSpc>
              <a:spcAft>
                <a:spcPts val="800"/>
              </a:spcAft>
            </a:pPr>
            <a:r>
              <a:rPr sz="1250" b="1">
                <a:solidFill>
                  <a:srgbClr val="2E7D32"/>
                </a:solidFill>
                <a:latin typeface="Calibri"/>
              </a:rPr>
              <a:t>●  </a:t>
            </a:r>
            <a:r>
              <a:rPr sz="1250" b="1">
                <a:solidFill>
                  <a:srgbClr val="37474F"/>
                </a:solidFill>
                <a:latin typeface="Calibri"/>
              </a:rPr>
              <a:t>Existant : </a:t>
            </a:r>
            <a:r>
              <a:rPr sz="1250">
                <a:solidFill>
                  <a:srgbClr val="37474F"/>
                </a:solidFill>
                <a:latin typeface="Calibri"/>
              </a:rPr>
              <a:t>ventilation naturelle, debits non maitrises</a:t>
            </a:r>
          </a:p>
          <a:p>
            <a:pPr>
              <a:lnSpc>
                <a:spcPct val="105000"/>
              </a:lnSpc>
              <a:spcAft>
                <a:spcPts val="800"/>
              </a:spcAft>
            </a:pPr>
            <a:r>
              <a:rPr sz="1250" b="1">
                <a:solidFill>
                  <a:srgbClr val="2E7D32"/>
                </a:solidFill>
                <a:latin typeface="Calibri"/>
              </a:rPr>
              <a:t>●  </a:t>
            </a:r>
            <a:r>
              <a:rPr sz="1250" b="1">
                <a:solidFill>
                  <a:srgbClr val="37474F"/>
                </a:solidFill>
                <a:latin typeface="Calibri"/>
              </a:rPr>
              <a:t>Risques : </a:t>
            </a:r>
            <a:r>
              <a:rPr sz="1250">
                <a:solidFill>
                  <a:srgbClr val="37474F"/>
                </a:solidFill>
                <a:latin typeface="Calibri"/>
              </a:rPr>
              <a:t>humidite, condensation, polluants</a:t>
            </a:r>
          </a:p>
          <a:p>
            <a:pPr>
              <a:lnSpc>
                <a:spcPct val="105000"/>
              </a:lnSpc>
              <a:spcAft>
                <a:spcPts val="800"/>
              </a:spcAft>
            </a:pPr>
            <a:r>
              <a:rPr sz="1250" b="1">
                <a:solidFill>
                  <a:srgbClr val="2E7D32"/>
                </a:solidFill>
                <a:latin typeface="Calibri"/>
              </a:rPr>
              <a:t>●  </a:t>
            </a:r>
            <a:r>
              <a:rPr sz="1250" b="1">
                <a:solidFill>
                  <a:srgbClr val="37474F"/>
                </a:solidFill>
                <a:latin typeface="Calibri"/>
              </a:rPr>
              <a:t>Propose : </a:t>
            </a:r>
            <a:r>
              <a:rPr sz="1250">
                <a:solidFill>
                  <a:srgbClr val="37474F"/>
                </a:solidFill>
                <a:latin typeface="Calibri"/>
              </a:rPr>
              <a:t>VMC hygroreglable de type B</a:t>
            </a:r>
          </a:p>
        </p:txBody>
      </p:sp>
      <p:sp>
        <p:nvSpPr>
          <p:cNvPr id="18" name="Rounded Rectangle 17"/>
          <p:cNvSpPr/>
          <p:nvPr/>
        </p:nvSpPr>
        <p:spPr>
          <a:xfrm>
            <a:off x="7955279" y="1554480"/>
            <a:ext cx="3383280" cy="3931920"/>
          </a:xfrm>
          <a:prstGeom prst="roundRect">
            <a:avLst/>
          </a:prstGeom>
          <a:solidFill>
            <a:srgbClr val="FFFFFF"/>
          </a:solidFill>
          <a:ln w="1270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955279" y="1554480"/>
            <a:ext cx="3383280" cy="548640"/>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79" y="1554480"/>
            <a:ext cx="3383280" cy="548640"/>
          </a:xfrm>
          <a:prstGeom prst="rect">
            <a:avLst/>
          </a:prstGeom>
          <a:noFill/>
        </p:spPr>
        <p:txBody>
          <a:bodyPr wrap="square" anchor="ctr" lIns="25400" rIns="25400" tIns="25400" bIns="25400">
            <a:spAutoFit/>
          </a:bodyPr>
          <a:lstStyle/>
          <a:p>
            <a:pPr algn="ctr">
              <a:lnSpc>
                <a:spcPct val="100000"/>
              </a:lnSpc>
              <a:spcAft>
                <a:spcPts val="400"/>
              </a:spcAft>
            </a:pPr>
            <a:r>
              <a:rPr sz="1500" b="1" i="0">
                <a:solidFill>
                  <a:srgbClr val="FFFFFF"/>
                </a:solidFill>
                <a:latin typeface="Calibri"/>
              </a:rPr>
              <a:t>Confort acoustique</a:t>
            </a:r>
          </a:p>
        </p:txBody>
      </p:sp>
      <p:sp>
        <p:nvSpPr>
          <p:cNvPr id="21" name="TextBox 20"/>
          <p:cNvSpPr txBox="1"/>
          <p:nvPr/>
        </p:nvSpPr>
        <p:spPr>
          <a:xfrm>
            <a:off x="8138159" y="2286000"/>
            <a:ext cx="3063240" cy="3108960"/>
          </a:xfrm>
          <a:prstGeom prst="rect">
            <a:avLst/>
          </a:prstGeom>
          <a:noFill/>
        </p:spPr>
        <p:txBody>
          <a:bodyPr wrap="square">
            <a:spAutoFit/>
          </a:bodyPr>
          <a:lstStyle/>
          <a:p>
            <a:pPr>
              <a:lnSpc>
                <a:spcPct val="105000"/>
              </a:lnSpc>
              <a:spcAft>
                <a:spcPts val="800"/>
              </a:spcAft>
            </a:pPr>
            <a:r>
              <a:rPr sz="1250" b="1">
                <a:solidFill>
                  <a:srgbClr val="2E7D32"/>
                </a:solidFill>
                <a:latin typeface="Calibri"/>
              </a:rPr>
              <a:t>●  </a:t>
            </a:r>
            <a:r>
              <a:rPr sz="1250" b="1">
                <a:solidFill>
                  <a:srgbClr val="37474F"/>
                </a:solidFill>
                <a:latin typeface="Calibri"/>
              </a:rPr>
              <a:t>Sources : </a:t>
            </a:r>
            <a:r>
              <a:rPr sz="1250">
                <a:solidFill>
                  <a:srgbClr val="37474F"/>
                </a:solidFill>
                <a:latin typeface="Calibri"/>
              </a:rPr>
              <a:t>bruits exterieurs (route, voisinage)</a:t>
            </a:r>
          </a:p>
          <a:p>
            <a:pPr>
              <a:lnSpc>
                <a:spcPct val="105000"/>
              </a:lnSpc>
              <a:spcAft>
                <a:spcPts val="800"/>
              </a:spcAft>
            </a:pPr>
            <a:r>
              <a:rPr sz="1250" b="1">
                <a:solidFill>
                  <a:srgbClr val="2E7D32"/>
                </a:solidFill>
                <a:latin typeface="Calibri"/>
              </a:rPr>
              <a:t>●  </a:t>
            </a:r>
            <a:r>
              <a:rPr sz="1250" b="1">
                <a:solidFill>
                  <a:srgbClr val="37474F"/>
                </a:solidFill>
                <a:latin typeface="Calibri"/>
              </a:rPr>
              <a:t>Existant : </a:t>
            </a:r>
            <a:r>
              <a:rPr sz="1250">
                <a:solidFill>
                  <a:srgbClr val="37474F"/>
                </a:solidFill>
                <a:latin typeface="Calibri"/>
              </a:rPr>
              <a:t>isolation phonique limitee</a:t>
            </a:r>
          </a:p>
          <a:p>
            <a:pPr>
              <a:lnSpc>
                <a:spcPct val="105000"/>
              </a:lnSpc>
              <a:spcAft>
                <a:spcPts val="800"/>
              </a:spcAft>
            </a:pPr>
            <a:r>
              <a:rPr sz="1250" b="1">
                <a:solidFill>
                  <a:srgbClr val="2E7D32"/>
                </a:solidFill>
                <a:latin typeface="Calibri"/>
              </a:rPr>
              <a:t>●  </a:t>
            </a:r>
            <a:r>
              <a:rPr sz="1250" b="1">
                <a:solidFill>
                  <a:srgbClr val="37474F"/>
                </a:solidFill>
                <a:latin typeface="Calibri"/>
              </a:rPr>
              <a:t>Propose : </a:t>
            </a:r>
            <a:r>
              <a:rPr sz="1250">
                <a:solidFill>
                  <a:srgbClr val="37474F"/>
                </a:solidFill>
                <a:latin typeface="Calibri"/>
              </a:rPr>
              <a:t>l'ITE ameliore aussi l'acoustique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384048"/>
            <a:ext cx="658368" cy="65836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84048"/>
            <a:ext cx="658368" cy="658368"/>
          </a:xfrm>
          <a:prstGeom prst="rect">
            <a:avLst/>
          </a:prstGeom>
          <a:noFill/>
        </p:spPr>
        <p:txBody>
          <a:bodyPr wrap="square" anchor="ctr" lIns="25400" rIns="25400" tIns="25400" bIns="25400">
            <a:spAutoFit/>
          </a:bodyPr>
          <a:lstStyle/>
          <a:p>
            <a:pPr algn="ctr">
              <a:lnSpc>
                <a:spcPct val="100000"/>
              </a:lnSpc>
              <a:spcAft>
                <a:spcPts val="400"/>
              </a:spcAft>
            </a:pPr>
            <a:r>
              <a:rPr sz="2600" b="1" i="0">
                <a:solidFill>
                  <a:srgbClr val="FFFFFF"/>
                </a:solidFill>
                <a:latin typeface="Calibri"/>
              </a:rPr>
              <a:t>3</a:t>
            </a:r>
          </a:p>
        </p:txBody>
      </p:sp>
      <p:sp>
        <p:nvSpPr>
          <p:cNvPr id="6" name="TextBox 5"/>
          <p:cNvSpPr txBox="1"/>
          <p:nvPr/>
        </p:nvSpPr>
        <p:spPr>
          <a:xfrm>
            <a:off x="1325880" y="310896"/>
            <a:ext cx="10332720" cy="566928"/>
          </a:xfrm>
          <a:prstGeom prst="rect">
            <a:avLst/>
          </a:prstGeom>
          <a:noFill/>
        </p:spPr>
        <p:txBody>
          <a:bodyPr wrap="square" anchor="ctr" lIns="25400" rIns="25400" tIns="25400" bIns="25400">
            <a:spAutoFit/>
          </a:bodyPr>
          <a:lstStyle/>
          <a:p>
            <a:pPr algn="l">
              <a:lnSpc>
                <a:spcPct val="100000"/>
              </a:lnSpc>
              <a:spcAft>
                <a:spcPts val="400"/>
              </a:spcAft>
            </a:pPr>
            <a:r>
              <a:rPr sz="2800" b="1" i="0">
                <a:solidFill>
                  <a:srgbClr val="1B5E20"/>
                </a:solidFill>
                <a:latin typeface="Calibri"/>
              </a:rPr>
              <a:t>Deperditions &amp; DPE de l'existant</a:t>
            </a:r>
          </a:p>
        </p:txBody>
      </p:sp>
      <p:sp>
        <p:nvSpPr>
          <p:cNvPr id="7" name="TextBox 6"/>
          <p:cNvSpPr txBox="1"/>
          <p:nvPr/>
        </p:nvSpPr>
        <p:spPr>
          <a:xfrm>
            <a:off x="1325880" y="905256"/>
            <a:ext cx="10332720" cy="292608"/>
          </a:xfrm>
          <a:prstGeom prst="rect">
            <a:avLst/>
          </a:prstGeom>
          <a:noFill/>
        </p:spPr>
        <p:txBody>
          <a:bodyPr wrap="square" anchor="t" lIns="25400" rIns="25400" tIns="25400" bIns="25400">
            <a:spAutoFit/>
          </a:bodyPr>
          <a:lstStyle/>
          <a:p>
            <a:pPr algn="l">
              <a:lnSpc>
                <a:spcPct val="100000"/>
              </a:lnSpc>
              <a:spcAft>
                <a:spcPts val="400"/>
              </a:spcAft>
            </a:pPr>
            <a:r>
              <a:rPr sz="1350" b="0" i="1">
                <a:solidFill>
                  <a:srgbClr val="37474F"/>
                </a:solidFill>
                <a:latin typeface="Calibri"/>
              </a:rPr>
              <a:t>Calcul thermique : ou part la chaleur</a:t>
            </a:r>
          </a:p>
        </p:txBody>
      </p:sp>
      <p:sp>
        <p:nvSpPr>
          <p:cNvPr id="8" name="Rectangle 7"/>
          <p:cNvSpPr/>
          <p:nvPr/>
        </p:nvSpPr>
        <p:spPr>
          <a:xfrm>
            <a:off x="1325880" y="1225296"/>
            <a:ext cx="10058400" cy="279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8229600" cy="292608"/>
          </a:xfrm>
          <a:prstGeom prst="rect">
            <a:avLst/>
          </a:prstGeom>
          <a:noFill/>
        </p:spPr>
        <p:txBody>
          <a:bodyPr wrap="square" anchor="t" lIns="25400" rIns="25400" tIns="25400" bIns="25400">
            <a:spAutoFit/>
          </a:bodyPr>
          <a:lstStyle/>
          <a:p>
            <a:pPr algn="l">
              <a:lnSpc>
                <a:spcPct val="100000"/>
              </a:lnSpc>
              <a:spcAft>
                <a:spcPts val="400"/>
              </a:spcAft>
            </a:pPr>
            <a:r>
              <a:rPr sz="900" b="0" i="0">
                <a:solidFill>
                  <a:srgbClr val="90A4AE"/>
                </a:solidFill>
                <a:latin typeface="Calibri"/>
              </a:rPr>
              <a:t>Renovation energetique - Saint-Jean-de-Chevelu (73) - Bloc 1</a:t>
            </a:r>
          </a:p>
        </p:txBody>
      </p:sp>
      <p:sp>
        <p:nvSpPr>
          <p:cNvPr id="10" name="TextBox 9"/>
          <p:cNvSpPr txBox="1"/>
          <p:nvPr/>
        </p:nvSpPr>
        <p:spPr>
          <a:xfrm>
            <a:off x="9418320" y="6473952"/>
            <a:ext cx="2286000" cy="292608"/>
          </a:xfrm>
          <a:prstGeom prst="rect">
            <a:avLst/>
          </a:prstGeom>
          <a:noFill/>
        </p:spPr>
        <p:txBody>
          <a:bodyPr wrap="square" anchor="t" lIns="25400" rIns="25400" tIns="25400" bIns="25400">
            <a:spAutoFit/>
          </a:bodyPr>
          <a:lstStyle/>
          <a:p>
            <a:pPr algn="r">
              <a:lnSpc>
                <a:spcPct val="100000"/>
              </a:lnSpc>
              <a:spcAft>
                <a:spcPts val="400"/>
              </a:spcAft>
            </a:pPr>
            <a:r>
              <a:rPr sz="900" b="0" i="0">
                <a:solidFill>
                  <a:srgbClr val="90A4AE"/>
                </a:solidFill>
                <a:latin typeface="Calibri"/>
              </a:rPr>
              <a:t>Guillaume Tardy</a:t>
            </a:r>
          </a:p>
        </p:txBody>
      </p:sp>
      <p:graphicFrame>
        <p:nvGraphicFramePr>
          <p:cNvPr id="11" name="Chart 10"/>
          <p:cNvGraphicFramePr>
            <a:graphicFrameLocks noGrp="1"/>
          </p:cNvGraphicFramePr>
          <p:nvPr/>
        </p:nvGraphicFramePr>
        <p:xfrm>
          <a:off x="457200" y="1554480"/>
          <a:ext cx="5120640" cy="4206240"/>
        </p:xfrm>
        <a:graphic>
          <a:graphicData uri="http://schemas.openxmlformats.org/drawingml/2006/chart">
            <c:chart xmlns:c="http://schemas.openxmlformats.org/drawingml/2006/chart" r:id="rId2"/>
          </a:graphicData>
        </a:graphic>
      </p:graphicFrame>
      <p:sp>
        <p:nvSpPr>
          <p:cNvPr id="12" name="TextBox 11"/>
          <p:cNvSpPr txBox="1"/>
          <p:nvPr/>
        </p:nvSpPr>
        <p:spPr>
          <a:xfrm>
            <a:off x="6126480" y="1554480"/>
            <a:ext cx="1380744" cy="274320"/>
          </a:xfrm>
          <a:prstGeom prst="rect">
            <a:avLst/>
          </a:prstGeom>
          <a:noFill/>
        </p:spPr>
        <p:txBody>
          <a:bodyPr wrap="square" anchor="t" lIns="25400" rIns="25400" tIns="25400" bIns="25400">
            <a:spAutoFit/>
          </a:bodyPr>
          <a:lstStyle/>
          <a:p>
            <a:pPr algn="l">
              <a:lnSpc>
                <a:spcPct val="100000"/>
              </a:lnSpc>
              <a:spcAft>
                <a:spcPts val="400"/>
              </a:spcAft>
            </a:pPr>
            <a:r>
              <a:rPr sz="1200" b="1" i="0">
                <a:solidFill>
                  <a:srgbClr val="37474F"/>
                </a:solidFill>
                <a:latin typeface="Calibri"/>
              </a:rPr>
              <a:t>Energie</a:t>
            </a:r>
          </a:p>
        </p:txBody>
      </p:sp>
      <p:sp>
        <p:nvSpPr>
          <p:cNvPr id="13" name="Rounded Rectangle 12"/>
          <p:cNvSpPr/>
          <p:nvPr/>
        </p:nvSpPr>
        <p:spPr>
          <a:xfrm>
            <a:off x="6126480" y="1883664"/>
            <a:ext cx="502920" cy="292608"/>
          </a:xfrm>
          <a:prstGeom prst="roundRect">
            <a:avLst/>
          </a:prstGeom>
          <a:solidFill>
            <a:srgbClr val="008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81344" y="1883664"/>
            <a:ext cx="429768" cy="292608"/>
          </a:xfrm>
          <a:prstGeom prst="rect">
            <a:avLst/>
          </a:prstGeom>
          <a:noFill/>
        </p:spPr>
        <p:txBody>
          <a:bodyPr wrap="square" anchor="ctr" lIns="25400" rIns="25400" tIns="25400" bIns="25400">
            <a:spAutoFit/>
          </a:bodyPr>
          <a:lstStyle/>
          <a:p>
            <a:pPr algn="l">
              <a:lnSpc>
                <a:spcPct val="100000"/>
              </a:lnSpc>
              <a:spcAft>
                <a:spcPts val="400"/>
              </a:spcAft>
            </a:pPr>
            <a:r>
              <a:rPr sz="1200" b="1" i="0">
                <a:solidFill>
                  <a:srgbClr val="FFFFFF"/>
                </a:solidFill>
                <a:latin typeface="Calibri"/>
              </a:rPr>
              <a:t>A</a:t>
            </a:r>
          </a:p>
        </p:txBody>
      </p:sp>
      <p:sp>
        <p:nvSpPr>
          <p:cNvPr id="15" name="Rounded Rectangle 14"/>
          <p:cNvSpPr/>
          <p:nvPr/>
        </p:nvSpPr>
        <p:spPr>
          <a:xfrm>
            <a:off x="6126480" y="2231136"/>
            <a:ext cx="649224" cy="292608"/>
          </a:xfrm>
          <a:prstGeom prst="roundRect">
            <a:avLst/>
          </a:prstGeom>
          <a:solidFill>
            <a:srgbClr val="57AA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81344" y="2231136"/>
            <a:ext cx="576072" cy="292608"/>
          </a:xfrm>
          <a:prstGeom prst="rect">
            <a:avLst/>
          </a:prstGeom>
          <a:noFill/>
        </p:spPr>
        <p:txBody>
          <a:bodyPr wrap="square" anchor="ctr" lIns="25400" rIns="25400" tIns="25400" bIns="25400">
            <a:spAutoFit/>
          </a:bodyPr>
          <a:lstStyle/>
          <a:p>
            <a:pPr algn="l">
              <a:lnSpc>
                <a:spcPct val="100000"/>
              </a:lnSpc>
              <a:spcAft>
                <a:spcPts val="400"/>
              </a:spcAft>
            </a:pPr>
            <a:r>
              <a:rPr sz="1200" b="1" i="0">
                <a:solidFill>
                  <a:srgbClr val="FFFFFF"/>
                </a:solidFill>
                <a:latin typeface="Calibri"/>
              </a:rPr>
              <a:t>B</a:t>
            </a:r>
          </a:p>
        </p:txBody>
      </p:sp>
      <p:sp>
        <p:nvSpPr>
          <p:cNvPr id="17" name="Rounded Rectangle 16"/>
          <p:cNvSpPr/>
          <p:nvPr/>
        </p:nvSpPr>
        <p:spPr>
          <a:xfrm>
            <a:off x="6126480" y="2578608"/>
            <a:ext cx="795528" cy="292608"/>
          </a:xfrm>
          <a:prstGeom prst="roundRect">
            <a:avLst/>
          </a:prstGeom>
          <a:solidFill>
            <a:srgbClr val="C3D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81344" y="2578608"/>
            <a:ext cx="722376" cy="292608"/>
          </a:xfrm>
          <a:prstGeom prst="rect">
            <a:avLst/>
          </a:prstGeom>
          <a:noFill/>
        </p:spPr>
        <p:txBody>
          <a:bodyPr wrap="square" anchor="ctr" lIns="25400" rIns="25400" tIns="25400" bIns="25400">
            <a:spAutoFit/>
          </a:bodyPr>
          <a:lstStyle/>
          <a:p>
            <a:pPr algn="l">
              <a:lnSpc>
                <a:spcPct val="100000"/>
              </a:lnSpc>
              <a:spcAft>
                <a:spcPts val="400"/>
              </a:spcAft>
            </a:pPr>
            <a:r>
              <a:rPr sz="1200" b="1" i="0">
                <a:solidFill>
                  <a:srgbClr val="263238"/>
                </a:solidFill>
                <a:latin typeface="Calibri"/>
              </a:rPr>
              <a:t>C</a:t>
            </a:r>
          </a:p>
        </p:txBody>
      </p:sp>
      <p:sp>
        <p:nvSpPr>
          <p:cNvPr id="19" name="Rounded Rectangle 18"/>
          <p:cNvSpPr/>
          <p:nvPr/>
        </p:nvSpPr>
        <p:spPr>
          <a:xfrm>
            <a:off x="6126480" y="2926080"/>
            <a:ext cx="941832" cy="292608"/>
          </a:xfrm>
          <a:prstGeom prst="roundRect">
            <a:avLst/>
          </a:prstGeom>
          <a:solidFill>
            <a:srgbClr val="F7C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81344" y="2926080"/>
            <a:ext cx="868680" cy="292608"/>
          </a:xfrm>
          <a:prstGeom prst="rect">
            <a:avLst/>
          </a:prstGeom>
          <a:noFill/>
        </p:spPr>
        <p:txBody>
          <a:bodyPr wrap="square" anchor="ctr" lIns="25400" rIns="25400" tIns="25400" bIns="25400">
            <a:spAutoFit/>
          </a:bodyPr>
          <a:lstStyle/>
          <a:p>
            <a:pPr algn="l">
              <a:lnSpc>
                <a:spcPct val="100000"/>
              </a:lnSpc>
              <a:spcAft>
                <a:spcPts val="400"/>
              </a:spcAft>
            </a:pPr>
            <a:r>
              <a:rPr sz="1200" b="1" i="0">
                <a:solidFill>
                  <a:srgbClr val="263238"/>
                </a:solidFill>
                <a:latin typeface="Calibri"/>
              </a:rPr>
              <a:t>D</a:t>
            </a:r>
          </a:p>
        </p:txBody>
      </p:sp>
      <p:sp>
        <p:nvSpPr>
          <p:cNvPr id="21" name="Rounded Rectangle 20"/>
          <p:cNvSpPr/>
          <p:nvPr/>
        </p:nvSpPr>
        <p:spPr>
          <a:xfrm>
            <a:off x="6126480" y="3273552"/>
            <a:ext cx="1088136" cy="292608"/>
          </a:xfrm>
          <a:prstGeom prst="roundRect">
            <a:avLst/>
          </a:prstGeom>
          <a:solidFill>
            <a:srgbClr val="F7B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81344" y="3273552"/>
            <a:ext cx="1014984" cy="292608"/>
          </a:xfrm>
          <a:prstGeom prst="rect">
            <a:avLst/>
          </a:prstGeom>
          <a:noFill/>
        </p:spPr>
        <p:txBody>
          <a:bodyPr wrap="square" anchor="ctr" lIns="25400" rIns="25400" tIns="25400" bIns="25400">
            <a:spAutoFit/>
          </a:bodyPr>
          <a:lstStyle/>
          <a:p>
            <a:pPr algn="l">
              <a:lnSpc>
                <a:spcPct val="100000"/>
              </a:lnSpc>
              <a:spcAft>
                <a:spcPts val="400"/>
              </a:spcAft>
            </a:pPr>
            <a:r>
              <a:rPr sz="1200" b="1" i="0">
                <a:solidFill>
                  <a:srgbClr val="FFFFFF"/>
                </a:solidFill>
                <a:latin typeface="Calibri"/>
              </a:rPr>
              <a:t>E</a:t>
            </a:r>
          </a:p>
        </p:txBody>
      </p:sp>
      <p:sp>
        <p:nvSpPr>
          <p:cNvPr id="23" name="Rounded Rectangle 22"/>
          <p:cNvSpPr/>
          <p:nvPr/>
        </p:nvSpPr>
        <p:spPr>
          <a:xfrm>
            <a:off x="6126480" y="3621024"/>
            <a:ext cx="1234440" cy="292608"/>
          </a:xfrm>
          <a:prstGeom prst="roundRect">
            <a:avLst/>
          </a:prstGeom>
          <a:solidFill>
            <a:srgbClr val="EA6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81344" y="3621024"/>
            <a:ext cx="1161288" cy="292608"/>
          </a:xfrm>
          <a:prstGeom prst="rect">
            <a:avLst/>
          </a:prstGeom>
          <a:noFill/>
        </p:spPr>
        <p:txBody>
          <a:bodyPr wrap="square" anchor="ctr" lIns="25400" rIns="25400" tIns="25400" bIns="25400">
            <a:spAutoFit/>
          </a:bodyPr>
          <a:lstStyle/>
          <a:p>
            <a:pPr algn="l">
              <a:lnSpc>
                <a:spcPct val="100000"/>
              </a:lnSpc>
              <a:spcAft>
                <a:spcPts val="400"/>
              </a:spcAft>
            </a:pPr>
            <a:r>
              <a:rPr sz="1200" b="1" i="0">
                <a:solidFill>
                  <a:srgbClr val="FFFFFF"/>
                </a:solidFill>
                <a:latin typeface="Calibri"/>
              </a:rPr>
              <a:t>F</a:t>
            </a:r>
          </a:p>
        </p:txBody>
      </p:sp>
      <p:sp>
        <p:nvSpPr>
          <p:cNvPr id="25" name="Rounded Rectangle 24"/>
          <p:cNvSpPr/>
          <p:nvPr/>
        </p:nvSpPr>
        <p:spPr>
          <a:xfrm>
            <a:off x="6126480" y="3968496"/>
            <a:ext cx="1380744" cy="292608"/>
          </a:xfrm>
          <a:prstGeom prst="roundRect">
            <a:avLst/>
          </a:prstGeom>
          <a:solidFill>
            <a:srgbClr val="E2001A"/>
          </a:solidFill>
          <a:ln w="31750">
            <a:solidFill>
              <a:srgbClr val="263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81344" y="3968496"/>
            <a:ext cx="1307592" cy="292608"/>
          </a:xfrm>
          <a:prstGeom prst="rect">
            <a:avLst/>
          </a:prstGeom>
          <a:noFill/>
        </p:spPr>
        <p:txBody>
          <a:bodyPr wrap="square" anchor="ctr" lIns="25400" rIns="25400" tIns="25400" bIns="25400">
            <a:spAutoFit/>
          </a:bodyPr>
          <a:lstStyle/>
          <a:p>
            <a:pPr algn="l">
              <a:lnSpc>
                <a:spcPct val="100000"/>
              </a:lnSpc>
              <a:spcAft>
                <a:spcPts val="400"/>
              </a:spcAft>
            </a:pPr>
            <a:r>
              <a:rPr sz="1200" b="1" i="0">
                <a:solidFill>
                  <a:srgbClr val="FFFFFF"/>
                </a:solidFill>
                <a:latin typeface="Calibri"/>
              </a:rPr>
              <a:t>G</a:t>
            </a:r>
          </a:p>
        </p:txBody>
      </p:sp>
      <p:sp>
        <p:nvSpPr>
          <p:cNvPr id="27" name="Pentagon 26"/>
          <p:cNvSpPr/>
          <p:nvPr/>
        </p:nvSpPr>
        <p:spPr>
          <a:xfrm>
            <a:off x="5815584" y="3968496"/>
            <a:ext cx="274320" cy="292608"/>
          </a:xfrm>
          <a:prstGeom prst="homePlate">
            <a:avLst/>
          </a:prstGeom>
          <a:solidFill>
            <a:srgbClr val="263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38160" y="1554480"/>
            <a:ext cx="1380744" cy="274320"/>
          </a:xfrm>
          <a:prstGeom prst="rect">
            <a:avLst/>
          </a:prstGeom>
          <a:noFill/>
        </p:spPr>
        <p:txBody>
          <a:bodyPr wrap="square" anchor="t" lIns="25400" rIns="25400" tIns="25400" bIns="25400">
            <a:spAutoFit/>
          </a:bodyPr>
          <a:lstStyle/>
          <a:p>
            <a:pPr algn="l">
              <a:lnSpc>
                <a:spcPct val="100000"/>
              </a:lnSpc>
              <a:spcAft>
                <a:spcPts val="400"/>
              </a:spcAft>
            </a:pPr>
            <a:r>
              <a:rPr sz="1200" b="1" i="0">
                <a:solidFill>
                  <a:srgbClr val="37474F"/>
                </a:solidFill>
                <a:latin typeface="Calibri"/>
              </a:rPr>
              <a:t>Climat</a:t>
            </a:r>
          </a:p>
        </p:txBody>
      </p:sp>
      <p:sp>
        <p:nvSpPr>
          <p:cNvPr id="29" name="Rounded Rectangle 28"/>
          <p:cNvSpPr/>
          <p:nvPr/>
        </p:nvSpPr>
        <p:spPr>
          <a:xfrm>
            <a:off x="8138160" y="1883664"/>
            <a:ext cx="502920" cy="292608"/>
          </a:xfrm>
          <a:prstGeom prst="roundRect">
            <a:avLst/>
          </a:prstGeom>
          <a:solidFill>
            <a:srgbClr val="008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93024" y="1883664"/>
            <a:ext cx="429768" cy="292608"/>
          </a:xfrm>
          <a:prstGeom prst="rect">
            <a:avLst/>
          </a:prstGeom>
          <a:noFill/>
        </p:spPr>
        <p:txBody>
          <a:bodyPr wrap="square" anchor="ctr" lIns="25400" rIns="25400" tIns="25400" bIns="25400">
            <a:spAutoFit/>
          </a:bodyPr>
          <a:lstStyle/>
          <a:p>
            <a:pPr algn="l">
              <a:lnSpc>
                <a:spcPct val="100000"/>
              </a:lnSpc>
              <a:spcAft>
                <a:spcPts val="400"/>
              </a:spcAft>
            </a:pPr>
            <a:r>
              <a:rPr sz="1200" b="1" i="0">
                <a:solidFill>
                  <a:srgbClr val="FFFFFF"/>
                </a:solidFill>
                <a:latin typeface="Calibri"/>
              </a:rPr>
              <a:t>A</a:t>
            </a:r>
          </a:p>
        </p:txBody>
      </p:sp>
      <p:sp>
        <p:nvSpPr>
          <p:cNvPr id="31" name="Rounded Rectangle 30"/>
          <p:cNvSpPr/>
          <p:nvPr/>
        </p:nvSpPr>
        <p:spPr>
          <a:xfrm>
            <a:off x="8138160" y="2231136"/>
            <a:ext cx="649224" cy="292608"/>
          </a:xfrm>
          <a:prstGeom prst="roundRect">
            <a:avLst/>
          </a:prstGeom>
          <a:solidFill>
            <a:srgbClr val="57AA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93024" y="2231136"/>
            <a:ext cx="576072" cy="292608"/>
          </a:xfrm>
          <a:prstGeom prst="rect">
            <a:avLst/>
          </a:prstGeom>
          <a:noFill/>
        </p:spPr>
        <p:txBody>
          <a:bodyPr wrap="square" anchor="ctr" lIns="25400" rIns="25400" tIns="25400" bIns="25400">
            <a:spAutoFit/>
          </a:bodyPr>
          <a:lstStyle/>
          <a:p>
            <a:pPr algn="l">
              <a:lnSpc>
                <a:spcPct val="100000"/>
              </a:lnSpc>
              <a:spcAft>
                <a:spcPts val="400"/>
              </a:spcAft>
            </a:pPr>
            <a:r>
              <a:rPr sz="1200" b="1" i="0">
                <a:solidFill>
                  <a:srgbClr val="FFFFFF"/>
                </a:solidFill>
                <a:latin typeface="Calibri"/>
              </a:rPr>
              <a:t>B</a:t>
            </a:r>
          </a:p>
        </p:txBody>
      </p:sp>
      <p:sp>
        <p:nvSpPr>
          <p:cNvPr id="33" name="Rounded Rectangle 32"/>
          <p:cNvSpPr/>
          <p:nvPr/>
        </p:nvSpPr>
        <p:spPr>
          <a:xfrm>
            <a:off x="8138160" y="2578608"/>
            <a:ext cx="795528" cy="292608"/>
          </a:xfrm>
          <a:prstGeom prst="roundRect">
            <a:avLst/>
          </a:prstGeom>
          <a:solidFill>
            <a:srgbClr val="C3D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93024" y="2578608"/>
            <a:ext cx="722376" cy="292608"/>
          </a:xfrm>
          <a:prstGeom prst="rect">
            <a:avLst/>
          </a:prstGeom>
          <a:noFill/>
        </p:spPr>
        <p:txBody>
          <a:bodyPr wrap="square" anchor="ctr" lIns="25400" rIns="25400" tIns="25400" bIns="25400">
            <a:spAutoFit/>
          </a:bodyPr>
          <a:lstStyle/>
          <a:p>
            <a:pPr algn="l">
              <a:lnSpc>
                <a:spcPct val="100000"/>
              </a:lnSpc>
              <a:spcAft>
                <a:spcPts val="400"/>
              </a:spcAft>
            </a:pPr>
            <a:r>
              <a:rPr sz="1200" b="1" i="0">
                <a:solidFill>
                  <a:srgbClr val="263238"/>
                </a:solidFill>
                <a:latin typeface="Calibri"/>
              </a:rPr>
              <a:t>C</a:t>
            </a:r>
          </a:p>
        </p:txBody>
      </p:sp>
      <p:sp>
        <p:nvSpPr>
          <p:cNvPr id="35" name="Rounded Rectangle 34"/>
          <p:cNvSpPr/>
          <p:nvPr/>
        </p:nvSpPr>
        <p:spPr>
          <a:xfrm>
            <a:off x="8138160" y="2926080"/>
            <a:ext cx="941832" cy="292608"/>
          </a:xfrm>
          <a:prstGeom prst="roundRect">
            <a:avLst/>
          </a:prstGeom>
          <a:solidFill>
            <a:srgbClr val="F7C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93024" y="2926080"/>
            <a:ext cx="868680" cy="292608"/>
          </a:xfrm>
          <a:prstGeom prst="rect">
            <a:avLst/>
          </a:prstGeom>
          <a:noFill/>
        </p:spPr>
        <p:txBody>
          <a:bodyPr wrap="square" anchor="ctr" lIns="25400" rIns="25400" tIns="25400" bIns="25400">
            <a:spAutoFit/>
          </a:bodyPr>
          <a:lstStyle/>
          <a:p>
            <a:pPr algn="l">
              <a:lnSpc>
                <a:spcPct val="100000"/>
              </a:lnSpc>
              <a:spcAft>
                <a:spcPts val="400"/>
              </a:spcAft>
            </a:pPr>
            <a:r>
              <a:rPr sz="1200" b="1" i="0">
                <a:solidFill>
                  <a:srgbClr val="263238"/>
                </a:solidFill>
                <a:latin typeface="Calibri"/>
              </a:rPr>
              <a:t>D</a:t>
            </a:r>
          </a:p>
        </p:txBody>
      </p:sp>
      <p:sp>
        <p:nvSpPr>
          <p:cNvPr id="37" name="Rounded Rectangle 36"/>
          <p:cNvSpPr/>
          <p:nvPr/>
        </p:nvSpPr>
        <p:spPr>
          <a:xfrm>
            <a:off x="8138160" y="3273552"/>
            <a:ext cx="1088136" cy="292608"/>
          </a:xfrm>
          <a:prstGeom prst="roundRect">
            <a:avLst/>
          </a:prstGeom>
          <a:solidFill>
            <a:srgbClr val="F7B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93024" y="3273552"/>
            <a:ext cx="1014984" cy="292608"/>
          </a:xfrm>
          <a:prstGeom prst="rect">
            <a:avLst/>
          </a:prstGeom>
          <a:noFill/>
        </p:spPr>
        <p:txBody>
          <a:bodyPr wrap="square" anchor="ctr" lIns="25400" rIns="25400" tIns="25400" bIns="25400">
            <a:spAutoFit/>
          </a:bodyPr>
          <a:lstStyle/>
          <a:p>
            <a:pPr algn="l">
              <a:lnSpc>
                <a:spcPct val="100000"/>
              </a:lnSpc>
              <a:spcAft>
                <a:spcPts val="400"/>
              </a:spcAft>
            </a:pPr>
            <a:r>
              <a:rPr sz="1200" b="1" i="0">
                <a:solidFill>
                  <a:srgbClr val="FFFFFF"/>
                </a:solidFill>
                <a:latin typeface="Calibri"/>
              </a:rPr>
              <a:t>E</a:t>
            </a:r>
          </a:p>
        </p:txBody>
      </p:sp>
      <p:sp>
        <p:nvSpPr>
          <p:cNvPr id="39" name="Rounded Rectangle 38"/>
          <p:cNvSpPr/>
          <p:nvPr/>
        </p:nvSpPr>
        <p:spPr>
          <a:xfrm>
            <a:off x="8138160" y="3621024"/>
            <a:ext cx="1234440" cy="292608"/>
          </a:xfrm>
          <a:prstGeom prst="roundRect">
            <a:avLst/>
          </a:prstGeom>
          <a:solidFill>
            <a:srgbClr val="EA6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93024" y="3621024"/>
            <a:ext cx="1161288" cy="292608"/>
          </a:xfrm>
          <a:prstGeom prst="rect">
            <a:avLst/>
          </a:prstGeom>
          <a:noFill/>
        </p:spPr>
        <p:txBody>
          <a:bodyPr wrap="square" anchor="ctr" lIns="25400" rIns="25400" tIns="25400" bIns="25400">
            <a:spAutoFit/>
          </a:bodyPr>
          <a:lstStyle/>
          <a:p>
            <a:pPr algn="l">
              <a:lnSpc>
                <a:spcPct val="100000"/>
              </a:lnSpc>
              <a:spcAft>
                <a:spcPts val="400"/>
              </a:spcAft>
            </a:pPr>
            <a:r>
              <a:rPr sz="1200" b="1" i="0">
                <a:solidFill>
                  <a:srgbClr val="FFFFFF"/>
                </a:solidFill>
                <a:latin typeface="Calibri"/>
              </a:rPr>
              <a:t>F</a:t>
            </a:r>
          </a:p>
        </p:txBody>
      </p:sp>
      <p:sp>
        <p:nvSpPr>
          <p:cNvPr id="41" name="Rounded Rectangle 40"/>
          <p:cNvSpPr/>
          <p:nvPr/>
        </p:nvSpPr>
        <p:spPr>
          <a:xfrm>
            <a:off x="8138160" y="3968496"/>
            <a:ext cx="1380744" cy="292608"/>
          </a:xfrm>
          <a:prstGeom prst="roundRect">
            <a:avLst/>
          </a:prstGeom>
          <a:solidFill>
            <a:srgbClr val="E2001A"/>
          </a:solidFill>
          <a:ln w="31750">
            <a:solidFill>
              <a:srgbClr val="263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93024" y="3968496"/>
            <a:ext cx="1307592" cy="292608"/>
          </a:xfrm>
          <a:prstGeom prst="rect">
            <a:avLst/>
          </a:prstGeom>
          <a:noFill/>
        </p:spPr>
        <p:txBody>
          <a:bodyPr wrap="square" anchor="ctr" lIns="25400" rIns="25400" tIns="25400" bIns="25400">
            <a:spAutoFit/>
          </a:bodyPr>
          <a:lstStyle/>
          <a:p>
            <a:pPr algn="l">
              <a:lnSpc>
                <a:spcPct val="100000"/>
              </a:lnSpc>
              <a:spcAft>
                <a:spcPts val="400"/>
              </a:spcAft>
            </a:pPr>
            <a:r>
              <a:rPr sz="1200" b="1" i="0">
                <a:solidFill>
                  <a:srgbClr val="FFFFFF"/>
                </a:solidFill>
                <a:latin typeface="Calibri"/>
              </a:rPr>
              <a:t>G</a:t>
            </a:r>
          </a:p>
        </p:txBody>
      </p:sp>
      <p:sp>
        <p:nvSpPr>
          <p:cNvPr id="43" name="Pentagon 42"/>
          <p:cNvSpPr/>
          <p:nvPr/>
        </p:nvSpPr>
        <p:spPr>
          <a:xfrm>
            <a:off x="7827264" y="3968496"/>
            <a:ext cx="274320" cy="292608"/>
          </a:xfrm>
          <a:prstGeom prst="homePlate">
            <a:avLst/>
          </a:prstGeom>
          <a:solidFill>
            <a:srgbClr val="263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4" name="Table 43"/>
          <p:cNvGraphicFramePr>
            <a:graphicFrameLocks noGrp="1"/>
          </p:cNvGraphicFramePr>
          <p:nvPr/>
        </p:nvGraphicFramePr>
        <p:xfrm>
          <a:off x="9692640" y="1783080"/>
          <a:ext cx="2377440" cy="2304288"/>
        </p:xfrm>
        <a:graphic>
          <a:graphicData uri="http://schemas.openxmlformats.org/drawingml/2006/table">
            <a:tbl>
              <a:tblPr>
                <a:tableStyleId>{5C22544A-7EE6-4342-B048-85BDC9FD1C3A}</a:tableStyleId>
              </a:tblPr>
              <a:tblGrid>
                <a:gridCol w="914400"/>
                <a:gridCol w="1463040"/>
              </a:tblGrid>
              <a:tr h="384048">
                <a:tc>
                  <a:txBody>
                    <a:bodyPr wrap="square"/>
                    <a:lstStyle/>
                    <a:p>
                      <a:pPr algn="l"/>
                      <a:r>
                        <a:rPr sz="1050" b="1">
                          <a:solidFill>
                            <a:srgbClr val="FFFFFF"/>
                          </a:solidFill>
                          <a:latin typeface="Calibri"/>
                        </a:rPr>
                        <a:t>Indicateur</a:t>
                      </a:r>
                    </a:p>
                  </a:txBody>
                  <a:tcPr marL="76200" marR="76200" marT="12700" marB="12700" anchor="ctr">
                    <a:solidFill>
                      <a:srgbClr val="1B5E20"/>
                    </a:solidFill>
                  </a:tcPr>
                </a:tc>
                <a:tc>
                  <a:txBody>
                    <a:bodyPr wrap="square"/>
                    <a:lstStyle/>
                    <a:p>
                      <a:pPr algn="ctr"/>
                      <a:r>
                        <a:rPr sz="1050" b="1">
                          <a:solidFill>
                            <a:srgbClr val="FFFFFF"/>
                          </a:solidFill>
                          <a:latin typeface="Calibri"/>
                        </a:rPr>
                        <a:t>Valeur</a:t>
                      </a:r>
                    </a:p>
                  </a:txBody>
                  <a:tcPr marL="76200" marR="76200" marT="12700" marB="12700" anchor="ctr">
                    <a:solidFill>
                      <a:srgbClr val="1B5E20"/>
                    </a:solidFill>
                  </a:tcPr>
                </a:tc>
              </a:tr>
              <a:tr h="384048">
                <a:tc>
                  <a:txBody>
                    <a:bodyPr wrap="square"/>
                    <a:lstStyle/>
                    <a:p>
                      <a:pPr algn="l"/>
                      <a:r>
                        <a:rPr sz="1050" b="0">
                          <a:solidFill>
                            <a:srgbClr val="37474F"/>
                          </a:solidFill>
                          <a:latin typeface="Calibri"/>
                        </a:rPr>
                        <a:t>Conso</a:t>
                      </a:r>
                    </a:p>
                  </a:txBody>
                  <a:tcPr marL="76200" marR="76200" marT="12700" marB="12700" anchor="ctr">
                    <a:solidFill>
                      <a:srgbClr val="FFFFFF"/>
                    </a:solidFill>
                  </a:tcPr>
                </a:tc>
                <a:tc>
                  <a:txBody>
                    <a:bodyPr wrap="square"/>
                    <a:lstStyle/>
                    <a:p>
                      <a:pPr algn="ctr"/>
                      <a:r>
                        <a:rPr sz="1050" b="0">
                          <a:solidFill>
                            <a:srgbClr val="37474F"/>
                          </a:solidFill>
                          <a:latin typeface="Calibri"/>
                        </a:rPr>
                        <a:t>535 kWhEP/m2</a:t>
                      </a:r>
                    </a:p>
                  </a:txBody>
                  <a:tcPr marL="76200" marR="76200" marT="12700" marB="12700" anchor="ctr">
                    <a:solidFill>
                      <a:srgbClr val="FFFFFF"/>
                    </a:solidFill>
                  </a:tcPr>
                </a:tc>
              </a:tr>
              <a:tr h="384048">
                <a:tc>
                  <a:txBody>
                    <a:bodyPr wrap="square"/>
                    <a:lstStyle/>
                    <a:p>
                      <a:pPr algn="l"/>
                      <a:r>
                        <a:rPr sz="1050" b="0">
                          <a:solidFill>
                            <a:srgbClr val="37474F"/>
                          </a:solidFill>
                          <a:latin typeface="Calibri"/>
                        </a:rPr>
                        <a:t>CO2</a:t>
                      </a:r>
                    </a:p>
                  </a:txBody>
                  <a:tcPr marL="76200" marR="76200" marT="12700" marB="12700" anchor="ctr">
                    <a:solidFill>
                      <a:srgbClr val="E8F5E9"/>
                    </a:solidFill>
                  </a:tcPr>
                </a:tc>
                <a:tc>
                  <a:txBody>
                    <a:bodyPr wrap="square"/>
                    <a:lstStyle/>
                    <a:p>
                      <a:pPr algn="ctr"/>
                      <a:r>
                        <a:rPr sz="1050" b="0">
                          <a:solidFill>
                            <a:srgbClr val="37474F"/>
                          </a:solidFill>
                          <a:latin typeface="Calibri"/>
                        </a:rPr>
                        <a:t>156 kg/m2</a:t>
                      </a:r>
                    </a:p>
                  </a:txBody>
                  <a:tcPr marL="76200" marR="76200" marT="12700" marB="12700" anchor="ctr">
                    <a:solidFill>
                      <a:srgbClr val="E8F5E9"/>
                    </a:solidFill>
                  </a:tcPr>
                </a:tc>
              </a:tr>
              <a:tr h="384048">
                <a:tc>
                  <a:txBody>
                    <a:bodyPr wrap="square"/>
                    <a:lstStyle/>
                    <a:p>
                      <a:pPr algn="l"/>
                      <a:r>
                        <a:rPr sz="1050" b="0">
                          <a:solidFill>
                            <a:srgbClr val="37474F"/>
                          </a:solidFill>
                          <a:latin typeface="Calibri"/>
                        </a:rPr>
                        <a:t>Cout/an</a:t>
                      </a:r>
                    </a:p>
                  </a:txBody>
                  <a:tcPr marL="76200" marR="76200" marT="12700" marB="12700" anchor="ctr">
                    <a:solidFill>
                      <a:srgbClr val="FFFFFF"/>
                    </a:solidFill>
                  </a:tcPr>
                </a:tc>
                <a:tc>
                  <a:txBody>
                    <a:bodyPr wrap="square"/>
                    <a:lstStyle/>
                    <a:p>
                      <a:pPr algn="ctr"/>
                      <a:r>
                        <a:rPr sz="1050" b="0">
                          <a:solidFill>
                            <a:srgbClr val="37474F"/>
                          </a:solidFill>
                          <a:latin typeface="Calibri"/>
                        </a:rPr>
                        <a:t>7 100-9 610 €</a:t>
                      </a:r>
                    </a:p>
                  </a:txBody>
                  <a:tcPr marL="76200" marR="76200" marT="12700" marB="12700" anchor="ctr">
                    <a:solidFill>
                      <a:srgbClr val="FFFFFF"/>
                    </a:solidFill>
                  </a:tcPr>
                </a:tc>
              </a:tr>
              <a:tr h="384048">
                <a:tc>
                  <a:txBody>
                    <a:bodyPr wrap="square"/>
                    <a:lstStyle/>
                    <a:p>
                      <a:pPr algn="l"/>
                      <a:r>
                        <a:rPr sz="1050" b="0">
                          <a:solidFill>
                            <a:srgbClr val="37474F"/>
                          </a:solidFill>
                          <a:latin typeface="Calibri"/>
                        </a:rPr>
                        <a:t>Ubat</a:t>
                      </a:r>
                    </a:p>
                  </a:txBody>
                  <a:tcPr marL="76200" marR="76200" marT="12700" marB="12700" anchor="ctr">
                    <a:solidFill>
                      <a:srgbClr val="E8F5E9"/>
                    </a:solidFill>
                  </a:tcPr>
                </a:tc>
                <a:tc>
                  <a:txBody>
                    <a:bodyPr wrap="square"/>
                    <a:lstStyle/>
                    <a:p>
                      <a:pPr algn="ctr"/>
                      <a:r>
                        <a:rPr sz="1050" b="0">
                          <a:solidFill>
                            <a:srgbClr val="37474F"/>
                          </a:solidFill>
                          <a:latin typeface="Calibri"/>
                        </a:rPr>
                        <a:t>2,03 W/m2K</a:t>
                      </a:r>
                    </a:p>
                  </a:txBody>
                  <a:tcPr marL="76200" marR="76200" marT="12700" marB="12700" anchor="ctr">
                    <a:solidFill>
                      <a:srgbClr val="E8F5E9"/>
                    </a:solidFill>
                  </a:tcPr>
                </a:tc>
              </a:tr>
              <a:tr h="384048">
                <a:tc>
                  <a:txBody>
                    <a:bodyPr wrap="square"/>
                    <a:lstStyle/>
                    <a:p>
                      <a:pPr algn="l"/>
                      <a:r>
                        <a:rPr sz="1050" b="0">
                          <a:solidFill>
                            <a:srgbClr val="37474F"/>
                          </a:solidFill>
                          <a:latin typeface="Calibri"/>
                        </a:rPr>
                        <a:t>P. chauff.</a:t>
                      </a:r>
                    </a:p>
                  </a:txBody>
                  <a:tcPr marL="76200" marR="76200" marT="12700" marB="12700" anchor="ctr">
                    <a:solidFill>
                      <a:srgbClr val="FFFFFF"/>
                    </a:solidFill>
                  </a:tcPr>
                </a:tc>
                <a:tc>
                  <a:txBody>
                    <a:bodyPr wrap="square"/>
                    <a:lstStyle/>
                    <a:p>
                      <a:pPr algn="ctr"/>
                      <a:r>
                        <a:rPr sz="1050" b="0">
                          <a:solidFill>
                            <a:srgbClr val="37474F"/>
                          </a:solidFill>
                          <a:latin typeface="Calibri"/>
                        </a:rPr>
                        <a:t>21,3 kW</a:t>
                      </a:r>
                    </a:p>
                  </a:txBody>
                  <a:tcPr marL="76200" marR="76200" marT="12700" marB="12700" anchor="ctr">
                    <a:solidFill>
                      <a:srgbClr val="FFFFFF"/>
                    </a:solidFill>
                  </a:tcPr>
                </a:tc>
              </a:tr>
            </a:tbl>
          </a:graphicData>
        </a:graphic>
      </p:graphicFrame>
      <p:sp>
        <p:nvSpPr>
          <p:cNvPr id="45" name="Rounded Rectangle 44"/>
          <p:cNvSpPr/>
          <p:nvPr/>
        </p:nvSpPr>
        <p:spPr>
          <a:xfrm>
            <a:off x="6126480" y="4114800"/>
            <a:ext cx="5394960" cy="16459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55080" y="4224528"/>
            <a:ext cx="5029200" cy="1463040"/>
          </a:xfrm>
          <a:prstGeom prst="rect">
            <a:avLst/>
          </a:prstGeom>
          <a:noFill/>
        </p:spPr>
        <p:txBody>
          <a:bodyPr wrap="square" anchor="t" lIns="25400" rIns="25400" tIns="25400" bIns="25400">
            <a:spAutoFit/>
          </a:bodyPr>
          <a:lstStyle/>
          <a:p>
            <a:pPr algn="l">
              <a:lnSpc>
                <a:spcPct val="112000"/>
              </a:lnSpc>
              <a:spcAft>
                <a:spcPts val="400"/>
              </a:spcAft>
            </a:pPr>
            <a:r>
              <a:rPr sz="1500" b="1" i="0">
                <a:solidFill>
                  <a:srgbClr val="C62828"/>
                </a:solidFill>
                <a:latin typeface="Calibri"/>
              </a:rPr>
              <a:t>Diagnostic : classe G / G</a:t>
            </a:r>
          </a:p>
          <a:p>
            <a:pPr algn="l">
              <a:lnSpc>
                <a:spcPct val="112000"/>
              </a:lnSpc>
              <a:spcAft>
                <a:spcPts val="400"/>
              </a:spcAft>
            </a:pPr>
            <a:r>
              <a:rPr sz="1250" b="0" i="0">
                <a:solidFill>
                  <a:srgbClr val="37474F"/>
                </a:solidFill>
                <a:latin typeface="Calibri"/>
              </a:rPr>
              <a:t>Murs + toiture + ventilation = plus de 80 % des pertes.</a:t>
            </a:r>
          </a:p>
          <a:p>
            <a:pPr algn="l">
              <a:lnSpc>
                <a:spcPct val="112000"/>
              </a:lnSpc>
              <a:spcAft>
                <a:spcPts val="400"/>
              </a:spcAft>
            </a:pPr>
            <a:r>
              <a:rPr sz="1250" b="0" i="0">
                <a:solidFill>
                  <a:srgbClr val="37474F"/>
                </a:solidFill>
                <a:latin typeface="Calibri"/>
              </a:rPr>
              <a:t>Ubat ~4x la reference (0,47) : l'enveloppe est le 1er probleme.</a:t>
            </a:r>
          </a:p>
          <a:p>
            <a:pPr algn="l">
              <a:lnSpc>
                <a:spcPct val="112000"/>
              </a:lnSpc>
              <a:spcAft>
                <a:spcPts val="400"/>
              </a:spcAft>
            </a:pPr>
            <a:r>
              <a:rPr sz="1250" b="1" i="0">
                <a:solidFill>
                  <a:srgbClr val="1B5E20"/>
                </a:solidFill>
                <a:latin typeface="Calibri"/>
              </a:rPr>
              <a:t>-&gt; renovation performante pleinement justifiee.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384048"/>
            <a:ext cx="658368" cy="65836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84048"/>
            <a:ext cx="658368" cy="658368"/>
          </a:xfrm>
          <a:prstGeom prst="rect">
            <a:avLst/>
          </a:prstGeom>
          <a:noFill/>
        </p:spPr>
        <p:txBody>
          <a:bodyPr wrap="square" anchor="ctr" lIns="25400" rIns="25400" tIns="25400" bIns="25400">
            <a:spAutoFit/>
          </a:bodyPr>
          <a:lstStyle/>
          <a:p>
            <a:pPr algn="ctr">
              <a:lnSpc>
                <a:spcPct val="100000"/>
              </a:lnSpc>
              <a:spcAft>
                <a:spcPts val="400"/>
              </a:spcAft>
            </a:pPr>
            <a:r>
              <a:rPr sz="2600" b="1" i="0">
                <a:solidFill>
                  <a:srgbClr val="FFFFFF"/>
                </a:solidFill>
                <a:latin typeface="Calibri"/>
              </a:rPr>
              <a:t>4</a:t>
            </a:r>
          </a:p>
        </p:txBody>
      </p:sp>
      <p:sp>
        <p:nvSpPr>
          <p:cNvPr id="6" name="TextBox 5"/>
          <p:cNvSpPr txBox="1"/>
          <p:nvPr/>
        </p:nvSpPr>
        <p:spPr>
          <a:xfrm>
            <a:off x="1325880" y="310896"/>
            <a:ext cx="10332720" cy="566928"/>
          </a:xfrm>
          <a:prstGeom prst="rect">
            <a:avLst/>
          </a:prstGeom>
          <a:noFill/>
        </p:spPr>
        <p:txBody>
          <a:bodyPr wrap="square" anchor="ctr" lIns="25400" rIns="25400" tIns="25400" bIns="25400">
            <a:spAutoFit/>
          </a:bodyPr>
          <a:lstStyle/>
          <a:p>
            <a:pPr algn="l">
              <a:lnSpc>
                <a:spcPct val="100000"/>
              </a:lnSpc>
              <a:spcAft>
                <a:spcPts val="400"/>
              </a:spcAft>
            </a:pPr>
            <a:r>
              <a:rPr sz="2800" b="1" i="0">
                <a:solidFill>
                  <a:srgbClr val="1B5E20"/>
                </a:solidFill>
                <a:latin typeface="Calibri"/>
              </a:rPr>
              <a:t>Scenario 1 - Renovation performante par etapes</a:t>
            </a:r>
          </a:p>
        </p:txBody>
      </p:sp>
      <p:sp>
        <p:nvSpPr>
          <p:cNvPr id="7" name="TextBox 6"/>
          <p:cNvSpPr txBox="1"/>
          <p:nvPr/>
        </p:nvSpPr>
        <p:spPr>
          <a:xfrm>
            <a:off x="1325880" y="905256"/>
            <a:ext cx="10332720" cy="292608"/>
          </a:xfrm>
          <a:prstGeom prst="rect">
            <a:avLst/>
          </a:prstGeom>
          <a:noFill/>
        </p:spPr>
        <p:txBody>
          <a:bodyPr wrap="square" anchor="t" lIns="25400" rIns="25400" tIns="25400" bIns="25400">
            <a:spAutoFit/>
          </a:bodyPr>
          <a:lstStyle/>
          <a:p>
            <a:pPr algn="l">
              <a:lnSpc>
                <a:spcPct val="100000"/>
              </a:lnSpc>
              <a:spcAft>
                <a:spcPts val="400"/>
              </a:spcAft>
            </a:pPr>
            <a:r>
              <a:rPr sz="1350" b="0" i="1">
                <a:solidFill>
                  <a:srgbClr val="37474F"/>
                </a:solidFill>
                <a:latin typeface="Calibri"/>
              </a:rPr>
              <a:t>Etape 1 : l'enveloppe (chauffage conserve)</a:t>
            </a:r>
          </a:p>
        </p:txBody>
      </p:sp>
      <p:sp>
        <p:nvSpPr>
          <p:cNvPr id="8" name="Rectangle 7"/>
          <p:cNvSpPr/>
          <p:nvPr/>
        </p:nvSpPr>
        <p:spPr>
          <a:xfrm>
            <a:off x="1325880" y="1225296"/>
            <a:ext cx="10058400" cy="279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8229600" cy="292608"/>
          </a:xfrm>
          <a:prstGeom prst="rect">
            <a:avLst/>
          </a:prstGeom>
          <a:noFill/>
        </p:spPr>
        <p:txBody>
          <a:bodyPr wrap="square" anchor="t" lIns="25400" rIns="25400" tIns="25400" bIns="25400">
            <a:spAutoFit/>
          </a:bodyPr>
          <a:lstStyle/>
          <a:p>
            <a:pPr algn="l">
              <a:lnSpc>
                <a:spcPct val="100000"/>
              </a:lnSpc>
              <a:spcAft>
                <a:spcPts val="400"/>
              </a:spcAft>
            </a:pPr>
            <a:r>
              <a:rPr sz="900" b="0" i="0">
                <a:solidFill>
                  <a:srgbClr val="90A4AE"/>
                </a:solidFill>
                <a:latin typeface="Calibri"/>
              </a:rPr>
              <a:t>Renovation energetique - Saint-Jean-de-Chevelu (73) - Bloc 1</a:t>
            </a:r>
          </a:p>
        </p:txBody>
      </p:sp>
      <p:sp>
        <p:nvSpPr>
          <p:cNvPr id="10" name="TextBox 9"/>
          <p:cNvSpPr txBox="1"/>
          <p:nvPr/>
        </p:nvSpPr>
        <p:spPr>
          <a:xfrm>
            <a:off x="9418320" y="6473952"/>
            <a:ext cx="2286000" cy="292608"/>
          </a:xfrm>
          <a:prstGeom prst="rect">
            <a:avLst/>
          </a:prstGeom>
          <a:noFill/>
        </p:spPr>
        <p:txBody>
          <a:bodyPr wrap="square" anchor="t" lIns="25400" rIns="25400" tIns="25400" bIns="25400">
            <a:spAutoFit/>
          </a:bodyPr>
          <a:lstStyle/>
          <a:p>
            <a:pPr algn="r">
              <a:lnSpc>
                <a:spcPct val="100000"/>
              </a:lnSpc>
              <a:spcAft>
                <a:spcPts val="400"/>
              </a:spcAft>
            </a:pPr>
            <a:r>
              <a:rPr sz="900" b="0" i="0">
                <a:solidFill>
                  <a:srgbClr val="90A4AE"/>
                </a:solidFill>
                <a:latin typeface="Calibri"/>
              </a:rPr>
              <a:t>Guillaume Tardy</a:t>
            </a:r>
          </a:p>
        </p:txBody>
      </p:sp>
      <p:sp>
        <p:nvSpPr>
          <p:cNvPr id="11" name="TextBox 10"/>
          <p:cNvSpPr txBox="1"/>
          <p:nvPr/>
        </p:nvSpPr>
        <p:spPr>
          <a:xfrm>
            <a:off x="822960" y="1417320"/>
            <a:ext cx="10424160" cy="365760"/>
          </a:xfrm>
          <a:prstGeom prst="rect">
            <a:avLst/>
          </a:prstGeom>
          <a:noFill/>
        </p:spPr>
        <p:txBody>
          <a:bodyPr wrap="square" anchor="t" lIns="25400" rIns="25400" tIns="25400" bIns="25400">
            <a:spAutoFit/>
          </a:bodyPr>
          <a:lstStyle/>
          <a:p>
            <a:pPr algn="l">
              <a:lnSpc>
                <a:spcPct val="100000"/>
              </a:lnSpc>
              <a:spcAft>
                <a:spcPts val="400"/>
              </a:spcAft>
            </a:pPr>
            <a:r>
              <a:rPr sz="1300" b="0" i="1">
                <a:solidFill>
                  <a:srgbClr val="37474F"/>
                </a:solidFill>
                <a:latin typeface="Calibri"/>
              </a:rPr>
              <a:t>1re etape ciblee enveloppe : traite 2 postes d'isolation (murs + toiture) et fait gagner 3 classes (G -&gt; D).</a:t>
            </a:r>
          </a:p>
        </p:txBody>
      </p:sp>
      <p:graphicFrame>
        <p:nvGraphicFramePr>
          <p:cNvPr id="12" name="Table 11"/>
          <p:cNvGraphicFramePr>
            <a:graphicFrameLocks noGrp="1"/>
          </p:cNvGraphicFramePr>
          <p:nvPr/>
        </p:nvGraphicFramePr>
        <p:xfrm>
          <a:off x="822960" y="1874519"/>
          <a:ext cx="6492240" cy="2743200"/>
        </p:xfrm>
        <a:graphic>
          <a:graphicData uri="http://schemas.openxmlformats.org/drawingml/2006/table">
            <a:tbl>
              <a:tblPr>
                <a:tableStyleId>{5C22544A-7EE6-4342-B048-85BDC9FD1C3A}</a:tableStyleId>
              </a:tblPr>
              <a:tblGrid>
                <a:gridCol w="1737360"/>
                <a:gridCol w="4754880"/>
              </a:tblGrid>
              <a:tr h="457200">
                <a:tc>
                  <a:txBody>
                    <a:bodyPr wrap="square"/>
                    <a:lstStyle/>
                    <a:p>
                      <a:pPr algn="l"/>
                      <a:r>
                        <a:rPr sz="1300" b="1">
                          <a:solidFill>
                            <a:srgbClr val="FFFFFF"/>
                          </a:solidFill>
                          <a:latin typeface="Calibri"/>
                        </a:rPr>
                        <a:t>Poste</a:t>
                      </a:r>
                    </a:p>
                  </a:txBody>
                  <a:tcPr marL="76200" marR="76200" marT="12700" marB="12700" anchor="ctr">
                    <a:solidFill>
                      <a:srgbClr val="1B5E20"/>
                    </a:solidFill>
                  </a:tcPr>
                </a:tc>
                <a:tc>
                  <a:txBody>
                    <a:bodyPr wrap="square"/>
                    <a:lstStyle/>
                    <a:p>
                      <a:pPr algn="ctr"/>
                      <a:r>
                        <a:rPr sz="1300" b="1">
                          <a:solidFill>
                            <a:srgbClr val="FFFFFF"/>
                          </a:solidFill>
                          <a:latin typeface="Calibri"/>
                        </a:rPr>
                        <a:t>Solution - etape 1</a:t>
                      </a:r>
                    </a:p>
                  </a:txBody>
                  <a:tcPr marL="76200" marR="76200" marT="12700" marB="12700" anchor="ctr">
                    <a:solidFill>
                      <a:srgbClr val="1B5E20"/>
                    </a:solidFill>
                  </a:tcPr>
                </a:tc>
              </a:tr>
              <a:tr h="457200">
                <a:tc>
                  <a:txBody>
                    <a:bodyPr wrap="square"/>
                    <a:lstStyle/>
                    <a:p>
                      <a:pPr algn="l"/>
                      <a:r>
                        <a:rPr sz="1200" b="1">
                          <a:solidFill>
                            <a:srgbClr val="37474F"/>
                          </a:solidFill>
                          <a:latin typeface="Calibri"/>
                        </a:rPr>
                        <a:t>Murs</a:t>
                      </a:r>
                    </a:p>
                  </a:txBody>
                  <a:tcPr marL="76200" marR="76200" marT="12700" marB="12700" anchor="ctr">
                    <a:solidFill>
                      <a:srgbClr val="FFFFFF"/>
                    </a:solidFill>
                  </a:tcPr>
                </a:tc>
                <a:tc>
                  <a:txBody>
                    <a:bodyPr wrap="square"/>
                    <a:lstStyle/>
                    <a:p>
                      <a:pPr algn="ctr"/>
                      <a:r>
                        <a:rPr sz="1200" b="0">
                          <a:solidFill>
                            <a:srgbClr val="37474F"/>
                          </a:solidFill>
                          <a:latin typeface="Calibri"/>
                        </a:rPr>
                        <a:t>ITE laine de bois 200 mm</a:t>
                      </a:r>
                    </a:p>
                  </a:txBody>
                  <a:tcPr marL="76200" marR="76200" marT="12700" marB="12700" anchor="ctr">
                    <a:solidFill>
                      <a:srgbClr val="FFFFFF"/>
                    </a:solidFill>
                  </a:tcPr>
                </a:tc>
              </a:tr>
              <a:tr h="457200">
                <a:tc>
                  <a:txBody>
                    <a:bodyPr wrap="square"/>
                    <a:lstStyle/>
                    <a:p>
                      <a:pPr algn="l"/>
                      <a:r>
                        <a:rPr sz="1200" b="1">
                          <a:solidFill>
                            <a:srgbClr val="37474F"/>
                          </a:solidFill>
                          <a:latin typeface="Calibri"/>
                        </a:rPr>
                        <a:t>Combles</a:t>
                      </a:r>
                    </a:p>
                  </a:txBody>
                  <a:tcPr marL="76200" marR="76200" marT="12700" marB="12700" anchor="ctr">
                    <a:solidFill>
                      <a:srgbClr val="E8F5E9"/>
                    </a:solidFill>
                  </a:tcPr>
                </a:tc>
                <a:tc>
                  <a:txBody>
                    <a:bodyPr wrap="square"/>
                    <a:lstStyle/>
                    <a:p>
                      <a:pPr algn="ctr"/>
                      <a:r>
                        <a:rPr sz="1200" b="0">
                          <a:solidFill>
                            <a:srgbClr val="37474F"/>
                          </a:solidFill>
                          <a:latin typeface="Calibri"/>
                        </a:rPr>
                        <a:t>Ouate de cellulose 400 mm</a:t>
                      </a:r>
                    </a:p>
                  </a:txBody>
                  <a:tcPr marL="76200" marR="76200" marT="12700" marB="12700" anchor="ctr">
                    <a:solidFill>
                      <a:srgbClr val="E8F5E9"/>
                    </a:solidFill>
                  </a:tcPr>
                </a:tc>
              </a:tr>
              <a:tr h="457200">
                <a:tc>
                  <a:txBody>
                    <a:bodyPr wrap="square"/>
                    <a:lstStyle/>
                    <a:p>
                      <a:pPr algn="l"/>
                      <a:r>
                        <a:rPr sz="1200" b="1">
                          <a:solidFill>
                            <a:srgbClr val="37474F"/>
                          </a:solidFill>
                          <a:latin typeface="Calibri"/>
                        </a:rPr>
                        <a:t>Ventilation</a:t>
                      </a:r>
                    </a:p>
                  </a:txBody>
                  <a:tcPr marL="76200" marR="76200" marT="12700" marB="12700" anchor="ctr">
                    <a:solidFill>
                      <a:srgbClr val="FFFFFF"/>
                    </a:solidFill>
                  </a:tcPr>
                </a:tc>
                <a:tc>
                  <a:txBody>
                    <a:bodyPr wrap="square"/>
                    <a:lstStyle/>
                    <a:p>
                      <a:pPr algn="ctr"/>
                      <a:r>
                        <a:rPr sz="1200" b="0">
                          <a:solidFill>
                            <a:srgbClr val="37474F"/>
                          </a:solidFill>
                          <a:latin typeface="Calibri"/>
                        </a:rPr>
                        <a:t>VMC hygroreglable type B</a:t>
                      </a:r>
                    </a:p>
                  </a:txBody>
                  <a:tcPr marL="76200" marR="76200" marT="12700" marB="12700" anchor="ctr">
                    <a:solidFill>
                      <a:srgbClr val="FFFFFF"/>
                    </a:solidFill>
                  </a:tcPr>
                </a:tc>
              </a:tr>
              <a:tr h="457200">
                <a:tc>
                  <a:txBody>
                    <a:bodyPr wrap="square"/>
                    <a:lstStyle/>
                    <a:p>
                      <a:pPr algn="l"/>
                      <a:r>
                        <a:rPr sz="1200" b="1">
                          <a:solidFill>
                            <a:srgbClr val="37474F"/>
                          </a:solidFill>
                          <a:latin typeface="Calibri"/>
                        </a:rPr>
                        <a:t>ECS</a:t>
                      </a:r>
                    </a:p>
                  </a:txBody>
                  <a:tcPr marL="76200" marR="76200" marT="12700" marB="12700" anchor="ctr">
                    <a:solidFill>
                      <a:srgbClr val="E8F5E9"/>
                    </a:solidFill>
                  </a:tcPr>
                </a:tc>
                <a:tc>
                  <a:txBody>
                    <a:bodyPr wrap="square"/>
                    <a:lstStyle/>
                    <a:p>
                      <a:pPr algn="ctr"/>
                      <a:r>
                        <a:rPr sz="1200" b="0">
                          <a:solidFill>
                            <a:srgbClr val="37474F"/>
                          </a:solidFill>
                          <a:latin typeface="Calibri"/>
                        </a:rPr>
                        <a:t>Chauffe-eau thermodynamique</a:t>
                      </a:r>
                    </a:p>
                  </a:txBody>
                  <a:tcPr marL="76200" marR="76200" marT="12700" marB="12700" anchor="ctr">
                    <a:solidFill>
                      <a:srgbClr val="E8F5E9"/>
                    </a:solidFill>
                  </a:tcPr>
                </a:tc>
              </a:tr>
              <a:tr h="457200">
                <a:tc>
                  <a:txBody>
                    <a:bodyPr wrap="square"/>
                    <a:lstStyle/>
                    <a:p>
                      <a:pPr algn="l"/>
                      <a:r>
                        <a:rPr sz="1200" b="1">
                          <a:solidFill>
                            <a:srgbClr val="37474F"/>
                          </a:solidFill>
                          <a:latin typeface="Calibri"/>
                        </a:rPr>
                        <a:t>Chauffage</a:t>
                      </a:r>
                    </a:p>
                  </a:txBody>
                  <a:tcPr marL="76200" marR="76200" marT="12700" marB="12700" anchor="ctr">
                    <a:solidFill>
                      <a:srgbClr val="FFFFFF"/>
                    </a:solidFill>
                  </a:tcPr>
                </a:tc>
                <a:tc>
                  <a:txBody>
                    <a:bodyPr wrap="square"/>
                    <a:lstStyle/>
                    <a:p>
                      <a:pPr algn="ctr"/>
                      <a:r>
                        <a:rPr sz="1200" b="0">
                          <a:solidFill>
                            <a:srgbClr val="37474F"/>
                          </a:solidFill>
                          <a:latin typeface="Calibri"/>
                        </a:rPr>
                        <a:t>Fioul conserve (etape ulterieure)</a:t>
                      </a:r>
                    </a:p>
                  </a:txBody>
                  <a:tcPr marL="76200" marR="76200" marT="12700" marB="12700" anchor="ctr">
                    <a:solidFill>
                      <a:srgbClr val="FFFFFF"/>
                    </a:solidFill>
                  </a:tcPr>
                </a:tc>
              </a:tr>
            </a:tbl>
          </a:graphicData>
        </a:graphic>
      </p:graphicFrame>
      <p:sp>
        <p:nvSpPr>
          <p:cNvPr id="13" name="TextBox 12"/>
          <p:cNvSpPr txBox="1"/>
          <p:nvPr/>
        </p:nvSpPr>
        <p:spPr>
          <a:xfrm>
            <a:off x="8046720" y="1737360"/>
            <a:ext cx="1280160" cy="274320"/>
          </a:xfrm>
          <a:prstGeom prst="rect">
            <a:avLst/>
          </a:prstGeom>
          <a:noFill/>
        </p:spPr>
        <p:txBody>
          <a:bodyPr wrap="square" anchor="t" lIns="25400" rIns="25400" tIns="25400" bIns="25400">
            <a:spAutoFit/>
          </a:bodyPr>
          <a:lstStyle/>
          <a:p>
            <a:pPr algn="l">
              <a:lnSpc>
                <a:spcPct val="100000"/>
              </a:lnSpc>
              <a:spcAft>
                <a:spcPts val="400"/>
              </a:spcAft>
            </a:pPr>
            <a:r>
              <a:rPr sz="1100" b="1" i="0">
                <a:solidFill>
                  <a:srgbClr val="37474F"/>
                </a:solidFill>
                <a:latin typeface="Calibri"/>
              </a:rPr>
              <a:t>Energie</a:t>
            </a:r>
          </a:p>
        </p:txBody>
      </p:sp>
      <p:sp>
        <p:nvSpPr>
          <p:cNvPr id="14" name="Rounded Rectangle 13"/>
          <p:cNvSpPr/>
          <p:nvPr/>
        </p:nvSpPr>
        <p:spPr>
          <a:xfrm>
            <a:off x="8046720" y="2066544"/>
            <a:ext cx="457200" cy="246888"/>
          </a:xfrm>
          <a:prstGeom prst="roundRect">
            <a:avLst/>
          </a:prstGeom>
          <a:solidFill>
            <a:srgbClr val="008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2066544"/>
            <a:ext cx="38404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FFFFFF"/>
                </a:solidFill>
                <a:latin typeface="Calibri"/>
              </a:rPr>
              <a:t>A</a:t>
            </a:r>
          </a:p>
        </p:txBody>
      </p:sp>
      <p:sp>
        <p:nvSpPr>
          <p:cNvPr id="16" name="Rounded Rectangle 15"/>
          <p:cNvSpPr/>
          <p:nvPr/>
        </p:nvSpPr>
        <p:spPr>
          <a:xfrm>
            <a:off x="8046720" y="2368296"/>
            <a:ext cx="594360" cy="246888"/>
          </a:xfrm>
          <a:prstGeom prst="roundRect">
            <a:avLst/>
          </a:prstGeom>
          <a:solidFill>
            <a:srgbClr val="57AA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01584" y="2368296"/>
            <a:ext cx="52120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FFFFFF"/>
                </a:solidFill>
                <a:latin typeface="Calibri"/>
              </a:rPr>
              <a:t>B</a:t>
            </a:r>
          </a:p>
        </p:txBody>
      </p:sp>
      <p:sp>
        <p:nvSpPr>
          <p:cNvPr id="18" name="Rounded Rectangle 17"/>
          <p:cNvSpPr/>
          <p:nvPr/>
        </p:nvSpPr>
        <p:spPr>
          <a:xfrm>
            <a:off x="8046720" y="2670048"/>
            <a:ext cx="731520" cy="246888"/>
          </a:xfrm>
          <a:prstGeom prst="roundRect">
            <a:avLst/>
          </a:prstGeom>
          <a:solidFill>
            <a:srgbClr val="C3D000"/>
          </a:solidFill>
          <a:ln w="31750">
            <a:solidFill>
              <a:srgbClr val="263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4" y="2670048"/>
            <a:ext cx="65836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263238"/>
                </a:solidFill>
                <a:latin typeface="Calibri"/>
              </a:rPr>
              <a:t>C</a:t>
            </a:r>
          </a:p>
        </p:txBody>
      </p:sp>
      <p:sp>
        <p:nvSpPr>
          <p:cNvPr id="20" name="Pentagon 19"/>
          <p:cNvSpPr/>
          <p:nvPr/>
        </p:nvSpPr>
        <p:spPr>
          <a:xfrm>
            <a:off x="7735824" y="2670048"/>
            <a:ext cx="274320" cy="246888"/>
          </a:xfrm>
          <a:prstGeom prst="homePlate">
            <a:avLst/>
          </a:prstGeom>
          <a:solidFill>
            <a:srgbClr val="263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46720" y="2971800"/>
            <a:ext cx="868680" cy="246888"/>
          </a:xfrm>
          <a:prstGeom prst="roundRect">
            <a:avLst/>
          </a:prstGeom>
          <a:solidFill>
            <a:srgbClr val="F7C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01584" y="2971800"/>
            <a:ext cx="79552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263238"/>
                </a:solidFill>
                <a:latin typeface="Calibri"/>
              </a:rPr>
              <a:t>D</a:t>
            </a:r>
          </a:p>
        </p:txBody>
      </p:sp>
      <p:sp>
        <p:nvSpPr>
          <p:cNvPr id="23" name="Rounded Rectangle 22"/>
          <p:cNvSpPr/>
          <p:nvPr/>
        </p:nvSpPr>
        <p:spPr>
          <a:xfrm>
            <a:off x="8046720" y="3273552"/>
            <a:ext cx="1005840" cy="246888"/>
          </a:xfrm>
          <a:prstGeom prst="roundRect">
            <a:avLst/>
          </a:prstGeom>
          <a:solidFill>
            <a:srgbClr val="F7B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01584" y="3273552"/>
            <a:ext cx="93268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FFFFFF"/>
                </a:solidFill>
                <a:latin typeface="Calibri"/>
              </a:rPr>
              <a:t>E</a:t>
            </a:r>
          </a:p>
        </p:txBody>
      </p:sp>
      <p:sp>
        <p:nvSpPr>
          <p:cNvPr id="25" name="Rounded Rectangle 24"/>
          <p:cNvSpPr/>
          <p:nvPr/>
        </p:nvSpPr>
        <p:spPr>
          <a:xfrm>
            <a:off x="8046720" y="3575304"/>
            <a:ext cx="1143000" cy="246888"/>
          </a:xfrm>
          <a:prstGeom prst="roundRect">
            <a:avLst/>
          </a:prstGeom>
          <a:solidFill>
            <a:srgbClr val="EA6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01584" y="3575304"/>
            <a:ext cx="106984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FFFFFF"/>
                </a:solidFill>
                <a:latin typeface="Calibri"/>
              </a:rPr>
              <a:t>F</a:t>
            </a:r>
          </a:p>
        </p:txBody>
      </p:sp>
      <p:sp>
        <p:nvSpPr>
          <p:cNvPr id="27" name="Rounded Rectangle 26"/>
          <p:cNvSpPr/>
          <p:nvPr/>
        </p:nvSpPr>
        <p:spPr>
          <a:xfrm>
            <a:off x="8046720" y="3877056"/>
            <a:ext cx="1280160" cy="246888"/>
          </a:xfrm>
          <a:prstGeom prst="roundRect">
            <a:avLst/>
          </a:prstGeom>
          <a:solidFill>
            <a:srgbClr val="E20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01584" y="3877056"/>
            <a:ext cx="120700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FFFFFF"/>
                </a:solidFill>
                <a:latin typeface="Calibri"/>
              </a:rPr>
              <a:t>G</a:t>
            </a:r>
          </a:p>
        </p:txBody>
      </p:sp>
      <p:sp>
        <p:nvSpPr>
          <p:cNvPr id="29" name="TextBox 28"/>
          <p:cNvSpPr txBox="1"/>
          <p:nvPr/>
        </p:nvSpPr>
        <p:spPr>
          <a:xfrm>
            <a:off x="9875520" y="1737360"/>
            <a:ext cx="1280160" cy="274320"/>
          </a:xfrm>
          <a:prstGeom prst="rect">
            <a:avLst/>
          </a:prstGeom>
          <a:noFill/>
        </p:spPr>
        <p:txBody>
          <a:bodyPr wrap="square" anchor="t" lIns="25400" rIns="25400" tIns="25400" bIns="25400">
            <a:spAutoFit/>
          </a:bodyPr>
          <a:lstStyle/>
          <a:p>
            <a:pPr algn="l">
              <a:lnSpc>
                <a:spcPct val="100000"/>
              </a:lnSpc>
              <a:spcAft>
                <a:spcPts val="400"/>
              </a:spcAft>
            </a:pPr>
            <a:r>
              <a:rPr sz="1100" b="1" i="0">
                <a:solidFill>
                  <a:srgbClr val="37474F"/>
                </a:solidFill>
                <a:latin typeface="Calibri"/>
              </a:rPr>
              <a:t>Climat</a:t>
            </a:r>
          </a:p>
        </p:txBody>
      </p:sp>
      <p:sp>
        <p:nvSpPr>
          <p:cNvPr id="30" name="Rounded Rectangle 29"/>
          <p:cNvSpPr/>
          <p:nvPr/>
        </p:nvSpPr>
        <p:spPr>
          <a:xfrm>
            <a:off x="9875520" y="2066544"/>
            <a:ext cx="457200" cy="246888"/>
          </a:xfrm>
          <a:prstGeom prst="roundRect">
            <a:avLst/>
          </a:prstGeom>
          <a:solidFill>
            <a:srgbClr val="008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30384" y="2066544"/>
            <a:ext cx="38404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FFFFFF"/>
                </a:solidFill>
                <a:latin typeface="Calibri"/>
              </a:rPr>
              <a:t>A</a:t>
            </a:r>
          </a:p>
        </p:txBody>
      </p:sp>
      <p:sp>
        <p:nvSpPr>
          <p:cNvPr id="32" name="Rounded Rectangle 31"/>
          <p:cNvSpPr/>
          <p:nvPr/>
        </p:nvSpPr>
        <p:spPr>
          <a:xfrm>
            <a:off x="9875520" y="2368296"/>
            <a:ext cx="594360" cy="246888"/>
          </a:xfrm>
          <a:prstGeom prst="roundRect">
            <a:avLst/>
          </a:prstGeom>
          <a:solidFill>
            <a:srgbClr val="57AA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30384" y="2368296"/>
            <a:ext cx="52120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FFFFFF"/>
                </a:solidFill>
                <a:latin typeface="Calibri"/>
              </a:rPr>
              <a:t>B</a:t>
            </a:r>
          </a:p>
        </p:txBody>
      </p:sp>
      <p:sp>
        <p:nvSpPr>
          <p:cNvPr id="34" name="Rounded Rectangle 33"/>
          <p:cNvSpPr/>
          <p:nvPr/>
        </p:nvSpPr>
        <p:spPr>
          <a:xfrm>
            <a:off x="9875520" y="2670048"/>
            <a:ext cx="731520" cy="246888"/>
          </a:xfrm>
          <a:prstGeom prst="roundRect">
            <a:avLst/>
          </a:prstGeom>
          <a:solidFill>
            <a:srgbClr val="C3D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30384" y="2670048"/>
            <a:ext cx="65836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263238"/>
                </a:solidFill>
                <a:latin typeface="Calibri"/>
              </a:rPr>
              <a:t>C</a:t>
            </a:r>
          </a:p>
        </p:txBody>
      </p:sp>
      <p:sp>
        <p:nvSpPr>
          <p:cNvPr id="36" name="Rounded Rectangle 35"/>
          <p:cNvSpPr/>
          <p:nvPr/>
        </p:nvSpPr>
        <p:spPr>
          <a:xfrm>
            <a:off x="9875520" y="2971800"/>
            <a:ext cx="868680" cy="246888"/>
          </a:xfrm>
          <a:prstGeom prst="roundRect">
            <a:avLst/>
          </a:prstGeom>
          <a:solidFill>
            <a:srgbClr val="F7CB00"/>
          </a:solidFill>
          <a:ln w="31750">
            <a:solidFill>
              <a:srgbClr val="263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30384" y="2971800"/>
            <a:ext cx="79552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263238"/>
                </a:solidFill>
                <a:latin typeface="Calibri"/>
              </a:rPr>
              <a:t>D</a:t>
            </a:r>
          </a:p>
        </p:txBody>
      </p:sp>
      <p:sp>
        <p:nvSpPr>
          <p:cNvPr id="38" name="Pentagon 37"/>
          <p:cNvSpPr/>
          <p:nvPr/>
        </p:nvSpPr>
        <p:spPr>
          <a:xfrm>
            <a:off x="9564624" y="2971800"/>
            <a:ext cx="274320" cy="246888"/>
          </a:xfrm>
          <a:prstGeom prst="homePlate">
            <a:avLst/>
          </a:prstGeom>
          <a:solidFill>
            <a:srgbClr val="263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875520" y="3273552"/>
            <a:ext cx="1005840" cy="246888"/>
          </a:xfrm>
          <a:prstGeom prst="roundRect">
            <a:avLst/>
          </a:prstGeom>
          <a:solidFill>
            <a:srgbClr val="F7B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930384" y="3273552"/>
            <a:ext cx="93268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FFFFFF"/>
                </a:solidFill>
                <a:latin typeface="Calibri"/>
              </a:rPr>
              <a:t>E</a:t>
            </a:r>
          </a:p>
        </p:txBody>
      </p:sp>
      <p:sp>
        <p:nvSpPr>
          <p:cNvPr id="41" name="Rounded Rectangle 40"/>
          <p:cNvSpPr/>
          <p:nvPr/>
        </p:nvSpPr>
        <p:spPr>
          <a:xfrm>
            <a:off x="9875520" y="3575304"/>
            <a:ext cx="1143000" cy="246888"/>
          </a:xfrm>
          <a:prstGeom prst="roundRect">
            <a:avLst/>
          </a:prstGeom>
          <a:solidFill>
            <a:srgbClr val="EA6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930384" y="3575304"/>
            <a:ext cx="106984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FFFFFF"/>
                </a:solidFill>
                <a:latin typeface="Calibri"/>
              </a:rPr>
              <a:t>F</a:t>
            </a:r>
          </a:p>
        </p:txBody>
      </p:sp>
      <p:sp>
        <p:nvSpPr>
          <p:cNvPr id="43" name="Rounded Rectangle 42"/>
          <p:cNvSpPr/>
          <p:nvPr/>
        </p:nvSpPr>
        <p:spPr>
          <a:xfrm>
            <a:off x="9875520" y="3877056"/>
            <a:ext cx="1280160" cy="246888"/>
          </a:xfrm>
          <a:prstGeom prst="roundRect">
            <a:avLst/>
          </a:prstGeom>
          <a:solidFill>
            <a:srgbClr val="E20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930384" y="3877056"/>
            <a:ext cx="120700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FFFFFF"/>
                </a:solidFill>
                <a:latin typeface="Calibri"/>
              </a:rPr>
              <a:t>G</a:t>
            </a:r>
          </a:p>
        </p:txBody>
      </p:sp>
      <p:sp>
        <p:nvSpPr>
          <p:cNvPr id="45" name="Rounded Rectangle 44"/>
          <p:cNvSpPr/>
          <p:nvPr/>
        </p:nvSpPr>
        <p:spPr>
          <a:xfrm>
            <a:off x="10332720" y="3977639"/>
            <a:ext cx="822960" cy="822960"/>
          </a:xfrm>
          <a:prstGeom prst="roundRect">
            <a:avLst/>
          </a:prstGeom>
          <a:solidFill>
            <a:srgbClr val="F7C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332720" y="3977639"/>
            <a:ext cx="822960" cy="822960"/>
          </a:xfrm>
          <a:prstGeom prst="rect">
            <a:avLst/>
          </a:prstGeom>
          <a:noFill/>
        </p:spPr>
        <p:txBody>
          <a:bodyPr wrap="square" anchor="ctr" lIns="25400" rIns="25400" tIns="25400" bIns="25400">
            <a:spAutoFit/>
          </a:bodyPr>
          <a:lstStyle/>
          <a:p>
            <a:pPr algn="ctr">
              <a:lnSpc>
                <a:spcPct val="100000"/>
              </a:lnSpc>
              <a:spcAft>
                <a:spcPts val="400"/>
              </a:spcAft>
            </a:pPr>
            <a:r>
              <a:rPr sz="3400" b="1" i="0">
                <a:solidFill>
                  <a:srgbClr val="263238"/>
                </a:solidFill>
                <a:latin typeface="Calibri"/>
              </a:rPr>
              <a:t>D</a:t>
            </a:r>
          </a:p>
        </p:txBody>
      </p:sp>
      <p:sp>
        <p:nvSpPr>
          <p:cNvPr id="47" name="TextBox 46"/>
          <p:cNvSpPr txBox="1"/>
          <p:nvPr/>
        </p:nvSpPr>
        <p:spPr>
          <a:xfrm>
            <a:off x="9601200" y="4846320"/>
            <a:ext cx="2286000" cy="274320"/>
          </a:xfrm>
          <a:prstGeom prst="rect">
            <a:avLst/>
          </a:prstGeom>
          <a:noFill/>
        </p:spPr>
        <p:txBody>
          <a:bodyPr wrap="square" anchor="t" lIns="25400" rIns="25400" tIns="25400" bIns="25400">
            <a:spAutoFit/>
          </a:bodyPr>
          <a:lstStyle/>
          <a:p>
            <a:pPr algn="ctr">
              <a:lnSpc>
                <a:spcPct val="100000"/>
              </a:lnSpc>
              <a:spcAft>
                <a:spcPts val="400"/>
              </a:spcAft>
            </a:pPr>
            <a:r>
              <a:rPr sz="1100" b="1" i="0">
                <a:solidFill>
                  <a:srgbClr val="37474F"/>
                </a:solidFill>
                <a:latin typeface="Calibri"/>
              </a:rPr>
              <a:t>DPE resultant</a:t>
            </a:r>
          </a:p>
        </p:txBody>
      </p:sp>
      <p:sp>
        <p:nvSpPr>
          <p:cNvPr id="48" name="Rounded Rectangle 47"/>
          <p:cNvSpPr/>
          <p:nvPr/>
        </p:nvSpPr>
        <p:spPr>
          <a:xfrm>
            <a:off x="822960" y="4572000"/>
            <a:ext cx="850392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663440"/>
            <a:ext cx="8229600" cy="365760"/>
          </a:xfrm>
          <a:prstGeom prst="rect">
            <a:avLst/>
          </a:prstGeom>
          <a:noFill/>
        </p:spPr>
        <p:txBody>
          <a:bodyPr wrap="square" anchor="t" lIns="25400" rIns="25400" tIns="25400" bIns="25400">
            <a:spAutoFit/>
          </a:bodyPr>
          <a:lstStyle/>
          <a:p>
            <a:pPr algn="l">
              <a:lnSpc>
                <a:spcPct val="100000"/>
              </a:lnSpc>
              <a:spcAft>
                <a:spcPts val="400"/>
              </a:spcAft>
            </a:pPr>
            <a:r>
              <a:rPr sz="1400" b="1" i="0">
                <a:solidFill>
                  <a:srgbClr val="1B5E20"/>
                </a:solidFill>
                <a:latin typeface="Calibri"/>
              </a:rPr>
              <a:t>Avantages &amp; coherence des etapes</a:t>
            </a:r>
          </a:p>
        </p:txBody>
      </p:sp>
      <p:sp>
        <p:nvSpPr>
          <p:cNvPr id="50" name="TextBox 49"/>
          <p:cNvSpPr txBox="1"/>
          <p:nvPr/>
        </p:nvSpPr>
        <p:spPr>
          <a:xfrm>
            <a:off x="1051560" y="5074920"/>
            <a:ext cx="4114800" cy="914400"/>
          </a:xfrm>
          <a:prstGeom prst="rect">
            <a:avLst/>
          </a:prstGeom>
          <a:noFill/>
        </p:spPr>
        <p:txBody>
          <a:bodyPr wrap="square">
            <a:spAutoFit/>
          </a:bodyPr>
          <a:lstStyle/>
          <a:p>
            <a:pPr>
              <a:lnSpc>
                <a:spcPct val="105000"/>
              </a:lnSpc>
              <a:spcAft>
                <a:spcPts val="400"/>
              </a:spcAft>
            </a:pPr>
            <a:r>
              <a:rPr sz="1150" b="1">
                <a:solidFill>
                  <a:srgbClr val="2E7D32"/>
                </a:solidFill>
                <a:latin typeface="Calibri"/>
              </a:rPr>
              <a:t>●  </a:t>
            </a:r>
            <a:r>
              <a:rPr sz="1150">
                <a:solidFill>
                  <a:srgbClr val="37474F"/>
                </a:solidFill>
                <a:latin typeface="Calibri"/>
              </a:rPr>
              <a:t>Traite d'abord les 2 postes de pertes majeurs</a:t>
            </a:r>
          </a:p>
          <a:p>
            <a:pPr>
              <a:lnSpc>
                <a:spcPct val="105000"/>
              </a:lnSpc>
              <a:spcAft>
                <a:spcPts val="400"/>
              </a:spcAft>
            </a:pPr>
            <a:r>
              <a:rPr sz="1150" b="1">
                <a:solidFill>
                  <a:srgbClr val="2E7D32"/>
                </a:solidFill>
                <a:latin typeface="Calibri"/>
              </a:rPr>
              <a:t>●  </a:t>
            </a:r>
            <a:r>
              <a:rPr sz="1150">
                <a:solidFill>
                  <a:srgbClr val="37474F"/>
                </a:solidFill>
                <a:latin typeface="Calibri"/>
              </a:rPr>
              <a:t>Prepare et facilite le futur changement de chauffage</a:t>
            </a:r>
          </a:p>
          <a:p>
            <a:pPr>
              <a:lnSpc>
                <a:spcPct val="105000"/>
              </a:lnSpc>
              <a:spcAft>
                <a:spcPts val="400"/>
              </a:spcAft>
            </a:pPr>
            <a:r>
              <a:rPr sz="1150" b="1">
                <a:solidFill>
                  <a:srgbClr val="2E7D32"/>
                </a:solidFill>
                <a:latin typeface="Calibri"/>
              </a:rPr>
              <a:t>●  </a:t>
            </a:r>
            <a:r>
              <a:rPr sz="1150">
                <a:solidFill>
                  <a:srgbClr val="37474F"/>
                </a:solidFill>
                <a:latin typeface="Calibri"/>
              </a:rPr>
              <a:t>Investissement maitrise : ~42 500 €</a:t>
            </a:r>
          </a:p>
        </p:txBody>
      </p:sp>
      <p:sp>
        <p:nvSpPr>
          <p:cNvPr id="51" name="TextBox 50"/>
          <p:cNvSpPr txBox="1"/>
          <p:nvPr/>
        </p:nvSpPr>
        <p:spPr>
          <a:xfrm>
            <a:off x="5303520" y="5074920"/>
            <a:ext cx="3931920" cy="914400"/>
          </a:xfrm>
          <a:prstGeom prst="rect">
            <a:avLst/>
          </a:prstGeom>
          <a:noFill/>
        </p:spPr>
        <p:txBody>
          <a:bodyPr wrap="square">
            <a:spAutoFit/>
          </a:bodyPr>
          <a:lstStyle/>
          <a:p>
            <a:pPr>
              <a:lnSpc>
                <a:spcPct val="105000"/>
              </a:lnSpc>
              <a:spcAft>
                <a:spcPts val="400"/>
              </a:spcAft>
            </a:pPr>
            <a:r>
              <a:rPr sz="1150" b="1">
                <a:solidFill>
                  <a:srgbClr val="2E7D32"/>
                </a:solidFill>
                <a:latin typeface="Calibri"/>
              </a:rPr>
              <a:t>●  </a:t>
            </a:r>
            <a:r>
              <a:rPr sz="1150">
                <a:solidFill>
                  <a:srgbClr val="37474F"/>
                </a:solidFill>
                <a:latin typeface="Calibri"/>
              </a:rPr>
              <a:t>Confort d'hiver et d'ete ameliores</a:t>
            </a:r>
          </a:p>
          <a:p>
            <a:pPr>
              <a:lnSpc>
                <a:spcPct val="105000"/>
              </a:lnSpc>
              <a:spcAft>
                <a:spcPts val="400"/>
              </a:spcAft>
            </a:pPr>
            <a:r>
              <a:rPr sz="1150" b="1">
                <a:solidFill>
                  <a:srgbClr val="2E7D32"/>
                </a:solidFill>
                <a:latin typeface="Calibri"/>
              </a:rPr>
              <a:t>●  </a:t>
            </a:r>
            <a:r>
              <a:rPr sz="1150">
                <a:solidFill>
                  <a:srgbClr val="37474F"/>
                </a:solidFill>
                <a:latin typeface="Calibri"/>
              </a:rPr>
              <a:t>Inertie des murs en pierre conservee</a:t>
            </a:r>
          </a:p>
          <a:p>
            <a:pPr>
              <a:lnSpc>
                <a:spcPct val="105000"/>
              </a:lnSpc>
              <a:spcAft>
                <a:spcPts val="400"/>
              </a:spcAft>
            </a:pPr>
            <a:r>
              <a:rPr sz="1150" b="1">
                <a:solidFill>
                  <a:srgbClr val="2E7D32"/>
                </a:solidFill>
                <a:latin typeface="Calibri"/>
              </a:rPr>
              <a:t>●  </a:t>
            </a:r>
            <a:r>
              <a:rPr sz="1150">
                <a:solidFill>
                  <a:srgbClr val="37474F"/>
                </a:solidFill>
                <a:latin typeface="Calibri"/>
              </a:rPr>
              <a:t>Limite : le fioul plafonne le DPE a 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384048"/>
            <a:ext cx="658368" cy="65836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84048"/>
            <a:ext cx="658368" cy="658368"/>
          </a:xfrm>
          <a:prstGeom prst="rect">
            <a:avLst/>
          </a:prstGeom>
          <a:noFill/>
        </p:spPr>
        <p:txBody>
          <a:bodyPr wrap="square" anchor="ctr" lIns="25400" rIns="25400" tIns="25400" bIns="25400">
            <a:spAutoFit/>
          </a:bodyPr>
          <a:lstStyle/>
          <a:p>
            <a:pPr algn="ctr">
              <a:lnSpc>
                <a:spcPct val="100000"/>
              </a:lnSpc>
              <a:spcAft>
                <a:spcPts val="400"/>
              </a:spcAft>
            </a:pPr>
            <a:r>
              <a:rPr sz="2600" b="1" i="0">
                <a:solidFill>
                  <a:srgbClr val="FFFFFF"/>
                </a:solidFill>
                <a:latin typeface="Calibri"/>
              </a:rPr>
              <a:t>4</a:t>
            </a:r>
          </a:p>
        </p:txBody>
      </p:sp>
      <p:sp>
        <p:nvSpPr>
          <p:cNvPr id="6" name="TextBox 5"/>
          <p:cNvSpPr txBox="1"/>
          <p:nvPr/>
        </p:nvSpPr>
        <p:spPr>
          <a:xfrm>
            <a:off x="1325880" y="310896"/>
            <a:ext cx="10332720" cy="566928"/>
          </a:xfrm>
          <a:prstGeom prst="rect">
            <a:avLst/>
          </a:prstGeom>
          <a:noFill/>
        </p:spPr>
        <p:txBody>
          <a:bodyPr wrap="square" anchor="ctr" lIns="25400" rIns="25400" tIns="25400" bIns="25400">
            <a:spAutoFit/>
          </a:bodyPr>
          <a:lstStyle/>
          <a:p>
            <a:pPr algn="l">
              <a:lnSpc>
                <a:spcPct val="100000"/>
              </a:lnSpc>
              <a:spcAft>
                <a:spcPts val="400"/>
              </a:spcAft>
            </a:pPr>
            <a:r>
              <a:rPr sz="2800" b="1" i="0">
                <a:solidFill>
                  <a:srgbClr val="1B5E20"/>
                </a:solidFill>
                <a:latin typeface="Calibri"/>
              </a:rPr>
              <a:t>Scenario 2 - Renovation performante globale</a:t>
            </a:r>
          </a:p>
        </p:txBody>
      </p:sp>
      <p:sp>
        <p:nvSpPr>
          <p:cNvPr id="7" name="TextBox 6"/>
          <p:cNvSpPr txBox="1"/>
          <p:nvPr/>
        </p:nvSpPr>
        <p:spPr>
          <a:xfrm>
            <a:off x="1325880" y="905256"/>
            <a:ext cx="10332720" cy="292608"/>
          </a:xfrm>
          <a:prstGeom prst="rect">
            <a:avLst/>
          </a:prstGeom>
          <a:noFill/>
        </p:spPr>
        <p:txBody>
          <a:bodyPr wrap="square" anchor="t" lIns="25400" rIns="25400" tIns="25400" bIns="25400">
            <a:spAutoFit/>
          </a:bodyPr>
          <a:lstStyle/>
          <a:p>
            <a:pPr algn="l">
              <a:lnSpc>
                <a:spcPct val="100000"/>
              </a:lnSpc>
              <a:spcAft>
                <a:spcPts val="400"/>
              </a:spcAft>
            </a:pPr>
            <a:r>
              <a:rPr sz="1350" b="0" i="1">
                <a:solidFill>
                  <a:srgbClr val="37474F"/>
                </a:solidFill>
                <a:latin typeface="Calibri"/>
              </a:rPr>
              <a:t>Enveloppe + sortie du fioul</a:t>
            </a:r>
          </a:p>
        </p:txBody>
      </p:sp>
      <p:sp>
        <p:nvSpPr>
          <p:cNvPr id="8" name="Rectangle 7"/>
          <p:cNvSpPr/>
          <p:nvPr/>
        </p:nvSpPr>
        <p:spPr>
          <a:xfrm>
            <a:off x="1325880" y="1225296"/>
            <a:ext cx="10058400" cy="279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8229600" cy="292608"/>
          </a:xfrm>
          <a:prstGeom prst="rect">
            <a:avLst/>
          </a:prstGeom>
          <a:noFill/>
        </p:spPr>
        <p:txBody>
          <a:bodyPr wrap="square" anchor="t" lIns="25400" rIns="25400" tIns="25400" bIns="25400">
            <a:spAutoFit/>
          </a:bodyPr>
          <a:lstStyle/>
          <a:p>
            <a:pPr algn="l">
              <a:lnSpc>
                <a:spcPct val="100000"/>
              </a:lnSpc>
              <a:spcAft>
                <a:spcPts val="400"/>
              </a:spcAft>
            </a:pPr>
            <a:r>
              <a:rPr sz="900" b="0" i="0">
                <a:solidFill>
                  <a:srgbClr val="90A4AE"/>
                </a:solidFill>
                <a:latin typeface="Calibri"/>
              </a:rPr>
              <a:t>Renovation energetique - Saint-Jean-de-Chevelu (73) - Bloc 1</a:t>
            </a:r>
          </a:p>
        </p:txBody>
      </p:sp>
      <p:sp>
        <p:nvSpPr>
          <p:cNvPr id="10" name="TextBox 9"/>
          <p:cNvSpPr txBox="1"/>
          <p:nvPr/>
        </p:nvSpPr>
        <p:spPr>
          <a:xfrm>
            <a:off x="9418320" y="6473952"/>
            <a:ext cx="2286000" cy="292608"/>
          </a:xfrm>
          <a:prstGeom prst="rect">
            <a:avLst/>
          </a:prstGeom>
          <a:noFill/>
        </p:spPr>
        <p:txBody>
          <a:bodyPr wrap="square" anchor="t" lIns="25400" rIns="25400" tIns="25400" bIns="25400">
            <a:spAutoFit/>
          </a:bodyPr>
          <a:lstStyle/>
          <a:p>
            <a:pPr algn="r">
              <a:lnSpc>
                <a:spcPct val="100000"/>
              </a:lnSpc>
              <a:spcAft>
                <a:spcPts val="400"/>
              </a:spcAft>
            </a:pPr>
            <a:r>
              <a:rPr sz="900" b="0" i="0">
                <a:solidFill>
                  <a:srgbClr val="90A4AE"/>
                </a:solidFill>
                <a:latin typeface="Calibri"/>
              </a:rPr>
              <a:t>Guillaume Tardy</a:t>
            </a:r>
          </a:p>
        </p:txBody>
      </p:sp>
      <p:sp>
        <p:nvSpPr>
          <p:cNvPr id="11" name="TextBox 10"/>
          <p:cNvSpPr txBox="1"/>
          <p:nvPr/>
        </p:nvSpPr>
        <p:spPr>
          <a:xfrm>
            <a:off x="822960" y="1371600"/>
            <a:ext cx="10424160" cy="365760"/>
          </a:xfrm>
          <a:prstGeom prst="rect">
            <a:avLst/>
          </a:prstGeom>
          <a:noFill/>
        </p:spPr>
        <p:txBody>
          <a:bodyPr wrap="square" anchor="t" lIns="25400" rIns="25400" tIns="25400" bIns="25400">
            <a:spAutoFit/>
          </a:bodyPr>
          <a:lstStyle/>
          <a:p>
            <a:pPr algn="l">
              <a:lnSpc>
                <a:spcPct val="100000"/>
              </a:lnSpc>
              <a:spcAft>
                <a:spcPts val="400"/>
              </a:spcAft>
            </a:pPr>
            <a:r>
              <a:rPr sz="1300" b="0" i="1">
                <a:solidFill>
                  <a:srgbClr val="37474F"/>
                </a:solidFill>
                <a:latin typeface="Calibri"/>
              </a:rPr>
              <a:t>Toute l'isolation du scenario 1 + remplacement du fioul. Deux solutions bas carbone comparees :</a:t>
            </a:r>
          </a:p>
        </p:txBody>
      </p:sp>
      <p:graphicFrame>
        <p:nvGraphicFramePr>
          <p:cNvPr id="12" name="Table 11"/>
          <p:cNvGraphicFramePr>
            <a:graphicFrameLocks noGrp="1"/>
          </p:cNvGraphicFramePr>
          <p:nvPr/>
        </p:nvGraphicFramePr>
        <p:xfrm>
          <a:off x="822960" y="1828800"/>
          <a:ext cx="6858000" cy="2286000"/>
        </p:xfrm>
        <a:graphic>
          <a:graphicData uri="http://schemas.openxmlformats.org/drawingml/2006/table">
            <a:tbl>
              <a:tblPr>
                <a:tableStyleId>{5C22544A-7EE6-4342-B048-85BDC9FD1C3A}</a:tableStyleId>
              </a:tblPr>
              <a:tblGrid>
                <a:gridCol w="2468880"/>
                <a:gridCol w="2194560"/>
                <a:gridCol w="2194560"/>
              </a:tblGrid>
              <a:tr h="457200">
                <a:tc>
                  <a:txBody>
                    <a:bodyPr wrap="square"/>
                    <a:lstStyle/>
                    <a:p>
                      <a:pPr algn="l"/>
                      <a:r>
                        <a:rPr sz="1200" b="1">
                          <a:solidFill>
                            <a:srgbClr val="FFFFFF"/>
                          </a:solidFill>
                          <a:latin typeface="Calibri"/>
                        </a:rPr>
                        <a:t>Critere</a:t>
                      </a:r>
                    </a:p>
                  </a:txBody>
                  <a:tcPr marL="76200" marR="76200" marT="12700" marB="12700" anchor="ctr">
                    <a:solidFill>
                      <a:srgbClr val="1B5E20"/>
                    </a:solidFill>
                  </a:tcPr>
                </a:tc>
                <a:tc>
                  <a:txBody>
                    <a:bodyPr wrap="square"/>
                    <a:lstStyle/>
                    <a:p>
                      <a:pPr algn="ctr"/>
                      <a:r>
                        <a:rPr sz="1200" b="1">
                          <a:solidFill>
                            <a:srgbClr val="FFFFFF"/>
                          </a:solidFill>
                          <a:latin typeface="Calibri"/>
                        </a:rPr>
                        <a:t>PAC Air/Eau</a:t>
                      </a:r>
                    </a:p>
                  </a:txBody>
                  <a:tcPr marL="76200" marR="76200" marT="12700" marB="12700" anchor="ctr">
                    <a:solidFill>
                      <a:srgbClr val="1B5E20"/>
                    </a:solidFill>
                  </a:tcPr>
                </a:tc>
                <a:tc>
                  <a:txBody>
                    <a:bodyPr wrap="square"/>
                    <a:lstStyle/>
                    <a:p>
                      <a:pPr algn="ctr"/>
                      <a:r>
                        <a:rPr sz="1200" b="1">
                          <a:solidFill>
                            <a:srgbClr val="FFFFFF"/>
                          </a:solidFill>
                          <a:latin typeface="Calibri"/>
                        </a:rPr>
                        <a:t>Chaudiere granules</a:t>
                      </a:r>
                    </a:p>
                  </a:txBody>
                  <a:tcPr marL="76200" marR="76200" marT="12700" marB="12700" anchor="ctr">
                    <a:solidFill>
                      <a:srgbClr val="1B5E20"/>
                    </a:solidFill>
                  </a:tcPr>
                </a:tc>
              </a:tr>
              <a:tr h="457200">
                <a:tc>
                  <a:txBody>
                    <a:bodyPr wrap="square"/>
                    <a:lstStyle/>
                    <a:p>
                      <a:pPr algn="l"/>
                      <a:r>
                        <a:rPr sz="1150" b="1">
                          <a:solidFill>
                            <a:srgbClr val="37474F"/>
                          </a:solidFill>
                          <a:latin typeface="Calibri"/>
                        </a:rPr>
                        <a:t>Energie primaire</a:t>
                      </a:r>
                    </a:p>
                  </a:txBody>
                  <a:tcPr marL="76200" marR="76200" marT="12700" marB="12700" anchor="ctr">
                    <a:solidFill>
                      <a:srgbClr val="FFFFFF"/>
                    </a:solidFill>
                  </a:tcPr>
                </a:tc>
                <a:tc>
                  <a:txBody>
                    <a:bodyPr wrap="square"/>
                    <a:lstStyle/>
                    <a:p>
                      <a:pPr algn="ctr"/>
                      <a:r>
                        <a:rPr sz="1150" b="0">
                          <a:solidFill>
                            <a:srgbClr val="37474F"/>
                          </a:solidFill>
                          <a:latin typeface="Calibri"/>
                        </a:rPr>
                        <a:t>Plus faible (elec/COP)</a:t>
                      </a:r>
                    </a:p>
                  </a:txBody>
                  <a:tcPr marL="76200" marR="76200" marT="12700" marB="12700" anchor="ctr">
                    <a:solidFill>
                      <a:srgbClr val="FFFFFF"/>
                    </a:solidFill>
                  </a:tcPr>
                </a:tc>
                <a:tc>
                  <a:txBody>
                    <a:bodyPr wrap="square"/>
                    <a:lstStyle/>
                    <a:p>
                      <a:pPr algn="ctr"/>
                      <a:r>
                        <a:rPr sz="1150" b="0">
                          <a:solidFill>
                            <a:srgbClr val="37474F"/>
                          </a:solidFill>
                          <a:latin typeface="Calibri"/>
                        </a:rPr>
                        <a:t>Coef. 1 (biomasse)</a:t>
                      </a:r>
                    </a:p>
                  </a:txBody>
                  <a:tcPr marL="76200" marR="76200" marT="12700" marB="12700" anchor="ctr">
                    <a:solidFill>
                      <a:srgbClr val="FFFFFF"/>
                    </a:solidFill>
                  </a:tcPr>
                </a:tc>
              </a:tr>
              <a:tr h="457200">
                <a:tc>
                  <a:txBody>
                    <a:bodyPr wrap="square"/>
                    <a:lstStyle/>
                    <a:p>
                      <a:pPr algn="l"/>
                      <a:r>
                        <a:rPr sz="1150" b="1">
                          <a:solidFill>
                            <a:srgbClr val="37474F"/>
                          </a:solidFill>
                          <a:latin typeface="Calibri"/>
                        </a:rPr>
                        <a:t>Emissions CO2</a:t>
                      </a:r>
                    </a:p>
                  </a:txBody>
                  <a:tcPr marL="76200" marR="76200" marT="12700" marB="12700" anchor="ctr">
                    <a:solidFill>
                      <a:srgbClr val="E8F5E9"/>
                    </a:solidFill>
                  </a:tcPr>
                </a:tc>
                <a:tc>
                  <a:txBody>
                    <a:bodyPr wrap="square"/>
                    <a:lstStyle/>
                    <a:p>
                      <a:pPr algn="ctr"/>
                      <a:r>
                        <a:rPr sz="1150" b="0">
                          <a:solidFill>
                            <a:srgbClr val="37474F"/>
                          </a:solidFill>
                          <a:latin typeface="Calibri"/>
                        </a:rPr>
                        <a:t>Faibles</a:t>
                      </a:r>
                    </a:p>
                  </a:txBody>
                  <a:tcPr marL="76200" marR="76200" marT="12700" marB="12700" anchor="ctr">
                    <a:solidFill>
                      <a:srgbClr val="E8F5E9"/>
                    </a:solidFill>
                  </a:tcPr>
                </a:tc>
                <a:tc>
                  <a:txBody>
                    <a:bodyPr wrap="square"/>
                    <a:lstStyle/>
                    <a:p>
                      <a:pPr algn="ctr"/>
                      <a:r>
                        <a:rPr sz="1150" b="0">
                          <a:solidFill>
                            <a:srgbClr val="37474F"/>
                          </a:solidFill>
                          <a:latin typeface="Calibri"/>
                        </a:rPr>
                        <a:t>Tres faibles</a:t>
                      </a:r>
                    </a:p>
                  </a:txBody>
                  <a:tcPr marL="76200" marR="76200" marT="12700" marB="12700" anchor="ctr">
                    <a:solidFill>
                      <a:srgbClr val="E8F5E9"/>
                    </a:solidFill>
                  </a:tcPr>
                </a:tc>
              </a:tr>
              <a:tr h="457200">
                <a:tc>
                  <a:txBody>
                    <a:bodyPr wrap="square"/>
                    <a:lstStyle/>
                    <a:p>
                      <a:pPr algn="l"/>
                      <a:r>
                        <a:rPr sz="1150" b="1">
                          <a:solidFill>
                            <a:srgbClr val="37474F"/>
                          </a:solidFill>
                          <a:latin typeface="Calibri"/>
                        </a:rPr>
                        <a:t>Radiateurs fonte haute T</a:t>
                      </a:r>
                    </a:p>
                  </a:txBody>
                  <a:tcPr marL="76200" marR="76200" marT="12700" marB="12700" anchor="ctr">
                    <a:solidFill>
                      <a:srgbClr val="FFFFFF"/>
                    </a:solidFill>
                  </a:tcPr>
                </a:tc>
                <a:tc>
                  <a:txBody>
                    <a:bodyPr wrap="square"/>
                    <a:lstStyle/>
                    <a:p>
                      <a:pPr algn="ctr"/>
                      <a:r>
                        <a:rPr sz="1150" b="0">
                          <a:solidFill>
                            <a:srgbClr val="37474F"/>
                          </a:solidFill>
                          <a:latin typeface="Calibri"/>
                        </a:rPr>
                        <a:t>Moins adaptee</a:t>
                      </a:r>
                    </a:p>
                  </a:txBody>
                  <a:tcPr marL="76200" marR="76200" marT="12700" marB="12700" anchor="ctr">
                    <a:solidFill>
                      <a:srgbClr val="FFFFFF"/>
                    </a:solidFill>
                  </a:tcPr>
                </a:tc>
                <a:tc>
                  <a:txBody>
                    <a:bodyPr wrap="square"/>
                    <a:lstStyle/>
                    <a:p>
                      <a:pPr algn="ctr"/>
                      <a:r>
                        <a:rPr sz="1150" b="0">
                          <a:solidFill>
                            <a:srgbClr val="37474F"/>
                          </a:solidFill>
                          <a:latin typeface="Calibri"/>
                        </a:rPr>
                        <a:t>Tres adaptee</a:t>
                      </a:r>
                    </a:p>
                  </a:txBody>
                  <a:tcPr marL="76200" marR="76200" marT="12700" marB="12700" anchor="ctr">
                    <a:solidFill>
                      <a:srgbClr val="FFFFFF"/>
                    </a:solidFill>
                  </a:tcPr>
                </a:tc>
              </a:tr>
              <a:tr h="457200">
                <a:tc>
                  <a:txBody>
                    <a:bodyPr wrap="square"/>
                    <a:lstStyle/>
                    <a:p>
                      <a:pPr algn="l"/>
                      <a:r>
                        <a:rPr sz="1150" b="1">
                          <a:solidFill>
                            <a:srgbClr val="37474F"/>
                          </a:solidFill>
                          <a:latin typeface="Calibri"/>
                        </a:rPr>
                        <a:t>Bati ancien savoyard</a:t>
                      </a:r>
                    </a:p>
                  </a:txBody>
                  <a:tcPr marL="76200" marR="76200" marT="12700" marB="12700" anchor="ctr">
                    <a:solidFill>
                      <a:srgbClr val="E8F5E9"/>
                    </a:solidFill>
                  </a:tcPr>
                </a:tc>
                <a:tc>
                  <a:txBody>
                    <a:bodyPr wrap="square"/>
                    <a:lstStyle/>
                    <a:p>
                      <a:pPr algn="ctr"/>
                      <a:r>
                        <a:rPr sz="1150" b="0">
                          <a:solidFill>
                            <a:srgbClr val="37474F"/>
                          </a:solidFill>
                          <a:latin typeface="Calibri"/>
                        </a:rPr>
                        <a:t>Bonne</a:t>
                      </a:r>
                    </a:p>
                  </a:txBody>
                  <a:tcPr marL="76200" marR="76200" marT="12700" marB="12700" anchor="ctr">
                    <a:solidFill>
                      <a:srgbClr val="E8F5E9"/>
                    </a:solidFill>
                  </a:tcPr>
                </a:tc>
                <a:tc>
                  <a:txBody>
                    <a:bodyPr wrap="square"/>
                    <a:lstStyle/>
                    <a:p>
                      <a:pPr algn="ctr"/>
                      <a:r>
                        <a:rPr sz="1150" b="0">
                          <a:solidFill>
                            <a:srgbClr val="37474F"/>
                          </a:solidFill>
                          <a:latin typeface="Calibri"/>
                        </a:rPr>
                        <a:t>Tres adaptee</a:t>
                      </a:r>
                    </a:p>
                  </a:txBody>
                  <a:tcPr marL="76200" marR="76200" marT="12700" marB="12700" anchor="ctr">
                    <a:solidFill>
                      <a:srgbClr val="E8F5E9"/>
                    </a:solidFill>
                  </a:tcPr>
                </a:tc>
              </a:tr>
            </a:tbl>
          </a:graphicData>
        </a:graphic>
      </p:graphicFrame>
      <p:sp>
        <p:nvSpPr>
          <p:cNvPr id="13" name="TextBox 12"/>
          <p:cNvSpPr txBox="1"/>
          <p:nvPr/>
        </p:nvSpPr>
        <p:spPr>
          <a:xfrm>
            <a:off x="8138160" y="1737360"/>
            <a:ext cx="1280160" cy="274320"/>
          </a:xfrm>
          <a:prstGeom prst="rect">
            <a:avLst/>
          </a:prstGeom>
          <a:noFill/>
        </p:spPr>
        <p:txBody>
          <a:bodyPr wrap="square" anchor="t" lIns="25400" rIns="25400" tIns="25400" bIns="25400">
            <a:spAutoFit/>
          </a:bodyPr>
          <a:lstStyle/>
          <a:p>
            <a:pPr algn="l">
              <a:lnSpc>
                <a:spcPct val="100000"/>
              </a:lnSpc>
              <a:spcAft>
                <a:spcPts val="400"/>
              </a:spcAft>
            </a:pPr>
            <a:r>
              <a:rPr sz="1100" b="1" i="0">
                <a:solidFill>
                  <a:srgbClr val="37474F"/>
                </a:solidFill>
                <a:latin typeface="Calibri"/>
              </a:rPr>
              <a:t>Energie</a:t>
            </a:r>
          </a:p>
        </p:txBody>
      </p:sp>
      <p:sp>
        <p:nvSpPr>
          <p:cNvPr id="14" name="Rounded Rectangle 13"/>
          <p:cNvSpPr/>
          <p:nvPr/>
        </p:nvSpPr>
        <p:spPr>
          <a:xfrm>
            <a:off x="8138160" y="2066544"/>
            <a:ext cx="457200" cy="246888"/>
          </a:xfrm>
          <a:prstGeom prst="roundRect">
            <a:avLst/>
          </a:prstGeom>
          <a:solidFill>
            <a:srgbClr val="008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93024" y="2066544"/>
            <a:ext cx="38404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FFFFFF"/>
                </a:solidFill>
                <a:latin typeface="Calibri"/>
              </a:rPr>
              <a:t>A</a:t>
            </a:r>
          </a:p>
        </p:txBody>
      </p:sp>
      <p:sp>
        <p:nvSpPr>
          <p:cNvPr id="16" name="Rounded Rectangle 15"/>
          <p:cNvSpPr/>
          <p:nvPr/>
        </p:nvSpPr>
        <p:spPr>
          <a:xfrm>
            <a:off x="8138160" y="2368296"/>
            <a:ext cx="594360" cy="246888"/>
          </a:xfrm>
          <a:prstGeom prst="roundRect">
            <a:avLst/>
          </a:prstGeom>
          <a:solidFill>
            <a:srgbClr val="57AA27"/>
          </a:solidFill>
          <a:ln w="31750">
            <a:solidFill>
              <a:srgbClr val="263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3024" y="2368296"/>
            <a:ext cx="52120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FFFFFF"/>
                </a:solidFill>
                <a:latin typeface="Calibri"/>
              </a:rPr>
              <a:t>B</a:t>
            </a:r>
          </a:p>
        </p:txBody>
      </p:sp>
      <p:sp>
        <p:nvSpPr>
          <p:cNvPr id="18" name="Pentagon 17"/>
          <p:cNvSpPr/>
          <p:nvPr/>
        </p:nvSpPr>
        <p:spPr>
          <a:xfrm>
            <a:off x="7827264" y="2368296"/>
            <a:ext cx="274320" cy="246888"/>
          </a:xfrm>
          <a:prstGeom prst="homePlate">
            <a:avLst/>
          </a:prstGeom>
          <a:solidFill>
            <a:srgbClr val="263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138160" y="2670048"/>
            <a:ext cx="731520" cy="246888"/>
          </a:xfrm>
          <a:prstGeom prst="roundRect">
            <a:avLst/>
          </a:prstGeom>
          <a:solidFill>
            <a:srgbClr val="C3D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93024" y="2670048"/>
            <a:ext cx="65836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263238"/>
                </a:solidFill>
                <a:latin typeface="Calibri"/>
              </a:rPr>
              <a:t>C</a:t>
            </a:r>
          </a:p>
        </p:txBody>
      </p:sp>
      <p:sp>
        <p:nvSpPr>
          <p:cNvPr id="21" name="Rounded Rectangle 20"/>
          <p:cNvSpPr/>
          <p:nvPr/>
        </p:nvSpPr>
        <p:spPr>
          <a:xfrm>
            <a:off x="8138160" y="2971800"/>
            <a:ext cx="868680" cy="246888"/>
          </a:xfrm>
          <a:prstGeom prst="roundRect">
            <a:avLst/>
          </a:prstGeom>
          <a:solidFill>
            <a:srgbClr val="F7C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93024" y="2971800"/>
            <a:ext cx="79552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263238"/>
                </a:solidFill>
                <a:latin typeface="Calibri"/>
              </a:rPr>
              <a:t>D</a:t>
            </a:r>
          </a:p>
        </p:txBody>
      </p:sp>
      <p:sp>
        <p:nvSpPr>
          <p:cNvPr id="23" name="Rounded Rectangle 22"/>
          <p:cNvSpPr/>
          <p:nvPr/>
        </p:nvSpPr>
        <p:spPr>
          <a:xfrm>
            <a:off x="8138160" y="3273552"/>
            <a:ext cx="1005840" cy="246888"/>
          </a:xfrm>
          <a:prstGeom prst="roundRect">
            <a:avLst/>
          </a:prstGeom>
          <a:solidFill>
            <a:srgbClr val="F7B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93024" y="3273552"/>
            <a:ext cx="93268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FFFFFF"/>
                </a:solidFill>
                <a:latin typeface="Calibri"/>
              </a:rPr>
              <a:t>E</a:t>
            </a:r>
          </a:p>
        </p:txBody>
      </p:sp>
      <p:sp>
        <p:nvSpPr>
          <p:cNvPr id="25" name="Rounded Rectangle 24"/>
          <p:cNvSpPr/>
          <p:nvPr/>
        </p:nvSpPr>
        <p:spPr>
          <a:xfrm>
            <a:off x="8138160" y="3575304"/>
            <a:ext cx="1143000" cy="246888"/>
          </a:xfrm>
          <a:prstGeom prst="roundRect">
            <a:avLst/>
          </a:prstGeom>
          <a:solidFill>
            <a:srgbClr val="EA6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93024" y="3575304"/>
            <a:ext cx="106984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FFFFFF"/>
                </a:solidFill>
                <a:latin typeface="Calibri"/>
              </a:rPr>
              <a:t>F</a:t>
            </a:r>
          </a:p>
        </p:txBody>
      </p:sp>
      <p:sp>
        <p:nvSpPr>
          <p:cNvPr id="27" name="Rounded Rectangle 26"/>
          <p:cNvSpPr/>
          <p:nvPr/>
        </p:nvSpPr>
        <p:spPr>
          <a:xfrm>
            <a:off x="8138160" y="3877056"/>
            <a:ext cx="1280160" cy="246888"/>
          </a:xfrm>
          <a:prstGeom prst="roundRect">
            <a:avLst/>
          </a:prstGeom>
          <a:solidFill>
            <a:srgbClr val="E20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93024" y="3877056"/>
            <a:ext cx="120700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FFFFFF"/>
                </a:solidFill>
                <a:latin typeface="Calibri"/>
              </a:rPr>
              <a:t>G</a:t>
            </a:r>
          </a:p>
        </p:txBody>
      </p:sp>
      <p:sp>
        <p:nvSpPr>
          <p:cNvPr id="29" name="TextBox 28"/>
          <p:cNvSpPr txBox="1"/>
          <p:nvPr/>
        </p:nvSpPr>
        <p:spPr>
          <a:xfrm>
            <a:off x="9966960" y="1737360"/>
            <a:ext cx="1280160" cy="274320"/>
          </a:xfrm>
          <a:prstGeom prst="rect">
            <a:avLst/>
          </a:prstGeom>
          <a:noFill/>
        </p:spPr>
        <p:txBody>
          <a:bodyPr wrap="square" anchor="t" lIns="25400" rIns="25400" tIns="25400" bIns="25400">
            <a:spAutoFit/>
          </a:bodyPr>
          <a:lstStyle/>
          <a:p>
            <a:pPr algn="l">
              <a:lnSpc>
                <a:spcPct val="100000"/>
              </a:lnSpc>
              <a:spcAft>
                <a:spcPts val="400"/>
              </a:spcAft>
            </a:pPr>
            <a:r>
              <a:rPr sz="1100" b="1" i="0">
                <a:solidFill>
                  <a:srgbClr val="37474F"/>
                </a:solidFill>
                <a:latin typeface="Calibri"/>
              </a:rPr>
              <a:t>Climat</a:t>
            </a:r>
          </a:p>
        </p:txBody>
      </p:sp>
      <p:sp>
        <p:nvSpPr>
          <p:cNvPr id="30" name="Rounded Rectangle 29"/>
          <p:cNvSpPr/>
          <p:nvPr/>
        </p:nvSpPr>
        <p:spPr>
          <a:xfrm>
            <a:off x="9966960" y="2066544"/>
            <a:ext cx="457200" cy="246888"/>
          </a:xfrm>
          <a:prstGeom prst="roundRect">
            <a:avLst/>
          </a:prstGeom>
          <a:solidFill>
            <a:srgbClr val="008336"/>
          </a:solidFill>
          <a:ln w="31750">
            <a:solidFill>
              <a:srgbClr val="263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21824" y="2066544"/>
            <a:ext cx="38404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FFFFFF"/>
                </a:solidFill>
                <a:latin typeface="Calibri"/>
              </a:rPr>
              <a:t>A</a:t>
            </a:r>
          </a:p>
        </p:txBody>
      </p:sp>
      <p:sp>
        <p:nvSpPr>
          <p:cNvPr id="32" name="Pentagon 31"/>
          <p:cNvSpPr/>
          <p:nvPr/>
        </p:nvSpPr>
        <p:spPr>
          <a:xfrm>
            <a:off x="9656064" y="2066544"/>
            <a:ext cx="274320" cy="246888"/>
          </a:xfrm>
          <a:prstGeom prst="homePlate">
            <a:avLst/>
          </a:prstGeom>
          <a:solidFill>
            <a:srgbClr val="263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966960" y="2368296"/>
            <a:ext cx="594360" cy="246888"/>
          </a:xfrm>
          <a:prstGeom prst="roundRect">
            <a:avLst/>
          </a:prstGeom>
          <a:solidFill>
            <a:srgbClr val="57AA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21824" y="2368296"/>
            <a:ext cx="52120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FFFFFF"/>
                </a:solidFill>
                <a:latin typeface="Calibri"/>
              </a:rPr>
              <a:t>B</a:t>
            </a:r>
          </a:p>
        </p:txBody>
      </p:sp>
      <p:sp>
        <p:nvSpPr>
          <p:cNvPr id="35" name="Rounded Rectangle 34"/>
          <p:cNvSpPr/>
          <p:nvPr/>
        </p:nvSpPr>
        <p:spPr>
          <a:xfrm>
            <a:off x="9966960" y="2670048"/>
            <a:ext cx="731520" cy="246888"/>
          </a:xfrm>
          <a:prstGeom prst="roundRect">
            <a:avLst/>
          </a:prstGeom>
          <a:solidFill>
            <a:srgbClr val="C3D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21824" y="2670048"/>
            <a:ext cx="65836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263238"/>
                </a:solidFill>
                <a:latin typeface="Calibri"/>
              </a:rPr>
              <a:t>C</a:t>
            </a:r>
          </a:p>
        </p:txBody>
      </p:sp>
      <p:sp>
        <p:nvSpPr>
          <p:cNvPr id="37" name="Rounded Rectangle 36"/>
          <p:cNvSpPr/>
          <p:nvPr/>
        </p:nvSpPr>
        <p:spPr>
          <a:xfrm>
            <a:off x="9966960" y="2971800"/>
            <a:ext cx="868680" cy="246888"/>
          </a:xfrm>
          <a:prstGeom prst="roundRect">
            <a:avLst/>
          </a:prstGeom>
          <a:solidFill>
            <a:srgbClr val="F7C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21824" y="2971800"/>
            <a:ext cx="79552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263238"/>
                </a:solidFill>
                <a:latin typeface="Calibri"/>
              </a:rPr>
              <a:t>D</a:t>
            </a:r>
          </a:p>
        </p:txBody>
      </p:sp>
      <p:sp>
        <p:nvSpPr>
          <p:cNvPr id="39" name="Rounded Rectangle 38"/>
          <p:cNvSpPr/>
          <p:nvPr/>
        </p:nvSpPr>
        <p:spPr>
          <a:xfrm>
            <a:off x="9966960" y="3273552"/>
            <a:ext cx="1005840" cy="246888"/>
          </a:xfrm>
          <a:prstGeom prst="roundRect">
            <a:avLst/>
          </a:prstGeom>
          <a:solidFill>
            <a:srgbClr val="F7B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21824" y="3273552"/>
            <a:ext cx="93268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FFFFFF"/>
                </a:solidFill>
                <a:latin typeface="Calibri"/>
              </a:rPr>
              <a:t>E</a:t>
            </a:r>
          </a:p>
        </p:txBody>
      </p:sp>
      <p:sp>
        <p:nvSpPr>
          <p:cNvPr id="41" name="Rounded Rectangle 40"/>
          <p:cNvSpPr/>
          <p:nvPr/>
        </p:nvSpPr>
        <p:spPr>
          <a:xfrm>
            <a:off x="9966960" y="3575304"/>
            <a:ext cx="1143000" cy="246888"/>
          </a:xfrm>
          <a:prstGeom prst="roundRect">
            <a:avLst/>
          </a:prstGeom>
          <a:solidFill>
            <a:srgbClr val="EA6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21824" y="3575304"/>
            <a:ext cx="106984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FFFFFF"/>
                </a:solidFill>
                <a:latin typeface="Calibri"/>
              </a:rPr>
              <a:t>F</a:t>
            </a:r>
          </a:p>
        </p:txBody>
      </p:sp>
      <p:sp>
        <p:nvSpPr>
          <p:cNvPr id="43" name="Rounded Rectangle 42"/>
          <p:cNvSpPr/>
          <p:nvPr/>
        </p:nvSpPr>
        <p:spPr>
          <a:xfrm>
            <a:off x="9966960" y="3877056"/>
            <a:ext cx="1280160" cy="246888"/>
          </a:xfrm>
          <a:prstGeom prst="roundRect">
            <a:avLst/>
          </a:prstGeom>
          <a:solidFill>
            <a:srgbClr val="E20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21824" y="3877056"/>
            <a:ext cx="1207008" cy="246888"/>
          </a:xfrm>
          <a:prstGeom prst="rect">
            <a:avLst/>
          </a:prstGeom>
          <a:noFill/>
        </p:spPr>
        <p:txBody>
          <a:bodyPr wrap="square" anchor="ctr" lIns="25400" rIns="25400" tIns="25400" bIns="25400">
            <a:spAutoFit/>
          </a:bodyPr>
          <a:lstStyle/>
          <a:p>
            <a:pPr algn="l">
              <a:lnSpc>
                <a:spcPct val="100000"/>
              </a:lnSpc>
              <a:spcAft>
                <a:spcPts val="400"/>
              </a:spcAft>
            </a:pPr>
            <a:r>
              <a:rPr sz="1100" b="1" i="0">
                <a:solidFill>
                  <a:srgbClr val="FFFFFF"/>
                </a:solidFill>
                <a:latin typeface="Calibri"/>
              </a:rPr>
              <a:t>G</a:t>
            </a:r>
          </a:p>
        </p:txBody>
      </p:sp>
      <p:sp>
        <p:nvSpPr>
          <p:cNvPr id="45" name="Rounded Rectangle 44"/>
          <p:cNvSpPr/>
          <p:nvPr/>
        </p:nvSpPr>
        <p:spPr>
          <a:xfrm>
            <a:off x="10424160" y="3931920"/>
            <a:ext cx="822960" cy="822960"/>
          </a:xfrm>
          <a:prstGeom prst="roundRect">
            <a:avLst/>
          </a:prstGeom>
          <a:solidFill>
            <a:srgbClr val="57AA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424160" y="3931920"/>
            <a:ext cx="822960" cy="822960"/>
          </a:xfrm>
          <a:prstGeom prst="rect">
            <a:avLst/>
          </a:prstGeom>
          <a:noFill/>
        </p:spPr>
        <p:txBody>
          <a:bodyPr wrap="square" anchor="ctr" lIns="25400" rIns="25400" tIns="25400" bIns="25400">
            <a:spAutoFit/>
          </a:bodyPr>
          <a:lstStyle/>
          <a:p>
            <a:pPr algn="ctr">
              <a:lnSpc>
                <a:spcPct val="100000"/>
              </a:lnSpc>
              <a:spcAft>
                <a:spcPts val="400"/>
              </a:spcAft>
            </a:pPr>
            <a:r>
              <a:rPr sz="3400" b="1" i="0">
                <a:solidFill>
                  <a:srgbClr val="FFFFFF"/>
                </a:solidFill>
                <a:latin typeface="Calibri"/>
              </a:rPr>
              <a:t>B</a:t>
            </a:r>
          </a:p>
        </p:txBody>
      </p:sp>
      <p:sp>
        <p:nvSpPr>
          <p:cNvPr id="47" name="TextBox 46"/>
          <p:cNvSpPr txBox="1"/>
          <p:nvPr/>
        </p:nvSpPr>
        <p:spPr>
          <a:xfrm>
            <a:off x="9692640" y="4800600"/>
            <a:ext cx="2286000" cy="274320"/>
          </a:xfrm>
          <a:prstGeom prst="rect">
            <a:avLst/>
          </a:prstGeom>
          <a:noFill/>
        </p:spPr>
        <p:txBody>
          <a:bodyPr wrap="square" anchor="t" lIns="25400" rIns="25400" tIns="25400" bIns="25400">
            <a:spAutoFit/>
          </a:bodyPr>
          <a:lstStyle/>
          <a:p>
            <a:pPr algn="ctr">
              <a:lnSpc>
                <a:spcPct val="100000"/>
              </a:lnSpc>
              <a:spcAft>
                <a:spcPts val="400"/>
              </a:spcAft>
            </a:pPr>
            <a:r>
              <a:rPr sz="1100" b="1" i="0">
                <a:solidFill>
                  <a:srgbClr val="37474F"/>
                </a:solidFill>
                <a:latin typeface="Calibri"/>
              </a:rPr>
              <a:t>DPE resultant</a:t>
            </a:r>
          </a:p>
        </p:txBody>
      </p:sp>
      <p:sp>
        <p:nvSpPr>
          <p:cNvPr id="48" name="Rounded Rectangle 47"/>
          <p:cNvSpPr/>
          <p:nvPr/>
        </p:nvSpPr>
        <p:spPr>
          <a:xfrm>
            <a:off x="822960" y="4572000"/>
            <a:ext cx="6949440" cy="1371600"/>
          </a:xfrm>
          <a:prstGeom prst="round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663440"/>
            <a:ext cx="6492240" cy="1188720"/>
          </a:xfrm>
          <a:prstGeom prst="rect">
            <a:avLst/>
          </a:prstGeom>
          <a:noFill/>
        </p:spPr>
        <p:txBody>
          <a:bodyPr wrap="square" anchor="t" lIns="25400" rIns="25400" tIns="25400" bIns="25400">
            <a:spAutoFit/>
          </a:bodyPr>
          <a:lstStyle/>
          <a:p>
            <a:pPr algn="l">
              <a:lnSpc>
                <a:spcPct val="105000"/>
              </a:lnSpc>
              <a:spcAft>
                <a:spcPts val="400"/>
              </a:spcAft>
            </a:pPr>
            <a:r>
              <a:rPr sz="1400" b="1" i="0">
                <a:solidFill>
                  <a:srgbClr val="FFFFFF"/>
                </a:solidFill>
                <a:latin typeface="Calibri"/>
              </a:rPr>
              <a:t>Solution retenue : chaudiere a granules 12 kW (sans silo)</a:t>
            </a:r>
          </a:p>
          <a:p>
            <a:pPr algn="l">
              <a:lnSpc>
                <a:spcPct val="105000"/>
              </a:lnSpc>
              <a:spcAft>
                <a:spcPts val="400"/>
              </a:spcAft>
            </a:pPr>
            <a:r>
              <a:rPr sz="1150" b="0" i="0">
                <a:solidFill>
                  <a:srgbClr val="C8E6C9"/>
                </a:solidFill>
                <a:latin typeface="Calibri"/>
              </a:rPr>
              <a:t>Tremie integree, conserve les radiateurs fonte, energie renouvelable locale, approvisionnement facile en Savoie.</a:t>
            </a:r>
          </a:p>
        </p:txBody>
      </p:sp>
      <p:sp>
        <p:nvSpPr>
          <p:cNvPr id="50" name="TextBox 49"/>
          <p:cNvSpPr txBox="1"/>
          <p:nvPr/>
        </p:nvSpPr>
        <p:spPr>
          <a:xfrm>
            <a:off x="822960" y="5989320"/>
            <a:ext cx="10058400" cy="365760"/>
          </a:xfrm>
          <a:prstGeom prst="rect">
            <a:avLst/>
          </a:prstGeom>
          <a:noFill/>
        </p:spPr>
        <p:txBody>
          <a:bodyPr wrap="square" anchor="t" lIns="25400" rIns="25400" tIns="25400" bIns="25400">
            <a:spAutoFit/>
          </a:bodyPr>
          <a:lstStyle/>
          <a:p>
            <a:pPr algn="l">
              <a:lnSpc>
                <a:spcPct val="100000"/>
              </a:lnSpc>
              <a:spcAft>
                <a:spcPts val="400"/>
              </a:spcAft>
            </a:pPr>
            <a:r>
              <a:rPr sz="1100" b="0" i="1">
                <a:solidFill>
                  <a:srgbClr val="90A4AE"/>
                </a:solidFill>
                <a:latin typeface="Calibri"/>
              </a:rPr>
              <a:t>Reglementation : declaration prealable (ITE), conformite DTU et criteres d'aides respectes.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384048"/>
            <a:ext cx="658368" cy="65836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84048"/>
            <a:ext cx="658368" cy="658368"/>
          </a:xfrm>
          <a:prstGeom prst="rect">
            <a:avLst/>
          </a:prstGeom>
          <a:noFill/>
        </p:spPr>
        <p:txBody>
          <a:bodyPr wrap="square" anchor="ctr" lIns="25400" rIns="25400" tIns="25400" bIns="25400">
            <a:spAutoFit/>
          </a:bodyPr>
          <a:lstStyle/>
          <a:p>
            <a:pPr algn="ctr">
              <a:lnSpc>
                <a:spcPct val="100000"/>
              </a:lnSpc>
              <a:spcAft>
                <a:spcPts val="400"/>
              </a:spcAft>
            </a:pPr>
            <a:r>
              <a:rPr sz="2600" b="1" i="0">
                <a:solidFill>
                  <a:srgbClr val="FFFFFF"/>
                </a:solidFill>
                <a:latin typeface="Calibri"/>
              </a:rPr>
              <a:t>5</a:t>
            </a:r>
          </a:p>
        </p:txBody>
      </p:sp>
      <p:sp>
        <p:nvSpPr>
          <p:cNvPr id="6" name="TextBox 5"/>
          <p:cNvSpPr txBox="1"/>
          <p:nvPr/>
        </p:nvSpPr>
        <p:spPr>
          <a:xfrm>
            <a:off x="1325880" y="310896"/>
            <a:ext cx="10332720" cy="566928"/>
          </a:xfrm>
          <a:prstGeom prst="rect">
            <a:avLst/>
          </a:prstGeom>
          <a:noFill/>
        </p:spPr>
        <p:txBody>
          <a:bodyPr wrap="square" anchor="ctr" lIns="25400" rIns="25400" tIns="25400" bIns="25400">
            <a:spAutoFit/>
          </a:bodyPr>
          <a:lstStyle/>
          <a:p>
            <a:pPr algn="l">
              <a:lnSpc>
                <a:spcPct val="100000"/>
              </a:lnSpc>
              <a:spcAft>
                <a:spcPts val="400"/>
              </a:spcAft>
            </a:pPr>
            <a:r>
              <a:rPr sz="2800" b="1" i="0">
                <a:solidFill>
                  <a:srgbClr val="1B5E20"/>
                </a:solidFill>
                <a:latin typeface="Calibri"/>
              </a:rPr>
              <a:t>Optimisation des systemes</a:t>
            </a:r>
          </a:p>
        </p:txBody>
      </p:sp>
      <p:sp>
        <p:nvSpPr>
          <p:cNvPr id="7" name="TextBox 6"/>
          <p:cNvSpPr txBox="1"/>
          <p:nvPr/>
        </p:nvSpPr>
        <p:spPr>
          <a:xfrm>
            <a:off x="1325880" y="905256"/>
            <a:ext cx="10332720" cy="292608"/>
          </a:xfrm>
          <a:prstGeom prst="rect">
            <a:avLst/>
          </a:prstGeom>
          <a:noFill/>
        </p:spPr>
        <p:txBody>
          <a:bodyPr wrap="square" anchor="t" lIns="25400" rIns="25400" tIns="25400" bIns="25400">
            <a:spAutoFit/>
          </a:bodyPr>
          <a:lstStyle/>
          <a:p>
            <a:pPr algn="l">
              <a:lnSpc>
                <a:spcPct val="100000"/>
              </a:lnSpc>
              <a:spcAft>
                <a:spcPts val="400"/>
              </a:spcAft>
            </a:pPr>
            <a:r>
              <a:rPr sz="1350" b="0" i="1">
                <a:solidFill>
                  <a:srgbClr val="37474F"/>
                </a:solidFill>
                <a:latin typeface="Calibri"/>
              </a:rPr>
              <a:t>Regulation du chauffage &amp; production d'ECS</a:t>
            </a:r>
          </a:p>
        </p:txBody>
      </p:sp>
      <p:sp>
        <p:nvSpPr>
          <p:cNvPr id="8" name="Rectangle 7"/>
          <p:cNvSpPr/>
          <p:nvPr/>
        </p:nvSpPr>
        <p:spPr>
          <a:xfrm>
            <a:off x="1325880" y="1225296"/>
            <a:ext cx="10058400" cy="279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8229600" cy="292608"/>
          </a:xfrm>
          <a:prstGeom prst="rect">
            <a:avLst/>
          </a:prstGeom>
          <a:noFill/>
        </p:spPr>
        <p:txBody>
          <a:bodyPr wrap="square" anchor="t" lIns="25400" rIns="25400" tIns="25400" bIns="25400">
            <a:spAutoFit/>
          </a:bodyPr>
          <a:lstStyle/>
          <a:p>
            <a:pPr algn="l">
              <a:lnSpc>
                <a:spcPct val="100000"/>
              </a:lnSpc>
              <a:spcAft>
                <a:spcPts val="400"/>
              </a:spcAft>
            </a:pPr>
            <a:r>
              <a:rPr sz="900" b="0" i="0">
                <a:solidFill>
                  <a:srgbClr val="90A4AE"/>
                </a:solidFill>
                <a:latin typeface="Calibri"/>
              </a:rPr>
              <a:t>Renovation energetique - Saint-Jean-de-Chevelu (73) - Bloc 1</a:t>
            </a:r>
          </a:p>
        </p:txBody>
      </p:sp>
      <p:sp>
        <p:nvSpPr>
          <p:cNvPr id="10" name="TextBox 9"/>
          <p:cNvSpPr txBox="1"/>
          <p:nvPr/>
        </p:nvSpPr>
        <p:spPr>
          <a:xfrm>
            <a:off x="9418320" y="6473952"/>
            <a:ext cx="2286000" cy="292608"/>
          </a:xfrm>
          <a:prstGeom prst="rect">
            <a:avLst/>
          </a:prstGeom>
          <a:noFill/>
        </p:spPr>
        <p:txBody>
          <a:bodyPr wrap="square" anchor="t" lIns="25400" rIns="25400" tIns="25400" bIns="25400">
            <a:spAutoFit/>
          </a:bodyPr>
          <a:lstStyle/>
          <a:p>
            <a:pPr algn="r">
              <a:lnSpc>
                <a:spcPct val="100000"/>
              </a:lnSpc>
              <a:spcAft>
                <a:spcPts val="400"/>
              </a:spcAft>
            </a:pPr>
            <a:r>
              <a:rPr sz="900" b="0" i="0">
                <a:solidFill>
                  <a:srgbClr val="90A4AE"/>
                </a:solidFill>
                <a:latin typeface="Calibri"/>
              </a:rPr>
              <a:t>Guillaume Tardy</a:t>
            </a:r>
          </a:p>
        </p:txBody>
      </p:sp>
      <p:sp>
        <p:nvSpPr>
          <p:cNvPr id="11" name="Rounded Rectangle 10"/>
          <p:cNvSpPr/>
          <p:nvPr/>
        </p:nvSpPr>
        <p:spPr>
          <a:xfrm>
            <a:off x="822960" y="1600200"/>
            <a:ext cx="5212080" cy="4160520"/>
          </a:xfrm>
          <a:prstGeom prst="roundRect">
            <a:avLst/>
          </a:prstGeom>
          <a:solidFill>
            <a:srgbClr val="FFFFFF"/>
          </a:solidFill>
          <a:ln w="1270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2960" y="1600200"/>
            <a:ext cx="5212080" cy="548640"/>
          </a:xfrm>
          <a:prstGeom prst="round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600200"/>
            <a:ext cx="5212080" cy="548640"/>
          </a:xfrm>
          <a:prstGeom prst="rect">
            <a:avLst/>
          </a:prstGeom>
          <a:noFill/>
        </p:spPr>
        <p:txBody>
          <a:bodyPr wrap="square" anchor="ctr" lIns="25400" rIns="25400" tIns="25400" bIns="25400">
            <a:spAutoFit/>
          </a:bodyPr>
          <a:lstStyle/>
          <a:p>
            <a:pPr algn="ctr">
              <a:lnSpc>
                <a:spcPct val="100000"/>
              </a:lnSpc>
              <a:spcAft>
                <a:spcPts val="400"/>
              </a:spcAft>
            </a:pPr>
            <a:r>
              <a:rPr sz="1600" b="1" i="0">
                <a:solidFill>
                  <a:srgbClr val="FFFFFF"/>
                </a:solidFill>
                <a:latin typeface="Calibri"/>
              </a:rPr>
              <a:t>Regulation du chauffage</a:t>
            </a:r>
          </a:p>
        </p:txBody>
      </p:sp>
      <p:sp>
        <p:nvSpPr>
          <p:cNvPr id="14" name="TextBox 13"/>
          <p:cNvSpPr txBox="1"/>
          <p:nvPr/>
        </p:nvSpPr>
        <p:spPr>
          <a:xfrm>
            <a:off x="1051560" y="2331720"/>
            <a:ext cx="4800600" cy="3291840"/>
          </a:xfrm>
          <a:prstGeom prst="rect">
            <a:avLst/>
          </a:prstGeom>
          <a:noFill/>
        </p:spPr>
        <p:txBody>
          <a:bodyPr wrap="square">
            <a:spAutoFit/>
          </a:bodyPr>
          <a:lstStyle/>
          <a:p>
            <a:pPr>
              <a:lnSpc>
                <a:spcPct val="105000"/>
              </a:lnSpc>
              <a:spcAft>
                <a:spcPts val="1100"/>
              </a:spcAft>
            </a:pPr>
            <a:r>
              <a:rPr sz="1350" b="1">
                <a:solidFill>
                  <a:srgbClr val="2E7D32"/>
                </a:solidFill>
                <a:latin typeface="Calibri"/>
              </a:rPr>
              <a:t>●  </a:t>
            </a:r>
            <a:r>
              <a:rPr sz="1350" b="1">
                <a:solidFill>
                  <a:srgbClr val="37474F"/>
                </a:solidFill>
                <a:latin typeface="Calibri"/>
              </a:rPr>
              <a:t>Sonde de temperature exterieure </a:t>
            </a:r>
            <a:r>
              <a:rPr sz="1350">
                <a:solidFill>
                  <a:srgbClr val="37474F"/>
                </a:solidFill>
                <a:latin typeface="Calibri"/>
              </a:rPr>
              <a:t>-&gt; pilotage par loi d'eau</a:t>
            </a:r>
          </a:p>
          <a:p>
            <a:pPr>
              <a:lnSpc>
                <a:spcPct val="105000"/>
              </a:lnSpc>
              <a:spcAft>
                <a:spcPts val="1100"/>
              </a:spcAft>
            </a:pPr>
            <a:r>
              <a:rPr sz="1350" b="1">
                <a:solidFill>
                  <a:srgbClr val="2E7D32"/>
                </a:solidFill>
                <a:latin typeface="Calibri"/>
              </a:rPr>
              <a:t>●  </a:t>
            </a:r>
            <a:r>
              <a:rPr sz="1350" b="1">
                <a:solidFill>
                  <a:srgbClr val="37474F"/>
                </a:solidFill>
                <a:latin typeface="Calibri"/>
              </a:rPr>
              <a:t>Robinets thermostatiques </a:t>
            </a:r>
            <a:r>
              <a:rPr sz="1350">
                <a:solidFill>
                  <a:srgbClr val="37474F"/>
                </a:solidFill>
                <a:latin typeface="Calibri"/>
              </a:rPr>
              <a:t>sur les radiateurs fonte (regulation piece par piece)</a:t>
            </a:r>
          </a:p>
          <a:p>
            <a:pPr>
              <a:lnSpc>
                <a:spcPct val="105000"/>
              </a:lnSpc>
              <a:spcAft>
                <a:spcPts val="1100"/>
              </a:spcAft>
            </a:pPr>
            <a:r>
              <a:rPr sz="1350" b="1">
                <a:solidFill>
                  <a:srgbClr val="2E7D32"/>
                </a:solidFill>
                <a:latin typeface="Calibri"/>
              </a:rPr>
              <a:t>●  </a:t>
            </a:r>
            <a:r>
              <a:rPr sz="1350" b="1">
                <a:solidFill>
                  <a:srgbClr val="37474F"/>
                </a:solidFill>
                <a:latin typeface="Calibri"/>
              </a:rPr>
              <a:t>Thermostat programmable </a:t>
            </a:r>
            <a:r>
              <a:rPr sz="1350">
                <a:solidFill>
                  <a:srgbClr val="37474F"/>
                </a:solidFill>
                <a:latin typeface="Calibri"/>
              </a:rPr>
              <a:t>(reduit en absence / nuit)</a:t>
            </a:r>
          </a:p>
          <a:p>
            <a:pPr>
              <a:lnSpc>
                <a:spcPct val="105000"/>
              </a:lnSpc>
              <a:spcAft>
                <a:spcPts val="1100"/>
              </a:spcAft>
            </a:pPr>
            <a:r>
              <a:rPr sz="1350" b="1">
                <a:solidFill>
                  <a:srgbClr val="2E7D32"/>
                </a:solidFill>
                <a:latin typeface="Calibri"/>
              </a:rPr>
              <a:t>●  </a:t>
            </a:r>
            <a:r>
              <a:rPr sz="1350" b="1">
                <a:solidFill>
                  <a:srgbClr val="37474F"/>
                </a:solidFill>
                <a:latin typeface="Calibri"/>
              </a:rPr>
              <a:t>Rendement global </a:t>
            </a:r>
            <a:r>
              <a:rPr sz="1350">
                <a:solidFill>
                  <a:srgbClr val="37474F"/>
                </a:solidFill>
                <a:latin typeface="Calibri"/>
              </a:rPr>
              <a:t>ameliore : generateur recent + emetteurs regules</a:t>
            </a:r>
          </a:p>
        </p:txBody>
      </p:sp>
      <p:sp>
        <p:nvSpPr>
          <p:cNvPr id="15" name="Rounded Rectangle 14"/>
          <p:cNvSpPr/>
          <p:nvPr/>
        </p:nvSpPr>
        <p:spPr>
          <a:xfrm>
            <a:off x="6309360" y="1600200"/>
            <a:ext cx="5029200" cy="4160520"/>
          </a:xfrm>
          <a:prstGeom prst="roundRect">
            <a:avLst/>
          </a:prstGeom>
          <a:solidFill>
            <a:srgbClr val="FFFFFF"/>
          </a:solidFill>
          <a:ln w="1270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09360" y="1600200"/>
            <a:ext cx="5029200" cy="548640"/>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1600200"/>
            <a:ext cx="5029200" cy="548640"/>
          </a:xfrm>
          <a:prstGeom prst="rect">
            <a:avLst/>
          </a:prstGeom>
          <a:noFill/>
        </p:spPr>
        <p:txBody>
          <a:bodyPr wrap="square" anchor="ctr" lIns="25400" rIns="25400" tIns="25400" bIns="25400">
            <a:spAutoFit/>
          </a:bodyPr>
          <a:lstStyle/>
          <a:p>
            <a:pPr algn="ctr">
              <a:lnSpc>
                <a:spcPct val="100000"/>
              </a:lnSpc>
              <a:spcAft>
                <a:spcPts val="400"/>
              </a:spcAft>
            </a:pPr>
            <a:r>
              <a:rPr sz="1600" b="1" i="0">
                <a:solidFill>
                  <a:srgbClr val="FFFFFF"/>
                </a:solidFill>
                <a:latin typeface="Calibri"/>
              </a:rPr>
              <a:t>Production d'eau chaude (ECS)</a:t>
            </a:r>
          </a:p>
        </p:txBody>
      </p:sp>
      <p:sp>
        <p:nvSpPr>
          <p:cNvPr id="18" name="TextBox 17"/>
          <p:cNvSpPr txBox="1"/>
          <p:nvPr/>
        </p:nvSpPr>
        <p:spPr>
          <a:xfrm>
            <a:off x="6537960" y="2331720"/>
            <a:ext cx="4617720" cy="3291840"/>
          </a:xfrm>
          <a:prstGeom prst="rect">
            <a:avLst/>
          </a:prstGeom>
          <a:noFill/>
        </p:spPr>
        <p:txBody>
          <a:bodyPr wrap="square">
            <a:spAutoFit/>
          </a:bodyPr>
          <a:lstStyle/>
          <a:p>
            <a:pPr>
              <a:lnSpc>
                <a:spcPct val="105000"/>
              </a:lnSpc>
              <a:spcAft>
                <a:spcPts val="1100"/>
              </a:spcAft>
            </a:pPr>
            <a:r>
              <a:rPr sz="1350" b="1">
                <a:solidFill>
                  <a:srgbClr val="2E7D32"/>
                </a:solidFill>
                <a:latin typeface="Calibri"/>
              </a:rPr>
              <a:t>●  </a:t>
            </a:r>
            <a:r>
              <a:rPr sz="1350" b="1">
                <a:solidFill>
                  <a:srgbClr val="37474F"/>
                </a:solidFill>
                <a:latin typeface="Calibri"/>
              </a:rPr>
              <a:t>Existant : </a:t>
            </a:r>
            <a:r>
              <a:rPr sz="1350">
                <a:solidFill>
                  <a:srgbClr val="37474F"/>
                </a:solidFill>
                <a:latin typeface="Calibri"/>
              </a:rPr>
              <a:t>vieux ballon elec. 200 L hors volume chauffe (pertes)</a:t>
            </a:r>
          </a:p>
          <a:p>
            <a:pPr>
              <a:lnSpc>
                <a:spcPct val="105000"/>
              </a:lnSpc>
              <a:spcAft>
                <a:spcPts val="1100"/>
              </a:spcAft>
            </a:pPr>
            <a:r>
              <a:rPr sz="1350" b="1">
                <a:solidFill>
                  <a:srgbClr val="2E7D32"/>
                </a:solidFill>
                <a:latin typeface="Calibri"/>
              </a:rPr>
              <a:t>●  </a:t>
            </a:r>
            <a:r>
              <a:rPr sz="1350" b="1">
                <a:solidFill>
                  <a:srgbClr val="37474F"/>
                </a:solidFill>
                <a:latin typeface="Calibri"/>
              </a:rPr>
              <a:t>Solution : </a:t>
            </a:r>
            <a:r>
              <a:rPr sz="1350">
                <a:solidFill>
                  <a:srgbClr val="37474F"/>
                </a:solidFill>
                <a:latin typeface="Calibri"/>
              </a:rPr>
              <a:t>chauffe-eau thermodynamique (COP ~3, conso /3)</a:t>
            </a:r>
          </a:p>
          <a:p>
            <a:pPr>
              <a:lnSpc>
                <a:spcPct val="105000"/>
              </a:lnSpc>
              <a:spcAft>
                <a:spcPts val="1100"/>
              </a:spcAft>
            </a:pPr>
            <a:r>
              <a:rPr sz="1350" b="1">
                <a:solidFill>
                  <a:srgbClr val="2E7D32"/>
                </a:solidFill>
                <a:latin typeface="Calibri"/>
              </a:rPr>
              <a:t>●  </a:t>
            </a:r>
            <a:r>
              <a:rPr sz="1350" b="1">
                <a:solidFill>
                  <a:srgbClr val="37474F"/>
                </a:solidFill>
                <a:latin typeface="Calibri"/>
              </a:rPr>
              <a:t>Ballon repositionne </a:t>
            </a:r>
            <a:r>
              <a:rPr sz="1350">
                <a:solidFill>
                  <a:srgbClr val="37474F"/>
                </a:solidFill>
                <a:latin typeface="Calibri"/>
              </a:rPr>
              <a:t>dans le volume chauffe</a:t>
            </a:r>
          </a:p>
          <a:p>
            <a:pPr>
              <a:lnSpc>
                <a:spcPct val="105000"/>
              </a:lnSpc>
              <a:spcAft>
                <a:spcPts val="1100"/>
              </a:spcAft>
            </a:pPr>
            <a:r>
              <a:rPr sz="1350" b="1">
                <a:solidFill>
                  <a:srgbClr val="2E7D32"/>
                </a:solidFill>
                <a:latin typeface="Calibri"/>
              </a:rPr>
              <a:t>●  </a:t>
            </a:r>
            <a:r>
              <a:rPr sz="1350" b="1">
                <a:solidFill>
                  <a:srgbClr val="37474F"/>
                </a:solidFill>
                <a:latin typeface="Calibri"/>
              </a:rPr>
              <a:t>Resultat : </a:t>
            </a:r>
            <a:r>
              <a:rPr sz="1350">
                <a:solidFill>
                  <a:srgbClr val="37474F"/>
                </a:solidFill>
                <a:latin typeface="Calibri"/>
              </a:rPr>
              <a:t>poste ECS fortement reduit dans les 2 scenarios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384048"/>
            <a:ext cx="658368" cy="65836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84048"/>
            <a:ext cx="658368" cy="658368"/>
          </a:xfrm>
          <a:prstGeom prst="rect">
            <a:avLst/>
          </a:prstGeom>
          <a:noFill/>
        </p:spPr>
        <p:txBody>
          <a:bodyPr wrap="square" anchor="ctr" lIns="25400" rIns="25400" tIns="25400" bIns="25400">
            <a:spAutoFit/>
          </a:bodyPr>
          <a:lstStyle/>
          <a:p>
            <a:pPr algn="ctr">
              <a:lnSpc>
                <a:spcPct val="100000"/>
              </a:lnSpc>
              <a:spcAft>
                <a:spcPts val="400"/>
              </a:spcAft>
            </a:pPr>
            <a:r>
              <a:rPr sz="2600" b="1" i="0">
                <a:solidFill>
                  <a:srgbClr val="FFFFFF"/>
                </a:solidFill>
                <a:latin typeface="Calibri"/>
              </a:rPr>
              <a:t>5</a:t>
            </a:r>
          </a:p>
        </p:txBody>
      </p:sp>
      <p:sp>
        <p:nvSpPr>
          <p:cNvPr id="6" name="TextBox 5"/>
          <p:cNvSpPr txBox="1"/>
          <p:nvPr/>
        </p:nvSpPr>
        <p:spPr>
          <a:xfrm>
            <a:off x="1325880" y="310896"/>
            <a:ext cx="10332720" cy="566928"/>
          </a:xfrm>
          <a:prstGeom prst="rect">
            <a:avLst/>
          </a:prstGeom>
          <a:noFill/>
        </p:spPr>
        <p:txBody>
          <a:bodyPr wrap="square" anchor="ctr" lIns="25400" rIns="25400" tIns="25400" bIns="25400">
            <a:spAutoFit/>
          </a:bodyPr>
          <a:lstStyle/>
          <a:p>
            <a:pPr algn="l">
              <a:lnSpc>
                <a:spcPct val="100000"/>
              </a:lnSpc>
              <a:spcAft>
                <a:spcPts val="400"/>
              </a:spcAft>
            </a:pPr>
            <a:r>
              <a:rPr sz="2800" b="1" i="0">
                <a:solidFill>
                  <a:srgbClr val="1B5E20"/>
                </a:solidFill>
                <a:latin typeface="Calibri"/>
              </a:rPr>
              <a:t>DPE des scenarios - le calcul</a:t>
            </a:r>
          </a:p>
        </p:txBody>
      </p:sp>
      <p:sp>
        <p:nvSpPr>
          <p:cNvPr id="7" name="TextBox 6"/>
          <p:cNvSpPr txBox="1"/>
          <p:nvPr/>
        </p:nvSpPr>
        <p:spPr>
          <a:xfrm>
            <a:off x="1325880" y="905256"/>
            <a:ext cx="10332720" cy="292608"/>
          </a:xfrm>
          <a:prstGeom prst="rect">
            <a:avLst/>
          </a:prstGeom>
          <a:noFill/>
        </p:spPr>
        <p:txBody>
          <a:bodyPr wrap="square" anchor="t" lIns="25400" rIns="25400" tIns="25400" bIns="25400">
            <a:spAutoFit/>
          </a:bodyPr>
          <a:lstStyle/>
          <a:p>
            <a:pPr algn="l">
              <a:lnSpc>
                <a:spcPct val="100000"/>
              </a:lnSpc>
              <a:spcAft>
                <a:spcPts val="400"/>
              </a:spcAft>
            </a:pPr>
            <a:r>
              <a:rPr sz="1350" b="0" i="1">
                <a:solidFill>
                  <a:srgbClr val="37474F"/>
                </a:solidFill>
                <a:latin typeface="Calibri"/>
              </a:rPr>
              <a:t>Methode 3CL : energie primaire + CO2</a:t>
            </a:r>
          </a:p>
        </p:txBody>
      </p:sp>
      <p:sp>
        <p:nvSpPr>
          <p:cNvPr id="8" name="Rectangle 7"/>
          <p:cNvSpPr/>
          <p:nvPr/>
        </p:nvSpPr>
        <p:spPr>
          <a:xfrm>
            <a:off x="1325880" y="1225296"/>
            <a:ext cx="10058400" cy="279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8229600" cy="292608"/>
          </a:xfrm>
          <a:prstGeom prst="rect">
            <a:avLst/>
          </a:prstGeom>
          <a:noFill/>
        </p:spPr>
        <p:txBody>
          <a:bodyPr wrap="square" anchor="t" lIns="25400" rIns="25400" tIns="25400" bIns="25400">
            <a:spAutoFit/>
          </a:bodyPr>
          <a:lstStyle/>
          <a:p>
            <a:pPr algn="l">
              <a:lnSpc>
                <a:spcPct val="100000"/>
              </a:lnSpc>
              <a:spcAft>
                <a:spcPts val="400"/>
              </a:spcAft>
            </a:pPr>
            <a:r>
              <a:rPr sz="900" b="0" i="0">
                <a:solidFill>
                  <a:srgbClr val="90A4AE"/>
                </a:solidFill>
                <a:latin typeface="Calibri"/>
              </a:rPr>
              <a:t>Renovation energetique - Saint-Jean-de-Chevelu (73) - Bloc 1</a:t>
            </a:r>
          </a:p>
        </p:txBody>
      </p:sp>
      <p:sp>
        <p:nvSpPr>
          <p:cNvPr id="10" name="TextBox 9"/>
          <p:cNvSpPr txBox="1"/>
          <p:nvPr/>
        </p:nvSpPr>
        <p:spPr>
          <a:xfrm>
            <a:off x="9418320" y="6473952"/>
            <a:ext cx="2286000" cy="292608"/>
          </a:xfrm>
          <a:prstGeom prst="rect">
            <a:avLst/>
          </a:prstGeom>
          <a:noFill/>
        </p:spPr>
        <p:txBody>
          <a:bodyPr wrap="square" anchor="t" lIns="25400" rIns="25400" tIns="25400" bIns="25400">
            <a:spAutoFit/>
          </a:bodyPr>
          <a:lstStyle/>
          <a:p>
            <a:pPr algn="r">
              <a:lnSpc>
                <a:spcPct val="100000"/>
              </a:lnSpc>
              <a:spcAft>
                <a:spcPts val="400"/>
              </a:spcAft>
            </a:pPr>
            <a:r>
              <a:rPr sz="900" b="0" i="0">
                <a:solidFill>
                  <a:srgbClr val="90A4AE"/>
                </a:solidFill>
                <a:latin typeface="Calibri"/>
              </a:rPr>
              <a:t>Guillaume Tardy</a:t>
            </a:r>
          </a:p>
        </p:txBody>
      </p:sp>
      <p:sp>
        <p:nvSpPr>
          <p:cNvPr id="11" name="Rounded Rectangle 10"/>
          <p:cNvSpPr/>
          <p:nvPr/>
        </p:nvSpPr>
        <p:spPr>
          <a:xfrm>
            <a:off x="822960" y="1554480"/>
            <a:ext cx="3200400" cy="42062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1645920"/>
            <a:ext cx="2926080" cy="365760"/>
          </a:xfrm>
          <a:prstGeom prst="rect">
            <a:avLst/>
          </a:prstGeom>
          <a:noFill/>
        </p:spPr>
        <p:txBody>
          <a:bodyPr wrap="square" anchor="t" lIns="25400" rIns="25400" tIns="25400" bIns="25400">
            <a:spAutoFit/>
          </a:bodyPr>
          <a:lstStyle/>
          <a:p>
            <a:pPr algn="l">
              <a:lnSpc>
                <a:spcPct val="100000"/>
              </a:lnSpc>
              <a:spcAft>
                <a:spcPts val="400"/>
              </a:spcAft>
            </a:pPr>
            <a:r>
              <a:rPr sz="1300" b="1" i="0">
                <a:solidFill>
                  <a:srgbClr val="1B5E20"/>
                </a:solidFill>
                <a:latin typeface="Calibri"/>
              </a:rPr>
              <a:t>Hypotheses</a:t>
            </a:r>
          </a:p>
        </p:txBody>
      </p:sp>
      <p:sp>
        <p:nvSpPr>
          <p:cNvPr id="13" name="TextBox 12"/>
          <p:cNvSpPr txBox="1"/>
          <p:nvPr/>
        </p:nvSpPr>
        <p:spPr>
          <a:xfrm>
            <a:off x="1005840" y="2057400"/>
            <a:ext cx="2926080" cy="3657600"/>
          </a:xfrm>
          <a:prstGeom prst="rect">
            <a:avLst/>
          </a:prstGeom>
          <a:noFill/>
        </p:spPr>
        <p:txBody>
          <a:bodyPr wrap="square" anchor="t" lIns="25400" rIns="25400" tIns="25400" bIns="25400">
            <a:spAutoFit/>
          </a:bodyPr>
          <a:lstStyle/>
          <a:p>
            <a:pPr algn="l">
              <a:lnSpc>
                <a:spcPct val="110000"/>
              </a:lnSpc>
              <a:spcAft>
                <a:spcPts val="400"/>
              </a:spcAft>
            </a:pPr>
            <a:r>
              <a:rPr sz="1050" b="0" i="0">
                <a:solidFill>
                  <a:srgbClr val="37474F"/>
                </a:solidFill>
                <a:latin typeface="Calibri"/>
              </a:rPr>
              <a:t>Besoin chauffage apres travaux : 7 020 kWh/an (-55 %)</a:t>
            </a:r>
          </a:p>
          <a:p>
            <a:pPr algn="l">
              <a:lnSpc>
                <a:spcPct val="110000"/>
              </a:lnSpc>
              <a:spcAft>
                <a:spcPts val="400"/>
              </a:spcAft>
            </a:pPr>
            <a:r>
              <a:rPr sz="400" b="0" i="0">
                <a:solidFill>
                  <a:srgbClr val="1B5E20"/>
                </a:solidFill>
                <a:latin typeface="Calibri"/>
              </a:rPr>
              <a:t/>
            </a:r>
          </a:p>
          <a:p>
            <a:pPr algn="l">
              <a:lnSpc>
                <a:spcPct val="110000"/>
              </a:lnSpc>
              <a:spcAft>
                <a:spcPts val="400"/>
              </a:spcAft>
            </a:pPr>
            <a:r>
              <a:rPr sz="1050" b="0" i="0">
                <a:solidFill>
                  <a:srgbClr val="37474F"/>
                </a:solidFill>
                <a:latin typeface="Calibri"/>
              </a:rPr>
              <a:t>Rendements : fioul 1991 ~72 %, granules ~90 %</a:t>
            </a:r>
          </a:p>
          <a:p>
            <a:pPr algn="l">
              <a:lnSpc>
                <a:spcPct val="110000"/>
              </a:lnSpc>
              <a:spcAft>
                <a:spcPts val="400"/>
              </a:spcAft>
            </a:pPr>
            <a:r>
              <a:rPr sz="400" b="0" i="0">
                <a:solidFill>
                  <a:srgbClr val="1B5E20"/>
                </a:solidFill>
                <a:latin typeface="Calibri"/>
              </a:rPr>
              <a:t/>
            </a:r>
          </a:p>
          <a:p>
            <a:pPr algn="l">
              <a:lnSpc>
                <a:spcPct val="110000"/>
              </a:lnSpc>
              <a:spcAft>
                <a:spcPts val="400"/>
              </a:spcAft>
            </a:pPr>
            <a:r>
              <a:rPr sz="1050" b="0" i="0">
                <a:solidFill>
                  <a:srgbClr val="37474F"/>
                </a:solidFill>
                <a:latin typeface="Calibri"/>
              </a:rPr>
              <a:t>ECS thermodynamique (COP 3), VMC + LED</a:t>
            </a:r>
          </a:p>
          <a:p>
            <a:pPr algn="l">
              <a:lnSpc>
                <a:spcPct val="110000"/>
              </a:lnSpc>
              <a:spcAft>
                <a:spcPts val="400"/>
              </a:spcAft>
            </a:pPr>
            <a:r>
              <a:rPr sz="400" b="0" i="0">
                <a:solidFill>
                  <a:srgbClr val="1B5E20"/>
                </a:solidFill>
                <a:latin typeface="Calibri"/>
              </a:rPr>
              <a:t/>
            </a:r>
          </a:p>
          <a:p>
            <a:pPr algn="l">
              <a:lnSpc>
                <a:spcPct val="110000"/>
              </a:lnSpc>
              <a:spcAft>
                <a:spcPts val="400"/>
              </a:spcAft>
            </a:pPr>
            <a:r>
              <a:rPr sz="1050" b="0" i="0">
                <a:solidFill>
                  <a:srgbClr val="37474F"/>
                </a:solidFill>
                <a:latin typeface="Calibri"/>
              </a:rPr>
              <a:t>Energie primaire : elec x2,3 ; fioul/granules x1</a:t>
            </a:r>
          </a:p>
          <a:p>
            <a:pPr algn="l">
              <a:lnSpc>
                <a:spcPct val="110000"/>
              </a:lnSpc>
              <a:spcAft>
                <a:spcPts val="400"/>
              </a:spcAft>
            </a:pPr>
            <a:r>
              <a:rPr sz="400" b="0" i="0">
                <a:solidFill>
                  <a:srgbClr val="1B5E20"/>
                </a:solidFill>
                <a:latin typeface="Calibri"/>
              </a:rPr>
              <a:t/>
            </a:r>
          </a:p>
          <a:p>
            <a:pPr algn="l">
              <a:lnSpc>
                <a:spcPct val="110000"/>
              </a:lnSpc>
              <a:spcAft>
                <a:spcPts val="400"/>
              </a:spcAft>
            </a:pPr>
            <a:r>
              <a:rPr sz="1050" b="0" i="0">
                <a:solidFill>
                  <a:srgbClr val="37474F"/>
                </a:solidFill>
                <a:latin typeface="Calibri"/>
              </a:rPr>
              <a:t>CO2 (kg/kWh) : fioul 0,324 ; granules 0,030 ; elec 0,064</a:t>
            </a:r>
          </a:p>
        </p:txBody>
      </p:sp>
      <p:sp>
        <p:nvSpPr>
          <p:cNvPr id="14" name="TextBox 13"/>
          <p:cNvSpPr txBox="1"/>
          <p:nvPr/>
        </p:nvSpPr>
        <p:spPr>
          <a:xfrm>
            <a:off x="4297680" y="1508760"/>
            <a:ext cx="7040880" cy="320040"/>
          </a:xfrm>
          <a:prstGeom prst="rect">
            <a:avLst/>
          </a:prstGeom>
          <a:noFill/>
        </p:spPr>
        <p:txBody>
          <a:bodyPr wrap="square" anchor="t" lIns="25400" rIns="25400" tIns="25400" bIns="25400">
            <a:spAutoFit/>
          </a:bodyPr>
          <a:lstStyle/>
          <a:p>
            <a:pPr algn="l">
              <a:lnSpc>
                <a:spcPct val="100000"/>
              </a:lnSpc>
              <a:spcAft>
                <a:spcPts val="400"/>
              </a:spcAft>
            </a:pPr>
            <a:r>
              <a:rPr sz="1250" b="1" i="0">
                <a:solidFill>
                  <a:srgbClr val="1B5E20"/>
                </a:solidFill>
                <a:latin typeface="Calibri"/>
              </a:rPr>
              <a:t>Energie primaire (kWhEP/m2.an)</a:t>
            </a:r>
          </a:p>
        </p:txBody>
      </p:sp>
      <p:graphicFrame>
        <p:nvGraphicFramePr>
          <p:cNvPr id="15" name="Table 14"/>
          <p:cNvGraphicFramePr>
            <a:graphicFrameLocks noGrp="1"/>
          </p:cNvGraphicFramePr>
          <p:nvPr/>
        </p:nvGraphicFramePr>
        <p:xfrm>
          <a:off x="4297680" y="1874519"/>
          <a:ext cx="7086600" cy="1975104"/>
        </p:xfrm>
        <a:graphic>
          <a:graphicData uri="http://schemas.openxmlformats.org/drawingml/2006/table">
            <a:tbl>
              <a:tblPr>
                <a:tableStyleId>{5C22544A-7EE6-4342-B048-85BDC9FD1C3A}</a:tableStyleId>
              </a:tblPr>
              <a:tblGrid>
                <a:gridCol w="2834640"/>
                <a:gridCol w="1417320"/>
                <a:gridCol w="1417320"/>
                <a:gridCol w="1417320"/>
              </a:tblGrid>
              <a:tr h="329184">
                <a:tc>
                  <a:txBody>
                    <a:bodyPr wrap="square"/>
                    <a:lstStyle/>
                    <a:p>
                      <a:pPr algn="l"/>
                      <a:r>
                        <a:rPr sz="1150" b="1">
                          <a:solidFill>
                            <a:srgbClr val="FFFFFF"/>
                          </a:solidFill>
                          <a:latin typeface="Calibri"/>
                        </a:rPr>
                        <a:t>Poste</a:t>
                      </a:r>
                    </a:p>
                  </a:txBody>
                  <a:tcPr marL="76200" marR="76200" marT="12700" marB="12700" anchor="ctr">
                    <a:solidFill>
                      <a:srgbClr val="1B5E20"/>
                    </a:solidFill>
                  </a:tcPr>
                </a:tc>
                <a:tc>
                  <a:txBody>
                    <a:bodyPr wrap="square"/>
                    <a:lstStyle/>
                    <a:p>
                      <a:pPr algn="ctr"/>
                      <a:r>
                        <a:rPr sz="1150" b="1">
                          <a:solidFill>
                            <a:srgbClr val="FFFFFF"/>
                          </a:solidFill>
                          <a:latin typeface="Calibri"/>
                        </a:rPr>
                        <a:t>Existant</a:t>
                      </a:r>
                    </a:p>
                  </a:txBody>
                  <a:tcPr marL="76200" marR="76200" marT="12700" marB="12700" anchor="ctr">
                    <a:solidFill>
                      <a:srgbClr val="1B5E20"/>
                    </a:solidFill>
                  </a:tcPr>
                </a:tc>
                <a:tc>
                  <a:txBody>
                    <a:bodyPr wrap="square"/>
                    <a:lstStyle/>
                    <a:p>
                      <a:pPr algn="ctr"/>
                      <a:r>
                        <a:rPr sz="1150" b="1">
                          <a:solidFill>
                            <a:srgbClr val="FFFFFF"/>
                          </a:solidFill>
                          <a:latin typeface="Calibri"/>
                        </a:rPr>
                        <a:t>Sc. 1</a:t>
                      </a:r>
                    </a:p>
                  </a:txBody>
                  <a:tcPr marL="76200" marR="76200" marT="12700" marB="12700" anchor="ctr">
                    <a:solidFill>
                      <a:srgbClr val="1B5E20"/>
                    </a:solidFill>
                  </a:tcPr>
                </a:tc>
                <a:tc>
                  <a:txBody>
                    <a:bodyPr wrap="square"/>
                    <a:lstStyle/>
                    <a:p>
                      <a:pPr algn="ctr"/>
                      <a:r>
                        <a:rPr sz="1150" b="1">
                          <a:solidFill>
                            <a:srgbClr val="FFFFFF"/>
                          </a:solidFill>
                          <a:latin typeface="Calibri"/>
                        </a:rPr>
                        <a:t>Sc. 2</a:t>
                      </a:r>
                    </a:p>
                  </a:txBody>
                  <a:tcPr marL="76200" marR="76200" marT="12700" marB="12700" anchor="ctr">
                    <a:solidFill>
                      <a:srgbClr val="1B5E20"/>
                    </a:solidFill>
                  </a:tcPr>
                </a:tc>
              </a:tr>
              <a:tr h="329184">
                <a:tc>
                  <a:txBody>
                    <a:bodyPr wrap="square"/>
                    <a:lstStyle/>
                    <a:p>
                      <a:pPr algn="l"/>
                      <a:r>
                        <a:rPr sz="1100" b="1">
                          <a:solidFill>
                            <a:srgbClr val="37474F"/>
                          </a:solidFill>
                          <a:latin typeface="Calibri"/>
                        </a:rPr>
                        <a:t>Chauffage</a:t>
                      </a:r>
                    </a:p>
                  </a:txBody>
                  <a:tcPr marL="76200" marR="76200" marT="12700" marB="12700" anchor="ctr">
                    <a:solidFill>
                      <a:srgbClr val="FFFFFF"/>
                    </a:solidFill>
                  </a:tcPr>
                </a:tc>
                <a:tc>
                  <a:txBody>
                    <a:bodyPr wrap="square"/>
                    <a:lstStyle/>
                    <a:p>
                      <a:pPr algn="ctr"/>
                      <a:r>
                        <a:rPr sz="1100" b="0">
                          <a:solidFill>
                            <a:srgbClr val="37474F"/>
                          </a:solidFill>
                          <a:latin typeface="Calibri"/>
                        </a:rPr>
                        <a:t>405</a:t>
                      </a:r>
                    </a:p>
                  </a:txBody>
                  <a:tcPr marL="76200" marR="76200" marT="12700" marB="12700" anchor="ctr">
                    <a:solidFill>
                      <a:srgbClr val="FFFFFF"/>
                    </a:solidFill>
                  </a:tcPr>
                </a:tc>
                <a:tc>
                  <a:txBody>
                    <a:bodyPr wrap="square"/>
                    <a:lstStyle/>
                    <a:p>
                      <a:pPr algn="ctr"/>
                      <a:r>
                        <a:rPr sz="1100" b="0">
                          <a:solidFill>
                            <a:srgbClr val="37474F"/>
                          </a:solidFill>
                          <a:latin typeface="Calibri"/>
                        </a:rPr>
                        <a:t>98</a:t>
                      </a:r>
                    </a:p>
                  </a:txBody>
                  <a:tcPr marL="76200" marR="76200" marT="12700" marB="12700" anchor="ctr">
                    <a:solidFill>
                      <a:srgbClr val="FFFFFF"/>
                    </a:solidFill>
                  </a:tcPr>
                </a:tc>
                <a:tc>
                  <a:txBody>
                    <a:bodyPr wrap="square"/>
                    <a:lstStyle/>
                    <a:p>
                      <a:pPr algn="ctr"/>
                      <a:r>
                        <a:rPr sz="1100" b="0">
                          <a:solidFill>
                            <a:srgbClr val="37474F"/>
                          </a:solidFill>
                          <a:latin typeface="Calibri"/>
                        </a:rPr>
                        <a:t>79</a:t>
                      </a:r>
                    </a:p>
                  </a:txBody>
                  <a:tcPr marL="76200" marR="76200" marT="12700" marB="12700" anchor="ctr">
                    <a:solidFill>
                      <a:srgbClr val="FFFFFF"/>
                    </a:solidFill>
                  </a:tcPr>
                </a:tc>
              </a:tr>
              <a:tr h="329184">
                <a:tc>
                  <a:txBody>
                    <a:bodyPr wrap="square"/>
                    <a:lstStyle/>
                    <a:p>
                      <a:pPr algn="l"/>
                      <a:r>
                        <a:rPr sz="1100" b="1">
                          <a:solidFill>
                            <a:srgbClr val="37474F"/>
                          </a:solidFill>
                          <a:latin typeface="Calibri"/>
                        </a:rPr>
                        <a:t>ECS</a:t>
                      </a:r>
                    </a:p>
                  </a:txBody>
                  <a:tcPr marL="76200" marR="76200" marT="12700" marB="12700" anchor="ctr">
                    <a:solidFill>
                      <a:srgbClr val="E8F5E9"/>
                    </a:solidFill>
                  </a:tcPr>
                </a:tc>
                <a:tc>
                  <a:txBody>
                    <a:bodyPr wrap="square"/>
                    <a:lstStyle/>
                    <a:p>
                      <a:pPr algn="ctr"/>
                      <a:r>
                        <a:rPr sz="1100" b="0">
                          <a:solidFill>
                            <a:srgbClr val="37474F"/>
                          </a:solidFill>
                          <a:latin typeface="Calibri"/>
                        </a:rPr>
                        <a:t>95</a:t>
                      </a:r>
                    </a:p>
                  </a:txBody>
                  <a:tcPr marL="76200" marR="76200" marT="12700" marB="12700" anchor="ctr">
                    <a:solidFill>
                      <a:srgbClr val="E8F5E9"/>
                    </a:solidFill>
                  </a:tcPr>
                </a:tc>
                <a:tc>
                  <a:txBody>
                    <a:bodyPr wrap="square"/>
                    <a:lstStyle/>
                    <a:p>
                      <a:pPr algn="ctr"/>
                      <a:r>
                        <a:rPr sz="1100" b="0">
                          <a:solidFill>
                            <a:srgbClr val="37474F"/>
                          </a:solidFill>
                          <a:latin typeface="Calibri"/>
                        </a:rPr>
                        <a:t>19</a:t>
                      </a:r>
                    </a:p>
                  </a:txBody>
                  <a:tcPr marL="76200" marR="76200" marT="12700" marB="12700" anchor="ctr">
                    <a:solidFill>
                      <a:srgbClr val="E8F5E9"/>
                    </a:solidFill>
                  </a:tcPr>
                </a:tc>
                <a:tc>
                  <a:txBody>
                    <a:bodyPr wrap="square"/>
                    <a:lstStyle/>
                    <a:p>
                      <a:pPr algn="ctr"/>
                      <a:r>
                        <a:rPr sz="1100" b="0">
                          <a:solidFill>
                            <a:srgbClr val="37474F"/>
                          </a:solidFill>
                          <a:latin typeface="Calibri"/>
                        </a:rPr>
                        <a:t>19</a:t>
                      </a:r>
                    </a:p>
                  </a:txBody>
                  <a:tcPr marL="76200" marR="76200" marT="12700" marB="12700" anchor="ctr">
                    <a:solidFill>
                      <a:srgbClr val="E8F5E9"/>
                    </a:solidFill>
                  </a:tcPr>
                </a:tc>
              </a:tr>
              <a:tr h="329184">
                <a:tc>
                  <a:txBody>
                    <a:bodyPr wrap="square"/>
                    <a:lstStyle/>
                    <a:p>
                      <a:pPr algn="l"/>
                      <a:r>
                        <a:rPr sz="1100" b="1">
                          <a:solidFill>
                            <a:srgbClr val="37474F"/>
                          </a:solidFill>
                          <a:latin typeface="Calibri"/>
                        </a:rPr>
                        <a:t>Auxiliaires + eclairage</a:t>
                      </a:r>
                    </a:p>
                  </a:txBody>
                  <a:tcPr marL="76200" marR="76200" marT="12700" marB="12700" anchor="ctr">
                    <a:solidFill>
                      <a:srgbClr val="FFFFFF"/>
                    </a:solidFill>
                  </a:tcPr>
                </a:tc>
                <a:tc>
                  <a:txBody>
                    <a:bodyPr wrap="square"/>
                    <a:lstStyle/>
                    <a:p>
                      <a:pPr algn="ctr"/>
                      <a:r>
                        <a:rPr sz="1100" b="0">
                          <a:solidFill>
                            <a:srgbClr val="37474F"/>
                          </a:solidFill>
                          <a:latin typeface="Calibri"/>
                        </a:rPr>
                        <a:t>35</a:t>
                      </a:r>
                    </a:p>
                  </a:txBody>
                  <a:tcPr marL="76200" marR="76200" marT="12700" marB="12700" anchor="ctr">
                    <a:solidFill>
                      <a:srgbClr val="FFFFFF"/>
                    </a:solidFill>
                  </a:tcPr>
                </a:tc>
                <a:tc>
                  <a:txBody>
                    <a:bodyPr wrap="square"/>
                    <a:lstStyle/>
                    <a:p>
                      <a:pPr algn="ctr"/>
                      <a:r>
                        <a:rPr sz="1100" b="0">
                          <a:solidFill>
                            <a:srgbClr val="37474F"/>
                          </a:solidFill>
                          <a:latin typeface="Calibri"/>
                        </a:rPr>
                        <a:t>11</a:t>
                      </a:r>
                    </a:p>
                  </a:txBody>
                  <a:tcPr marL="76200" marR="76200" marT="12700" marB="12700" anchor="ctr">
                    <a:solidFill>
                      <a:srgbClr val="FFFFFF"/>
                    </a:solidFill>
                  </a:tcPr>
                </a:tc>
                <a:tc>
                  <a:txBody>
                    <a:bodyPr wrap="square"/>
                    <a:lstStyle/>
                    <a:p>
                      <a:pPr algn="ctr"/>
                      <a:r>
                        <a:rPr sz="1100" b="0">
                          <a:solidFill>
                            <a:srgbClr val="37474F"/>
                          </a:solidFill>
                          <a:latin typeface="Calibri"/>
                        </a:rPr>
                        <a:t>11</a:t>
                      </a:r>
                    </a:p>
                  </a:txBody>
                  <a:tcPr marL="76200" marR="76200" marT="12700" marB="12700" anchor="ctr">
                    <a:solidFill>
                      <a:srgbClr val="FFFFFF"/>
                    </a:solidFill>
                  </a:tcPr>
                </a:tc>
              </a:tr>
              <a:tr h="329184">
                <a:tc>
                  <a:txBody>
                    <a:bodyPr wrap="square"/>
                    <a:lstStyle/>
                    <a:p>
                      <a:pPr algn="l"/>
                      <a:r>
                        <a:rPr sz="1100" b="1">
                          <a:solidFill>
                            <a:srgbClr val="37474F"/>
                          </a:solidFill>
                          <a:latin typeface="Calibri"/>
                        </a:rPr>
                        <a:t>Total</a:t>
                      </a:r>
                    </a:p>
                  </a:txBody>
                  <a:tcPr marL="76200" marR="76200" marT="12700" marB="12700" anchor="ctr">
                    <a:solidFill>
                      <a:srgbClr val="D7E9D0"/>
                    </a:solidFill>
                  </a:tcPr>
                </a:tc>
                <a:tc>
                  <a:txBody>
                    <a:bodyPr wrap="square"/>
                    <a:lstStyle/>
                    <a:p>
                      <a:pPr algn="ctr"/>
                      <a:r>
                        <a:rPr sz="1100" b="1">
                          <a:solidFill>
                            <a:srgbClr val="37474F"/>
                          </a:solidFill>
                          <a:latin typeface="Calibri"/>
                        </a:rPr>
                        <a:t>535</a:t>
                      </a:r>
                    </a:p>
                  </a:txBody>
                  <a:tcPr marL="76200" marR="76200" marT="12700" marB="12700" anchor="ctr">
                    <a:solidFill>
                      <a:srgbClr val="D7E9D0"/>
                    </a:solidFill>
                  </a:tcPr>
                </a:tc>
                <a:tc>
                  <a:txBody>
                    <a:bodyPr wrap="square"/>
                    <a:lstStyle/>
                    <a:p>
                      <a:pPr algn="ctr"/>
                      <a:r>
                        <a:rPr sz="1100" b="1">
                          <a:solidFill>
                            <a:srgbClr val="37474F"/>
                          </a:solidFill>
                          <a:latin typeface="Calibri"/>
                        </a:rPr>
                        <a:t>128</a:t>
                      </a:r>
                    </a:p>
                  </a:txBody>
                  <a:tcPr marL="76200" marR="76200" marT="12700" marB="12700" anchor="ctr">
                    <a:solidFill>
                      <a:srgbClr val="D7E9D0"/>
                    </a:solidFill>
                  </a:tcPr>
                </a:tc>
                <a:tc>
                  <a:txBody>
                    <a:bodyPr wrap="square"/>
                    <a:lstStyle/>
                    <a:p>
                      <a:pPr algn="ctr"/>
                      <a:r>
                        <a:rPr sz="1100" b="1">
                          <a:solidFill>
                            <a:srgbClr val="37474F"/>
                          </a:solidFill>
                          <a:latin typeface="Calibri"/>
                        </a:rPr>
                        <a:t>109</a:t>
                      </a:r>
                    </a:p>
                  </a:txBody>
                  <a:tcPr marL="76200" marR="76200" marT="12700" marB="12700" anchor="ctr">
                    <a:solidFill>
                      <a:srgbClr val="D7E9D0"/>
                    </a:solidFill>
                  </a:tcPr>
                </a:tc>
              </a:tr>
              <a:tr h="329184">
                <a:tc>
                  <a:txBody>
                    <a:bodyPr wrap="square"/>
                    <a:lstStyle/>
                    <a:p>
                      <a:pPr algn="l"/>
                      <a:r>
                        <a:rPr sz="1100" b="1">
                          <a:solidFill>
                            <a:srgbClr val="37474F"/>
                          </a:solidFill>
                          <a:latin typeface="Calibri"/>
                        </a:rPr>
                        <a:t>Classe energie</a:t>
                      </a:r>
                    </a:p>
                  </a:txBody>
                  <a:tcPr marL="76200" marR="76200" marT="12700" marB="12700" anchor="ctr">
                    <a:solidFill>
                      <a:srgbClr val="D7E9D0"/>
                    </a:solidFill>
                  </a:tcPr>
                </a:tc>
                <a:tc>
                  <a:txBody>
                    <a:bodyPr wrap="square"/>
                    <a:lstStyle/>
                    <a:p>
                      <a:pPr algn="ctr"/>
                      <a:r>
                        <a:rPr sz="1100" b="1">
                          <a:solidFill>
                            <a:srgbClr val="37474F"/>
                          </a:solidFill>
                          <a:latin typeface="Calibri"/>
                        </a:rPr>
                        <a:t>G</a:t>
                      </a:r>
                    </a:p>
                  </a:txBody>
                  <a:tcPr marL="76200" marR="76200" marT="12700" marB="12700" anchor="ctr">
                    <a:solidFill>
                      <a:srgbClr val="D7E9D0"/>
                    </a:solidFill>
                  </a:tcPr>
                </a:tc>
                <a:tc>
                  <a:txBody>
                    <a:bodyPr wrap="square"/>
                    <a:lstStyle/>
                    <a:p>
                      <a:pPr algn="ctr"/>
                      <a:r>
                        <a:rPr sz="1100" b="1">
                          <a:solidFill>
                            <a:srgbClr val="37474F"/>
                          </a:solidFill>
                          <a:latin typeface="Calibri"/>
                        </a:rPr>
                        <a:t>C</a:t>
                      </a:r>
                    </a:p>
                  </a:txBody>
                  <a:tcPr marL="76200" marR="76200" marT="12700" marB="12700" anchor="ctr">
                    <a:solidFill>
                      <a:srgbClr val="D7E9D0"/>
                    </a:solidFill>
                  </a:tcPr>
                </a:tc>
                <a:tc>
                  <a:txBody>
                    <a:bodyPr wrap="square"/>
                    <a:lstStyle/>
                    <a:p>
                      <a:pPr algn="ctr"/>
                      <a:r>
                        <a:rPr sz="1100" b="1">
                          <a:solidFill>
                            <a:srgbClr val="37474F"/>
                          </a:solidFill>
                          <a:latin typeface="Calibri"/>
                        </a:rPr>
                        <a:t>B</a:t>
                      </a:r>
                    </a:p>
                  </a:txBody>
                  <a:tcPr marL="76200" marR="76200" marT="12700" marB="12700" anchor="ctr">
                    <a:solidFill>
                      <a:srgbClr val="D7E9D0"/>
                    </a:solidFill>
                  </a:tcPr>
                </a:tc>
              </a:tr>
            </a:tbl>
          </a:graphicData>
        </a:graphic>
      </p:graphicFrame>
      <p:sp>
        <p:nvSpPr>
          <p:cNvPr id="16" name="TextBox 15"/>
          <p:cNvSpPr txBox="1"/>
          <p:nvPr/>
        </p:nvSpPr>
        <p:spPr>
          <a:xfrm>
            <a:off x="4297680" y="4069080"/>
            <a:ext cx="7040880" cy="320040"/>
          </a:xfrm>
          <a:prstGeom prst="rect">
            <a:avLst/>
          </a:prstGeom>
          <a:noFill/>
        </p:spPr>
        <p:txBody>
          <a:bodyPr wrap="square" anchor="t" lIns="25400" rIns="25400" tIns="25400" bIns="25400">
            <a:spAutoFit/>
          </a:bodyPr>
          <a:lstStyle/>
          <a:p>
            <a:pPr algn="l">
              <a:lnSpc>
                <a:spcPct val="100000"/>
              </a:lnSpc>
              <a:spcAft>
                <a:spcPts val="400"/>
              </a:spcAft>
            </a:pPr>
            <a:r>
              <a:rPr sz="1250" b="1" i="0">
                <a:solidFill>
                  <a:srgbClr val="1B5E20"/>
                </a:solidFill>
                <a:latin typeface="Calibri"/>
              </a:rPr>
              <a:t>Emissions de CO2 (kgCO2/m2.an)</a:t>
            </a:r>
          </a:p>
        </p:txBody>
      </p:sp>
      <p:graphicFrame>
        <p:nvGraphicFramePr>
          <p:cNvPr id="17" name="Table 16"/>
          <p:cNvGraphicFramePr>
            <a:graphicFrameLocks noGrp="1"/>
          </p:cNvGraphicFramePr>
          <p:nvPr/>
        </p:nvGraphicFramePr>
        <p:xfrm>
          <a:off x="4297680" y="4434840"/>
          <a:ext cx="7086600" cy="1645920"/>
        </p:xfrm>
        <a:graphic>
          <a:graphicData uri="http://schemas.openxmlformats.org/drawingml/2006/table">
            <a:tbl>
              <a:tblPr>
                <a:tableStyleId>{5C22544A-7EE6-4342-B048-85BDC9FD1C3A}</a:tableStyleId>
              </a:tblPr>
              <a:tblGrid>
                <a:gridCol w="2834640"/>
                <a:gridCol w="1417320"/>
                <a:gridCol w="1417320"/>
                <a:gridCol w="1417320"/>
              </a:tblGrid>
              <a:tr h="329184">
                <a:tc>
                  <a:txBody>
                    <a:bodyPr wrap="square"/>
                    <a:lstStyle/>
                    <a:p>
                      <a:pPr algn="l"/>
                      <a:r>
                        <a:rPr sz="1150" b="1">
                          <a:solidFill>
                            <a:srgbClr val="FFFFFF"/>
                          </a:solidFill>
                          <a:latin typeface="Calibri"/>
                        </a:rPr>
                        <a:t>Poste</a:t>
                      </a:r>
                    </a:p>
                  </a:txBody>
                  <a:tcPr marL="76200" marR="76200" marT="12700" marB="12700" anchor="ctr">
                    <a:solidFill>
                      <a:srgbClr val="1B5E20"/>
                    </a:solidFill>
                  </a:tcPr>
                </a:tc>
                <a:tc>
                  <a:txBody>
                    <a:bodyPr wrap="square"/>
                    <a:lstStyle/>
                    <a:p>
                      <a:pPr algn="ctr"/>
                      <a:r>
                        <a:rPr sz="1150" b="1">
                          <a:solidFill>
                            <a:srgbClr val="FFFFFF"/>
                          </a:solidFill>
                          <a:latin typeface="Calibri"/>
                        </a:rPr>
                        <a:t>Existant</a:t>
                      </a:r>
                    </a:p>
                  </a:txBody>
                  <a:tcPr marL="76200" marR="76200" marT="12700" marB="12700" anchor="ctr">
                    <a:solidFill>
                      <a:srgbClr val="1B5E20"/>
                    </a:solidFill>
                  </a:tcPr>
                </a:tc>
                <a:tc>
                  <a:txBody>
                    <a:bodyPr wrap="square"/>
                    <a:lstStyle/>
                    <a:p>
                      <a:pPr algn="ctr"/>
                      <a:r>
                        <a:rPr sz="1150" b="1">
                          <a:solidFill>
                            <a:srgbClr val="FFFFFF"/>
                          </a:solidFill>
                          <a:latin typeface="Calibri"/>
                        </a:rPr>
                        <a:t>Sc. 1</a:t>
                      </a:r>
                    </a:p>
                  </a:txBody>
                  <a:tcPr marL="76200" marR="76200" marT="12700" marB="12700" anchor="ctr">
                    <a:solidFill>
                      <a:srgbClr val="1B5E20"/>
                    </a:solidFill>
                  </a:tcPr>
                </a:tc>
                <a:tc>
                  <a:txBody>
                    <a:bodyPr wrap="square"/>
                    <a:lstStyle/>
                    <a:p>
                      <a:pPr algn="ctr"/>
                      <a:r>
                        <a:rPr sz="1150" b="1">
                          <a:solidFill>
                            <a:srgbClr val="FFFFFF"/>
                          </a:solidFill>
                          <a:latin typeface="Calibri"/>
                        </a:rPr>
                        <a:t>Sc. 2</a:t>
                      </a:r>
                    </a:p>
                  </a:txBody>
                  <a:tcPr marL="76200" marR="76200" marT="12700" marB="12700" anchor="ctr">
                    <a:solidFill>
                      <a:srgbClr val="1B5E20"/>
                    </a:solidFill>
                  </a:tcPr>
                </a:tc>
              </a:tr>
              <a:tr h="329184">
                <a:tc>
                  <a:txBody>
                    <a:bodyPr wrap="square"/>
                    <a:lstStyle/>
                    <a:p>
                      <a:pPr algn="l"/>
                      <a:r>
                        <a:rPr sz="1100" b="1">
                          <a:solidFill>
                            <a:srgbClr val="37474F"/>
                          </a:solidFill>
                          <a:latin typeface="Calibri"/>
                        </a:rPr>
                        <a:t>Chauffage</a:t>
                      </a:r>
                    </a:p>
                  </a:txBody>
                  <a:tcPr marL="76200" marR="76200" marT="12700" marB="12700" anchor="ctr">
                    <a:solidFill>
                      <a:srgbClr val="FFFFFF"/>
                    </a:solidFill>
                  </a:tcPr>
                </a:tc>
                <a:tc>
                  <a:txBody>
                    <a:bodyPr wrap="square"/>
                    <a:lstStyle/>
                    <a:p>
                      <a:pPr algn="ctr"/>
                      <a:r>
                        <a:rPr sz="1100" b="0">
                          <a:solidFill>
                            <a:srgbClr val="37474F"/>
                          </a:solidFill>
                          <a:latin typeface="Calibri"/>
                        </a:rPr>
                        <a:t>150</a:t>
                      </a:r>
                    </a:p>
                  </a:txBody>
                  <a:tcPr marL="76200" marR="76200" marT="12700" marB="12700" anchor="ctr">
                    <a:solidFill>
                      <a:srgbClr val="FFFFFF"/>
                    </a:solidFill>
                  </a:tcPr>
                </a:tc>
                <a:tc>
                  <a:txBody>
                    <a:bodyPr wrap="square"/>
                    <a:lstStyle/>
                    <a:p>
                      <a:pPr algn="ctr"/>
                      <a:r>
                        <a:rPr sz="1100" b="0">
                          <a:solidFill>
                            <a:srgbClr val="37474F"/>
                          </a:solidFill>
                          <a:latin typeface="Calibri"/>
                        </a:rPr>
                        <a:t>32</a:t>
                      </a:r>
                    </a:p>
                  </a:txBody>
                  <a:tcPr marL="76200" marR="76200" marT="12700" marB="12700" anchor="ctr">
                    <a:solidFill>
                      <a:srgbClr val="FFFFFF"/>
                    </a:solidFill>
                  </a:tcPr>
                </a:tc>
                <a:tc>
                  <a:txBody>
                    <a:bodyPr wrap="square"/>
                    <a:lstStyle/>
                    <a:p>
                      <a:pPr algn="ctr"/>
                      <a:r>
                        <a:rPr sz="1100" b="0">
                          <a:solidFill>
                            <a:srgbClr val="37474F"/>
                          </a:solidFill>
                          <a:latin typeface="Calibri"/>
                        </a:rPr>
                        <a:t>2</a:t>
                      </a:r>
                    </a:p>
                  </a:txBody>
                  <a:tcPr marL="76200" marR="76200" marT="12700" marB="12700" anchor="ctr">
                    <a:solidFill>
                      <a:srgbClr val="FFFFFF"/>
                    </a:solidFill>
                  </a:tcPr>
                </a:tc>
              </a:tr>
              <a:tr h="329184">
                <a:tc>
                  <a:txBody>
                    <a:bodyPr wrap="square"/>
                    <a:lstStyle/>
                    <a:p>
                      <a:pPr algn="l"/>
                      <a:r>
                        <a:rPr sz="1100" b="1">
                          <a:solidFill>
                            <a:srgbClr val="37474F"/>
                          </a:solidFill>
                          <a:latin typeface="Calibri"/>
                        </a:rPr>
                        <a:t>ECS + auxiliaires</a:t>
                      </a:r>
                    </a:p>
                  </a:txBody>
                  <a:tcPr marL="76200" marR="76200" marT="12700" marB="12700" anchor="ctr">
                    <a:solidFill>
                      <a:srgbClr val="E8F5E9"/>
                    </a:solidFill>
                  </a:tcPr>
                </a:tc>
                <a:tc>
                  <a:txBody>
                    <a:bodyPr wrap="square"/>
                    <a:lstStyle/>
                    <a:p>
                      <a:pPr algn="ctr"/>
                      <a:r>
                        <a:rPr sz="1100" b="0">
                          <a:solidFill>
                            <a:srgbClr val="37474F"/>
                          </a:solidFill>
                          <a:latin typeface="Calibri"/>
                        </a:rPr>
                        <a:t>6</a:t>
                      </a:r>
                    </a:p>
                  </a:txBody>
                  <a:tcPr marL="76200" marR="76200" marT="12700" marB="12700" anchor="ctr">
                    <a:solidFill>
                      <a:srgbClr val="E8F5E9"/>
                    </a:solidFill>
                  </a:tcPr>
                </a:tc>
                <a:tc>
                  <a:txBody>
                    <a:bodyPr wrap="square"/>
                    <a:lstStyle/>
                    <a:p>
                      <a:pPr algn="ctr"/>
                      <a:r>
                        <a:rPr sz="1100" b="0">
                          <a:solidFill>
                            <a:srgbClr val="37474F"/>
                          </a:solidFill>
                          <a:latin typeface="Calibri"/>
                        </a:rPr>
                        <a:t>1</a:t>
                      </a:r>
                    </a:p>
                  </a:txBody>
                  <a:tcPr marL="76200" marR="76200" marT="12700" marB="12700" anchor="ctr">
                    <a:solidFill>
                      <a:srgbClr val="E8F5E9"/>
                    </a:solidFill>
                  </a:tcPr>
                </a:tc>
                <a:tc>
                  <a:txBody>
                    <a:bodyPr wrap="square"/>
                    <a:lstStyle/>
                    <a:p>
                      <a:pPr algn="ctr"/>
                      <a:r>
                        <a:rPr sz="1100" b="0">
                          <a:solidFill>
                            <a:srgbClr val="37474F"/>
                          </a:solidFill>
                          <a:latin typeface="Calibri"/>
                        </a:rPr>
                        <a:t>1</a:t>
                      </a:r>
                    </a:p>
                  </a:txBody>
                  <a:tcPr marL="76200" marR="76200" marT="12700" marB="12700" anchor="ctr">
                    <a:solidFill>
                      <a:srgbClr val="E8F5E9"/>
                    </a:solidFill>
                  </a:tcPr>
                </a:tc>
              </a:tr>
              <a:tr h="329184">
                <a:tc>
                  <a:txBody>
                    <a:bodyPr wrap="square"/>
                    <a:lstStyle/>
                    <a:p>
                      <a:pPr algn="l"/>
                      <a:r>
                        <a:rPr sz="1100" b="1">
                          <a:solidFill>
                            <a:srgbClr val="37474F"/>
                          </a:solidFill>
                          <a:latin typeface="Calibri"/>
                        </a:rPr>
                        <a:t>Total</a:t>
                      </a:r>
                    </a:p>
                  </a:txBody>
                  <a:tcPr marL="76200" marR="76200" marT="12700" marB="12700" anchor="ctr">
                    <a:solidFill>
                      <a:srgbClr val="D7E9D0"/>
                    </a:solidFill>
                  </a:tcPr>
                </a:tc>
                <a:tc>
                  <a:txBody>
                    <a:bodyPr wrap="square"/>
                    <a:lstStyle/>
                    <a:p>
                      <a:pPr algn="ctr"/>
                      <a:r>
                        <a:rPr sz="1100" b="1">
                          <a:solidFill>
                            <a:srgbClr val="37474F"/>
                          </a:solidFill>
                          <a:latin typeface="Calibri"/>
                        </a:rPr>
                        <a:t>156</a:t>
                      </a:r>
                    </a:p>
                  </a:txBody>
                  <a:tcPr marL="76200" marR="76200" marT="12700" marB="12700" anchor="ctr">
                    <a:solidFill>
                      <a:srgbClr val="D7E9D0"/>
                    </a:solidFill>
                  </a:tcPr>
                </a:tc>
                <a:tc>
                  <a:txBody>
                    <a:bodyPr wrap="square"/>
                    <a:lstStyle/>
                    <a:p>
                      <a:pPr algn="ctr"/>
                      <a:r>
                        <a:rPr sz="1100" b="1">
                          <a:solidFill>
                            <a:srgbClr val="37474F"/>
                          </a:solidFill>
                          <a:latin typeface="Calibri"/>
                        </a:rPr>
                        <a:t>33</a:t>
                      </a:r>
                    </a:p>
                  </a:txBody>
                  <a:tcPr marL="76200" marR="76200" marT="12700" marB="12700" anchor="ctr">
                    <a:solidFill>
                      <a:srgbClr val="D7E9D0"/>
                    </a:solidFill>
                  </a:tcPr>
                </a:tc>
                <a:tc>
                  <a:txBody>
                    <a:bodyPr wrap="square"/>
                    <a:lstStyle/>
                    <a:p>
                      <a:pPr algn="ctr"/>
                      <a:r>
                        <a:rPr sz="1100" b="1">
                          <a:solidFill>
                            <a:srgbClr val="37474F"/>
                          </a:solidFill>
                          <a:latin typeface="Calibri"/>
                        </a:rPr>
                        <a:t>3</a:t>
                      </a:r>
                    </a:p>
                  </a:txBody>
                  <a:tcPr marL="76200" marR="76200" marT="12700" marB="12700" anchor="ctr">
                    <a:solidFill>
                      <a:srgbClr val="D7E9D0"/>
                    </a:solidFill>
                  </a:tcPr>
                </a:tc>
              </a:tr>
              <a:tr h="329184">
                <a:tc>
                  <a:txBody>
                    <a:bodyPr wrap="square"/>
                    <a:lstStyle/>
                    <a:p>
                      <a:pPr algn="l"/>
                      <a:r>
                        <a:rPr sz="1100" b="1">
                          <a:solidFill>
                            <a:srgbClr val="37474F"/>
                          </a:solidFill>
                          <a:latin typeface="Calibri"/>
                        </a:rPr>
                        <a:t>Classe climat</a:t>
                      </a:r>
                    </a:p>
                  </a:txBody>
                  <a:tcPr marL="76200" marR="76200" marT="12700" marB="12700" anchor="ctr">
                    <a:solidFill>
                      <a:srgbClr val="D7E9D0"/>
                    </a:solidFill>
                  </a:tcPr>
                </a:tc>
                <a:tc>
                  <a:txBody>
                    <a:bodyPr wrap="square"/>
                    <a:lstStyle/>
                    <a:p>
                      <a:pPr algn="ctr"/>
                      <a:r>
                        <a:rPr sz="1100" b="1">
                          <a:solidFill>
                            <a:srgbClr val="37474F"/>
                          </a:solidFill>
                          <a:latin typeface="Calibri"/>
                        </a:rPr>
                        <a:t>G</a:t>
                      </a:r>
                    </a:p>
                  </a:txBody>
                  <a:tcPr marL="76200" marR="76200" marT="12700" marB="12700" anchor="ctr">
                    <a:solidFill>
                      <a:srgbClr val="D7E9D0"/>
                    </a:solidFill>
                  </a:tcPr>
                </a:tc>
                <a:tc>
                  <a:txBody>
                    <a:bodyPr wrap="square"/>
                    <a:lstStyle/>
                    <a:p>
                      <a:pPr algn="ctr"/>
                      <a:r>
                        <a:rPr sz="1100" b="1">
                          <a:solidFill>
                            <a:srgbClr val="37474F"/>
                          </a:solidFill>
                          <a:latin typeface="Calibri"/>
                        </a:rPr>
                        <a:t>D</a:t>
                      </a:r>
                    </a:p>
                  </a:txBody>
                  <a:tcPr marL="76200" marR="76200" marT="12700" marB="12700" anchor="ctr">
                    <a:solidFill>
                      <a:srgbClr val="D7E9D0"/>
                    </a:solidFill>
                  </a:tcPr>
                </a:tc>
                <a:tc>
                  <a:txBody>
                    <a:bodyPr wrap="square"/>
                    <a:lstStyle/>
                    <a:p>
                      <a:pPr algn="ctr"/>
                      <a:r>
                        <a:rPr sz="1100" b="1">
                          <a:solidFill>
                            <a:srgbClr val="37474F"/>
                          </a:solidFill>
                          <a:latin typeface="Calibri"/>
                        </a:rPr>
                        <a:t>A</a:t>
                      </a:r>
                    </a:p>
                  </a:txBody>
                  <a:tcPr marL="76200" marR="76200" marT="12700" marB="12700" anchor="ctr">
                    <a:solidFill>
                      <a:srgbClr val="D7E9D0"/>
                    </a:solidFill>
                  </a:tcPr>
                </a:tc>
              </a:tr>
            </a:tbl>
          </a:graphicData>
        </a:graphic>
      </p:graphicFrame>
      <p:sp>
        <p:nvSpPr>
          <p:cNvPr id="18" name="Rounded Rectangle 17"/>
          <p:cNvSpPr/>
          <p:nvPr/>
        </p:nvSpPr>
        <p:spPr>
          <a:xfrm>
            <a:off x="822960" y="5943600"/>
            <a:ext cx="10515600" cy="502920"/>
          </a:xfrm>
          <a:prstGeom prst="roundRect">
            <a:avLst/>
          </a:prstGeom>
          <a:solidFill>
            <a:srgbClr val="263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943600"/>
            <a:ext cx="10058400" cy="502920"/>
          </a:xfrm>
          <a:prstGeom prst="rect">
            <a:avLst/>
          </a:prstGeom>
          <a:noFill/>
        </p:spPr>
        <p:txBody>
          <a:bodyPr wrap="square" anchor="ctr" lIns="25400" rIns="25400" tIns="25400" bIns="25400">
            <a:spAutoFit/>
          </a:bodyPr>
          <a:lstStyle/>
          <a:p>
            <a:pPr algn="l">
              <a:lnSpc>
                <a:spcPct val="100000"/>
              </a:lnSpc>
              <a:spcAft>
                <a:spcPts val="400"/>
              </a:spcAft>
            </a:pPr>
            <a:r>
              <a:rPr sz="1400" b="1" i="0">
                <a:solidFill>
                  <a:srgbClr val="FFFFFF"/>
                </a:solidFill>
                <a:latin typeface="Calibri"/>
              </a:rPr>
              <a:t>Classe DPE (la moins bonne des 2 axes) :   Existant G   -&gt;   Scenario 1 D   -&gt;   Scenario 2 B</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384048"/>
            <a:ext cx="658368" cy="65836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84048"/>
            <a:ext cx="658368" cy="658368"/>
          </a:xfrm>
          <a:prstGeom prst="rect">
            <a:avLst/>
          </a:prstGeom>
          <a:noFill/>
        </p:spPr>
        <p:txBody>
          <a:bodyPr wrap="square" anchor="ctr" lIns="25400" rIns="25400" tIns="25400" bIns="25400">
            <a:spAutoFit/>
          </a:bodyPr>
          <a:lstStyle/>
          <a:p>
            <a:pPr algn="ctr">
              <a:lnSpc>
                <a:spcPct val="100000"/>
              </a:lnSpc>
              <a:spcAft>
                <a:spcPts val="400"/>
              </a:spcAft>
            </a:pPr>
            <a:r>
              <a:rPr sz="2600" b="1" i="0">
                <a:solidFill>
                  <a:srgbClr val="FFFFFF"/>
                </a:solidFill>
                <a:latin typeface="Calibri"/>
              </a:rPr>
              <a:t>5</a:t>
            </a:r>
          </a:p>
        </p:txBody>
      </p:sp>
      <p:sp>
        <p:nvSpPr>
          <p:cNvPr id="6" name="TextBox 5"/>
          <p:cNvSpPr txBox="1"/>
          <p:nvPr/>
        </p:nvSpPr>
        <p:spPr>
          <a:xfrm>
            <a:off x="1325880" y="310896"/>
            <a:ext cx="10332720" cy="566928"/>
          </a:xfrm>
          <a:prstGeom prst="rect">
            <a:avLst/>
          </a:prstGeom>
          <a:noFill/>
        </p:spPr>
        <p:txBody>
          <a:bodyPr wrap="square" anchor="ctr" lIns="25400" rIns="25400" tIns="25400" bIns="25400">
            <a:spAutoFit/>
          </a:bodyPr>
          <a:lstStyle/>
          <a:p>
            <a:pPr algn="l">
              <a:lnSpc>
                <a:spcPct val="100000"/>
              </a:lnSpc>
              <a:spcAft>
                <a:spcPts val="400"/>
              </a:spcAft>
            </a:pPr>
            <a:r>
              <a:rPr sz="2800" b="1" i="0">
                <a:solidFill>
                  <a:srgbClr val="1B5E20"/>
                </a:solidFill>
                <a:latin typeface="Calibri"/>
              </a:rPr>
              <a:t>Dimensionnement &amp; materiaux</a:t>
            </a:r>
          </a:p>
        </p:txBody>
      </p:sp>
      <p:sp>
        <p:nvSpPr>
          <p:cNvPr id="7" name="TextBox 6"/>
          <p:cNvSpPr txBox="1"/>
          <p:nvPr/>
        </p:nvSpPr>
        <p:spPr>
          <a:xfrm>
            <a:off x="1325880" y="905256"/>
            <a:ext cx="10332720" cy="292608"/>
          </a:xfrm>
          <a:prstGeom prst="rect">
            <a:avLst/>
          </a:prstGeom>
          <a:noFill/>
        </p:spPr>
        <p:txBody>
          <a:bodyPr wrap="square" anchor="t" lIns="25400" rIns="25400" tIns="25400" bIns="25400">
            <a:spAutoFit/>
          </a:bodyPr>
          <a:lstStyle/>
          <a:p>
            <a:pPr algn="l">
              <a:lnSpc>
                <a:spcPct val="100000"/>
              </a:lnSpc>
              <a:spcAft>
                <a:spcPts val="400"/>
              </a:spcAft>
            </a:pPr>
            <a:r>
              <a:rPr sz="1350" b="0" i="1">
                <a:solidFill>
                  <a:srgbClr val="37474F"/>
                </a:solidFill>
                <a:latin typeface="Calibri"/>
              </a:rPr>
              <a:t>Calculs et choix techniques</a:t>
            </a:r>
          </a:p>
        </p:txBody>
      </p:sp>
      <p:sp>
        <p:nvSpPr>
          <p:cNvPr id="8" name="Rectangle 7"/>
          <p:cNvSpPr/>
          <p:nvPr/>
        </p:nvSpPr>
        <p:spPr>
          <a:xfrm>
            <a:off x="1325880" y="1225296"/>
            <a:ext cx="10058400" cy="279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8229600" cy="292608"/>
          </a:xfrm>
          <a:prstGeom prst="rect">
            <a:avLst/>
          </a:prstGeom>
          <a:noFill/>
        </p:spPr>
        <p:txBody>
          <a:bodyPr wrap="square" anchor="t" lIns="25400" rIns="25400" tIns="25400" bIns="25400">
            <a:spAutoFit/>
          </a:bodyPr>
          <a:lstStyle/>
          <a:p>
            <a:pPr algn="l">
              <a:lnSpc>
                <a:spcPct val="100000"/>
              </a:lnSpc>
              <a:spcAft>
                <a:spcPts val="400"/>
              </a:spcAft>
            </a:pPr>
            <a:r>
              <a:rPr sz="900" b="0" i="0">
                <a:solidFill>
                  <a:srgbClr val="90A4AE"/>
                </a:solidFill>
                <a:latin typeface="Calibri"/>
              </a:rPr>
              <a:t>Renovation energetique - Saint-Jean-de-Chevelu (73) - Bloc 1</a:t>
            </a:r>
          </a:p>
        </p:txBody>
      </p:sp>
      <p:sp>
        <p:nvSpPr>
          <p:cNvPr id="10" name="TextBox 9"/>
          <p:cNvSpPr txBox="1"/>
          <p:nvPr/>
        </p:nvSpPr>
        <p:spPr>
          <a:xfrm>
            <a:off x="9418320" y="6473952"/>
            <a:ext cx="2286000" cy="292608"/>
          </a:xfrm>
          <a:prstGeom prst="rect">
            <a:avLst/>
          </a:prstGeom>
          <a:noFill/>
        </p:spPr>
        <p:txBody>
          <a:bodyPr wrap="square" anchor="t" lIns="25400" rIns="25400" tIns="25400" bIns="25400">
            <a:spAutoFit/>
          </a:bodyPr>
          <a:lstStyle/>
          <a:p>
            <a:pPr algn="r">
              <a:lnSpc>
                <a:spcPct val="100000"/>
              </a:lnSpc>
              <a:spcAft>
                <a:spcPts val="400"/>
              </a:spcAft>
            </a:pPr>
            <a:r>
              <a:rPr sz="900" b="0" i="0">
                <a:solidFill>
                  <a:srgbClr val="90A4AE"/>
                </a:solidFill>
                <a:latin typeface="Calibri"/>
              </a:rPr>
              <a:t>Guillaume Tardy</a:t>
            </a:r>
          </a:p>
        </p:txBody>
      </p:sp>
      <p:sp>
        <p:nvSpPr>
          <p:cNvPr id="11" name="Rounded Rectangle 10"/>
          <p:cNvSpPr/>
          <p:nvPr/>
        </p:nvSpPr>
        <p:spPr>
          <a:xfrm>
            <a:off x="822960" y="1554480"/>
            <a:ext cx="5212080" cy="2103120"/>
          </a:xfrm>
          <a:prstGeom prst="roundRect">
            <a:avLst/>
          </a:prstGeom>
          <a:solidFill>
            <a:srgbClr val="FFFFFF"/>
          </a:solidFill>
          <a:ln w="1270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1645920"/>
            <a:ext cx="4846320" cy="2011680"/>
          </a:xfrm>
          <a:prstGeom prst="rect">
            <a:avLst/>
          </a:prstGeom>
          <a:noFill/>
        </p:spPr>
        <p:txBody>
          <a:bodyPr wrap="square" anchor="t" lIns="25400" rIns="25400" tIns="25400" bIns="25400">
            <a:spAutoFit/>
          </a:bodyPr>
          <a:lstStyle/>
          <a:p>
            <a:pPr algn="l">
              <a:lnSpc>
                <a:spcPct val="105000"/>
              </a:lnSpc>
              <a:spcAft>
                <a:spcPts val="400"/>
              </a:spcAft>
            </a:pPr>
            <a:r>
              <a:rPr sz="1300" b="1" i="0">
                <a:solidFill>
                  <a:srgbClr val="1B5E20"/>
                </a:solidFill>
                <a:latin typeface="Calibri"/>
              </a:rPr>
              <a:t>Isolants  (R = e / lambda)</a:t>
            </a:r>
          </a:p>
          <a:p>
            <a:pPr algn="l">
              <a:lnSpc>
                <a:spcPct val="105000"/>
              </a:lnSpc>
              <a:spcAft>
                <a:spcPts val="400"/>
              </a:spcAft>
            </a:pPr>
            <a:r>
              <a:rPr sz="400" b="0" i="0">
                <a:solidFill>
                  <a:srgbClr val="1B5E20"/>
                </a:solidFill>
                <a:latin typeface="Calibri"/>
              </a:rPr>
              <a:t/>
            </a:r>
          </a:p>
          <a:p>
            <a:pPr algn="l">
              <a:lnSpc>
                <a:spcPct val="105000"/>
              </a:lnSpc>
              <a:spcAft>
                <a:spcPts val="400"/>
              </a:spcAft>
            </a:pPr>
            <a:r>
              <a:rPr sz="1150" b="1" i="0">
                <a:solidFill>
                  <a:srgbClr val="37474F"/>
                </a:solidFill>
                <a:latin typeface="Calibri"/>
              </a:rPr>
              <a:t>Murs - laine de bois 200 mm (l=0,038) :</a:t>
            </a:r>
          </a:p>
          <a:p>
            <a:pPr algn="l">
              <a:lnSpc>
                <a:spcPct val="105000"/>
              </a:lnSpc>
              <a:spcAft>
                <a:spcPts val="400"/>
              </a:spcAft>
            </a:pPr>
            <a:r>
              <a:rPr sz="1250" b="0" i="0">
                <a:solidFill>
                  <a:srgbClr val="1565C0"/>
                </a:solidFill>
                <a:latin typeface="Calibri"/>
              </a:rPr>
              <a:t>R = 0,20 / 0,038 = 5,26 m2.K/W</a:t>
            </a:r>
          </a:p>
          <a:p>
            <a:pPr algn="l">
              <a:lnSpc>
                <a:spcPct val="105000"/>
              </a:lnSpc>
              <a:spcAft>
                <a:spcPts val="400"/>
              </a:spcAft>
            </a:pPr>
            <a:r>
              <a:rPr sz="300" b="0" i="0">
                <a:solidFill>
                  <a:srgbClr val="1B5E20"/>
                </a:solidFill>
                <a:latin typeface="Calibri"/>
              </a:rPr>
              <a:t/>
            </a:r>
          </a:p>
          <a:p>
            <a:pPr algn="l">
              <a:lnSpc>
                <a:spcPct val="105000"/>
              </a:lnSpc>
              <a:spcAft>
                <a:spcPts val="400"/>
              </a:spcAft>
            </a:pPr>
            <a:r>
              <a:rPr sz="1150" b="1" i="0">
                <a:solidFill>
                  <a:srgbClr val="37474F"/>
                </a:solidFill>
                <a:latin typeface="Calibri"/>
              </a:rPr>
              <a:t>Combles - ouate 400 mm (l=0,039) :</a:t>
            </a:r>
          </a:p>
          <a:p>
            <a:pPr algn="l">
              <a:lnSpc>
                <a:spcPct val="105000"/>
              </a:lnSpc>
              <a:spcAft>
                <a:spcPts val="400"/>
              </a:spcAft>
            </a:pPr>
            <a:r>
              <a:rPr sz="1250" b="0" i="0">
                <a:solidFill>
                  <a:srgbClr val="1565C0"/>
                </a:solidFill>
                <a:latin typeface="Calibri"/>
              </a:rPr>
              <a:t>R = 0,40 / 0,039 = 10,26 m2.K/W</a:t>
            </a:r>
          </a:p>
        </p:txBody>
      </p:sp>
      <p:sp>
        <p:nvSpPr>
          <p:cNvPr id="13" name="Rounded Rectangle 12"/>
          <p:cNvSpPr/>
          <p:nvPr/>
        </p:nvSpPr>
        <p:spPr>
          <a:xfrm>
            <a:off x="6217920" y="1554480"/>
            <a:ext cx="5120640" cy="2103120"/>
          </a:xfrm>
          <a:prstGeom prst="roundRect">
            <a:avLst/>
          </a:prstGeom>
          <a:solidFill>
            <a:srgbClr val="FFFFFF"/>
          </a:solidFill>
          <a:ln w="1270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645920"/>
            <a:ext cx="4754880" cy="2011680"/>
          </a:xfrm>
          <a:prstGeom prst="rect">
            <a:avLst/>
          </a:prstGeom>
          <a:noFill/>
        </p:spPr>
        <p:txBody>
          <a:bodyPr wrap="square" anchor="t" lIns="25400" rIns="25400" tIns="25400" bIns="25400">
            <a:spAutoFit/>
          </a:bodyPr>
          <a:lstStyle/>
          <a:p>
            <a:pPr algn="l">
              <a:lnSpc>
                <a:spcPct val="105000"/>
              </a:lnSpc>
              <a:spcAft>
                <a:spcPts val="400"/>
              </a:spcAft>
            </a:pPr>
            <a:r>
              <a:rPr sz="1300" b="1" i="0">
                <a:solidFill>
                  <a:srgbClr val="1B5E20"/>
                </a:solidFill>
                <a:latin typeface="Calibri"/>
              </a:rPr>
              <a:t>Puissance de chauffage</a:t>
            </a:r>
          </a:p>
          <a:p>
            <a:pPr algn="l">
              <a:lnSpc>
                <a:spcPct val="105000"/>
              </a:lnSpc>
              <a:spcAft>
                <a:spcPts val="400"/>
              </a:spcAft>
            </a:pPr>
            <a:r>
              <a:rPr sz="400" b="0" i="0">
                <a:solidFill>
                  <a:srgbClr val="1B5E20"/>
                </a:solidFill>
                <a:latin typeface="Calibri"/>
              </a:rPr>
              <a:t/>
            </a:r>
          </a:p>
          <a:p>
            <a:pPr algn="l">
              <a:lnSpc>
                <a:spcPct val="105000"/>
              </a:lnSpc>
              <a:spcAft>
                <a:spcPts val="400"/>
              </a:spcAft>
            </a:pPr>
            <a:r>
              <a:rPr sz="1150" b="1" i="0">
                <a:solidFill>
                  <a:srgbClr val="37474F"/>
                </a:solidFill>
                <a:latin typeface="Calibri"/>
              </a:rPr>
              <a:t>Reduction des besoins : -55 % (isolation + VMC)</a:t>
            </a:r>
          </a:p>
          <a:p>
            <a:pPr algn="l">
              <a:lnSpc>
                <a:spcPct val="105000"/>
              </a:lnSpc>
              <a:spcAft>
                <a:spcPts val="400"/>
              </a:spcAft>
            </a:pPr>
            <a:r>
              <a:rPr sz="1250" b="0" i="0">
                <a:solidFill>
                  <a:srgbClr val="1565C0"/>
                </a:solidFill>
                <a:latin typeface="Calibri"/>
              </a:rPr>
              <a:t>P = 21,3 x (1 - 0,55) = 9,6 kW</a:t>
            </a:r>
          </a:p>
          <a:p>
            <a:pPr algn="l">
              <a:lnSpc>
                <a:spcPct val="105000"/>
              </a:lnSpc>
              <a:spcAft>
                <a:spcPts val="400"/>
              </a:spcAft>
            </a:pPr>
            <a:r>
              <a:rPr sz="300" b="0" i="0">
                <a:solidFill>
                  <a:srgbClr val="1B5E20"/>
                </a:solidFill>
                <a:latin typeface="Calibri"/>
              </a:rPr>
              <a:t/>
            </a:r>
          </a:p>
          <a:p>
            <a:pPr algn="l">
              <a:lnSpc>
                <a:spcPct val="105000"/>
              </a:lnSpc>
              <a:spcAft>
                <a:spcPts val="400"/>
              </a:spcAft>
            </a:pPr>
            <a:r>
              <a:rPr sz="1150" b="1" i="0">
                <a:solidFill>
                  <a:srgbClr val="37474F"/>
                </a:solidFill>
                <a:latin typeface="Calibri"/>
              </a:rPr>
              <a:t>Avec marge de securite :</a:t>
            </a:r>
          </a:p>
          <a:p>
            <a:pPr algn="l">
              <a:lnSpc>
                <a:spcPct val="105000"/>
              </a:lnSpc>
              <a:spcAft>
                <a:spcPts val="400"/>
              </a:spcAft>
            </a:pPr>
            <a:r>
              <a:rPr sz="1300" b="1" i="0">
                <a:solidFill>
                  <a:srgbClr val="1B5E20"/>
                </a:solidFill>
                <a:latin typeface="Calibri"/>
              </a:rPr>
              <a:t>-&gt; chaudiere a granules de 12 kW</a:t>
            </a:r>
          </a:p>
        </p:txBody>
      </p:sp>
      <p:graphicFrame>
        <p:nvGraphicFramePr>
          <p:cNvPr id="15" name="Table 14"/>
          <p:cNvGraphicFramePr>
            <a:graphicFrameLocks noGrp="1"/>
          </p:cNvGraphicFramePr>
          <p:nvPr/>
        </p:nvGraphicFramePr>
        <p:xfrm>
          <a:off x="822960" y="3886200"/>
          <a:ext cx="5212080" cy="1609344"/>
        </p:xfrm>
        <a:graphic>
          <a:graphicData uri="http://schemas.openxmlformats.org/drawingml/2006/table">
            <a:tbl>
              <a:tblPr>
                <a:tableStyleId>{5C22544A-7EE6-4342-B048-85BDC9FD1C3A}</a:tableStyleId>
              </a:tblPr>
              <a:tblGrid>
                <a:gridCol w="2743200"/>
                <a:gridCol w="2468880"/>
              </a:tblGrid>
              <a:tr h="402336">
                <a:tc>
                  <a:txBody>
                    <a:bodyPr wrap="square"/>
                    <a:lstStyle/>
                    <a:p>
                      <a:pPr algn="l"/>
                      <a:r>
                        <a:rPr sz="1200" b="1">
                          <a:solidFill>
                            <a:srgbClr val="FFFFFF"/>
                          </a:solidFill>
                          <a:latin typeface="Calibri"/>
                        </a:rPr>
                        <a:t>Granules / VMC</a:t>
                      </a:r>
                    </a:p>
                  </a:txBody>
                  <a:tcPr marL="76200" marR="76200" marT="12700" marB="12700" anchor="ctr">
                    <a:solidFill>
                      <a:srgbClr val="1B5E20"/>
                    </a:solidFill>
                  </a:tcPr>
                </a:tc>
                <a:tc>
                  <a:txBody>
                    <a:bodyPr wrap="square"/>
                    <a:lstStyle/>
                    <a:p>
                      <a:pPr algn="ctr"/>
                      <a:r>
                        <a:rPr sz="1200" b="1">
                          <a:solidFill>
                            <a:srgbClr val="FFFFFF"/>
                          </a:solidFill>
                          <a:latin typeface="Calibri"/>
                        </a:rPr>
                        <a:t>Valeur</a:t>
                      </a:r>
                    </a:p>
                  </a:txBody>
                  <a:tcPr marL="76200" marR="76200" marT="12700" marB="12700" anchor="ctr">
                    <a:solidFill>
                      <a:srgbClr val="1B5E20"/>
                    </a:solidFill>
                  </a:tcPr>
                </a:tc>
              </a:tr>
              <a:tr h="402336">
                <a:tc>
                  <a:txBody>
                    <a:bodyPr wrap="square"/>
                    <a:lstStyle/>
                    <a:p>
                      <a:pPr algn="l"/>
                      <a:r>
                        <a:rPr sz="1100" b="0">
                          <a:solidFill>
                            <a:srgbClr val="37474F"/>
                          </a:solidFill>
                          <a:latin typeface="Calibri"/>
                        </a:rPr>
                        <a:t>Conso granules estimee</a:t>
                      </a:r>
                    </a:p>
                  </a:txBody>
                  <a:tcPr marL="76200" marR="76200" marT="12700" marB="12700" anchor="ctr">
                    <a:solidFill>
                      <a:srgbClr val="FFFFFF"/>
                    </a:solidFill>
                  </a:tcPr>
                </a:tc>
                <a:tc>
                  <a:txBody>
                    <a:bodyPr wrap="square"/>
                    <a:lstStyle/>
                    <a:p>
                      <a:pPr algn="ctr"/>
                      <a:r>
                        <a:rPr sz="1100" b="0">
                          <a:solidFill>
                            <a:srgbClr val="37474F"/>
                          </a:solidFill>
                          <a:latin typeface="Calibri"/>
                        </a:rPr>
                        <a:t>~1,5 t/an</a:t>
                      </a:r>
                    </a:p>
                  </a:txBody>
                  <a:tcPr marL="76200" marR="76200" marT="12700" marB="12700" anchor="ctr">
                    <a:solidFill>
                      <a:srgbClr val="FFFFFF"/>
                    </a:solidFill>
                  </a:tcPr>
                </a:tc>
              </a:tr>
              <a:tr h="402336">
                <a:tc>
                  <a:txBody>
                    <a:bodyPr wrap="square"/>
                    <a:lstStyle/>
                    <a:p>
                      <a:pPr algn="l"/>
                      <a:r>
                        <a:rPr sz="1100" b="0">
                          <a:solidFill>
                            <a:srgbClr val="37474F"/>
                          </a:solidFill>
                          <a:latin typeface="Calibri"/>
                        </a:rPr>
                        <a:t>Stockage</a:t>
                      </a:r>
                    </a:p>
                  </a:txBody>
                  <a:tcPr marL="76200" marR="76200" marT="12700" marB="12700" anchor="ctr">
                    <a:solidFill>
                      <a:srgbClr val="E8F5E9"/>
                    </a:solidFill>
                  </a:tcPr>
                </a:tc>
                <a:tc>
                  <a:txBody>
                    <a:bodyPr wrap="square"/>
                    <a:lstStyle/>
                    <a:p>
                      <a:pPr algn="ctr"/>
                      <a:r>
                        <a:rPr sz="1100" b="0">
                          <a:solidFill>
                            <a:srgbClr val="37474F"/>
                          </a:solidFill>
                          <a:latin typeface="Calibri"/>
                        </a:rPr>
                        <a:t>Tremie integree (sans silo)</a:t>
                      </a:r>
                    </a:p>
                  </a:txBody>
                  <a:tcPr marL="76200" marR="76200" marT="12700" marB="12700" anchor="ctr">
                    <a:solidFill>
                      <a:srgbClr val="E8F5E9"/>
                    </a:solidFill>
                  </a:tcPr>
                </a:tc>
              </a:tr>
              <a:tr h="402336">
                <a:tc>
                  <a:txBody>
                    <a:bodyPr wrap="square"/>
                    <a:lstStyle/>
                    <a:p>
                      <a:pPr algn="l"/>
                      <a:r>
                        <a:rPr sz="1100" b="0">
                          <a:solidFill>
                            <a:srgbClr val="37474F"/>
                          </a:solidFill>
                          <a:latin typeface="Calibri"/>
                        </a:rPr>
                        <a:t>VMC hygro B - debit max</a:t>
                      </a:r>
                    </a:p>
                  </a:txBody>
                  <a:tcPr marL="76200" marR="76200" marT="12700" marB="12700" anchor="ctr">
                    <a:solidFill>
                      <a:srgbClr val="FFFFFF"/>
                    </a:solidFill>
                  </a:tcPr>
                </a:tc>
                <a:tc>
                  <a:txBody>
                    <a:bodyPr wrap="square"/>
                    <a:lstStyle/>
                    <a:p>
                      <a:pPr algn="ctr"/>
                      <a:r>
                        <a:rPr sz="1100" b="0">
                          <a:solidFill>
                            <a:srgbClr val="37474F"/>
                          </a:solidFill>
                          <a:latin typeface="Calibri"/>
                        </a:rPr>
                        <a:t>180 m3/h</a:t>
                      </a:r>
                    </a:p>
                  </a:txBody>
                  <a:tcPr marL="76200" marR="76200" marT="12700" marB="12700" anchor="ctr">
                    <a:solidFill>
                      <a:srgbClr val="FFFFFF"/>
                    </a:solidFill>
                  </a:tcPr>
                </a:tc>
              </a:tr>
            </a:tbl>
          </a:graphicData>
        </a:graphic>
      </p:graphicFrame>
      <p:sp>
        <p:nvSpPr>
          <p:cNvPr id="16" name="Rounded Rectangle 15"/>
          <p:cNvSpPr/>
          <p:nvPr/>
        </p:nvSpPr>
        <p:spPr>
          <a:xfrm>
            <a:off x="6217920" y="3886200"/>
            <a:ext cx="5120640" cy="1874519"/>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977639"/>
            <a:ext cx="4754880" cy="365760"/>
          </a:xfrm>
          <a:prstGeom prst="rect">
            <a:avLst/>
          </a:prstGeom>
          <a:noFill/>
        </p:spPr>
        <p:txBody>
          <a:bodyPr wrap="square" anchor="t" lIns="25400" rIns="25400" tIns="25400" bIns="25400">
            <a:spAutoFit/>
          </a:bodyPr>
          <a:lstStyle/>
          <a:p>
            <a:pPr algn="l">
              <a:lnSpc>
                <a:spcPct val="100000"/>
              </a:lnSpc>
              <a:spcAft>
                <a:spcPts val="400"/>
              </a:spcAft>
            </a:pPr>
            <a:r>
              <a:rPr sz="1300" b="1" i="0">
                <a:solidFill>
                  <a:srgbClr val="1B5E20"/>
                </a:solidFill>
                <a:latin typeface="Calibri"/>
              </a:rPr>
              <a:t>Materiaux biosources</a:t>
            </a:r>
          </a:p>
        </p:txBody>
      </p:sp>
      <p:sp>
        <p:nvSpPr>
          <p:cNvPr id="18" name="TextBox 17"/>
          <p:cNvSpPr txBox="1"/>
          <p:nvPr/>
        </p:nvSpPr>
        <p:spPr>
          <a:xfrm>
            <a:off x="6400800" y="4389120"/>
            <a:ext cx="4754880" cy="1280160"/>
          </a:xfrm>
          <a:prstGeom prst="rect">
            <a:avLst/>
          </a:prstGeom>
          <a:noFill/>
        </p:spPr>
        <p:txBody>
          <a:bodyPr wrap="square">
            <a:spAutoFit/>
          </a:bodyPr>
          <a:lstStyle/>
          <a:p>
            <a:pPr>
              <a:lnSpc>
                <a:spcPct val="105000"/>
              </a:lnSpc>
              <a:spcAft>
                <a:spcPts val="500"/>
              </a:spcAft>
            </a:pPr>
            <a:r>
              <a:rPr sz="1150" b="1">
                <a:solidFill>
                  <a:srgbClr val="2E7D32"/>
                </a:solidFill>
                <a:latin typeface="Calibri"/>
              </a:rPr>
              <a:t>●  </a:t>
            </a:r>
            <a:r>
              <a:rPr sz="1150" b="1">
                <a:solidFill>
                  <a:srgbClr val="37474F"/>
                </a:solidFill>
                <a:latin typeface="Calibri"/>
              </a:rPr>
              <a:t>Laine de bois (murs) &amp; ouate de cellulose (combles)</a:t>
            </a:r>
            <a:r>
              <a:rPr sz="1150">
                <a:solidFill>
                  <a:srgbClr val="37474F"/>
                </a:solidFill>
                <a:latin typeface="Calibri"/>
              </a:rPr>
              <a:t/>
            </a:r>
          </a:p>
          <a:p>
            <a:pPr>
              <a:lnSpc>
                <a:spcPct val="105000"/>
              </a:lnSpc>
              <a:spcAft>
                <a:spcPts val="500"/>
              </a:spcAft>
            </a:pPr>
            <a:r>
              <a:rPr sz="1150" b="1">
                <a:solidFill>
                  <a:srgbClr val="2E7D32"/>
                </a:solidFill>
                <a:latin typeface="Calibri"/>
              </a:rPr>
              <a:t>●  </a:t>
            </a:r>
            <a:r>
              <a:rPr sz="1150" b="1">
                <a:solidFill>
                  <a:srgbClr val="37474F"/>
                </a:solidFill>
                <a:latin typeface="Calibri"/>
              </a:rPr>
              <a:t>Faible impact carbone, excellent dephasage (confort d'ete)</a:t>
            </a:r>
            <a:r>
              <a:rPr sz="1150">
                <a:solidFill>
                  <a:srgbClr val="37474F"/>
                </a:solidFill>
                <a:latin typeface="Calibri"/>
              </a:rPr>
              <a:t/>
            </a:r>
          </a:p>
          <a:p>
            <a:pPr>
              <a:lnSpc>
                <a:spcPct val="105000"/>
              </a:lnSpc>
              <a:spcAft>
                <a:spcPts val="500"/>
              </a:spcAft>
            </a:pPr>
            <a:r>
              <a:rPr sz="1150" b="1">
                <a:solidFill>
                  <a:srgbClr val="2E7D32"/>
                </a:solidFill>
                <a:latin typeface="Calibri"/>
              </a:rPr>
              <a:t>●  </a:t>
            </a:r>
            <a:r>
              <a:rPr sz="1150" b="1">
                <a:solidFill>
                  <a:srgbClr val="37474F"/>
                </a:solidFill>
                <a:latin typeface="Calibri"/>
              </a:rPr>
              <a:t>Murs perspirants -&gt; gestion de l'humidite du bati ancien</a:t>
            </a:r>
            <a:r>
              <a:rPr sz="1150">
                <a:solidFill>
                  <a:srgbClr val="37474F"/>
                </a:solidFill>
                <a:latin typeface="Calibri"/>
              </a:rP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384048"/>
            <a:ext cx="658368" cy="65836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84048"/>
            <a:ext cx="658368" cy="658368"/>
          </a:xfrm>
          <a:prstGeom prst="rect">
            <a:avLst/>
          </a:prstGeom>
          <a:noFill/>
        </p:spPr>
        <p:txBody>
          <a:bodyPr wrap="square" anchor="ctr" lIns="25400" rIns="25400" tIns="25400" bIns="25400">
            <a:spAutoFit/>
          </a:bodyPr>
          <a:lstStyle/>
          <a:p>
            <a:pPr algn="ctr">
              <a:lnSpc>
                <a:spcPct val="100000"/>
              </a:lnSpc>
              <a:spcAft>
                <a:spcPts val="400"/>
              </a:spcAft>
            </a:pPr>
            <a:r>
              <a:rPr sz="2600" b="1" i="0">
                <a:solidFill>
                  <a:srgbClr val="FFFFFF"/>
                </a:solidFill>
                <a:latin typeface="Calibri"/>
              </a:rPr>
              <a:t>6</a:t>
            </a:r>
          </a:p>
        </p:txBody>
      </p:sp>
      <p:sp>
        <p:nvSpPr>
          <p:cNvPr id="6" name="TextBox 5"/>
          <p:cNvSpPr txBox="1"/>
          <p:nvPr/>
        </p:nvSpPr>
        <p:spPr>
          <a:xfrm>
            <a:off x="1325880" y="310896"/>
            <a:ext cx="10332720" cy="566928"/>
          </a:xfrm>
          <a:prstGeom prst="rect">
            <a:avLst/>
          </a:prstGeom>
          <a:noFill/>
        </p:spPr>
        <p:txBody>
          <a:bodyPr wrap="square" anchor="ctr" lIns="25400" rIns="25400" tIns="25400" bIns="25400">
            <a:spAutoFit/>
          </a:bodyPr>
          <a:lstStyle/>
          <a:p>
            <a:pPr algn="l">
              <a:lnSpc>
                <a:spcPct val="100000"/>
              </a:lnSpc>
              <a:spcAft>
                <a:spcPts val="400"/>
              </a:spcAft>
            </a:pPr>
            <a:r>
              <a:rPr sz="2800" b="1" i="0">
                <a:solidFill>
                  <a:srgbClr val="1B5E20"/>
                </a:solidFill>
                <a:latin typeface="Calibri"/>
              </a:rPr>
              <a:t>Chiffrage des travaux</a:t>
            </a:r>
          </a:p>
        </p:txBody>
      </p:sp>
      <p:sp>
        <p:nvSpPr>
          <p:cNvPr id="7" name="TextBox 6"/>
          <p:cNvSpPr txBox="1"/>
          <p:nvPr/>
        </p:nvSpPr>
        <p:spPr>
          <a:xfrm>
            <a:off x="1325880" y="905256"/>
            <a:ext cx="10332720" cy="292608"/>
          </a:xfrm>
          <a:prstGeom prst="rect">
            <a:avLst/>
          </a:prstGeom>
          <a:noFill/>
        </p:spPr>
        <p:txBody>
          <a:bodyPr wrap="square" anchor="t" lIns="25400" rIns="25400" tIns="25400" bIns="25400">
            <a:spAutoFit/>
          </a:bodyPr>
          <a:lstStyle/>
          <a:p>
            <a:pPr algn="l">
              <a:lnSpc>
                <a:spcPct val="100000"/>
              </a:lnSpc>
              <a:spcAft>
                <a:spcPts val="400"/>
              </a:spcAft>
            </a:pPr>
            <a:r>
              <a:rPr sz="1350" b="0" i="1">
                <a:solidFill>
                  <a:srgbClr val="37474F"/>
                </a:solidFill>
                <a:latin typeface="Calibri"/>
              </a:rPr>
              <a:t>Prix fourni-pose TTC (marques reelles, main d'oeuvre comprise)</a:t>
            </a:r>
          </a:p>
        </p:txBody>
      </p:sp>
      <p:sp>
        <p:nvSpPr>
          <p:cNvPr id="8" name="Rectangle 7"/>
          <p:cNvSpPr/>
          <p:nvPr/>
        </p:nvSpPr>
        <p:spPr>
          <a:xfrm>
            <a:off x="1325880" y="1225296"/>
            <a:ext cx="10058400" cy="279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8229600" cy="292608"/>
          </a:xfrm>
          <a:prstGeom prst="rect">
            <a:avLst/>
          </a:prstGeom>
          <a:noFill/>
        </p:spPr>
        <p:txBody>
          <a:bodyPr wrap="square" anchor="t" lIns="25400" rIns="25400" tIns="25400" bIns="25400">
            <a:spAutoFit/>
          </a:bodyPr>
          <a:lstStyle/>
          <a:p>
            <a:pPr algn="l">
              <a:lnSpc>
                <a:spcPct val="100000"/>
              </a:lnSpc>
              <a:spcAft>
                <a:spcPts val="400"/>
              </a:spcAft>
            </a:pPr>
            <a:r>
              <a:rPr sz="900" b="0" i="0">
                <a:solidFill>
                  <a:srgbClr val="90A4AE"/>
                </a:solidFill>
                <a:latin typeface="Calibri"/>
              </a:rPr>
              <a:t>Renovation energetique - Saint-Jean-de-Chevelu (73) - Bloc 1</a:t>
            </a:r>
          </a:p>
        </p:txBody>
      </p:sp>
      <p:sp>
        <p:nvSpPr>
          <p:cNvPr id="10" name="TextBox 9"/>
          <p:cNvSpPr txBox="1"/>
          <p:nvPr/>
        </p:nvSpPr>
        <p:spPr>
          <a:xfrm>
            <a:off x="9418320" y="6473952"/>
            <a:ext cx="2286000" cy="292608"/>
          </a:xfrm>
          <a:prstGeom prst="rect">
            <a:avLst/>
          </a:prstGeom>
          <a:noFill/>
        </p:spPr>
        <p:txBody>
          <a:bodyPr wrap="square" anchor="t" lIns="25400" rIns="25400" tIns="25400" bIns="25400">
            <a:spAutoFit/>
          </a:bodyPr>
          <a:lstStyle/>
          <a:p>
            <a:pPr algn="r">
              <a:lnSpc>
                <a:spcPct val="100000"/>
              </a:lnSpc>
              <a:spcAft>
                <a:spcPts val="400"/>
              </a:spcAft>
            </a:pPr>
            <a:r>
              <a:rPr sz="900" b="0" i="0">
                <a:solidFill>
                  <a:srgbClr val="90A4AE"/>
                </a:solidFill>
                <a:latin typeface="Calibri"/>
              </a:rPr>
              <a:t>Guillaume Tardy</a:t>
            </a:r>
          </a:p>
        </p:txBody>
      </p:sp>
      <p:sp>
        <p:nvSpPr>
          <p:cNvPr id="11" name="TextBox 10"/>
          <p:cNvSpPr txBox="1"/>
          <p:nvPr/>
        </p:nvSpPr>
        <p:spPr>
          <a:xfrm>
            <a:off x="822960" y="1554480"/>
            <a:ext cx="5120640" cy="365760"/>
          </a:xfrm>
          <a:prstGeom prst="rect">
            <a:avLst/>
          </a:prstGeom>
          <a:noFill/>
        </p:spPr>
        <p:txBody>
          <a:bodyPr wrap="square" anchor="t" lIns="25400" rIns="25400" tIns="25400" bIns="25400">
            <a:spAutoFit/>
          </a:bodyPr>
          <a:lstStyle/>
          <a:p>
            <a:pPr algn="l">
              <a:lnSpc>
                <a:spcPct val="100000"/>
              </a:lnSpc>
              <a:spcAft>
                <a:spcPts val="400"/>
              </a:spcAft>
            </a:pPr>
            <a:r>
              <a:rPr sz="1500" b="1" i="0">
                <a:solidFill>
                  <a:srgbClr val="1565C0"/>
                </a:solidFill>
                <a:latin typeface="Calibri"/>
              </a:rPr>
              <a:t>Scenario 1 - 42 500 €</a:t>
            </a:r>
          </a:p>
        </p:txBody>
      </p:sp>
      <p:graphicFrame>
        <p:nvGraphicFramePr>
          <p:cNvPr id="12" name="Table 11"/>
          <p:cNvGraphicFramePr>
            <a:graphicFrameLocks noGrp="1"/>
          </p:cNvGraphicFramePr>
          <p:nvPr/>
        </p:nvGraphicFramePr>
        <p:xfrm>
          <a:off x="822960" y="1965960"/>
          <a:ext cx="5394960" cy="3200400"/>
        </p:xfrm>
        <a:graphic>
          <a:graphicData uri="http://schemas.openxmlformats.org/drawingml/2006/table">
            <a:tbl>
              <a:tblPr>
                <a:tableStyleId>{5C22544A-7EE6-4342-B048-85BDC9FD1C3A}</a:tableStyleId>
              </a:tblPr>
              <a:tblGrid>
                <a:gridCol w="4023360"/>
                <a:gridCol w="1371600"/>
              </a:tblGrid>
              <a:tr h="457200">
                <a:tc>
                  <a:txBody>
                    <a:bodyPr wrap="square"/>
                    <a:lstStyle/>
                    <a:p>
                      <a:pPr algn="l"/>
                      <a:r>
                        <a:rPr sz="1200" b="1">
                          <a:solidFill>
                            <a:srgbClr val="FFFFFF"/>
                          </a:solidFill>
                          <a:latin typeface="Calibri"/>
                        </a:rPr>
                        <a:t>Poste / marque</a:t>
                      </a:r>
                    </a:p>
                  </a:txBody>
                  <a:tcPr marL="76200" marR="76200" marT="12700" marB="12700" anchor="ctr">
                    <a:solidFill>
                      <a:srgbClr val="1B5E20"/>
                    </a:solidFill>
                  </a:tcPr>
                </a:tc>
                <a:tc>
                  <a:txBody>
                    <a:bodyPr wrap="square"/>
                    <a:lstStyle/>
                    <a:p>
                      <a:pPr algn="ctr"/>
                      <a:r>
                        <a:rPr sz="1200" b="1">
                          <a:solidFill>
                            <a:srgbClr val="FFFFFF"/>
                          </a:solidFill>
                          <a:latin typeface="Calibri"/>
                        </a:rPr>
                        <a:t>TTC</a:t>
                      </a:r>
                    </a:p>
                  </a:txBody>
                  <a:tcPr marL="76200" marR="76200" marT="12700" marB="12700" anchor="ctr">
                    <a:solidFill>
                      <a:srgbClr val="1B5E20"/>
                    </a:solidFill>
                  </a:tcPr>
                </a:tc>
              </a:tr>
              <a:tr h="457200">
                <a:tc>
                  <a:txBody>
                    <a:bodyPr wrap="square"/>
                    <a:lstStyle/>
                    <a:p>
                      <a:pPr algn="l"/>
                      <a:r>
                        <a:rPr sz="1100" b="0">
                          <a:solidFill>
                            <a:srgbClr val="37474F"/>
                          </a:solidFill>
                          <a:latin typeface="Calibri"/>
                        </a:rPr>
                        <a:t>ITE laine de bois 200 mm (Steico + enduit)</a:t>
                      </a:r>
                    </a:p>
                  </a:txBody>
                  <a:tcPr marL="76200" marR="76200" marT="12700" marB="12700" anchor="ctr">
                    <a:solidFill>
                      <a:srgbClr val="FFFFFF"/>
                    </a:solidFill>
                  </a:tcPr>
                </a:tc>
                <a:tc>
                  <a:txBody>
                    <a:bodyPr wrap="square"/>
                    <a:lstStyle/>
                    <a:p>
                      <a:pPr algn="ctr"/>
                      <a:r>
                        <a:rPr sz="1100" b="0">
                          <a:solidFill>
                            <a:srgbClr val="37474F"/>
                          </a:solidFill>
                          <a:latin typeface="Calibri"/>
                        </a:rPr>
                        <a:t>30 000 €</a:t>
                      </a:r>
                    </a:p>
                  </a:txBody>
                  <a:tcPr marL="76200" marR="76200" marT="12700" marB="12700" anchor="ctr">
                    <a:solidFill>
                      <a:srgbClr val="FFFFFF"/>
                    </a:solidFill>
                  </a:tcPr>
                </a:tc>
              </a:tr>
              <a:tr h="457200">
                <a:tc>
                  <a:txBody>
                    <a:bodyPr wrap="square"/>
                    <a:lstStyle/>
                    <a:p>
                      <a:pPr algn="l"/>
                      <a:r>
                        <a:rPr sz="1100" b="0">
                          <a:solidFill>
                            <a:srgbClr val="37474F"/>
                          </a:solidFill>
                          <a:latin typeface="Calibri"/>
                        </a:rPr>
                        <a:t>Combles ouate 400 mm (Ouateco)</a:t>
                      </a:r>
                    </a:p>
                  </a:txBody>
                  <a:tcPr marL="76200" marR="76200" marT="12700" marB="12700" anchor="ctr">
                    <a:solidFill>
                      <a:srgbClr val="E8F5E9"/>
                    </a:solidFill>
                  </a:tcPr>
                </a:tc>
                <a:tc>
                  <a:txBody>
                    <a:bodyPr wrap="square"/>
                    <a:lstStyle/>
                    <a:p>
                      <a:pPr algn="ctr"/>
                      <a:r>
                        <a:rPr sz="1100" b="0">
                          <a:solidFill>
                            <a:srgbClr val="37474F"/>
                          </a:solidFill>
                          <a:latin typeface="Calibri"/>
                        </a:rPr>
                        <a:t>3 500 €</a:t>
                      </a:r>
                    </a:p>
                  </a:txBody>
                  <a:tcPr marL="76200" marR="76200" marT="12700" marB="12700" anchor="ctr">
                    <a:solidFill>
                      <a:srgbClr val="E8F5E9"/>
                    </a:solidFill>
                  </a:tcPr>
                </a:tc>
              </a:tr>
              <a:tr h="457200">
                <a:tc>
                  <a:txBody>
                    <a:bodyPr wrap="square"/>
                    <a:lstStyle/>
                    <a:p>
                      <a:pPr algn="l"/>
                      <a:r>
                        <a:rPr sz="1100" b="0">
                          <a:solidFill>
                            <a:srgbClr val="37474F"/>
                          </a:solidFill>
                          <a:latin typeface="Calibri"/>
                        </a:rPr>
                        <a:t>Etancheite a l'air + ponts thermiques</a:t>
                      </a:r>
                    </a:p>
                  </a:txBody>
                  <a:tcPr marL="76200" marR="76200" marT="12700" marB="12700" anchor="ctr">
                    <a:solidFill>
                      <a:srgbClr val="FFFFFF"/>
                    </a:solidFill>
                  </a:tcPr>
                </a:tc>
                <a:tc>
                  <a:txBody>
                    <a:bodyPr wrap="square"/>
                    <a:lstStyle/>
                    <a:p>
                      <a:pPr algn="ctr"/>
                      <a:r>
                        <a:rPr sz="1100" b="0">
                          <a:solidFill>
                            <a:srgbClr val="37474F"/>
                          </a:solidFill>
                          <a:latin typeface="Calibri"/>
                        </a:rPr>
                        <a:t>2 000 €</a:t>
                      </a:r>
                    </a:p>
                  </a:txBody>
                  <a:tcPr marL="76200" marR="76200" marT="12700" marB="12700" anchor="ctr">
                    <a:solidFill>
                      <a:srgbClr val="FFFFFF"/>
                    </a:solidFill>
                  </a:tcPr>
                </a:tc>
              </a:tr>
              <a:tr h="457200">
                <a:tc>
                  <a:txBody>
                    <a:bodyPr wrap="square"/>
                    <a:lstStyle/>
                    <a:p>
                      <a:pPr algn="l"/>
                      <a:r>
                        <a:rPr sz="1100" b="0">
                          <a:solidFill>
                            <a:srgbClr val="37474F"/>
                          </a:solidFill>
                          <a:latin typeface="Calibri"/>
                        </a:rPr>
                        <a:t>VMC hygro B (Aldes / Atlantic)</a:t>
                      </a:r>
                    </a:p>
                  </a:txBody>
                  <a:tcPr marL="76200" marR="76200" marT="12700" marB="12700" anchor="ctr">
                    <a:solidFill>
                      <a:srgbClr val="E8F5E9"/>
                    </a:solidFill>
                  </a:tcPr>
                </a:tc>
                <a:tc>
                  <a:txBody>
                    <a:bodyPr wrap="square"/>
                    <a:lstStyle/>
                    <a:p>
                      <a:pPr algn="ctr"/>
                      <a:r>
                        <a:rPr sz="1100" b="0">
                          <a:solidFill>
                            <a:srgbClr val="37474F"/>
                          </a:solidFill>
                          <a:latin typeface="Calibri"/>
                        </a:rPr>
                        <a:t>3 500 €</a:t>
                      </a:r>
                    </a:p>
                  </a:txBody>
                  <a:tcPr marL="76200" marR="76200" marT="12700" marB="12700" anchor="ctr">
                    <a:solidFill>
                      <a:srgbClr val="E8F5E9"/>
                    </a:solidFill>
                  </a:tcPr>
                </a:tc>
              </a:tr>
              <a:tr h="457200">
                <a:tc>
                  <a:txBody>
                    <a:bodyPr wrap="square"/>
                    <a:lstStyle/>
                    <a:p>
                      <a:pPr algn="l"/>
                      <a:r>
                        <a:rPr sz="1100" b="0">
                          <a:solidFill>
                            <a:srgbClr val="37474F"/>
                          </a:solidFill>
                          <a:latin typeface="Calibri"/>
                        </a:rPr>
                        <a:t>ECS thermodynamique (Atlantic Calypso)</a:t>
                      </a:r>
                    </a:p>
                  </a:txBody>
                  <a:tcPr marL="76200" marR="76200" marT="12700" marB="12700" anchor="ctr">
                    <a:solidFill>
                      <a:srgbClr val="FFFFFF"/>
                    </a:solidFill>
                  </a:tcPr>
                </a:tc>
                <a:tc>
                  <a:txBody>
                    <a:bodyPr wrap="square"/>
                    <a:lstStyle/>
                    <a:p>
                      <a:pPr algn="ctr"/>
                      <a:r>
                        <a:rPr sz="1100" b="0">
                          <a:solidFill>
                            <a:srgbClr val="37474F"/>
                          </a:solidFill>
                          <a:latin typeface="Calibri"/>
                        </a:rPr>
                        <a:t>3 500 €</a:t>
                      </a:r>
                    </a:p>
                  </a:txBody>
                  <a:tcPr marL="76200" marR="76200" marT="12700" marB="12700" anchor="ctr">
                    <a:solidFill>
                      <a:srgbClr val="FFFFFF"/>
                    </a:solidFill>
                  </a:tcPr>
                </a:tc>
              </a:tr>
              <a:tr h="457200">
                <a:tc>
                  <a:txBody>
                    <a:bodyPr wrap="square"/>
                    <a:lstStyle/>
                    <a:p>
                      <a:pPr algn="l"/>
                      <a:r>
                        <a:rPr sz="1100" b="1">
                          <a:solidFill>
                            <a:srgbClr val="37474F"/>
                          </a:solidFill>
                          <a:latin typeface="Calibri"/>
                        </a:rPr>
                        <a:t>Total</a:t>
                      </a:r>
                    </a:p>
                  </a:txBody>
                  <a:tcPr marL="76200" marR="76200" marT="12700" marB="12700" anchor="ctr">
                    <a:solidFill>
                      <a:srgbClr val="DCE9F7"/>
                    </a:solidFill>
                  </a:tcPr>
                </a:tc>
                <a:tc>
                  <a:txBody>
                    <a:bodyPr wrap="square"/>
                    <a:lstStyle/>
                    <a:p>
                      <a:pPr algn="ctr"/>
                      <a:r>
                        <a:rPr sz="1100" b="1">
                          <a:solidFill>
                            <a:srgbClr val="37474F"/>
                          </a:solidFill>
                          <a:latin typeface="Calibri"/>
                        </a:rPr>
                        <a:t>42 500 €</a:t>
                      </a:r>
                    </a:p>
                  </a:txBody>
                  <a:tcPr marL="76200" marR="76200" marT="12700" marB="12700" anchor="ctr">
                    <a:solidFill>
                      <a:srgbClr val="DCE9F7"/>
                    </a:solidFill>
                  </a:tcPr>
                </a:tc>
              </a:tr>
            </a:tbl>
          </a:graphicData>
        </a:graphic>
      </p:graphicFrame>
      <p:sp>
        <p:nvSpPr>
          <p:cNvPr id="13" name="TextBox 12"/>
          <p:cNvSpPr txBox="1"/>
          <p:nvPr/>
        </p:nvSpPr>
        <p:spPr>
          <a:xfrm>
            <a:off x="6309360" y="1554480"/>
            <a:ext cx="5120640" cy="365760"/>
          </a:xfrm>
          <a:prstGeom prst="rect">
            <a:avLst/>
          </a:prstGeom>
          <a:noFill/>
        </p:spPr>
        <p:txBody>
          <a:bodyPr wrap="square" anchor="t" lIns="25400" rIns="25400" tIns="25400" bIns="25400">
            <a:spAutoFit/>
          </a:bodyPr>
          <a:lstStyle/>
          <a:p>
            <a:pPr algn="l">
              <a:lnSpc>
                <a:spcPct val="100000"/>
              </a:lnSpc>
              <a:spcAft>
                <a:spcPts val="400"/>
              </a:spcAft>
            </a:pPr>
            <a:r>
              <a:rPr sz="1500" b="1" i="0">
                <a:solidFill>
                  <a:srgbClr val="1B5E20"/>
                </a:solidFill>
                <a:latin typeface="Calibri"/>
              </a:rPr>
              <a:t>Scenario 2 - 63 000 €</a:t>
            </a:r>
          </a:p>
        </p:txBody>
      </p:sp>
      <p:graphicFrame>
        <p:nvGraphicFramePr>
          <p:cNvPr id="14" name="Table 13"/>
          <p:cNvGraphicFramePr>
            <a:graphicFrameLocks noGrp="1"/>
          </p:cNvGraphicFramePr>
          <p:nvPr/>
        </p:nvGraphicFramePr>
        <p:xfrm>
          <a:off x="6309360" y="1965960"/>
          <a:ext cx="5394960" cy="2743200"/>
        </p:xfrm>
        <a:graphic>
          <a:graphicData uri="http://schemas.openxmlformats.org/drawingml/2006/table">
            <a:tbl>
              <a:tblPr>
                <a:tableStyleId>{5C22544A-7EE6-4342-B048-85BDC9FD1C3A}</a:tableStyleId>
              </a:tblPr>
              <a:tblGrid>
                <a:gridCol w="4023360"/>
                <a:gridCol w="1371600"/>
              </a:tblGrid>
              <a:tr h="457200">
                <a:tc>
                  <a:txBody>
                    <a:bodyPr wrap="square"/>
                    <a:lstStyle/>
                    <a:p>
                      <a:pPr algn="l"/>
                      <a:r>
                        <a:rPr sz="1200" b="1">
                          <a:solidFill>
                            <a:srgbClr val="FFFFFF"/>
                          </a:solidFill>
                          <a:latin typeface="Calibri"/>
                        </a:rPr>
                        <a:t>Poste / marque</a:t>
                      </a:r>
                    </a:p>
                  </a:txBody>
                  <a:tcPr marL="76200" marR="76200" marT="12700" marB="12700" anchor="ctr">
                    <a:solidFill>
                      <a:srgbClr val="1B5E20"/>
                    </a:solidFill>
                  </a:tcPr>
                </a:tc>
                <a:tc>
                  <a:txBody>
                    <a:bodyPr wrap="square"/>
                    <a:lstStyle/>
                    <a:p>
                      <a:pPr algn="ctr"/>
                      <a:r>
                        <a:rPr sz="1200" b="1">
                          <a:solidFill>
                            <a:srgbClr val="FFFFFF"/>
                          </a:solidFill>
                          <a:latin typeface="Calibri"/>
                        </a:rPr>
                        <a:t>TTC</a:t>
                      </a:r>
                    </a:p>
                  </a:txBody>
                  <a:tcPr marL="76200" marR="76200" marT="12700" marB="12700" anchor="ctr">
                    <a:solidFill>
                      <a:srgbClr val="1B5E20"/>
                    </a:solidFill>
                  </a:tcPr>
                </a:tc>
              </a:tr>
              <a:tr h="457200">
                <a:tc>
                  <a:txBody>
                    <a:bodyPr wrap="square"/>
                    <a:lstStyle/>
                    <a:p>
                      <a:pPr algn="l"/>
                      <a:r>
                        <a:rPr sz="1100" b="0">
                          <a:solidFill>
                            <a:srgbClr val="37474F"/>
                          </a:solidFill>
                          <a:latin typeface="Calibri"/>
                        </a:rPr>
                        <a:t>Travaux du scenario 1 (enveloppe + VMC + ECS)</a:t>
                      </a:r>
                    </a:p>
                  </a:txBody>
                  <a:tcPr marL="76200" marR="76200" marT="12700" marB="12700" anchor="ctr">
                    <a:solidFill>
                      <a:srgbClr val="FFFFFF"/>
                    </a:solidFill>
                  </a:tcPr>
                </a:tc>
                <a:tc>
                  <a:txBody>
                    <a:bodyPr wrap="square"/>
                    <a:lstStyle/>
                    <a:p>
                      <a:pPr algn="ctr"/>
                      <a:r>
                        <a:rPr sz="1100" b="0">
                          <a:solidFill>
                            <a:srgbClr val="37474F"/>
                          </a:solidFill>
                          <a:latin typeface="Calibri"/>
                        </a:rPr>
                        <a:t>42 500 €</a:t>
                      </a:r>
                    </a:p>
                  </a:txBody>
                  <a:tcPr marL="76200" marR="76200" marT="12700" marB="12700" anchor="ctr">
                    <a:solidFill>
                      <a:srgbClr val="FFFFFF"/>
                    </a:solidFill>
                  </a:tcPr>
                </a:tc>
              </a:tr>
              <a:tr h="457200">
                <a:tc>
                  <a:txBody>
                    <a:bodyPr wrap="square"/>
                    <a:lstStyle/>
                    <a:p>
                      <a:pPr algn="l"/>
                      <a:r>
                        <a:rPr sz="1100" b="0">
                          <a:solidFill>
                            <a:srgbClr val="37474F"/>
                          </a:solidFill>
                          <a:latin typeface="Calibri"/>
                        </a:rPr>
                        <a:t>Chaudiere granules 12 kW (OkoFEN / Hargassner)</a:t>
                      </a:r>
                    </a:p>
                  </a:txBody>
                  <a:tcPr marL="76200" marR="76200" marT="12700" marB="12700" anchor="ctr">
                    <a:solidFill>
                      <a:srgbClr val="E8F5E9"/>
                    </a:solidFill>
                  </a:tcPr>
                </a:tc>
                <a:tc>
                  <a:txBody>
                    <a:bodyPr wrap="square"/>
                    <a:lstStyle/>
                    <a:p>
                      <a:pPr algn="ctr"/>
                      <a:r>
                        <a:rPr sz="1100" b="0">
                          <a:solidFill>
                            <a:srgbClr val="37474F"/>
                          </a:solidFill>
                          <a:latin typeface="Calibri"/>
                        </a:rPr>
                        <a:t>15 000 €</a:t>
                      </a:r>
                    </a:p>
                  </a:txBody>
                  <a:tcPr marL="76200" marR="76200" marT="12700" marB="12700" anchor="ctr">
                    <a:solidFill>
                      <a:srgbClr val="E8F5E9"/>
                    </a:solidFill>
                  </a:tcPr>
                </a:tc>
              </a:tr>
              <a:tr h="457200">
                <a:tc>
                  <a:txBody>
                    <a:bodyPr wrap="square"/>
                    <a:lstStyle/>
                    <a:p>
                      <a:pPr algn="l"/>
                      <a:r>
                        <a:rPr sz="1100" b="0">
                          <a:solidFill>
                            <a:srgbClr val="37474F"/>
                          </a:solidFill>
                          <a:latin typeface="Calibri"/>
                        </a:rPr>
                        <a:t>Ballon tampon + hydraulique + tubage fumees</a:t>
                      </a:r>
                    </a:p>
                  </a:txBody>
                  <a:tcPr marL="76200" marR="76200" marT="12700" marB="12700" anchor="ctr">
                    <a:solidFill>
                      <a:srgbClr val="FFFFFF"/>
                    </a:solidFill>
                  </a:tcPr>
                </a:tc>
                <a:tc>
                  <a:txBody>
                    <a:bodyPr wrap="square"/>
                    <a:lstStyle/>
                    <a:p>
                      <a:pPr algn="ctr"/>
                      <a:r>
                        <a:rPr sz="1100" b="0">
                          <a:solidFill>
                            <a:srgbClr val="37474F"/>
                          </a:solidFill>
                          <a:latin typeface="Calibri"/>
                        </a:rPr>
                        <a:t>4 000 €</a:t>
                      </a:r>
                    </a:p>
                  </a:txBody>
                  <a:tcPr marL="76200" marR="76200" marT="12700" marB="12700" anchor="ctr">
                    <a:solidFill>
                      <a:srgbClr val="FFFFFF"/>
                    </a:solidFill>
                  </a:tcPr>
                </a:tc>
              </a:tr>
              <a:tr h="457200">
                <a:tc>
                  <a:txBody>
                    <a:bodyPr wrap="square"/>
                    <a:lstStyle/>
                    <a:p>
                      <a:pPr algn="l"/>
                      <a:r>
                        <a:rPr sz="1100" b="0">
                          <a:solidFill>
                            <a:srgbClr val="37474F"/>
                          </a:solidFill>
                          <a:latin typeface="Calibri"/>
                        </a:rPr>
                        <a:t>Depose chaudiere fioul + cuve</a:t>
                      </a:r>
                    </a:p>
                  </a:txBody>
                  <a:tcPr marL="76200" marR="76200" marT="12700" marB="12700" anchor="ctr">
                    <a:solidFill>
                      <a:srgbClr val="E8F5E9"/>
                    </a:solidFill>
                  </a:tcPr>
                </a:tc>
                <a:tc>
                  <a:txBody>
                    <a:bodyPr wrap="square"/>
                    <a:lstStyle/>
                    <a:p>
                      <a:pPr algn="ctr"/>
                      <a:r>
                        <a:rPr sz="1100" b="0">
                          <a:solidFill>
                            <a:srgbClr val="37474F"/>
                          </a:solidFill>
                          <a:latin typeface="Calibri"/>
                        </a:rPr>
                        <a:t>1 500 €</a:t>
                      </a:r>
                    </a:p>
                  </a:txBody>
                  <a:tcPr marL="76200" marR="76200" marT="12700" marB="12700" anchor="ctr">
                    <a:solidFill>
                      <a:srgbClr val="E8F5E9"/>
                    </a:solidFill>
                  </a:tcPr>
                </a:tc>
              </a:tr>
              <a:tr h="457200">
                <a:tc>
                  <a:txBody>
                    <a:bodyPr wrap="square"/>
                    <a:lstStyle/>
                    <a:p>
                      <a:pPr algn="l"/>
                      <a:r>
                        <a:rPr sz="1100" b="1">
                          <a:solidFill>
                            <a:srgbClr val="37474F"/>
                          </a:solidFill>
                          <a:latin typeface="Calibri"/>
                        </a:rPr>
                        <a:t>Total</a:t>
                      </a:r>
                    </a:p>
                  </a:txBody>
                  <a:tcPr marL="76200" marR="76200" marT="12700" marB="12700" anchor="ctr">
                    <a:solidFill>
                      <a:srgbClr val="D7E9D0"/>
                    </a:solidFill>
                  </a:tcPr>
                </a:tc>
                <a:tc>
                  <a:txBody>
                    <a:bodyPr wrap="square"/>
                    <a:lstStyle/>
                    <a:p>
                      <a:pPr algn="ctr"/>
                      <a:r>
                        <a:rPr sz="1100" b="1">
                          <a:solidFill>
                            <a:srgbClr val="37474F"/>
                          </a:solidFill>
                          <a:latin typeface="Calibri"/>
                        </a:rPr>
                        <a:t>63 000 €</a:t>
                      </a:r>
                    </a:p>
                  </a:txBody>
                  <a:tcPr marL="76200" marR="76200" marT="12700" marB="12700" anchor="ctr">
                    <a:solidFill>
                      <a:srgbClr val="D7E9D0"/>
                    </a:solidFill>
                  </a:tcPr>
                </a:tc>
              </a:tr>
            </a:tbl>
          </a:graphicData>
        </a:graphic>
      </p:graphicFrame>
      <p:sp>
        <p:nvSpPr>
          <p:cNvPr id="15" name="Rounded Rectangle 14"/>
          <p:cNvSpPr/>
          <p:nvPr/>
        </p:nvSpPr>
        <p:spPr>
          <a:xfrm>
            <a:off x="822960" y="5486400"/>
            <a:ext cx="10515600" cy="7772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559552"/>
            <a:ext cx="10058400" cy="640080"/>
          </a:xfrm>
          <a:prstGeom prst="rect">
            <a:avLst/>
          </a:prstGeom>
          <a:noFill/>
        </p:spPr>
        <p:txBody>
          <a:bodyPr wrap="square" anchor="ctr" lIns="25400" rIns="25400" tIns="25400" bIns="25400">
            <a:spAutoFit/>
          </a:bodyPr>
          <a:lstStyle/>
          <a:p>
            <a:pPr algn="l">
              <a:lnSpc>
                <a:spcPct val="100000"/>
              </a:lnSpc>
              <a:spcAft>
                <a:spcPts val="400"/>
              </a:spcAft>
            </a:pPr>
            <a:r>
              <a:rPr sz="1250" b="0" i="0">
                <a:solidFill>
                  <a:srgbClr val="37474F"/>
                </a:solidFill>
                <a:latin typeface="Calibri"/>
              </a:rPr>
              <a:t>Prix fourni-pose TTC (TVA 5,5 %), main d'oeuvre et echafaudage compris. La pose represente ~40 % du cout de l'ITE.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384048"/>
            <a:ext cx="658368" cy="65836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84048"/>
            <a:ext cx="658368" cy="658368"/>
          </a:xfrm>
          <a:prstGeom prst="rect">
            <a:avLst/>
          </a:prstGeom>
          <a:noFill/>
        </p:spPr>
        <p:txBody>
          <a:bodyPr wrap="square" anchor="ctr" lIns="25400" rIns="25400" tIns="25400" bIns="25400">
            <a:spAutoFit/>
          </a:bodyPr>
          <a:lstStyle/>
          <a:p>
            <a:pPr algn="ctr">
              <a:lnSpc>
                <a:spcPct val="100000"/>
              </a:lnSpc>
              <a:spcAft>
                <a:spcPts val="400"/>
              </a:spcAft>
            </a:pPr>
            <a:r>
              <a:rPr sz="2600" b="1" i="0">
                <a:solidFill>
                  <a:srgbClr val="FFFFFF"/>
                </a:solidFill>
                <a:latin typeface="Calibri"/>
              </a:rPr>
              <a:t>6</a:t>
            </a:r>
          </a:p>
        </p:txBody>
      </p:sp>
      <p:sp>
        <p:nvSpPr>
          <p:cNvPr id="6" name="TextBox 5"/>
          <p:cNvSpPr txBox="1"/>
          <p:nvPr/>
        </p:nvSpPr>
        <p:spPr>
          <a:xfrm>
            <a:off x="1325880" y="310896"/>
            <a:ext cx="10332720" cy="566928"/>
          </a:xfrm>
          <a:prstGeom prst="rect">
            <a:avLst/>
          </a:prstGeom>
          <a:noFill/>
        </p:spPr>
        <p:txBody>
          <a:bodyPr wrap="square" anchor="ctr" lIns="25400" rIns="25400" tIns="25400" bIns="25400">
            <a:spAutoFit/>
          </a:bodyPr>
          <a:lstStyle/>
          <a:p>
            <a:pPr algn="l">
              <a:lnSpc>
                <a:spcPct val="100000"/>
              </a:lnSpc>
              <a:spcAft>
                <a:spcPts val="400"/>
              </a:spcAft>
            </a:pPr>
            <a:r>
              <a:rPr sz="2800" b="1" i="0">
                <a:solidFill>
                  <a:srgbClr val="1B5E20"/>
                </a:solidFill>
                <a:latin typeface="Calibri"/>
              </a:rPr>
              <a:t>Plan de financement</a:t>
            </a:r>
          </a:p>
        </p:txBody>
      </p:sp>
      <p:sp>
        <p:nvSpPr>
          <p:cNvPr id="7" name="TextBox 6"/>
          <p:cNvSpPr txBox="1"/>
          <p:nvPr/>
        </p:nvSpPr>
        <p:spPr>
          <a:xfrm>
            <a:off x="1325880" y="905256"/>
            <a:ext cx="10332720" cy="292608"/>
          </a:xfrm>
          <a:prstGeom prst="rect">
            <a:avLst/>
          </a:prstGeom>
          <a:noFill/>
        </p:spPr>
        <p:txBody>
          <a:bodyPr wrap="square" anchor="t" lIns="25400" rIns="25400" tIns="25400" bIns="25400">
            <a:spAutoFit/>
          </a:bodyPr>
          <a:lstStyle/>
          <a:p>
            <a:pPr algn="l">
              <a:lnSpc>
                <a:spcPct val="100000"/>
              </a:lnSpc>
              <a:spcAft>
                <a:spcPts val="400"/>
              </a:spcAft>
            </a:pPr>
            <a:r>
              <a:rPr sz="1350" b="0" i="1">
                <a:solidFill>
                  <a:srgbClr val="37474F"/>
                </a:solidFill>
                <a:latin typeface="Calibri"/>
              </a:rPr>
              <a:t>Foyer modeste : aides, apport et reste a charge</a:t>
            </a:r>
          </a:p>
        </p:txBody>
      </p:sp>
      <p:sp>
        <p:nvSpPr>
          <p:cNvPr id="8" name="Rectangle 7"/>
          <p:cNvSpPr/>
          <p:nvPr/>
        </p:nvSpPr>
        <p:spPr>
          <a:xfrm>
            <a:off x="1325880" y="1225296"/>
            <a:ext cx="10058400" cy="279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8229600" cy="292608"/>
          </a:xfrm>
          <a:prstGeom prst="rect">
            <a:avLst/>
          </a:prstGeom>
          <a:noFill/>
        </p:spPr>
        <p:txBody>
          <a:bodyPr wrap="square" anchor="t" lIns="25400" rIns="25400" tIns="25400" bIns="25400">
            <a:spAutoFit/>
          </a:bodyPr>
          <a:lstStyle/>
          <a:p>
            <a:pPr algn="l">
              <a:lnSpc>
                <a:spcPct val="100000"/>
              </a:lnSpc>
              <a:spcAft>
                <a:spcPts val="400"/>
              </a:spcAft>
            </a:pPr>
            <a:r>
              <a:rPr sz="900" b="0" i="0">
                <a:solidFill>
                  <a:srgbClr val="90A4AE"/>
                </a:solidFill>
                <a:latin typeface="Calibri"/>
              </a:rPr>
              <a:t>Renovation energetique - Saint-Jean-de-Chevelu (73) - Bloc 1</a:t>
            </a:r>
          </a:p>
        </p:txBody>
      </p:sp>
      <p:sp>
        <p:nvSpPr>
          <p:cNvPr id="10" name="TextBox 9"/>
          <p:cNvSpPr txBox="1"/>
          <p:nvPr/>
        </p:nvSpPr>
        <p:spPr>
          <a:xfrm>
            <a:off x="9418320" y="6473952"/>
            <a:ext cx="2286000" cy="292608"/>
          </a:xfrm>
          <a:prstGeom prst="rect">
            <a:avLst/>
          </a:prstGeom>
          <a:noFill/>
        </p:spPr>
        <p:txBody>
          <a:bodyPr wrap="square" anchor="t" lIns="25400" rIns="25400" tIns="25400" bIns="25400">
            <a:spAutoFit/>
          </a:bodyPr>
          <a:lstStyle/>
          <a:p>
            <a:pPr algn="r">
              <a:lnSpc>
                <a:spcPct val="100000"/>
              </a:lnSpc>
              <a:spcAft>
                <a:spcPts val="400"/>
              </a:spcAft>
            </a:pPr>
            <a:r>
              <a:rPr sz="900" b="0" i="0">
                <a:solidFill>
                  <a:srgbClr val="90A4AE"/>
                </a:solidFill>
                <a:latin typeface="Calibri"/>
              </a:rPr>
              <a:t>Guillaume Tardy</a:t>
            </a:r>
          </a:p>
        </p:txBody>
      </p:sp>
      <p:graphicFrame>
        <p:nvGraphicFramePr>
          <p:cNvPr id="11" name="Table 10"/>
          <p:cNvGraphicFramePr>
            <a:graphicFrameLocks noGrp="1"/>
          </p:cNvGraphicFramePr>
          <p:nvPr/>
        </p:nvGraphicFramePr>
        <p:xfrm>
          <a:off x="822960" y="1691640"/>
          <a:ext cx="10515600" cy="3364992"/>
        </p:xfrm>
        <a:graphic>
          <a:graphicData uri="http://schemas.openxmlformats.org/drawingml/2006/table">
            <a:tbl>
              <a:tblPr>
                <a:tableStyleId>{5C22544A-7EE6-4342-B048-85BDC9FD1C3A}</a:tableStyleId>
              </a:tblPr>
              <a:tblGrid>
                <a:gridCol w="4846320"/>
                <a:gridCol w="2834640"/>
                <a:gridCol w="2834640"/>
              </a:tblGrid>
              <a:tr h="420624">
                <a:tc>
                  <a:txBody>
                    <a:bodyPr wrap="square"/>
                    <a:lstStyle/>
                    <a:p>
                      <a:pPr algn="l"/>
                      <a:r>
                        <a:rPr sz="1300" b="1">
                          <a:solidFill>
                            <a:srgbClr val="FFFFFF"/>
                          </a:solidFill>
                          <a:latin typeface="Calibri"/>
                        </a:rPr>
                        <a:t>Element financier</a:t>
                      </a:r>
                    </a:p>
                  </a:txBody>
                  <a:tcPr marL="76200" marR="76200" marT="12700" marB="12700" anchor="ctr">
                    <a:solidFill>
                      <a:srgbClr val="1B5E20"/>
                    </a:solidFill>
                  </a:tcPr>
                </a:tc>
                <a:tc>
                  <a:txBody>
                    <a:bodyPr wrap="square"/>
                    <a:lstStyle/>
                    <a:p>
                      <a:pPr algn="ctr"/>
                      <a:r>
                        <a:rPr sz="1300" b="1">
                          <a:solidFill>
                            <a:srgbClr val="FFFFFF"/>
                          </a:solidFill>
                          <a:latin typeface="Calibri"/>
                        </a:rPr>
                        <a:t>Scenario 1</a:t>
                      </a:r>
                    </a:p>
                  </a:txBody>
                  <a:tcPr marL="76200" marR="76200" marT="12700" marB="12700" anchor="ctr">
                    <a:solidFill>
                      <a:srgbClr val="1B5E20"/>
                    </a:solidFill>
                  </a:tcPr>
                </a:tc>
                <a:tc>
                  <a:txBody>
                    <a:bodyPr wrap="square"/>
                    <a:lstStyle/>
                    <a:p>
                      <a:pPr algn="ctr"/>
                      <a:r>
                        <a:rPr sz="1300" b="1">
                          <a:solidFill>
                            <a:srgbClr val="FFFFFF"/>
                          </a:solidFill>
                          <a:latin typeface="Calibri"/>
                        </a:rPr>
                        <a:t>Scenario 2</a:t>
                      </a:r>
                    </a:p>
                  </a:txBody>
                  <a:tcPr marL="76200" marR="76200" marT="12700" marB="12700" anchor="ctr">
                    <a:solidFill>
                      <a:srgbClr val="1B5E20"/>
                    </a:solidFill>
                  </a:tcPr>
                </a:tc>
              </a:tr>
              <a:tr h="420624">
                <a:tc>
                  <a:txBody>
                    <a:bodyPr wrap="square"/>
                    <a:lstStyle/>
                    <a:p>
                      <a:pPr algn="l"/>
                      <a:r>
                        <a:rPr sz="1200" b="1">
                          <a:solidFill>
                            <a:srgbClr val="37474F"/>
                          </a:solidFill>
                          <a:latin typeface="Calibri"/>
                        </a:rPr>
                        <a:t>Cout total des travaux TTC</a:t>
                      </a:r>
                    </a:p>
                  </a:txBody>
                  <a:tcPr marL="76200" marR="76200" marT="12700" marB="12700" anchor="ctr">
                    <a:solidFill>
                      <a:srgbClr val="FFFFFF"/>
                    </a:solidFill>
                  </a:tcPr>
                </a:tc>
                <a:tc>
                  <a:txBody>
                    <a:bodyPr wrap="square"/>
                    <a:lstStyle/>
                    <a:p>
                      <a:pPr algn="ctr"/>
                      <a:r>
                        <a:rPr sz="1200" b="0">
                          <a:solidFill>
                            <a:srgbClr val="37474F"/>
                          </a:solidFill>
                          <a:latin typeface="Calibri"/>
                        </a:rPr>
                        <a:t>42 500 €</a:t>
                      </a:r>
                    </a:p>
                  </a:txBody>
                  <a:tcPr marL="76200" marR="76200" marT="12700" marB="12700" anchor="ctr">
                    <a:solidFill>
                      <a:srgbClr val="FFFFFF"/>
                    </a:solidFill>
                  </a:tcPr>
                </a:tc>
                <a:tc>
                  <a:txBody>
                    <a:bodyPr wrap="square"/>
                    <a:lstStyle/>
                    <a:p>
                      <a:pPr algn="ctr"/>
                      <a:r>
                        <a:rPr sz="1200" b="0">
                          <a:solidFill>
                            <a:srgbClr val="37474F"/>
                          </a:solidFill>
                          <a:latin typeface="Calibri"/>
                        </a:rPr>
                        <a:t>63 000 €</a:t>
                      </a:r>
                    </a:p>
                  </a:txBody>
                  <a:tcPr marL="76200" marR="76200" marT="12700" marB="12700" anchor="ctr">
                    <a:solidFill>
                      <a:srgbClr val="FFFFFF"/>
                    </a:solidFill>
                  </a:tcPr>
                </a:tc>
              </a:tr>
              <a:tr h="420624">
                <a:tc>
                  <a:txBody>
                    <a:bodyPr wrap="square"/>
                    <a:lstStyle/>
                    <a:p>
                      <a:pPr algn="l"/>
                      <a:r>
                        <a:rPr sz="1200" b="1">
                          <a:solidFill>
                            <a:srgbClr val="37474F"/>
                          </a:solidFill>
                          <a:latin typeface="Calibri"/>
                        </a:rPr>
                        <a:t>MaPrimeRenov' (estimation prudente)</a:t>
                      </a:r>
                    </a:p>
                  </a:txBody>
                  <a:tcPr marL="76200" marR="76200" marT="12700" marB="12700" anchor="ctr">
                    <a:solidFill>
                      <a:srgbClr val="E8F5E9"/>
                    </a:solidFill>
                  </a:tcPr>
                </a:tc>
                <a:tc>
                  <a:txBody>
                    <a:bodyPr wrap="square"/>
                    <a:lstStyle/>
                    <a:p>
                      <a:pPr algn="ctr"/>
                      <a:r>
                        <a:rPr sz="1200" b="0">
                          <a:solidFill>
                            <a:srgbClr val="37474F"/>
                          </a:solidFill>
                          <a:latin typeface="Calibri"/>
                        </a:rPr>
                        <a:t>- 15 000 €</a:t>
                      </a:r>
                    </a:p>
                  </a:txBody>
                  <a:tcPr marL="76200" marR="76200" marT="12700" marB="12700" anchor="ctr">
                    <a:solidFill>
                      <a:srgbClr val="E8F5E9"/>
                    </a:solidFill>
                  </a:tcPr>
                </a:tc>
                <a:tc>
                  <a:txBody>
                    <a:bodyPr wrap="square"/>
                    <a:lstStyle/>
                    <a:p>
                      <a:pPr algn="ctr"/>
                      <a:r>
                        <a:rPr sz="1200" b="0">
                          <a:solidFill>
                            <a:srgbClr val="37474F"/>
                          </a:solidFill>
                          <a:latin typeface="Calibri"/>
                        </a:rPr>
                        <a:t>- 24 000 €</a:t>
                      </a:r>
                    </a:p>
                  </a:txBody>
                  <a:tcPr marL="76200" marR="76200" marT="12700" marB="12700" anchor="ctr">
                    <a:solidFill>
                      <a:srgbClr val="E8F5E9"/>
                    </a:solidFill>
                  </a:tcPr>
                </a:tc>
              </a:tr>
              <a:tr h="420624">
                <a:tc>
                  <a:txBody>
                    <a:bodyPr wrap="square"/>
                    <a:lstStyle/>
                    <a:p>
                      <a:pPr algn="l"/>
                      <a:r>
                        <a:rPr sz="1200" b="1">
                          <a:solidFill>
                            <a:srgbClr val="37474F"/>
                          </a:solidFill>
                          <a:latin typeface="Calibri"/>
                        </a:rPr>
                        <a:t>Certificats d'economies d'energie (CEE)</a:t>
                      </a:r>
                    </a:p>
                  </a:txBody>
                  <a:tcPr marL="76200" marR="76200" marT="12700" marB="12700" anchor="ctr">
                    <a:solidFill>
                      <a:srgbClr val="FFFFFF"/>
                    </a:solidFill>
                  </a:tcPr>
                </a:tc>
                <a:tc>
                  <a:txBody>
                    <a:bodyPr wrap="square"/>
                    <a:lstStyle/>
                    <a:p>
                      <a:pPr algn="ctr"/>
                      <a:r>
                        <a:rPr sz="1200" b="0">
                          <a:solidFill>
                            <a:srgbClr val="37474F"/>
                          </a:solidFill>
                          <a:latin typeface="Calibri"/>
                        </a:rPr>
                        <a:t>- 2 500 €</a:t>
                      </a:r>
                    </a:p>
                  </a:txBody>
                  <a:tcPr marL="76200" marR="76200" marT="12700" marB="12700" anchor="ctr">
                    <a:solidFill>
                      <a:srgbClr val="FFFFFF"/>
                    </a:solidFill>
                  </a:tcPr>
                </a:tc>
                <a:tc>
                  <a:txBody>
                    <a:bodyPr wrap="square"/>
                    <a:lstStyle/>
                    <a:p>
                      <a:pPr algn="ctr"/>
                      <a:r>
                        <a:rPr sz="1200" b="0">
                          <a:solidFill>
                            <a:srgbClr val="37474F"/>
                          </a:solidFill>
                          <a:latin typeface="Calibri"/>
                        </a:rPr>
                        <a:t>- 4 000 €</a:t>
                      </a:r>
                    </a:p>
                  </a:txBody>
                  <a:tcPr marL="76200" marR="76200" marT="12700" marB="12700" anchor="ctr">
                    <a:solidFill>
                      <a:srgbClr val="FFFFFF"/>
                    </a:solidFill>
                  </a:tcPr>
                </a:tc>
              </a:tr>
              <a:tr h="420624">
                <a:tc>
                  <a:txBody>
                    <a:bodyPr wrap="square"/>
                    <a:lstStyle/>
                    <a:p>
                      <a:pPr algn="l"/>
                      <a:r>
                        <a:rPr sz="1200" b="1">
                          <a:solidFill>
                            <a:srgbClr val="37474F"/>
                          </a:solidFill>
                          <a:latin typeface="Calibri"/>
                        </a:rPr>
                        <a:t>Aides locales eventuelles</a:t>
                      </a:r>
                    </a:p>
                  </a:txBody>
                  <a:tcPr marL="76200" marR="76200" marT="12700" marB="12700" anchor="ctr">
                    <a:solidFill>
                      <a:srgbClr val="E8F5E9"/>
                    </a:solidFill>
                  </a:tcPr>
                </a:tc>
                <a:tc>
                  <a:txBody>
                    <a:bodyPr wrap="square"/>
                    <a:lstStyle/>
                    <a:p>
                      <a:pPr algn="ctr"/>
                      <a:r>
                        <a:rPr sz="1200" b="0">
                          <a:solidFill>
                            <a:srgbClr val="37474F"/>
                          </a:solidFill>
                          <a:latin typeface="Calibri"/>
                        </a:rPr>
                        <a:t>- 2 500 €</a:t>
                      </a:r>
                    </a:p>
                  </a:txBody>
                  <a:tcPr marL="76200" marR="76200" marT="12700" marB="12700" anchor="ctr">
                    <a:solidFill>
                      <a:srgbClr val="E8F5E9"/>
                    </a:solidFill>
                  </a:tcPr>
                </a:tc>
                <a:tc>
                  <a:txBody>
                    <a:bodyPr wrap="square"/>
                    <a:lstStyle/>
                    <a:p>
                      <a:pPr algn="ctr"/>
                      <a:r>
                        <a:rPr sz="1200" b="0">
                          <a:solidFill>
                            <a:srgbClr val="37474F"/>
                          </a:solidFill>
                          <a:latin typeface="Calibri"/>
                        </a:rPr>
                        <a:t>- 2 000 €</a:t>
                      </a:r>
                    </a:p>
                  </a:txBody>
                  <a:tcPr marL="76200" marR="76200" marT="12700" marB="12700" anchor="ctr">
                    <a:solidFill>
                      <a:srgbClr val="E8F5E9"/>
                    </a:solidFill>
                  </a:tcPr>
                </a:tc>
              </a:tr>
              <a:tr h="420624">
                <a:tc>
                  <a:txBody>
                    <a:bodyPr wrap="square"/>
                    <a:lstStyle/>
                    <a:p>
                      <a:pPr algn="l"/>
                      <a:r>
                        <a:rPr sz="1200" b="1">
                          <a:solidFill>
                            <a:srgbClr val="37474F"/>
                          </a:solidFill>
                          <a:latin typeface="Calibri"/>
                        </a:rPr>
                        <a:t>Reste a charge</a:t>
                      </a:r>
                    </a:p>
                  </a:txBody>
                  <a:tcPr marL="76200" marR="76200" marT="12700" marB="12700" anchor="ctr">
                    <a:solidFill>
                      <a:srgbClr val="D7E9D0"/>
                    </a:solidFill>
                  </a:tcPr>
                </a:tc>
                <a:tc>
                  <a:txBody>
                    <a:bodyPr wrap="square"/>
                    <a:lstStyle/>
                    <a:p>
                      <a:pPr algn="ctr"/>
                      <a:r>
                        <a:rPr sz="1200" b="1">
                          <a:solidFill>
                            <a:srgbClr val="37474F"/>
                          </a:solidFill>
                          <a:latin typeface="Calibri"/>
                        </a:rPr>
                        <a:t>22 500 €</a:t>
                      </a:r>
                    </a:p>
                  </a:txBody>
                  <a:tcPr marL="76200" marR="76200" marT="12700" marB="12700" anchor="ctr">
                    <a:solidFill>
                      <a:srgbClr val="D7E9D0"/>
                    </a:solidFill>
                  </a:tcPr>
                </a:tc>
                <a:tc>
                  <a:txBody>
                    <a:bodyPr wrap="square"/>
                    <a:lstStyle/>
                    <a:p>
                      <a:pPr algn="ctr"/>
                      <a:r>
                        <a:rPr sz="1200" b="1">
                          <a:solidFill>
                            <a:srgbClr val="37474F"/>
                          </a:solidFill>
                          <a:latin typeface="Calibri"/>
                        </a:rPr>
                        <a:t>33 000 €</a:t>
                      </a:r>
                    </a:p>
                  </a:txBody>
                  <a:tcPr marL="76200" marR="76200" marT="12700" marB="12700" anchor="ctr">
                    <a:solidFill>
                      <a:srgbClr val="D7E9D0"/>
                    </a:solidFill>
                  </a:tcPr>
                </a:tc>
              </a:tr>
              <a:tr h="420624">
                <a:tc>
                  <a:txBody>
                    <a:bodyPr wrap="square"/>
                    <a:lstStyle/>
                    <a:p>
                      <a:pPr algn="l"/>
                      <a:r>
                        <a:rPr sz="1200" b="1">
                          <a:solidFill>
                            <a:srgbClr val="37474F"/>
                          </a:solidFill>
                          <a:latin typeface="Calibri"/>
                        </a:rPr>
                        <a:t>- Apport personnel</a:t>
                      </a:r>
                    </a:p>
                  </a:txBody>
                  <a:tcPr marL="76200" marR="76200" marT="12700" marB="12700" anchor="ctr">
                    <a:solidFill>
                      <a:srgbClr val="E8F5E9"/>
                    </a:solidFill>
                  </a:tcPr>
                </a:tc>
                <a:tc>
                  <a:txBody>
                    <a:bodyPr wrap="square"/>
                    <a:lstStyle/>
                    <a:p>
                      <a:pPr algn="ctr"/>
                      <a:r>
                        <a:rPr sz="1200" b="0">
                          <a:solidFill>
                            <a:srgbClr val="37474F"/>
                          </a:solidFill>
                          <a:latin typeface="Calibri"/>
                        </a:rPr>
                        <a:t>- 10 000 €</a:t>
                      </a:r>
                    </a:p>
                  </a:txBody>
                  <a:tcPr marL="76200" marR="76200" marT="12700" marB="12700" anchor="ctr">
                    <a:solidFill>
                      <a:srgbClr val="E8F5E9"/>
                    </a:solidFill>
                  </a:tcPr>
                </a:tc>
                <a:tc>
                  <a:txBody>
                    <a:bodyPr wrap="square"/>
                    <a:lstStyle/>
                    <a:p>
                      <a:pPr algn="ctr"/>
                      <a:r>
                        <a:rPr sz="1200" b="0">
                          <a:solidFill>
                            <a:srgbClr val="37474F"/>
                          </a:solidFill>
                          <a:latin typeface="Calibri"/>
                        </a:rPr>
                        <a:t>- 10 000 €</a:t>
                      </a:r>
                    </a:p>
                  </a:txBody>
                  <a:tcPr marL="76200" marR="76200" marT="12700" marB="12700" anchor="ctr">
                    <a:solidFill>
                      <a:srgbClr val="E8F5E9"/>
                    </a:solidFill>
                  </a:tcPr>
                </a:tc>
              </a:tr>
              <a:tr h="420624">
                <a:tc>
                  <a:txBody>
                    <a:bodyPr wrap="square"/>
                    <a:lstStyle/>
                    <a:p>
                      <a:pPr algn="l"/>
                      <a:r>
                        <a:rPr sz="1200" b="1">
                          <a:solidFill>
                            <a:srgbClr val="37474F"/>
                          </a:solidFill>
                          <a:latin typeface="Calibri"/>
                        </a:rPr>
                        <a:t>A financer (eco-PTZ a 0 %)</a:t>
                      </a:r>
                    </a:p>
                  </a:txBody>
                  <a:tcPr marL="76200" marR="76200" marT="12700" marB="12700" anchor="ctr">
                    <a:solidFill>
                      <a:srgbClr val="D7E9D0"/>
                    </a:solidFill>
                  </a:tcPr>
                </a:tc>
                <a:tc>
                  <a:txBody>
                    <a:bodyPr wrap="square"/>
                    <a:lstStyle/>
                    <a:p>
                      <a:pPr algn="ctr"/>
                      <a:r>
                        <a:rPr sz="1200" b="1">
                          <a:solidFill>
                            <a:srgbClr val="37474F"/>
                          </a:solidFill>
                          <a:latin typeface="Calibri"/>
                        </a:rPr>
                        <a:t>12 500 €</a:t>
                      </a:r>
                    </a:p>
                  </a:txBody>
                  <a:tcPr marL="76200" marR="76200" marT="12700" marB="12700" anchor="ctr">
                    <a:solidFill>
                      <a:srgbClr val="D7E9D0"/>
                    </a:solidFill>
                  </a:tcPr>
                </a:tc>
                <a:tc>
                  <a:txBody>
                    <a:bodyPr wrap="square"/>
                    <a:lstStyle/>
                    <a:p>
                      <a:pPr algn="ctr"/>
                      <a:r>
                        <a:rPr sz="1200" b="1">
                          <a:solidFill>
                            <a:srgbClr val="37474F"/>
                          </a:solidFill>
                          <a:latin typeface="Calibri"/>
                        </a:rPr>
                        <a:t>23 000 €</a:t>
                      </a:r>
                    </a:p>
                  </a:txBody>
                  <a:tcPr marL="76200" marR="76200" marT="12700" marB="12700" anchor="ctr">
                    <a:solidFill>
                      <a:srgbClr val="D7E9D0"/>
                    </a:solidFill>
                  </a:tcPr>
                </a:tc>
              </a:tr>
            </a:tbl>
          </a:graphicData>
        </a:graphic>
      </p:graphicFrame>
      <p:sp>
        <p:nvSpPr>
          <p:cNvPr id="12" name="Rounded Rectangle 11"/>
          <p:cNvSpPr/>
          <p:nvPr/>
        </p:nvSpPr>
        <p:spPr>
          <a:xfrm>
            <a:off x="822960" y="5440680"/>
            <a:ext cx="1051560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5504688"/>
            <a:ext cx="10058400" cy="731520"/>
          </a:xfrm>
          <a:prstGeom prst="rect">
            <a:avLst/>
          </a:prstGeom>
          <a:noFill/>
        </p:spPr>
        <p:txBody>
          <a:bodyPr wrap="square" anchor="ctr" lIns="25400" rIns="25400" tIns="25400" bIns="25400">
            <a:spAutoFit/>
          </a:bodyPr>
          <a:lstStyle/>
          <a:p>
            <a:pPr algn="l">
              <a:lnSpc>
                <a:spcPct val="100000"/>
              </a:lnSpc>
              <a:spcAft>
                <a:spcPts val="400"/>
              </a:spcAft>
            </a:pPr>
            <a:r>
              <a:rPr sz="1250" b="0" i="0">
                <a:solidFill>
                  <a:srgbClr val="37474F"/>
                </a:solidFill>
                <a:latin typeface="Calibri"/>
              </a:rPr>
              <a:t>Estimation prudente des aides (~20 000 € et ~30 000 €). Apres apport, le solde (12 500 a 23 000 €) est finance par un eco-PTZ a 0 % -&gt; projet dans le budget de la famille.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384048"/>
            <a:ext cx="658368" cy="65836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84048"/>
            <a:ext cx="658368" cy="658368"/>
          </a:xfrm>
          <a:prstGeom prst="rect">
            <a:avLst/>
          </a:prstGeom>
          <a:noFill/>
        </p:spPr>
        <p:txBody>
          <a:bodyPr wrap="square" anchor="ctr" lIns="25400" rIns="25400" tIns="25400" bIns="25400">
            <a:spAutoFit/>
          </a:bodyPr>
          <a:lstStyle/>
          <a:p>
            <a:pPr algn="ctr">
              <a:lnSpc>
                <a:spcPct val="100000"/>
              </a:lnSpc>
              <a:spcAft>
                <a:spcPts val="400"/>
              </a:spcAft>
            </a:pPr>
            <a:r>
              <a:rPr sz="2600" b="1" i="0">
                <a:solidFill>
                  <a:srgbClr val="FFFFFF"/>
                </a:solidFill>
                <a:latin typeface="Calibri"/>
              </a:rPr>
              <a:t>6</a:t>
            </a:r>
          </a:p>
        </p:txBody>
      </p:sp>
      <p:sp>
        <p:nvSpPr>
          <p:cNvPr id="6" name="TextBox 5"/>
          <p:cNvSpPr txBox="1"/>
          <p:nvPr/>
        </p:nvSpPr>
        <p:spPr>
          <a:xfrm>
            <a:off x="1325880" y="310896"/>
            <a:ext cx="10332720" cy="566928"/>
          </a:xfrm>
          <a:prstGeom prst="rect">
            <a:avLst/>
          </a:prstGeom>
          <a:noFill/>
        </p:spPr>
        <p:txBody>
          <a:bodyPr wrap="square" anchor="ctr" lIns="25400" rIns="25400" tIns="25400" bIns="25400">
            <a:spAutoFit/>
          </a:bodyPr>
          <a:lstStyle/>
          <a:p>
            <a:pPr algn="l">
              <a:lnSpc>
                <a:spcPct val="100000"/>
              </a:lnSpc>
              <a:spcAft>
                <a:spcPts val="400"/>
              </a:spcAft>
            </a:pPr>
            <a:r>
              <a:rPr sz="2800" b="1" i="0">
                <a:solidFill>
                  <a:srgbClr val="1B5E20"/>
                </a:solidFill>
                <a:latin typeface="Calibri"/>
              </a:rPr>
              <a:t>Analyse en cout global &amp; rentabilite</a:t>
            </a:r>
          </a:p>
        </p:txBody>
      </p:sp>
      <p:sp>
        <p:nvSpPr>
          <p:cNvPr id="7" name="Rectangle 6"/>
          <p:cNvSpPr/>
          <p:nvPr/>
        </p:nvSpPr>
        <p:spPr>
          <a:xfrm>
            <a:off x="1325880" y="1225296"/>
            <a:ext cx="10058400" cy="279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92608"/>
          </a:xfrm>
          <a:prstGeom prst="rect">
            <a:avLst/>
          </a:prstGeom>
          <a:noFill/>
        </p:spPr>
        <p:txBody>
          <a:bodyPr wrap="square" anchor="t" lIns="25400" rIns="25400" tIns="25400" bIns="25400">
            <a:spAutoFit/>
          </a:bodyPr>
          <a:lstStyle/>
          <a:p>
            <a:pPr algn="l">
              <a:lnSpc>
                <a:spcPct val="100000"/>
              </a:lnSpc>
              <a:spcAft>
                <a:spcPts val="400"/>
              </a:spcAft>
            </a:pPr>
            <a:r>
              <a:rPr sz="900" b="0" i="0">
                <a:solidFill>
                  <a:srgbClr val="90A4AE"/>
                </a:solidFill>
                <a:latin typeface="Calibri"/>
              </a:rPr>
              <a:t>Renovation energetique - Saint-Jean-de-Chevelu (73) - Bloc 1</a:t>
            </a:r>
          </a:p>
        </p:txBody>
      </p:sp>
      <p:sp>
        <p:nvSpPr>
          <p:cNvPr id="9" name="TextBox 8"/>
          <p:cNvSpPr txBox="1"/>
          <p:nvPr/>
        </p:nvSpPr>
        <p:spPr>
          <a:xfrm>
            <a:off x="9418320" y="6473952"/>
            <a:ext cx="2286000" cy="292608"/>
          </a:xfrm>
          <a:prstGeom prst="rect">
            <a:avLst/>
          </a:prstGeom>
          <a:noFill/>
        </p:spPr>
        <p:txBody>
          <a:bodyPr wrap="square" anchor="t" lIns="25400" rIns="25400" tIns="25400" bIns="25400">
            <a:spAutoFit/>
          </a:bodyPr>
          <a:lstStyle/>
          <a:p>
            <a:pPr algn="r">
              <a:lnSpc>
                <a:spcPct val="100000"/>
              </a:lnSpc>
              <a:spcAft>
                <a:spcPts val="400"/>
              </a:spcAft>
            </a:pPr>
            <a:r>
              <a:rPr sz="900" b="0" i="0">
                <a:solidFill>
                  <a:srgbClr val="90A4AE"/>
                </a:solidFill>
                <a:latin typeface="Calibri"/>
              </a:rPr>
              <a:t>Guillaume Tardy</a:t>
            </a:r>
          </a:p>
        </p:txBody>
      </p:sp>
      <p:graphicFrame>
        <p:nvGraphicFramePr>
          <p:cNvPr id="10" name="Chart 9"/>
          <p:cNvGraphicFramePr>
            <a:graphicFrameLocks noGrp="1"/>
          </p:cNvGraphicFramePr>
          <p:nvPr/>
        </p:nvGraphicFramePr>
        <p:xfrm>
          <a:off x="822960" y="1600200"/>
          <a:ext cx="6035040" cy="3108960"/>
        </p:xfrm>
        <a:graphic>
          <a:graphicData uri="http://schemas.openxmlformats.org/drawingml/2006/chart">
            <c:chart xmlns:c="http://schemas.openxmlformats.org/drawingml/2006/chart" r:id="rId2"/>
          </a:graphicData>
        </a:graphic>
      </p:graphicFrame>
      <p:sp>
        <p:nvSpPr>
          <p:cNvPr id="11" name="TextBox 10"/>
          <p:cNvSpPr txBox="1"/>
          <p:nvPr/>
        </p:nvSpPr>
        <p:spPr>
          <a:xfrm>
            <a:off x="7223760" y="1554480"/>
            <a:ext cx="4114800" cy="365760"/>
          </a:xfrm>
          <a:prstGeom prst="rect">
            <a:avLst/>
          </a:prstGeom>
          <a:noFill/>
        </p:spPr>
        <p:txBody>
          <a:bodyPr wrap="square" anchor="t" lIns="25400" rIns="25400" tIns="25400" bIns="25400">
            <a:spAutoFit/>
          </a:bodyPr>
          <a:lstStyle/>
          <a:p>
            <a:pPr algn="l">
              <a:lnSpc>
                <a:spcPct val="100000"/>
              </a:lnSpc>
              <a:spcAft>
                <a:spcPts val="400"/>
              </a:spcAft>
            </a:pPr>
            <a:r>
              <a:rPr sz="1300" b="1" i="0">
                <a:solidFill>
                  <a:srgbClr val="1B5E20"/>
                </a:solidFill>
                <a:latin typeface="Calibri"/>
              </a:rPr>
              <a:t>Factures reelles &amp; ROI</a:t>
            </a:r>
          </a:p>
        </p:txBody>
      </p:sp>
      <p:graphicFrame>
        <p:nvGraphicFramePr>
          <p:cNvPr id="12" name="Table 11"/>
          <p:cNvGraphicFramePr>
            <a:graphicFrameLocks noGrp="1"/>
          </p:cNvGraphicFramePr>
          <p:nvPr/>
        </p:nvGraphicFramePr>
        <p:xfrm>
          <a:off x="7223760" y="2011680"/>
          <a:ext cx="4114800" cy="1719072"/>
        </p:xfrm>
        <a:graphic>
          <a:graphicData uri="http://schemas.openxmlformats.org/drawingml/2006/table">
            <a:tbl>
              <a:tblPr>
                <a:tableStyleId>{5C22544A-7EE6-4342-B048-85BDC9FD1C3A}</a:tableStyleId>
              </a:tblPr>
              <a:tblGrid>
                <a:gridCol w="1737360"/>
                <a:gridCol w="1188720"/>
                <a:gridCol w="1188720"/>
              </a:tblGrid>
              <a:tr h="429768">
                <a:tc>
                  <a:txBody>
                    <a:bodyPr wrap="square"/>
                    <a:lstStyle/>
                    <a:p>
                      <a:pPr algn="l"/>
                      <a:r>
                        <a:rPr sz="1150" b="1">
                          <a:solidFill>
                            <a:srgbClr val="FFFFFF"/>
                          </a:solidFill>
                          <a:latin typeface="Calibri"/>
                        </a:rPr>
                        <a:t>Situation</a:t>
                      </a:r>
                    </a:p>
                  </a:txBody>
                  <a:tcPr marL="76200" marR="76200" marT="12700" marB="12700" anchor="ctr">
                    <a:solidFill>
                      <a:srgbClr val="1B5E20"/>
                    </a:solidFill>
                  </a:tcPr>
                </a:tc>
                <a:tc>
                  <a:txBody>
                    <a:bodyPr wrap="square"/>
                    <a:lstStyle/>
                    <a:p>
                      <a:pPr algn="ctr"/>
                      <a:r>
                        <a:rPr sz="1150" b="1">
                          <a:solidFill>
                            <a:srgbClr val="FFFFFF"/>
                          </a:solidFill>
                          <a:latin typeface="Calibri"/>
                        </a:rPr>
                        <a:t>€/an</a:t>
                      </a:r>
                    </a:p>
                  </a:txBody>
                  <a:tcPr marL="76200" marR="76200" marT="12700" marB="12700" anchor="ctr">
                    <a:solidFill>
                      <a:srgbClr val="1B5E20"/>
                    </a:solidFill>
                  </a:tcPr>
                </a:tc>
                <a:tc>
                  <a:txBody>
                    <a:bodyPr wrap="square"/>
                    <a:lstStyle/>
                    <a:p>
                      <a:pPr algn="ctr"/>
                      <a:r>
                        <a:rPr sz="1150" b="1">
                          <a:solidFill>
                            <a:srgbClr val="FFFFFF"/>
                          </a:solidFill>
                          <a:latin typeface="Calibri"/>
                        </a:rPr>
                        <a:t>€/mois</a:t>
                      </a:r>
                    </a:p>
                  </a:txBody>
                  <a:tcPr marL="76200" marR="76200" marT="12700" marB="12700" anchor="ctr">
                    <a:solidFill>
                      <a:srgbClr val="1B5E20"/>
                    </a:solidFill>
                  </a:tcPr>
                </a:tc>
              </a:tr>
              <a:tr h="429768">
                <a:tc>
                  <a:txBody>
                    <a:bodyPr wrap="square"/>
                    <a:lstStyle/>
                    <a:p>
                      <a:pPr algn="l"/>
                      <a:r>
                        <a:rPr sz="1100" b="0">
                          <a:solidFill>
                            <a:srgbClr val="37474F"/>
                          </a:solidFill>
                          <a:latin typeface="Calibri"/>
                        </a:rPr>
                        <a:t>Avant travaux</a:t>
                      </a:r>
                    </a:p>
                  </a:txBody>
                  <a:tcPr marL="76200" marR="76200" marT="12700" marB="12700" anchor="ctr">
                    <a:solidFill>
                      <a:srgbClr val="FFFFFF"/>
                    </a:solidFill>
                  </a:tcPr>
                </a:tc>
                <a:tc>
                  <a:txBody>
                    <a:bodyPr wrap="square"/>
                    <a:lstStyle/>
                    <a:p>
                      <a:pPr algn="ctr"/>
                      <a:r>
                        <a:rPr sz="1100" b="0">
                          <a:solidFill>
                            <a:srgbClr val="37474F"/>
                          </a:solidFill>
                          <a:latin typeface="Calibri"/>
                        </a:rPr>
                        <a:t>3 800</a:t>
                      </a:r>
                    </a:p>
                  </a:txBody>
                  <a:tcPr marL="76200" marR="76200" marT="12700" marB="12700" anchor="ctr">
                    <a:solidFill>
                      <a:srgbClr val="FFFFFF"/>
                    </a:solidFill>
                  </a:tcPr>
                </a:tc>
                <a:tc>
                  <a:txBody>
                    <a:bodyPr wrap="square"/>
                    <a:lstStyle/>
                    <a:p>
                      <a:pPr algn="ctr"/>
                      <a:r>
                        <a:rPr sz="1100" b="0">
                          <a:solidFill>
                            <a:srgbClr val="37474F"/>
                          </a:solidFill>
                          <a:latin typeface="Calibri"/>
                        </a:rPr>
                        <a:t>317</a:t>
                      </a:r>
                    </a:p>
                  </a:txBody>
                  <a:tcPr marL="76200" marR="76200" marT="12700" marB="12700" anchor="ctr">
                    <a:solidFill>
                      <a:srgbClr val="FFFFFF"/>
                    </a:solidFill>
                  </a:tcPr>
                </a:tc>
              </a:tr>
              <a:tr h="429768">
                <a:tc>
                  <a:txBody>
                    <a:bodyPr wrap="square"/>
                    <a:lstStyle/>
                    <a:p>
                      <a:pPr algn="l"/>
                      <a:r>
                        <a:rPr sz="1100" b="0">
                          <a:solidFill>
                            <a:srgbClr val="37474F"/>
                          </a:solidFill>
                          <a:latin typeface="Calibri"/>
                        </a:rPr>
                        <a:t>Scenario 1</a:t>
                      </a:r>
                    </a:p>
                  </a:txBody>
                  <a:tcPr marL="76200" marR="76200" marT="12700" marB="12700" anchor="ctr">
                    <a:solidFill>
                      <a:srgbClr val="E8F5E9"/>
                    </a:solidFill>
                  </a:tcPr>
                </a:tc>
                <a:tc>
                  <a:txBody>
                    <a:bodyPr wrap="square"/>
                    <a:lstStyle/>
                    <a:p>
                      <a:pPr algn="ctr"/>
                      <a:r>
                        <a:rPr sz="1100" b="0">
                          <a:solidFill>
                            <a:srgbClr val="37474F"/>
                          </a:solidFill>
                          <a:latin typeface="Calibri"/>
                        </a:rPr>
                        <a:t>2 200</a:t>
                      </a:r>
                    </a:p>
                  </a:txBody>
                  <a:tcPr marL="76200" marR="76200" marT="12700" marB="12700" anchor="ctr">
                    <a:solidFill>
                      <a:srgbClr val="E8F5E9"/>
                    </a:solidFill>
                  </a:tcPr>
                </a:tc>
                <a:tc>
                  <a:txBody>
                    <a:bodyPr wrap="square"/>
                    <a:lstStyle/>
                    <a:p>
                      <a:pPr algn="ctr"/>
                      <a:r>
                        <a:rPr sz="1100" b="0">
                          <a:solidFill>
                            <a:srgbClr val="37474F"/>
                          </a:solidFill>
                          <a:latin typeface="Calibri"/>
                        </a:rPr>
                        <a:t>183</a:t>
                      </a:r>
                    </a:p>
                  </a:txBody>
                  <a:tcPr marL="76200" marR="76200" marT="12700" marB="12700" anchor="ctr">
                    <a:solidFill>
                      <a:srgbClr val="E8F5E9"/>
                    </a:solidFill>
                  </a:tcPr>
                </a:tc>
              </a:tr>
              <a:tr h="429768">
                <a:tc>
                  <a:txBody>
                    <a:bodyPr wrap="square"/>
                    <a:lstStyle/>
                    <a:p>
                      <a:pPr algn="l"/>
                      <a:r>
                        <a:rPr sz="1100" b="0">
                          <a:solidFill>
                            <a:srgbClr val="37474F"/>
                          </a:solidFill>
                          <a:latin typeface="Calibri"/>
                        </a:rPr>
                        <a:t>Scenario 2</a:t>
                      </a:r>
                    </a:p>
                  </a:txBody>
                  <a:tcPr marL="76200" marR="76200" marT="12700" marB="12700" anchor="ctr">
                    <a:solidFill>
                      <a:srgbClr val="FFFFFF"/>
                    </a:solidFill>
                  </a:tcPr>
                </a:tc>
                <a:tc>
                  <a:txBody>
                    <a:bodyPr wrap="square"/>
                    <a:lstStyle/>
                    <a:p>
                      <a:pPr algn="ctr"/>
                      <a:r>
                        <a:rPr sz="1100" b="0">
                          <a:solidFill>
                            <a:srgbClr val="37474F"/>
                          </a:solidFill>
                          <a:latin typeface="Calibri"/>
                        </a:rPr>
                        <a:t>1 600</a:t>
                      </a:r>
                    </a:p>
                  </a:txBody>
                  <a:tcPr marL="76200" marR="76200" marT="12700" marB="12700" anchor="ctr">
                    <a:solidFill>
                      <a:srgbClr val="FFFFFF"/>
                    </a:solidFill>
                  </a:tcPr>
                </a:tc>
                <a:tc>
                  <a:txBody>
                    <a:bodyPr wrap="square"/>
                    <a:lstStyle/>
                    <a:p>
                      <a:pPr algn="ctr"/>
                      <a:r>
                        <a:rPr sz="1100" b="0">
                          <a:solidFill>
                            <a:srgbClr val="37474F"/>
                          </a:solidFill>
                          <a:latin typeface="Calibri"/>
                        </a:rPr>
                        <a:t>133</a:t>
                      </a:r>
                    </a:p>
                  </a:txBody>
                  <a:tcPr marL="76200" marR="76200" marT="12700" marB="12700" anchor="ctr">
                    <a:solidFill>
                      <a:srgbClr val="FFFFFF"/>
                    </a:solidFill>
                  </a:tcPr>
                </a:tc>
              </a:tr>
            </a:tbl>
          </a:graphicData>
        </a:graphic>
      </p:graphicFrame>
      <p:graphicFrame>
        <p:nvGraphicFramePr>
          <p:cNvPr id="13" name="Table 12"/>
          <p:cNvGraphicFramePr>
            <a:graphicFrameLocks noGrp="1"/>
          </p:cNvGraphicFramePr>
          <p:nvPr/>
        </p:nvGraphicFramePr>
        <p:xfrm>
          <a:off x="7223760" y="4160520"/>
          <a:ext cx="4114800" cy="1719072"/>
        </p:xfrm>
        <a:graphic>
          <a:graphicData uri="http://schemas.openxmlformats.org/drawingml/2006/table">
            <a:tbl>
              <a:tblPr>
                <a:tableStyleId>{5C22544A-7EE6-4342-B048-85BDC9FD1C3A}</a:tableStyleId>
              </a:tblPr>
              <a:tblGrid>
                <a:gridCol w="2103120"/>
                <a:gridCol w="1005840"/>
                <a:gridCol w="1005840"/>
              </a:tblGrid>
              <a:tr h="429768">
                <a:tc>
                  <a:txBody>
                    <a:bodyPr wrap="square"/>
                    <a:lstStyle/>
                    <a:p>
                      <a:pPr algn="l"/>
                      <a:r>
                        <a:rPr sz="1100" b="1">
                          <a:solidFill>
                            <a:srgbClr val="FFFFFF"/>
                          </a:solidFill>
                          <a:latin typeface="Calibri"/>
                        </a:rPr>
                        <a:t>ROI (sur reste a charge)</a:t>
                      </a:r>
                    </a:p>
                  </a:txBody>
                  <a:tcPr marL="76200" marR="76200" marT="12700" marB="12700" anchor="ctr">
                    <a:solidFill>
                      <a:srgbClr val="1B5E20"/>
                    </a:solidFill>
                  </a:tcPr>
                </a:tc>
                <a:tc>
                  <a:txBody>
                    <a:bodyPr wrap="square"/>
                    <a:lstStyle/>
                    <a:p>
                      <a:pPr algn="ctr"/>
                      <a:r>
                        <a:rPr sz="1100" b="1">
                          <a:solidFill>
                            <a:srgbClr val="FFFFFF"/>
                          </a:solidFill>
                          <a:latin typeface="Calibri"/>
                        </a:rPr>
                        <a:t>Sc. 1</a:t>
                      </a:r>
                    </a:p>
                  </a:txBody>
                  <a:tcPr marL="76200" marR="76200" marT="12700" marB="12700" anchor="ctr">
                    <a:solidFill>
                      <a:srgbClr val="1B5E20"/>
                    </a:solidFill>
                  </a:tcPr>
                </a:tc>
                <a:tc>
                  <a:txBody>
                    <a:bodyPr wrap="square"/>
                    <a:lstStyle/>
                    <a:p>
                      <a:pPr algn="ctr"/>
                      <a:r>
                        <a:rPr sz="1100" b="1">
                          <a:solidFill>
                            <a:srgbClr val="FFFFFF"/>
                          </a:solidFill>
                          <a:latin typeface="Calibri"/>
                        </a:rPr>
                        <a:t>Sc. 2</a:t>
                      </a:r>
                    </a:p>
                  </a:txBody>
                  <a:tcPr marL="76200" marR="76200" marT="12700" marB="12700" anchor="ctr">
                    <a:solidFill>
                      <a:srgbClr val="1B5E20"/>
                    </a:solidFill>
                  </a:tcPr>
                </a:tc>
              </a:tr>
              <a:tr h="429768">
                <a:tc>
                  <a:txBody>
                    <a:bodyPr wrap="square"/>
                    <a:lstStyle/>
                    <a:p>
                      <a:pPr algn="l"/>
                      <a:r>
                        <a:rPr sz="1100" b="0">
                          <a:solidFill>
                            <a:srgbClr val="37474F"/>
                          </a:solidFill>
                          <a:latin typeface="Calibri"/>
                        </a:rPr>
                        <a:t>Reste a charge</a:t>
                      </a:r>
                    </a:p>
                  </a:txBody>
                  <a:tcPr marL="76200" marR="76200" marT="12700" marB="12700" anchor="ctr">
                    <a:solidFill>
                      <a:srgbClr val="FFFFFF"/>
                    </a:solidFill>
                  </a:tcPr>
                </a:tc>
                <a:tc>
                  <a:txBody>
                    <a:bodyPr wrap="square"/>
                    <a:lstStyle/>
                    <a:p>
                      <a:pPr algn="ctr"/>
                      <a:r>
                        <a:rPr sz="1100" b="0">
                          <a:solidFill>
                            <a:srgbClr val="37474F"/>
                          </a:solidFill>
                          <a:latin typeface="Calibri"/>
                        </a:rPr>
                        <a:t>22 500 €</a:t>
                      </a:r>
                    </a:p>
                  </a:txBody>
                  <a:tcPr marL="76200" marR="76200" marT="12700" marB="12700" anchor="ctr">
                    <a:solidFill>
                      <a:srgbClr val="FFFFFF"/>
                    </a:solidFill>
                  </a:tcPr>
                </a:tc>
                <a:tc>
                  <a:txBody>
                    <a:bodyPr wrap="square"/>
                    <a:lstStyle/>
                    <a:p>
                      <a:pPr algn="ctr"/>
                      <a:r>
                        <a:rPr sz="1100" b="0">
                          <a:solidFill>
                            <a:srgbClr val="37474F"/>
                          </a:solidFill>
                          <a:latin typeface="Calibri"/>
                        </a:rPr>
                        <a:t>33 000 €</a:t>
                      </a:r>
                    </a:p>
                  </a:txBody>
                  <a:tcPr marL="76200" marR="76200" marT="12700" marB="12700" anchor="ctr">
                    <a:solidFill>
                      <a:srgbClr val="FFFFFF"/>
                    </a:solidFill>
                  </a:tcPr>
                </a:tc>
              </a:tr>
              <a:tr h="429768">
                <a:tc>
                  <a:txBody>
                    <a:bodyPr wrap="square"/>
                    <a:lstStyle/>
                    <a:p>
                      <a:pPr algn="l"/>
                      <a:r>
                        <a:rPr sz="1100" b="0">
                          <a:solidFill>
                            <a:srgbClr val="37474F"/>
                          </a:solidFill>
                          <a:latin typeface="Calibri"/>
                        </a:rPr>
                        <a:t>Economies/an</a:t>
                      </a:r>
                    </a:p>
                  </a:txBody>
                  <a:tcPr marL="76200" marR="76200" marT="12700" marB="12700" anchor="ctr">
                    <a:solidFill>
                      <a:srgbClr val="E8F5E9"/>
                    </a:solidFill>
                  </a:tcPr>
                </a:tc>
                <a:tc>
                  <a:txBody>
                    <a:bodyPr wrap="square"/>
                    <a:lstStyle/>
                    <a:p>
                      <a:pPr algn="ctr"/>
                      <a:r>
                        <a:rPr sz="1100" b="0">
                          <a:solidFill>
                            <a:srgbClr val="37474F"/>
                          </a:solidFill>
                          <a:latin typeface="Calibri"/>
                        </a:rPr>
                        <a:t>1 600 €</a:t>
                      </a:r>
                    </a:p>
                  </a:txBody>
                  <a:tcPr marL="76200" marR="76200" marT="12700" marB="12700" anchor="ctr">
                    <a:solidFill>
                      <a:srgbClr val="E8F5E9"/>
                    </a:solidFill>
                  </a:tcPr>
                </a:tc>
                <a:tc>
                  <a:txBody>
                    <a:bodyPr wrap="square"/>
                    <a:lstStyle/>
                    <a:p>
                      <a:pPr algn="ctr"/>
                      <a:r>
                        <a:rPr sz="1100" b="0">
                          <a:solidFill>
                            <a:srgbClr val="37474F"/>
                          </a:solidFill>
                          <a:latin typeface="Calibri"/>
                        </a:rPr>
                        <a:t>2 200 €</a:t>
                      </a:r>
                    </a:p>
                  </a:txBody>
                  <a:tcPr marL="76200" marR="76200" marT="12700" marB="12700" anchor="ctr">
                    <a:solidFill>
                      <a:srgbClr val="E8F5E9"/>
                    </a:solidFill>
                  </a:tcPr>
                </a:tc>
              </a:tr>
              <a:tr h="429768">
                <a:tc>
                  <a:txBody>
                    <a:bodyPr wrap="square"/>
                    <a:lstStyle/>
                    <a:p>
                      <a:pPr algn="l"/>
                      <a:r>
                        <a:rPr sz="1100" b="0">
                          <a:solidFill>
                            <a:srgbClr val="37474F"/>
                          </a:solidFill>
                          <a:latin typeface="Calibri"/>
                        </a:rPr>
                        <a:t>Amortissement</a:t>
                      </a:r>
                    </a:p>
                  </a:txBody>
                  <a:tcPr marL="76200" marR="76200" marT="12700" marB="12700" anchor="ctr">
                    <a:solidFill>
                      <a:srgbClr val="FFFFFF"/>
                    </a:solidFill>
                  </a:tcPr>
                </a:tc>
                <a:tc>
                  <a:txBody>
                    <a:bodyPr wrap="square"/>
                    <a:lstStyle/>
                    <a:p>
                      <a:pPr algn="ctr"/>
                      <a:r>
                        <a:rPr sz="1100" b="0">
                          <a:solidFill>
                            <a:srgbClr val="37474F"/>
                          </a:solidFill>
                          <a:latin typeface="Calibri"/>
                        </a:rPr>
                        <a:t>~14 ans</a:t>
                      </a:r>
                    </a:p>
                  </a:txBody>
                  <a:tcPr marL="76200" marR="76200" marT="12700" marB="12700" anchor="ctr">
                    <a:solidFill>
                      <a:srgbClr val="FFFFFF"/>
                    </a:solidFill>
                  </a:tcPr>
                </a:tc>
                <a:tc>
                  <a:txBody>
                    <a:bodyPr wrap="square"/>
                    <a:lstStyle/>
                    <a:p>
                      <a:pPr algn="ctr"/>
                      <a:r>
                        <a:rPr sz="1100" b="0">
                          <a:solidFill>
                            <a:srgbClr val="37474F"/>
                          </a:solidFill>
                          <a:latin typeface="Calibri"/>
                        </a:rPr>
                        <a:t>~15 ans</a:t>
                      </a:r>
                    </a:p>
                  </a:txBody>
                  <a:tcPr marL="76200" marR="76200" marT="12700" marB="12700"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384048"/>
            <a:ext cx="658368" cy="658368"/>
          </a:xfrm>
          <a:prstGeom prst="ellipse">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84048"/>
            <a:ext cx="658368" cy="658368"/>
          </a:xfrm>
          <a:prstGeom prst="rect">
            <a:avLst/>
          </a:prstGeom>
          <a:noFill/>
        </p:spPr>
        <p:txBody>
          <a:bodyPr wrap="square" anchor="ctr" lIns="25400" rIns="25400" tIns="25400" bIns="25400">
            <a:spAutoFit/>
          </a:bodyPr>
          <a:lstStyle/>
          <a:p>
            <a:pPr algn="ctr">
              <a:lnSpc>
                <a:spcPct val="100000"/>
              </a:lnSpc>
              <a:spcAft>
                <a:spcPts val="400"/>
              </a:spcAft>
            </a:pPr>
            <a:r>
              <a:rPr sz="2600" b="1" i="0">
                <a:solidFill>
                  <a:srgbClr val="FFFFFF"/>
                </a:solidFill>
                <a:latin typeface="Calibri"/>
              </a:rPr>
              <a:t>7</a:t>
            </a:r>
          </a:p>
        </p:txBody>
      </p:sp>
      <p:sp>
        <p:nvSpPr>
          <p:cNvPr id="6" name="TextBox 5"/>
          <p:cNvSpPr txBox="1"/>
          <p:nvPr/>
        </p:nvSpPr>
        <p:spPr>
          <a:xfrm>
            <a:off x="1325880" y="310896"/>
            <a:ext cx="10332720" cy="566928"/>
          </a:xfrm>
          <a:prstGeom prst="rect">
            <a:avLst/>
          </a:prstGeom>
          <a:noFill/>
        </p:spPr>
        <p:txBody>
          <a:bodyPr wrap="square" anchor="ctr" lIns="25400" rIns="25400" tIns="25400" bIns="25400">
            <a:spAutoFit/>
          </a:bodyPr>
          <a:lstStyle/>
          <a:p>
            <a:pPr algn="l">
              <a:lnSpc>
                <a:spcPct val="100000"/>
              </a:lnSpc>
              <a:spcAft>
                <a:spcPts val="400"/>
              </a:spcAft>
            </a:pPr>
            <a:r>
              <a:rPr sz="2800" b="1" i="0">
                <a:solidFill>
                  <a:srgbClr val="1B5E20"/>
                </a:solidFill>
                <a:latin typeface="Calibri"/>
              </a:rPr>
              <a:t>Synthese comparative des scenarios</a:t>
            </a:r>
          </a:p>
        </p:txBody>
      </p:sp>
      <p:sp>
        <p:nvSpPr>
          <p:cNvPr id="7" name="Rectangle 6"/>
          <p:cNvSpPr/>
          <p:nvPr/>
        </p:nvSpPr>
        <p:spPr>
          <a:xfrm>
            <a:off x="1325880" y="1225296"/>
            <a:ext cx="10058400" cy="279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92608"/>
          </a:xfrm>
          <a:prstGeom prst="rect">
            <a:avLst/>
          </a:prstGeom>
          <a:noFill/>
        </p:spPr>
        <p:txBody>
          <a:bodyPr wrap="square" anchor="t" lIns="25400" rIns="25400" tIns="25400" bIns="25400">
            <a:spAutoFit/>
          </a:bodyPr>
          <a:lstStyle/>
          <a:p>
            <a:pPr algn="l">
              <a:lnSpc>
                <a:spcPct val="100000"/>
              </a:lnSpc>
              <a:spcAft>
                <a:spcPts val="400"/>
              </a:spcAft>
            </a:pPr>
            <a:r>
              <a:rPr sz="900" b="0" i="0">
                <a:solidFill>
                  <a:srgbClr val="90A4AE"/>
                </a:solidFill>
                <a:latin typeface="Calibri"/>
              </a:rPr>
              <a:t>Renovation energetique - Saint-Jean-de-Chevelu (73) - Bloc 1</a:t>
            </a:r>
          </a:p>
        </p:txBody>
      </p:sp>
      <p:sp>
        <p:nvSpPr>
          <p:cNvPr id="9" name="TextBox 8"/>
          <p:cNvSpPr txBox="1"/>
          <p:nvPr/>
        </p:nvSpPr>
        <p:spPr>
          <a:xfrm>
            <a:off x="9418320" y="6473952"/>
            <a:ext cx="2286000" cy="292608"/>
          </a:xfrm>
          <a:prstGeom prst="rect">
            <a:avLst/>
          </a:prstGeom>
          <a:noFill/>
        </p:spPr>
        <p:txBody>
          <a:bodyPr wrap="square" anchor="t" lIns="25400" rIns="25400" tIns="25400" bIns="25400">
            <a:spAutoFit/>
          </a:bodyPr>
          <a:lstStyle/>
          <a:p>
            <a:pPr algn="r">
              <a:lnSpc>
                <a:spcPct val="100000"/>
              </a:lnSpc>
              <a:spcAft>
                <a:spcPts val="400"/>
              </a:spcAft>
            </a:pPr>
            <a:r>
              <a:rPr sz="900" b="0" i="0">
                <a:solidFill>
                  <a:srgbClr val="90A4AE"/>
                </a:solidFill>
                <a:latin typeface="Calibri"/>
              </a:rPr>
              <a:t>Guillaume Tardy</a:t>
            </a:r>
          </a:p>
        </p:txBody>
      </p:sp>
      <p:graphicFrame>
        <p:nvGraphicFramePr>
          <p:cNvPr id="10" name="Table 9"/>
          <p:cNvGraphicFramePr>
            <a:graphicFrameLocks noGrp="1"/>
          </p:cNvGraphicFramePr>
          <p:nvPr/>
        </p:nvGraphicFramePr>
        <p:xfrm>
          <a:off x="822960" y="1645920"/>
          <a:ext cx="10515600" cy="4023360"/>
        </p:xfrm>
        <a:graphic>
          <a:graphicData uri="http://schemas.openxmlformats.org/drawingml/2006/table">
            <a:tbl>
              <a:tblPr>
                <a:tableStyleId>{5C22544A-7EE6-4342-B048-85BDC9FD1C3A}</a:tableStyleId>
              </a:tblPr>
              <a:tblGrid>
                <a:gridCol w="2651760"/>
                <a:gridCol w="2194560"/>
                <a:gridCol w="2834640"/>
                <a:gridCol w="2834640"/>
              </a:tblGrid>
              <a:tr h="402336">
                <a:tc>
                  <a:txBody>
                    <a:bodyPr wrap="square"/>
                    <a:lstStyle/>
                    <a:p>
                      <a:pPr algn="l"/>
                      <a:r>
                        <a:rPr sz="1250" b="1">
                          <a:solidFill>
                            <a:srgbClr val="FFFFFF"/>
                          </a:solidFill>
                          <a:latin typeface="Calibri"/>
                        </a:rPr>
                        <a:t>Critere</a:t>
                      </a:r>
                    </a:p>
                  </a:txBody>
                  <a:tcPr marL="76200" marR="76200" marT="12700" marB="12700" anchor="ctr">
                    <a:solidFill>
                      <a:srgbClr val="1B5E20"/>
                    </a:solidFill>
                  </a:tcPr>
                </a:tc>
                <a:tc>
                  <a:txBody>
                    <a:bodyPr wrap="square"/>
                    <a:lstStyle/>
                    <a:p>
                      <a:pPr algn="ctr"/>
                      <a:r>
                        <a:rPr sz="1250" b="1">
                          <a:solidFill>
                            <a:srgbClr val="FFFFFF"/>
                          </a:solidFill>
                          <a:latin typeface="Calibri"/>
                        </a:rPr>
                        <a:t>Etat initial</a:t>
                      </a:r>
                    </a:p>
                  </a:txBody>
                  <a:tcPr marL="76200" marR="76200" marT="12700" marB="12700" anchor="ctr">
                    <a:solidFill>
                      <a:srgbClr val="1B5E20"/>
                    </a:solidFill>
                  </a:tcPr>
                </a:tc>
                <a:tc>
                  <a:txBody>
                    <a:bodyPr wrap="square"/>
                    <a:lstStyle/>
                    <a:p>
                      <a:pPr algn="ctr"/>
                      <a:r>
                        <a:rPr sz="1250" b="1">
                          <a:solidFill>
                            <a:srgbClr val="FFFFFF"/>
                          </a:solidFill>
                          <a:latin typeface="Calibri"/>
                        </a:rPr>
                        <a:t>Scenario 1 (par etapes)</a:t>
                      </a:r>
                    </a:p>
                  </a:txBody>
                  <a:tcPr marL="76200" marR="76200" marT="12700" marB="12700" anchor="ctr">
                    <a:solidFill>
                      <a:srgbClr val="1B5E20"/>
                    </a:solidFill>
                  </a:tcPr>
                </a:tc>
                <a:tc>
                  <a:txBody>
                    <a:bodyPr wrap="square"/>
                    <a:lstStyle/>
                    <a:p>
                      <a:pPr algn="ctr"/>
                      <a:r>
                        <a:rPr sz="1250" b="1">
                          <a:solidFill>
                            <a:srgbClr val="FFFFFF"/>
                          </a:solidFill>
                          <a:latin typeface="Calibri"/>
                        </a:rPr>
                        <a:t>Scenario 2 (global)</a:t>
                      </a:r>
                    </a:p>
                  </a:txBody>
                  <a:tcPr marL="76200" marR="76200" marT="12700" marB="12700" anchor="ctr">
                    <a:solidFill>
                      <a:srgbClr val="1B5E20"/>
                    </a:solidFill>
                  </a:tcPr>
                </a:tc>
              </a:tr>
              <a:tr h="402336">
                <a:tc>
                  <a:txBody>
                    <a:bodyPr wrap="square"/>
                    <a:lstStyle/>
                    <a:p>
                      <a:pPr algn="l"/>
                      <a:r>
                        <a:rPr sz="1150" b="1">
                          <a:solidFill>
                            <a:srgbClr val="37474F"/>
                          </a:solidFill>
                          <a:latin typeface="Calibri"/>
                        </a:rPr>
                        <a:t>Classe DPE</a:t>
                      </a:r>
                    </a:p>
                  </a:txBody>
                  <a:tcPr marL="76200" marR="76200" marT="12700" marB="12700" anchor="ctr">
                    <a:solidFill>
                      <a:srgbClr val="D7E9D0"/>
                    </a:solidFill>
                  </a:tcPr>
                </a:tc>
                <a:tc>
                  <a:txBody>
                    <a:bodyPr wrap="square"/>
                    <a:lstStyle/>
                    <a:p>
                      <a:pPr algn="ctr"/>
                      <a:r>
                        <a:rPr sz="1150" b="1">
                          <a:solidFill>
                            <a:srgbClr val="37474F"/>
                          </a:solidFill>
                          <a:latin typeface="Calibri"/>
                        </a:rPr>
                        <a:t>G</a:t>
                      </a:r>
                    </a:p>
                  </a:txBody>
                  <a:tcPr marL="76200" marR="76200" marT="12700" marB="12700" anchor="ctr">
                    <a:solidFill>
                      <a:srgbClr val="D7E9D0"/>
                    </a:solidFill>
                  </a:tcPr>
                </a:tc>
                <a:tc>
                  <a:txBody>
                    <a:bodyPr wrap="square"/>
                    <a:lstStyle/>
                    <a:p>
                      <a:pPr algn="ctr"/>
                      <a:r>
                        <a:rPr sz="1150" b="1">
                          <a:solidFill>
                            <a:srgbClr val="37474F"/>
                          </a:solidFill>
                          <a:latin typeface="Calibri"/>
                        </a:rPr>
                        <a:t>D</a:t>
                      </a:r>
                    </a:p>
                  </a:txBody>
                  <a:tcPr marL="76200" marR="76200" marT="12700" marB="12700" anchor="ctr">
                    <a:solidFill>
                      <a:srgbClr val="D7E9D0"/>
                    </a:solidFill>
                  </a:tcPr>
                </a:tc>
                <a:tc>
                  <a:txBody>
                    <a:bodyPr wrap="square"/>
                    <a:lstStyle/>
                    <a:p>
                      <a:pPr algn="ctr"/>
                      <a:r>
                        <a:rPr sz="1150" b="1">
                          <a:solidFill>
                            <a:srgbClr val="37474F"/>
                          </a:solidFill>
                          <a:latin typeface="Calibri"/>
                        </a:rPr>
                        <a:t>B</a:t>
                      </a:r>
                    </a:p>
                  </a:txBody>
                  <a:tcPr marL="76200" marR="76200" marT="12700" marB="12700" anchor="ctr">
                    <a:solidFill>
                      <a:srgbClr val="D7E9D0"/>
                    </a:solidFill>
                  </a:tcPr>
                </a:tc>
              </a:tr>
              <a:tr h="402336">
                <a:tc>
                  <a:txBody>
                    <a:bodyPr wrap="square"/>
                    <a:lstStyle/>
                    <a:p>
                      <a:pPr algn="l"/>
                      <a:r>
                        <a:rPr sz="1150" b="1">
                          <a:solidFill>
                            <a:srgbClr val="37474F"/>
                          </a:solidFill>
                          <a:latin typeface="Calibri"/>
                        </a:rPr>
                        <a:t>Energie / Climat</a:t>
                      </a:r>
                    </a:p>
                  </a:txBody>
                  <a:tcPr marL="76200" marR="76200" marT="12700" marB="12700" anchor="ctr">
                    <a:solidFill>
                      <a:srgbClr val="E8F5E9"/>
                    </a:solidFill>
                  </a:tcPr>
                </a:tc>
                <a:tc>
                  <a:txBody>
                    <a:bodyPr wrap="square"/>
                    <a:lstStyle/>
                    <a:p>
                      <a:pPr algn="ctr"/>
                      <a:r>
                        <a:rPr sz="1150" b="0">
                          <a:solidFill>
                            <a:srgbClr val="37474F"/>
                          </a:solidFill>
                          <a:latin typeface="Calibri"/>
                        </a:rPr>
                        <a:t>G / G</a:t>
                      </a:r>
                    </a:p>
                  </a:txBody>
                  <a:tcPr marL="76200" marR="76200" marT="12700" marB="12700" anchor="ctr">
                    <a:solidFill>
                      <a:srgbClr val="E8F5E9"/>
                    </a:solidFill>
                  </a:tcPr>
                </a:tc>
                <a:tc>
                  <a:txBody>
                    <a:bodyPr wrap="square"/>
                    <a:lstStyle/>
                    <a:p>
                      <a:pPr algn="ctr"/>
                      <a:r>
                        <a:rPr sz="1150" b="0">
                          <a:solidFill>
                            <a:srgbClr val="37474F"/>
                          </a:solidFill>
                          <a:latin typeface="Calibri"/>
                        </a:rPr>
                        <a:t>C / D</a:t>
                      </a:r>
                    </a:p>
                  </a:txBody>
                  <a:tcPr marL="76200" marR="76200" marT="12700" marB="12700" anchor="ctr">
                    <a:solidFill>
                      <a:srgbClr val="E8F5E9"/>
                    </a:solidFill>
                  </a:tcPr>
                </a:tc>
                <a:tc>
                  <a:txBody>
                    <a:bodyPr wrap="square"/>
                    <a:lstStyle/>
                    <a:p>
                      <a:pPr algn="ctr"/>
                      <a:r>
                        <a:rPr sz="1150" b="0">
                          <a:solidFill>
                            <a:srgbClr val="37474F"/>
                          </a:solidFill>
                          <a:latin typeface="Calibri"/>
                        </a:rPr>
                        <a:t>B / A</a:t>
                      </a:r>
                    </a:p>
                  </a:txBody>
                  <a:tcPr marL="76200" marR="76200" marT="12700" marB="12700" anchor="ctr">
                    <a:solidFill>
                      <a:srgbClr val="E8F5E9"/>
                    </a:solidFill>
                  </a:tcPr>
                </a:tc>
              </a:tr>
              <a:tr h="402336">
                <a:tc>
                  <a:txBody>
                    <a:bodyPr wrap="square"/>
                    <a:lstStyle/>
                    <a:p>
                      <a:pPr algn="l"/>
                      <a:r>
                        <a:rPr sz="1150" b="1">
                          <a:solidFill>
                            <a:srgbClr val="37474F"/>
                          </a:solidFill>
                          <a:latin typeface="Calibri"/>
                        </a:rPr>
                        <a:t>Chauffage</a:t>
                      </a:r>
                    </a:p>
                  </a:txBody>
                  <a:tcPr marL="76200" marR="76200" marT="12700" marB="12700" anchor="ctr">
                    <a:solidFill>
                      <a:srgbClr val="FFFFFF"/>
                    </a:solidFill>
                  </a:tcPr>
                </a:tc>
                <a:tc>
                  <a:txBody>
                    <a:bodyPr wrap="square"/>
                    <a:lstStyle/>
                    <a:p>
                      <a:pPr algn="ctr"/>
                      <a:r>
                        <a:rPr sz="1150" b="0">
                          <a:solidFill>
                            <a:srgbClr val="37474F"/>
                          </a:solidFill>
                          <a:latin typeface="Calibri"/>
                        </a:rPr>
                        <a:t>Fioul (1991)</a:t>
                      </a:r>
                    </a:p>
                  </a:txBody>
                  <a:tcPr marL="76200" marR="76200" marT="12700" marB="12700" anchor="ctr">
                    <a:solidFill>
                      <a:srgbClr val="FFFFFF"/>
                    </a:solidFill>
                  </a:tcPr>
                </a:tc>
                <a:tc>
                  <a:txBody>
                    <a:bodyPr wrap="square"/>
                    <a:lstStyle/>
                    <a:p>
                      <a:pPr algn="ctr"/>
                      <a:r>
                        <a:rPr sz="1150" b="0">
                          <a:solidFill>
                            <a:srgbClr val="37474F"/>
                          </a:solidFill>
                          <a:latin typeface="Calibri"/>
                        </a:rPr>
                        <a:t>Fioul conserve</a:t>
                      </a:r>
                    </a:p>
                  </a:txBody>
                  <a:tcPr marL="76200" marR="76200" marT="12700" marB="12700" anchor="ctr">
                    <a:solidFill>
                      <a:srgbClr val="FFFFFF"/>
                    </a:solidFill>
                  </a:tcPr>
                </a:tc>
                <a:tc>
                  <a:txBody>
                    <a:bodyPr wrap="square"/>
                    <a:lstStyle/>
                    <a:p>
                      <a:pPr algn="ctr"/>
                      <a:r>
                        <a:rPr sz="1150" b="0">
                          <a:solidFill>
                            <a:srgbClr val="37474F"/>
                          </a:solidFill>
                          <a:latin typeface="Calibri"/>
                        </a:rPr>
                        <a:t>Granules (sans silo)</a:t>
                      </a:r>
                    </a:p>
                  </a:txBody>
                  <a:tcPr marL="76200" marR="76200" marT="12700" marB="12700" anchor="ctr">
                    <a:solidFill>
                      <a:srgbClr val="FFFFFF"/>
                    </a:solidFill>
                  </a:tcPr>
                </a:tc>
              </a:tr>
              <a:tr h="402336">
                <a:tc>
                  <a:txBody>
                    <a:bodyPr wrap="square"/>
                    <a:lstStyle/>
                    <a:p>
                      <a:pPr algn="l"/>
                      <a:r>
                        <a:rPr sz="1150" b="1">
                          <a:solidFill>
                            <a:srgbClr val="37474F"/>
                          </a:solidFill>
                          <a:latin typeface="Calibri"/>
                        </a:rPr>
                        <a:t>Travaux TTC</a:t>
                      </a:r>
                    </a:p>
                  </a:txBody>
                  <a:tcPr marL="76200" marR="76200" marT="12700" marB="12700" anchor="ctr">
                    <a:solidFill>
                      <a:srgbClr val="E8F5E9"/>
                    </a:solidFill>
                  </a:tcPr>
                </a:tc>
                <a:tc>
                  <a:txBody>
                    <a:bodyPr wrap="square"/>
                    <a:lstStyle/>
                    <a:p>
                      <a:pPr algn="ctr"/>
                      <a:r>
                        <a:rPr sz="1150" b="0">
                          <a:solidFill>
                            <a:srgbClr val="37474F"/>
                          </a:solidFill>
                          <a:latin typeface="Calibri"/>
                        </a:rPr>
                        <a:t>-</a:t>
                      </a:r>
                    </a:p>
                  </a:txBody>
                  <a:tcPr marL="76200" marR="76200" marT="12700" marB="12700" anchor="ctr">
                    <a:solidFill>
                      <a:srgbClr val="E8F5E9"/>
                    </a:solidFill>
                  </a:tcPr>
                </a:tc>
                <a:tc>
                  <a:txBody>
                    <a:bodyPr wrap="square"/>
                    <a:lstStyle/>
                    <a:p>
                      <a:pPr algn="ctr"/>
                      <a:r>
                        <a:rPr sz="1150" b="0">
                          <a:solidFill>
                            <a:srgbClr val="37474F"/>
                          </a:solidFill>
                          <a:latin typeface="Calibri"/>
                        </a:rPr>
                        <a:t>42 500 €</a:t>
                      </a:r>
                    </a:p>
                  </a:txBody>
                  <a:tcPr marL="76200" marR="76200" marT="12700" marB="12700" anchor="ctr">
                    <a:solidFill>
                      <a:srgbClr val="E8F5E9"/>
                    </a:solidFill>
                  </a:tcPr>
                </a:tc>
                <a:tc>
                  <a:txBody>
                    <a:bodyPr wrap="square"/>
                    <a:lstStyle/>
                    <a:p>
                      <a:pPr algn="ctr"/>
                      <a:r>
                        <a:rPr sz="1150" b="0">
                          <a:solidFill>
                            <a:srgbClr val="37474F"/>
                          </a:solidFill>
                          <a:latin typeface="Calibri"/>
                        </a:rPr>
                        <a:t>63 000 €</a:t>
                      </a:r>
                    </a:p>
                  </a:txBody>
                  <a:tcPr marL="76200" marR="76200" marT="12700" marB="12700" anchor="ctr">
                    <a:solidFill>
                      <a:srgbClr val="E8F5E9"/>
                    </a:solidFill>
                  </a:tcPr>
                </a:tc>
              </a:tr>
              <a:tr h="402336">
                <a:tc>
                  <a:txBody>
                    <a:bodyPr wrap="square"/>
                    <a:lstStyle/>
                    <a:p>
                      <a:pPr algn="l"/>
                      <a:r>
                        <a:rPr sz="1150" b="1">
                          <a:solidFill>
                            <a:srgbClr val="37474F"/>
                          </a:solidFill>
                          <a:latin typeface="Calibri"/>
                        </a:rPr>
                        <a:t>Aides estimees</a:t>
                      </a:r>
                    </a:p>
                  </a:txBody>
                  <a:tcPr marL="76200" marR="76200" marT="12700" marB="12700" anchor="ctr">
                    <a:solidFill>
                      <a:srgbClr val="FFFFFF"/>
                    </a:solidFill>
                  </a:tcPr>
                </a:tc>
                <a:tc>
                  <a:txBody>
                    <a:bodyPr wrap="square"/>
                    <a:lstStyle/>
                    <a:p>
                      <a:pPr algn="ctr"/>
                      <a:r>
                        <a:rPr sz="1150" b="0">
                          <a:solidFill>
                            <a:srgbClr val="37474F"/>
                          </a:solidFill>
                          <a:latin typeface="Calibri"/>
                        </a:rPr>
                        <a:t>-</a:t>
                      </a:r>
                    </a:p>
                  </a:txBody>
                  <a:tcPr marL="76200" marR="76200" marT="12700" marB="12700" anchor="ctr">
                    <a:solidFill>
                      <a:srgbClr val="FFFFFF"/>
                    </a:solidFill>
                  </a:tcPr>
                </a:tc>
                <a:tc>
                  <a:txBody>
                    <a:bodyPr wrap="square"/>
                    <a:lstStyle/>
                    <a:p>
                      <a:pPr algn="ctr"/>
                      <a:r>
                        <a:rPr sz="1150" b="0">
                          <a:solidFill>
                            <a:srgbClr val="37474F"/>
                          </a:solidFill>
                          <a:latin typeface="Calibri"/>
                        </a:rPr>
                        <a:t>~20 000 €</a:t>
                      </a:r>
                    </a:p>
                  </a:txBody>
                  <a:tcPr marL="76200" marR="76200" marT="12700" marB="12700" anchor="ctr">
                    <a:solidFill>
                      <a:srgbClr val="FFFFFF"/>
                    </a:solidFill>
                  </a:tcPr>
                </a:tc>
                <a:tc>
                  <a:txBody>
                    <a:bodyPr wrap="square"/>
                    <a:lstStyle/>
                    <a:p>
                      <a:pPr algn="ctr"/>
                      <a:r>
                        <a:rPr sz="1150" b="0">
                          <a:solidFill>
                            <a:srgbClr val="37474F"/>
                          </a:solidFill>
                          <a:latin typeface="Calibri"/>
                        </a:rPr>
                        <a:t>~30 000 €</a:t>
                      </a:r>
                    </a:p>
                  </a:txBody>
                  <a:tcPr marL="76200" marR="76200" marT="12700" marB="12700" anchor="ctr">
                    <a:solidFill>
                      <a:srgbClr val="FFFFFF"/>
                    </a:solidFill>
                  </a:tcPr>
                </a:tc>
              </a:tr>
              <a:tr h="402336">
                <a:tc>
                  <a:txBody>
                    <a:bodyPr wrap="square"/>
                    <a:lstStyle/>
                    <a:p>
                      <a:pPr algn="l"/>
                      <a:r>
                        <a:rPr sz="1150" b="1">
                          <a:solidFill>
                            <a:srgbClr val="37474F"/>
                          </a:solidFill>
                          <a:latin typeface="Calibri"/>
                        </a:rPr>
                        <a:t>Reste a charge</a:t>
                      </a:r>
                    </a:p>
                  </a:txBody>
                  <a:tcPr marL="76200" marR="76200" marT="12700" marB="12700" anchor="ctr">
                    <a:solidFill>
                      <a:srgbClr val="E8F5E9"/>
                    </a:solidFill>
                  </a:tcPr>
                </a:tc>
                <a:tc>
                  <a:txBody>
                    <a:bodyPr wrap="square"/>
                    <a:lstStyle/>
                    <a:p>
                      <a:pPr algn="ctr"/>
                      <a:r>
                        <a:rPr sz="1150" b="0">
                          <a:solidFill>
                            <a:srgbClr val="37474F"/>
                          </a:solidFill>
                          <a:latin typeface="Calibri"/>
                        </a:rPr>
                        <a:t>-</a:t>
                      </a:r>
                    </a:p>
                  </a:txBody>
                  <a:tcPr marL="76200" marR="76200" marT="12700" marB="12700" anchor="ctr">
                    <a:solidFill>
                      <a:srgbClr val="E8F5E9"/>
                    </a:solidFill>
                  </a:tcPr>
                </a:tc>
                <a:tc>
                  <a:txBody>
                    <a:bodyPr wrap="square"/>
                    <a:lstStyle/>
                    <a:p>
                      <a:pPr algn="ctr"/>
                      <a:r>
                        <a:rPr sz="1150" b="0">
                          <a:solidFill>
                            <a:srgbClr val="37474F"/>
                          </a:solidFill>
                          <a:latin typeface="Calibri"/>
                        </a:rPr>
                        <a:t>22 500 €</a:t>
                      </a:r>
                    </a:p>
                  </a:txBody>
                  <a:tcPr marL="76200" marR="76200" marT="12700" marB="12700" anchor="ctr">
                    <a:solidFill>
                      <a:srgbClr val="E8F5E9"/>
                    </a:solidFill>
                  </a:tcPr>
                </a:tc>
                <a:tc>
                  <a:txBody>
                    <a:bodyPr wrap="square"/>
                    <a:lstStyle/>
                    <a:p>
                      <a:pPr algn="ctr"/>
                      <a:r>
                        <a:rPr sz="1150" b="0">
                          <a:solidFill>
                            <a:srgbClr val="37474F"/>
                          </a:solidFill>
                          <a:latin typeface="Calibri"/>
                        </a:rPr>
                        <a:t>33 000 €</a:t>
                      </a:r>
                    </a:p>
                  </a:txBody>
                  <a:tcPr marL="76200" marR="76200" marT="12700" marB="12700" anchor="ctr">
                    <a:solidFill>
                      <a:srgbClr val="E8F5E9"/>
                    </a:solidFill>
                  </a:tcPr>
                </a:tc>
              </a:tr>
              <a:tr h="402336">
                <a:tc>
                  <a:txBody>
                    <a:bodyPr wrap="square"/>
                    <a:lstStyle/>
                    <a:p>
                      <a:pPr algn="l"/>
                      <a:r>
                        <a:rPr sz="1150" b="1">
                          <a:solidFill>
                            <a:srgbClr val="37474F"/>
                          </a:solidFill>
                          <a:latin typeface="Calibri"/>
                        </a:rPr>
                        <a:t>Cout energie / an (reel)</a:t>
                      </a:r>
                    </a:p>
                  </a:txBody>
                  <a:tcPr marL="76200" marR="76200" marT="12700" marB="12700" anchor="ctr">
                    <a:solidFill>
                      <a:srgbClr val="FFFFFF"/>
                    </a:solidFill>
                  </a:tcPr>
                </a:tc>
                <a:tc>
                  <a:txBody>
                    <a:bodyPr wrap="square"/>
                    <a:lstStyle/>
                    <a:p>
                      <a:pPr algn="ctr"/>
                      <a:r>
                        <a:rPr sz="1150" b="0">
                          <a:solidFill>
                            <a:srgbClr val="37474F"/>
                          </a:solidFill>
                          <a:latin typeface="Calibri"/>
                        </a:rPr>
                        <a:t>3 800 €</a:t>
                      </a:r>
                    </a:p>
                  </a:txBody>
                  <a:tcPr marL="76200" marR="76200" marT="12700" marB="12700" anchor="ctr">
                    <a:solidFill>
                      <a:srgbClr val="FFFFFF"/>
                    </a:solidFill>
                  </a:tcPr>
                </a:tc>
                <a:tc>
                  <a:txBody>
                    <a:bodyPr wrap="square"/>
                    <a:lstStyle/>
                    <a:p>
                      <a:pPr algn="ctr"/>
                      <a:r>
                        <a:rPr sz="1150" b="0">
                          <a:solidFill>
                            <a:srgbClr val="37474F"/>
                          </a:solidFill>
                          <a:latin typeface="Calibri"/>
                        </a:rPr>
                        <a:t>2 200 €</a:t>
                      </a:r>
                    </a:p>
                  </a:txBody>
                  <a:tcPr marL="76200" marR="76200" marT="12700" marB="12700" anchor="ctr">
                    <a:solidFill>
                      <a:srgbClr val="FFFFFF"/>
                    </a:solidFill>
                  </a:tcPr>
                </a:tc>
                <a:tc>
                  <a:txBody>
                    <a:bodyPr wrap="square"/>
                    <a:lstStyle/>
                    <a:p>
                      <a:pPr algn="ctr"/>
                      <a:r>
                        <a:rPr sz="1150" b="0">
                          <a:solidFill>
                            <a:srgbClr val="37474F"/>
                          </a:solidFill>
                          <a:latin typeface="Calibri"/>
                        </a:rPr>
                        <a:t>1 600 €</a:t>
                      </a:r>
                    </a:p>
                  </a:txBody>
                  <a:tcPr marL="76200" marR="76200" marT="12700" marB="12700" anchor="ctr">
                    <a:solidFill>
                      <a:srgbClr val="FFFFFF"/>
                    </a:solidFill>
                  </a:tcPr>
                </a:tc>
              </a:tr>
              <a:tr h="402336">
                <a:tc>
                  <a:txBody>
                    <a:bodyPr wrap="square"/>
                    <a:lstStyle/>
                    <a:p>
                      <a:pPr algn="l"/>
                      <a:r>
                        <a:rPr sz="1150" b="1">
                          <a:solidFill>
                            <a:srgbClr val="37474F"/>
                          </a:solidFill>
                          <a:latin typeface="Calibri"/>
                        </a:rPr>
                        <a:t>Cout global 30 ans</a:t>
                      </a:r>
                    </a:p>
                  </a:txBody>
                  <a:tcPr marL="76200" marR="76200" marT="12700" marB="12700" anchor="ctr">
                    <a:solidFill>
                      <a:srgbClr val="E8F5E9"/>
                    </a:solidFill>
                  </a:tcPr>
                </a:tc>
                <a:tc>
                  <a:txBody>
                    <a:bodyPr wrap="square"/>
                    <a:lstStyle/>
                    <a:p>
                      <a:pPr algn="ctr"/>
                      <a:r>
                        <a:rPr sz="1150" b="0">
                          <a:solidFill>
                            <a:srgbClr val="37474F"/>
                          </a:solidFill>
                          <a:latin typeface="Calibri"/>
                        </a:rPr>
                        <a:t>252 000 €</a:t>
                      </a:r>
                    </a:p>
                  </a:txBody>
                  <a:tcPr marL="76200" marR="76200" marT="12700" marB="12700" anchor="ctr">
                    <a:solidFill>
                      <a:srgbClr val="E8F5E9"/>
                    </a:solidFill>
                  </a:tcPr>
                </a:tc>
                <a:tc>
                  <a:txBody>
                    <a:bodyPr wrap="square"/>
                    <a:lstStyle/>
                    <a:p>
                      <a:pPr algn="ctr"/>
                      <a:r>
                        <a:rPr sz="1150" b="0">
                          <a:solidFill>
                            <a:srgbClr val="37474F"/>
                          </a:solidFill>
                          <a:latin typeface="Calibri"/>
                        </a:rPr>
                        <a:t>188 500 €</a:t>
                      </a:r>
                    </a:p>
                  </a:txBody>
                  <a:tcPr marL="76200" marR="76200" marT="12700" marB="12700" anchor="ctr">
                    <a:solidFill>
                      <a:srgbClr val="E8F5E9"/>
                    </a:solidFill>
                  </a:tcPr>
                </a:tc>
                <a:tc>
                  <a:txBody>
                    <a:bodyPr wrap="square"/>
                    <a:lstStyle/>
                    <a:p>
                      <a:pPr algn="ctr"/>
                      <a:r>
                        <a:rPr sz="1150" b="0">
                          <a:solidFill>
                            <a:srgbClr val="37474F"/>
                          </a:solidFill>
                          <a:latin typeface="Calibri"/>
                        </a:rPr>
                        <a:t>169 000 €</a:t>
                      </a:r>
                    </a:p>
                  </a:txBody>
                  <a:tcPr marL="76200" marR="76200" marT="12700" marB="12700" anchor="ctr">
                    <a:solidFill>
                      <a:srgbClr val="E8F5E9"/>
                    </a:solidFill>
                  </a:tcPr>
                </a:tc>
              </a:tr>
              <a:tr h="402336">
                <a:tc>
                  <a:txBody>
                    <a:bodyPr wrap="square"/>
                    <a:lstStyle/>
                    <a:p>
                      <a:pPr algn="l"/>
                      <a:r>
                        <a:rPr sz="1150" b="1">
                          <a:solidFill>
                            <a:srgbClr val="37474F"/>
                          </a:solidFill>
                          <a:latin typeface="Calibri"/>
                        </a:rPr>
                        <a:t>Amortissement</a:t>
                      </a:r>
                    </a:p>
                  </a:txBody>
                  <a:tcPr marL="76200" marR="76200" marT="12700" marB="12700" anchor="ctr">
                    <a:solidFill>
                      <a:srgbClr val="FFFFFF"/>
                    </a:solidFill>
                  </a:tcPr>
                </a:tc>
                <a:tc>
                  <a:txBody>
                    <a:bodyPr wrap="square"/>
                    <a:lstStyle/>
                    <a:p>
                      <a:pPr algn="ctr"/>
                      <a:r>
                        <a:rPr sz="1150" b="0">
                          <a:solidFill>
                            <a:srgbClr val="37474F"/>
                          </a:solidFill>
                          <a:latin typeface="Calibri"/>
                        </a:rPr>
                        <a:t>-</a:t>
                      </a:r>
                    </a:p>
                  </a:txBody>
                  <a:tcPr marL="76200" marR="76200" marT="12700" marB="12700" anchor="ctr">
                    <a:solidFill>
                      <a:srgbClr val="FFFFFF"/>
                    </a:solidFill>
                  </a:tcPr>
                </a:tc>
                <a:tc>
                  <a:txBody>
                    <a:bodyPr wrap="square"/>
                    <a:lstStyle/>
                    <a:p>
                      <a:pPr algn="ctr"/>
                      <a:r>
                        <a:rPr sz="1150" b="0">
                          <a:solidFill>
                            <a:srgbClr val="37474F"/>
                          </a:solidFill>
                          <a:latin typeface="Calibri"/>
                        </a:rPr>
                        <a:t>~14 ans</a:t>
                      </a:r>
                    </a:p>
                  </a:txBody>
                  <a:tcPr marL="76200" marR="76200" marT="12700" marB="12700" anchor="ctr">
                    <a:solidFill>
                      <a:srgbClr val="FFFFFF"/>
                    </a:solidFill>
                  </a:tcPr>
                </a:tc>
                <a:tc>
                  <a:txBody>
                    <a:bodyPr wrap="square"/>
                    <a:lstStyle/>
                    <a:p>
                      <a:pPr algn="ctr"/>
                      <a:r>
                        <a:rPr sz="1150" b="0">
                          <a:solidFill>
                            <a:srgbClr val="37474F"/>
                          </a:solidFill>
                          <a:latin typeface="Calibri"/>
                        </a:rPr>
                        <a:t>~15 ans</a:t>
                      </a:r>
                    </a:p>
                  </a:txBody>
                  <a:tcPr marL="76200" marR="76200" marT="12700" marB="12700"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74320"/>
            <a:ext cx="10515600" cy="731520"/>
          </a:xfrm>
          <a:prstGeom prst="rect">
            <a:avLst/>
          </a:prstGeom>
          <a:noFill/>
        </p:spPr>
        <p:txBody>
          <a:bodyPr wrap="square" anchor="ctr" lIns="25400" rIns="25400" tIns="25400" bIns="25400">
            <a:spAutoFit/>
          </a:bodyPr>
          <a:lstStyle/>
          <a:p>
            <a:pPr algn="l">
              <a:lnSpc>
                <a:spcPct val="100000"/>
              </a:lnSpc>
              <a:spcAft>
                <a:spcPts val="400"/>
              </a:spcAft>
            </a:pPr>
            <a:r>
              <a:rPr sz="3000" b="1" i="0">
                <a:solidFill>
                  <a:srgbClr val="FFFFFF"/>
                </a:solidFill>
                <a:latin typeface="Calibri"/>
              </a:rPr>
              <a:t>Conclusion &amp; recommandation</a:t>
            </a:r>
          </a:p>
        </p:txBody>
      </p:sp>
      <p:sp>
        <p:nvSpPr>
          <p:cNvPr id="5" name="Rounded Rectangle 4"/>
          <p:cNvSpPr/>
          <p:nvPr/>
        </p:nvSpPr>
        <p:spPr>
          <a:xfrm>
            <a:off x="822960" y="1463040"/>
            <a:ext cx="6766560" cy="3657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600200"/>
            <a:ext cx="6400800" cy="457200"/>
          </a:xfrm>
          <a:prstGeom prst="rect">
            <a:avLst/>
          </a:prstGeom>
          <a:noFill/>
        </p:spPr>
        <p:txBody>
          <a:bodyPr wrap="square" anchor="t" lIns="25400" rIns="25400" tIns="25400" bIns="25400">
            <a:spAutoFit/>
          </a:bodyPr>
          <a:lstStyle/>
          <a:p>
            <a:pPr algn="l">
              <a:lnSpc>
                <a:spcPct val="100000"/>
              </a:lnSpc>
              <a:spcAft>
                <a:spcPts val="400"/>
              </a:spcAft>
            </a:pPr>
            <a:r>
              <a:rPr sz="1900" b="1" i="0">
                <a:solidFill>
                  <a:srgbClr val="1B5E20"/>
                </a:solidFill>
                <a:latin typeface="Calibri"/>
              </a:rPr>
              <a:t>-&gt; Je recommande le Scenario 2 (global)</a:t>
            </a:r>
          </a:p>
        </p:txBody>
      </p:sp>
      <p:sp>
        <p:nvSpPr>
          <p:cNvPr id="7" name="TextBox 6"/>
          <p:cNvSpPr txBox="1"/>
          <p:nvPr/>
        </p:nvSpPr>
        <p:spPr>
          <a:xfrm>
            <a:off x="1051560" y="2240280"/>
            <a:ext cx="6400800" cy="2743200"/>
          </a:xfrm>
          <a:prstGeom prst="rect">
            <a:avLst/>
          </a:prstGeom>
          <a:noFill/>
        </p:spPr>
        <p:txBody>
          <a:bodyPr wrap="square">
            <a:spAutoFit/>
          </a:bodyPr>
          <a:lstStyle/>
          <a:p>
            <a:pPr>
              <a:lnSpc>
                <a:spcPct val="105000"/>
              </a:lnSpc>
              <a:spcAft>
                <a:spcPts val="800"/>
              </a:spcAft>
            </a:pPr>
            <a:r>
              <a:rPr sz="1300" b="1">
                <a:solidFill>
                  <a:srgbClr val="2E7D32"/>
                </a:solidFill>
                <a:latin typeface="Calibri"/>
              </a:rPr>
              <a:t>●  </a:t>
            </a:r>
            <a:r>
              <a:rPr sz="1300" b="1">
                <a:solidFill>
                  <a:srgbClr val="37474F"/>
                </a:solidFill>
                <a:latin typeface="Calibri"/>
              </a:rPr>
              <a:t>Performance maximale : </a:t>
            </a:r>
            <a:r>
              <a:rPr sz="1300">
                <a:solidFill>
                  <a:srgbClr val="37474F"/>
                </a:solidFill>
                <a:latin typeface="Calibri"/>
              </a:rPr>
              <a:t>DPE de G a B (energie B / climat A)</a:t>
            </a:r>
          </a:p>
          <a:p>
            <a:pPr>
              <a:lnSpc>
                <a:spcPct val="105000"/>
              </a:lnSpc>
              <a:spcAft>
                <a:spcPts val="800"/>
              </a:spcAft>
            </a:pPr>
            <a:r>
              <a:rPr sz="1300" b="1">
                <a:solidFill>
                  <a:srgbClr val="2E7D32"/>
                </a:solidFill>
                <a:latin typeface="Calibri"/>
              </a:rPr>
              <a:t>●  </a:t>
            </a:r>
            <a:r>
              <a:rPr sz="1300" b="1">
                <a:solidFill>
                  <a:srgbClr val="37474F"/>
                </a:solidFill>
                <a:latin typeface="Calibri"/>
              </a:rPr>
              <a:t>Sortie du fioul : </a:t>
            </a:r>
            <a:r>
              <a:rPr sz="1300">
                <a:solidFill>
                  <a:srgbClr val="37474F"/>
                </a:solidFill>
                <a:latin typeface="Calibri"/>
              </a:rPr>
              <a:t>energie renouvelable et locale (granules)</a:t>
            </a:r>
          </a:p>
          <a:p>
            <a:pPr>
              <a:lnSpc>
                <a:spcPct val="105000"/>
              </a:lnSpc>
              <a:spcAft>
                <a:spcPts val="800"/>
              </a:spcAft>
            </a:pPr>
            <a:r>
              <a:rPr sz="1300" b="1">
                <a:solidFill>
                  <a:srgbClr val="2E7D32"/>
                </a:solidFill>
                <a:latin typeface="Calibri"/>
              </a:rPr>
              <a:t>●  </a:t>
            </a:r>
            <a:r>
              <a:rPr sz="1300" b="1">
                <a:solidFill>
                  <a:srgbClr val="37474F"/>
                </a:solidFill>
                <a:latin typeface="Calibri"/>
              </a:rPr>
              <a:t>Meilleure rentabilite : </a:t>
            </a:r>
            <a:r>
              <a:rPr sz="1300">
                <a:solidFill>
                  <a:srgbClr val="37474F"/>
                </a:solidFill>
                <a:latin typeface="Calibri"/>
              </a:rPr>
              <a:t>cout global le plus bas, ROI ~15 ans</a:t>
            </a:r>
          </a:p>
          <a:p>
            <a:pPr>
              <a:lnSpc>
                <a:spcPct val="105000"/>
              </a:lnSpc>
              <a:spcAft>
                <a:spcPts val="800"/>
              </a:spcAft>
            </a:pPr>
            <a:r>
              <a:rPr sz="1300" b="1">
                <a:solidFill>
                  <a:srgbClr val="2E7D32"/>
                </a:solidFill>
                <a:latin typeface="Calibri"/>
              </a:rPr>
              <a:t>●  </a:t>
            </a:r>
            <a:r>
              <a:rPr sz="1300" b="1">
                <a:solidFill>
                  <a:srgbClr val="37474F"/>
                </a:solidFill>
                <a:latin typeface="Calibri"/>
              </a:rPr>
              <a:t>Compatible avec le bati : </a:t>
            </a:r>
            <a:r>
              <a:rPr sz="1300">
                <a:solidFill>
                  <a:srgbClr val="37474F"/>
                </a:solidFill>
                <a:latin typeface="Calibri"/>
              </a:rPr>
              <a:t>ITE biosourcee + radiateurs fonte conserves</a:t>
            </a:r>
          </a:p>
          <a:p>
            <a:pPr>
              <a:lnSpc>
                <a:spcPct val="105000"/>
              </a:lnSpc>
              <a:spcAft>
                <a:spcPts val="800"/>
              </a:spcAft>
            </a:pPr>
            <a:r>
              <a:rPr sz="1300" b="1">
                <a:solidFill>
                  <a:srgbClr val="2E7D32"/>
                </a:solidFill>
                <a:latin typeface="Calibri"/>
              </a:rPr>
              <a:t>●  </a:t>
            </a:r>
            <a:r>
              <a:rPr sz="1300" b="1">
                <a:solidFill>
                  <a:srgbClr val="37474F"/>
                </a:solidFill>
                <a:latin typeface="Calibri"/>
              </a:rPr>
              <a:t>Dans le budget : </a:t>
            </a:r>
            <a:r>
              <a:rPr sz="1300">
                <a:solidFill>
                  <a:srgbClr val="37474F"/>
                </a:solidFill>
                <a:latin typeface="Calibri"/>
              </a:rPr>
              <a:t>reste a charge ~33 000 €, aides ~30 000 € + apport</a:t>
            </a:r>
          </a:p>
        </p:txBody>
      </p:sp>
      <p:sp>
        <p:nvSpPr>
          <p:cNvPr id="8" name="Rounded Rectangle 7"/>
          <p:cNvSpPr/>
          <p:nvPr/>
        </p:nvSpPr>
        <p:spPr>
          <a:xfrm>
            <a:off x="7772400" y="1463040"/>
            <a:ext cx="3566160" cy="3657600"/>
          </a:xfrm>
          <a:prstGeom prst="roundRect">
            <a:avLst/>
          </a:prstGeom>
          <a:solidFill>
            <a:srgbClr val="263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79" y="1572768"/>
            <a:ext cx="3200400" cy="365760"/>
          </a:xfrm>
          <a:prstGeom prst="rect">
            <a:avLst/>
          </a:prstGeom>
          <a:noFill/>
        </p:spPr>
        <p:txBody>
          <a:bodyPr wrap="square" anchor="t" lIns="25400" rIns="25400" tIns="25400" bIns="25400">
            <a:spAutoFit/>
          </a:bodyPr>
          <a:lstStyle/>
          <a:p>
            <a:pPr algn="l">
              <a:lnSpc>
                <a:spcPct val="100000"/>
              </a:lnSpc>
              <a:spcAft>
                <a:spcPts val="400"/>
              </a:spcAft>
            </a:pPr>
            <a:r>
              <a:rPr sz="1400" b="1" i="0">
                <a:solidFill>
                  <a:srgbClr val="FFFFFF"/>
                </a:solidFill>
                <a:latin typeface="Calibri"/>
              </a:rPr>
              <a:t>Conseils de sobriete</a:t>
            </a:r>
          </a:p>
        </p:txBody>
      </p:sp>
      <p:sp>
        <p:nvSpPr>
          <p:cNvPr id="10" name="TextBox 9"/>
          <p:cNvSpPr txBox="1"/>
          <p:nvPr/>
        </p:nvSpPr>
        <p:spPr>
          <a:xfrm>
            <a:off x="7955279" y="2011680"/>
            <a:ext cx="3200400" cy="3017520"/>
          </a:xfrm>
          <a:prstGeom prst="rect">
            <a:avLst/>
          </a:prstGeom>
          <a:noFill/>
        </p:spPr>
        <p:txBody>
          <a:bodyPr wrap="square">
            <a:spAutoFit/>
          </a:bodyPr>
          <a:lstStyle/>
          <a:p>
            <a:pPr>
              <a:lnSpc>
                <a:spcPct val="105000"/>
              </a:lnSpc>
              <a:spcAft>
                <a:spcPts val="700"/>
              </a:spcAft>
            </a:pPr>
            <a:r>
              <a:rPr sz="1150" b="1">
                <a:solidFill>
                  <a:srgbClr val="A5D6A7"/>
                </a:solidFill>
                <a:latin typeface="Calibri"/>
              </a:rPr>
              <a:t>●  </a:t>
            </a:r>
            <a:r>
              <a:rPr sz="1150">
                <a:solidFill>
                  <a:srgbClr val="37474F"/>
                </a:solidFill>
                <a:latin typeface="Calibri"/>
              </a:rPr>
              <a:t>Chauffer 19-20 °C, reduire en absence</a:t>
            </a:r>
          </a:p>
          <a:p>
            <a:pPr>
              <a:lnSpc>
                <a:spcPct val="105000"/>
              </a:lnSpc>
              <a:spcAft>
                <a:spcPts val="700"/>
              </a:spcAft>
            </a:pPr>
            <a:r>
              <a:rPr sz="1150" b="1">
                <a:solidFill>
                  <a:srgbClr val="A5D6A7"/>
                </a:solidFill>
                <a:latin typeface="Calibri"/>
              </a:rPr>
              <a:t>●  </a:t>
            </a:r>
            <a:r>
              <a:rPr sz="1150">
                <a:solidFill>
                  <a:srgbClr val="37474F"/>
                </a:solidFill>
                <a:latin typeface="Calibri"/>
              </a:rPr>
              <a:t>Fermer les volets la nuit en hiver</a:t>
            </a:r>
          </a:p>
          <a:p>
            <a:pPr>
              <a:lnSpc>
                <a:spcPct val="105000"/>
              </a:lnSpc>
              <a:spcAft>
                <a:spcPts val="700"/>
              </a:spcAft>
            </a:pPr>
            <a:r>
              <a:rPr sz="1150" b="1">
                <a:solidFill>
                  <a:srgbClr val="A5D6A7"/>
                </a:solidFill>
                <a:latin typeface="Calibri"/>
              </a:rPr>
              <a:t>●  </a:t>
            </a:r>
            <a:r>
              <a:rPr sz="1150">
                <a:solidFill>
                  <a:srgbClr val="37474F"/>
                </a:solidFill>
                <a:latin typeface="Calibri"/>
              </a:rPr>
              <a:t>Entretien chaudiere &amp; VMC</a:t>
            </a:r>
          </a:p>
          <a:p>
            <a:pPr>
              <a:lnSpc>
                <a:spcPct val="105000"/>
              </a:lnSpc>
              <a:spcAft>
                <a:spcPts val="700"/>
              </a:spcAft>
            </a:pPr>
            <a:r>
              <a:rPr sz="1150" b="1">
                <a:solidFill>
                  <a:srgbClr val="A5D6A7"/>
                </a:solidFill>
                <a:latin typeface="Calibri"/>
              </a:rPr>
              <a:t>●  </a:t>
            </a:r>
            <a:r>
              <a:rPr sz="1150">
                <a:solidFill>
                  <a:srgbClr val="37474F"/>
                </a:solidFill>
                <a:latin typeface="Calibri"/>
              </a:rPr>
              <a:t>Eteindre les veilles, suivi des consos</a:t>
            </a:r>
          </a:p>
        </p:txBody>
      </p:sp>
      <p:sp>
        <p:nvSpPr>
          <p:cNvPr id="11" name="TextBox 10"/>
          <p:cNvSpPr txBox="1"/>
          <p:nvPr/>
        </p:nvSpPr>
        <p:spPr>
          <a:xfrm>
            <a:off x="822960" y="5349240"/>
            <a:ext cx="10515600" cy="457200"/>
          </a:xfrm>
          <a:prstGeom prst="rect">
            <a:avLst/>
          </a:prstGeom>
          <a:noFill/>
        </p:spPr>
        <p:txBody>
          <a:bodyPr wrap="square" anchor="t" lIns="25400" rIns="25400" tIns="25400" bIns="25400">
            <a:spAutoFit/>
          </a:bodyPr>
          <a:lstStyle/>
          <a:p>
            <a:pPr algn="l">
              <a:lnSpc>
                <a:spcPct val="100000"/>
              </a:lnSpc>
              <a:spcAft>
                <a:spcPts val="400"/>
              </a:spcAft>
            </a:pPr>
            <a:r>
              <a:rPr sz="1300" b="0" i="1">
                <a:solidFill>
                  <a:srgbClr val="C8E6C9"/>
                </a:solidFill>
                <a:latin typeface="Calibri"/>
              </a:rPr>
              <a:t>Budget contraint ? Le Scenario 1 reste une excellente 1re etape (G -&gt; D), completee plus tard par le chauffage.</a:t>
            </a:r>
          </a:p>
        </p:txBody>
      </p:sp>
      <p:sp>
        <p:nvSpPr>
          <p:cNvPr id="12" name="TextBox 11"/>
          <p:cNvSpPr txBox="1"/>
          <p:nvPr/>
        </p:nvSpPr>
        <p:spPr>
          <a:xfrm>
            <a:off x="822960" y="5943600"/>
            <a:ext cx="10515600" cy="640080"/>
          </a:xfrm>
          <a:prstGeom prst="rect">
            <a:avLst/>
          </a:prstGeom>
          <a:noFill/>
        </p:spPr>
        <p:txBody>
          <a:bodyPr wrap="square" anchor="t" lIns="25400" rIns="25400" tIns="25400" bIns="25400">
            <a:spAutoFit/>
          </a:bodyPr>
          <a:lstStyle/>
          <a:p>
            <a:pPr algn="l">
              <a:lnSpc>
                <a:spcPct val="100000"/>
              </a:lnSpc>
              <a:spcAft>
                <a:spcPts val="400"/>
              </a:spcAft>
            </a:pPr>
            <a:r>
              <a:rPr sz="1800" b="1" i="0">
                <a:solidFill>
                  <a:srgbClr val="FFFFFF"/>
                </a:solidFill>
                <a:latin typeface="Calibri"/>
              </a:rPr>
              <a:t>Merci de votre attention - je suis a votre disposition pour vos questions.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332720" cy="566928"/>
          </a:xfrm>
          <a:prstGeom prst="rect">
            <a:avLst/>
          </a:prstGeom>
          <a:noFill/>
        </p:spPr>
        <p:txBody>
          <a:bodyPr wrap="square" anchor="ctr" lIns="25400" rIns="25400" tIns="25400" bIns="25400">
            <a:spAutoFit/>
          </a:bodyPr>
          <a:lstStyle/>
          <a:p>
            <a:pPr algn="l">
              <a:lnSpc>
                <a:spcPct val="100000"/>
              </a:lnSpc>
              <a:spcAft>
                <a:spcPts val="400"/>
              </a:spcAft>
            </a:pPr>
            <a:r>
              <a:rPr sz="2800" b="1" i="0">
                <a:solidFill>
                  <a:srgbClr val="1B5E20"/>
                </a:solidFill>
                <a:latin typeface="Calibri"/>
              </a:rPr>
              <a:t>Outils &amp; sources</a:t>
            </a:r>
          </a:p>
        </p:txBody>
      </p:sp>
      <p:sp>
        <p:nvSpPr>
          <p:cNvPr id="5" name="TextBox 4"/>
          <p:cNvSpPr txBox="1"/>
          <p:nvPr/>
        </p:nvSpPr>
        <p:spPr>
          <a:xfrm>
            <a:off x="548640" y="905256"/>
            <a:ext cx="10332720" cy="292608"/>
          </a:xfrm>
          <a:prstGeom prst="rect">
            <a:avLst/>
          </a:prstGeom>
          <a:noFill/>
        </p:spPr>
        <p:txBody>
          <a:bodyPr wrap="square" anchor="t" lIns="25400" rIns="25400" tIns="25400" bIns="25400">
            <a:spAutoFit/>
          </a:bodyPr>
          <a:lstStyle/>
          <a:p>
            <a:pPr algn="l">
              <a:lnSpc>
                <a:spcPct val="100000"/>
              </a:lnSpc>
              <a:spcAft>
                <a:spcPts val="400"/>
              </a:spcAft>
            </a:pPr>
            <a:r>
              <a:rPr sz="1350" b="0" i="1">
                <a:solidFill>
                  <a:srgbClr val="37474F"/>
                </a:solidFill>
                <a:latin typeface="Calibri"/>
              </a:rPr>
              <a:t>Etude realisee principalement avec le logiciel Pleiades</a:t>
            </a:r>
          </a:p>
        </p:txBody>
      </p:sp>
      <p:sp>
        <p:nvSpPr>
          <p:cNvPr id="6" name="Rectangle 5"/>
          <p:cNvSpPr/>
          <p:nvPr/>
        </p:nvSpPr>
        <p:spPr>
          <a:xfrm>
            <a:off x="548640" y="1225296"/>
            <a:ext cx="10058400" cy="279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8229600" cy="292608"/>
          </a:xfrm>
          <a:prstGeom prst="rect">
            <a:avLst/>
          </a:prstGeom>
          <a:noFill/>
        </p:spPr>
        <p:txBody>
          <a:bodyPr wrap="square" anchor="t" lIns="25400" rIns="25400" tIns="25400" bIns="25400">
            <a:spAutoFit/>
          </a:bodyPr>
          <a:lstStyle/>
          <a:p>
            <a:pPr algn="l">
              <a:lnSpc>
                <a:spcPct val="100000"/>
              </a:lnSpc>
              <a:spcAft>
                <a:spcPts val="400"/>
              </a:spcAft>
            </a:pPr>
            <a:r>
              <a:rPr sz="900" b="0" i="0">
                <a:solidFill>
                  <a:srgbClr val="90A4AE"/>
                </a:solidFill>
                <a:latin typeface="Calibri"/>
              </a:rPr>
              <a:t>Renovation energetique - Saint-Jean-de-Chevelu (73) - Bloc 1</a:t>
            </a:r>
          </a:p>
        </p:txBody>
      </p:sp>
      <p:sp>
        <p:nvSpPr>
          <p:cNvPr id="8" name="TextBox 7"/>
          <p:cNvSpPr txBox="1"/>
          <p:nvPr/>
        </p:nvSpPr>
        <p:spPr>
          <a:xfrm>
            <a:off x="9418320" y="6473952"/>
            <a:ext cx="2286000" cy="292608"/>
          </a:xfrm>
          <a:prstGeom prst="rect">
            <a:avLst/>
          </a:prstGeom>
          <a:noFill/>
        </p:spPr>
        <p:txBody>
          <a:bodyPr wrap="square" anchor="t" lIns="25400" rIns="25400" tIns="25400" bIns="25400">
            <a:spAutoFit/>
          </a:bodyPr>
          <a:lstStyle/>
          <a:p>
            <a:pPr algn="r">
              <a:lnSpc>
                <a:spcPct val="100000"/>
              </a:lnSpc>
              <a:spcAft>
                <a:spcPts val="400"/>
              </a:spcAft>
            </a:pPr>
            <a:r>
              <a:rPr sz="900" b="0" i="0">
                <a:solidFill>
                  <a:srgbClr val="90A4AE"/>
                </a:solidFill>
                <a:latin typeface="Calibri"/>
              </a:rPr>
              <a:t>Guillaume Tardy</a:t>
            </a:r>
          </a:p>
        </p:txBody>
      </p:sp>
      <p:sp>
        <p:nvSpPr>
          <p:cNvPr id="9" name="Rounded Rectangle 8"/>
          <p:cNvSpPr/>
          <p:nvPr/>
        </p:nvSpPr>
        <p:spPr>
          <a:xfrm>
            <a:off x="640080" y="1554480"/>
            <a:ext cx="6035040" cy="4480560"/>
          </a:xfrm>
          <a:prstGeom prst="roundRect">
            <a:avLst/>
          </a:prstGeom>
          <a:solidFill>
            <a:srgbClr val="FFFFFF"/>
          </a:solidFill>
          <a:ln w="1270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1554480"/>
            <a:ext cx="6035040" cy="868680"/>
          </a:xfrm>
          <a:prstGeom prst="round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627632"/>
            <a:ext cx="5577840" cy="777240"/>
          </a:xfrm>
          <a:prstGeom prst="rect">
            <a:avLst/>
          </a:prstGeom>
          <a:noFill/>
        </p:spPr>
        <p:txBody>
          <a:bodyPr wrap="square" anchor="t" lIns="25400" rIns="25400" tIns="25400" bIns="25400">
            <a:spAutoFit/>
          </a:bodyPr>
          <a:lstStyle/>
          <a:p>
            <a:pPr algn="l">
              <a:lnSpc>
                <a:spcPct val="105000"/>
              </a:lnSpc>
              <a:spcAft>
                <a:spcPts val="400"/>
              </a:spcAft>
            </a:pPr>
            <a:r>
              <a:rPr sz="2200" b="1" i="0">
                <a:solidFill>
                  <a:srgbClr val="FFFFFF"/>
                </a:solidFill>
                <a:latin typeface="Calibri"/>
              </a:rPr>
              <a:t>Pleiades</a:t>
            </a:r>
          </a:p>
          <a:p>
            <a:pPr algn="l">
              <a:lnSpc>
                <a:spcPct val="105000"/>
              </a:lnSpc>
              <a:spcAft>
                <a:spcPts val="400"/>
              </a:spcAft>
            </a:pPr>
            <a:r>
              <a:rPr sz="1200" b="0" i="0">
                <a:solidFill>
                  <a:srgbClr val="C8E6C9"/>
                </a:solidFill>
                <a:latin typeface="Calibri"/>
              </a:rPr>
              <a:t>Logiciel de simulation thermique du batiment - IZUBA energies</a:t>
            </a:r>
          </a:p>
        </p:txBody>
      </p:sp>
      <p:sp>
        <p:nvSpPr>
          <p:cNvPr id="12" name="TextBox 11"/>
          <p:cNvSpPr txBox="1"/>
          <p:nvPr/>
        </p:nvSpPr>
        <p:spPr>
          <a:xfrm>
            <a:off x="914400" y="2606040"/>
            <a:ext cx="5486400" cy="365760"/>
          </a:xfrm>
          <a:prstGeom prst="rect">
            <a:avLst/>
          </a:prstGeom>
          <a:noFill/>
        </p:spPr>
        <p:txBody>
          <a:bodyPr wrap="square" anchor="t" lIns="25400" rIns="25400" tIns="25400" bIns="25400">
            <a:spAutoFit/>
          </a:bodyPr>
          <a:lstStyle/>
          <a:p>
            <a:pPr algn="l">
              <a:lnSpc>
                <a:spcPct val="100000"/>
              </a:lnSpc>
              <a:spcAft>
                <a:spcPts val="400"/>
              </a:spcAft>
            </a:pPr>
            <a:r>
              <a:rPr sz="1300" b="1" i="0">
                <a:solidFill>
                  <a:srgbClr val="37474F"/>
                </a:solidFill>
                <a:latin typeface="Calibri"/>
              </a:rPr>
              <a:t>Tout le travail technique et chiffre repose sur Pleiades :</a:t>
            </a:r>
          </a:p>
        </p:txBody>
      </p:sp>
      <p:sp>
        <p:nvSpPr>
          <p:cNvPr id="13" name="TextBox 12"/>
          <p:cNvSpPr txBox="1"/>
          <p:nvPr/>
        </p:nvSpPr>
        <p:spPr>
          <a:xfrm>
            <a:off x="914400" y="3063240"/>
            <a:ext cx="5577840" cy="2834640"/>
          </a:xfrm>
          <a:prstGeom prst="rect">
            <a:avLst/>
          </a:prstGeom>
          <a:noFill/>
        </p:spPr>
        <p:txBody>
          <a:bodyPr wrap="square">
            <a:spAutoFit/>
          </a:bodyPr>
          <a:lstStyle/>
          <a:p>
            <a:pPr>
              <a:lnSpc>
                <a:spcPct val="105000"/>
              </a:lnSpc>
              <a:spcAft>
                <a:spcPts val="1000"/>
              </a:spcAft>
            </a:pPr>
            <a:r>
              <a:rPr sz="1350" b="1">
                <a:solidFill>
                  <a:srgbClr val="2E7D32"/>
                </a:solidFill>
                <a:latin typeface="Calibri"/>
              </a:rPr>
              <a:t>●  </a:t>
            </a:r>
            <a:r>
              <a:rPr sz="1350">
                <a:solidFill>
                  <a:srgbClr val="37474F"/>
                </a:solidFill>
                <a:latin typeface="Calibri"/>
              </a:rPr>
              <a:t>Modelisation du batiment et de son enveloppe</a:t>
            </a:r>
          </a:p>
          <a:p>
            <a:pPr>
              <a:lnSpc>
                <a:spcPct val="105000"/>
              </a:lnSpc>
              <a:spcAft>
                <a:spcPts val="1000"/>
              </a:spcAft>
            </a:pPr>
            <a:r>
              <a:rPr sz="1350" b="1">
                <a:solidFill>
                  <a:srgbClr val="2E7D32"/>
                </a:solidFill>
                <a:latin typeface="Calibri"/>
              </a:rPr>
              <a:t>●  </a:t>
            </a:r>
            <a:r>
              <a:rPr sz="1350">
                <a:solidFill>
                  <a:srgbClr val="37474F"/>
                </a:solidFill>
                <a:latin typeface="Calibri"/>
              </a:rPr>
              <a:t>Bilan des deperditions &amp; coefficient Ubat</a:t>
            </a:r>
          </a:p>
          <a:p>
            <a:pPr>
              <a:lnSpc>
                <a:spcPct val="105000"/>
              </a:lnSpc>
              <a:spcAft>
                <a:spcPts val="1000"/>
              </a:spcAft>
            </a:pPr>
            <a:r>
              <a:rPr sz="1350" b="1">
                <a:solidFill>
                  <a:srgbClr val="2E7D32"/>
                </a:solidFill>
                <a:latin typeface="Calibri"/>
              </a:rPr>
              <a:t>●  </a:t>
            </a:r>
            <a:r>
              <a:rPr sz="1350">
                <a:solidFill>
                  <a:srgbClr val="37474F"/>
                </a:solidFill>
                <a:latin typeface="Calibri"/>
              </a:rPr>
              <a:t>Calcul du DPE (energie primaire, CO2, etiquettes)</a:t>
            </a:r>
          </a:p>
          <a:p>
            <a:pPr>
              <a:lnSpc>
                <a:spcPct val="105000"/>
              </a:lnSpc>
              <a:spcAft>
                <a:spcPts val="1000"/>
              </a:spcAft>
            </a:pPr>
            <a:r>
              <a:rPr sz="1350" b="1">
                <a:solidFill>
                  <a:srgbClr val="2E7D32"/>
                </a:solidFill>
                <a:latin typeface="Calibri"/>
              </a:rPr>
              <a:t>●  </a:t>
            </a:r>
            <a:r>
              <a:rPr sz="1350">
                <a:solidFill>
                  <a:srgbClr val="37474F"/>
                </a:solidFill>
                <a:latin typeface="Calibri"/>
              </a:rPr>
              <a:t>Simulation des gains energetiques apres travaux</a:t>
            </a:r>
          </a:p>
          <a:p>
            <a:pPr>
              <a:lnSpc>
                <a:spcPct val="105000"/>
              </a:lnSpc>
              <a:spcAft>
                <a:spcPts val="1000"/>
              </a:spcAft>
            </a:pPr>
            <a:r>
              <a:rPr sz="1350" b="1">
                <a:solidFill>
                  <a:srgbClr val="2E7D32"/>
                </a:solidFill>
                <a:latin typeface="Calibri"/>
              </a:rPr>
              <a:t>●  </a:t>
            </a:r>
            <a:r>
              <a:rPr sz="1350">
                <a:solidFill>
                  <a:srgbClr val="37474F"/>
                </a:solidFill>
                <a:latin typeface="Calibri"/>
              </a:rPr>
              <a:t>Dimensionnement des equipements (chauffage, VMC)</a:t>
            </a:r>
          </a:p>
          <a:p>
            <a:pPr>
              <a:lnSpc>
                <a:spcPct val="105000"/>
              </a:lnSpc>
              <a:spcAft>
                <a:spcPts val="1000"/>
              </a:spcAft>
            </a:pPr>
            <a:r>
              <a:rPr sz="1350" b="1">
                <a:solidFill>
                  <a:srgbClr val="2E7D32"/>
                </a:solidFill>
                <a:latin typeface="Calibri"/>
              </a:rPr>
              <a:t>●  </a:t>
            </a:r>
            <a:r>
              <a:rPr sz="1350">
                <a:solidFill>
                  <a:srgbClr val="37474F"/>
                </a:solidFill>
                <a:latin typeface="Calibri"/>
              </a:rPr>
              <a:t>Estimation des couts de travaux et analyse economique</a:t>
            </a:r>
          </a:p>
        </p:txBody>
      </p:sp>
      <p:sp>
        <p:nvSpPr>
          <p:cNvPr id="14" name="Rounded Rectangle 13"/>
          <p:cNvSpPr/>
          <p:nvPr/>
        </p:nvSpPr>
        <p:spPr>
          <a:xfrm>
            <a:off x="6858000" y="1554480"/>
            <a:ext cx="4663440" cy="448056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1691640"/>
            <a:ext cx="4297680" cy="365760"/>
          </a:xfrm>
          <a:prstGeom prst="rect">
            <a:avLst/>
          </a:prstGeom>
          <a:noFill/>
        </p:spPr>
        <p:txBody>
          <a:bodyPr wrap="square" anchor="t" lIns="25400" rIns="25400" tIns="25400" bIns="25400">
            <a:spAutoFit/>
          </a:bodyPr>
          <a:lstStyle/>
          <a:p>
            <a:pPr algn="l">
              <a:lnSpc>
                <a:spcPct val="100000"/>
              </a:lnSpc>
              <a:spcAft>
                <a:spcPts val="400"/>
              </a:spcAft>
            </a:pPr>
            <a:r>
              <a:rPr sz="1500" b="1" i="0">
                <a:solidFill>
                  <a:srgbClr val="1B5E20"/>
                </a:solidFill>
                <a:latin typeface="Calibri"/>
              </a:rPr>
              <a:t>Sources complementaires</a:t>
            </a:r>
          </a:p>
        </p:txBody>
      </p:sp>
      <p:sp>
        <p:nvSpPr>
          <p:cNvPr id="16" name="TextBox 15"/>
          <p:cNvSpPr txBox="1"/>
          <p:nvPr/>
        </p:nvSpPr>
        <p:spPr>
          <a:xfrm>
            <a:off x="7086600" y="2240280"/>
            <a:ext cx="4297680" cy="292608"/>
          </a:xfrm>
          <a:prstGeom prst="rect">
            <a:avLst/>
          </a:prstGeom>
          <a:noFill/>
        </p:spPr>
        <p:txBody>
          <a:bodyPr wrap="square" anchor="t" lIns="25400" rIns="25400" tIns="25400" bIns="25400">
            <a:spAutoFit/>
          </a:bodyPr>
          <a:lstStyle/>
          <a:p>
            <a:pPr algn="l">
              <a:lnSpc>
                <a:spcPct val="100000"/>
              </a:lnSpc>
              <a:spcAft>
                <a:spcPts val="400"/>
              </a:spcAft>
            </a:pPr>
            <a:r>
              <a:rPr sz="1250" b="1" i="0">
                <a:solidFill>
                  <a:srgbClr val="37474F"/>
                </a:solidFill>
                <a:latin typeface="Calibri"/>
              </a:rPr>
              <a:t>Aides &amp; simulateur (France Renov')</a:t>
            </a:r>
          </a:p>
        </p:txBody>
      </p:sp>
      <p:sp>
        <p:nvSpPr>
          <p:cNvPr id="17" name="TextBox 16"/>
          <p:cNvSpPr txBox="1"/>
          <p:nvPr/>
        </p:nvSpPr>
        <p:spPr>
          <a:xfrm>
            <a:off x="7086600" y="2496312"/>
            <a:ext cx="4297680" cy="274320"/>
          </a:xfrm>
          <a:prstGeom prst="rect">
            <a:avLst/>
          </a:prstGeom>
          <a:noFill/>
        </p:spPr>
        <p:txBody>
          <a:bodyPr wrap="none">
            <a:spAutoFit/>
          </a:bodyPr>
          <a:lstStyle/>
          <a:p>
            <a:r>
              <a:rPr sz="1150">
                <a:solidFill>
                  <a:srgbClr val="1565C0"/>
                </a:solidFill>
                <a:latin typeface="Calibri"/>
                <a:hlinkClick r:id="rId2"/>
              </a:rPr>
              <a:t>france-renov.gouv.fr</a:t>
            </a:r>
          </a:p>
        </p:txBody>
      </p:sp>
      <p:sp>
        <p:nvSpPr>
          <p:cNvPr id="18" name="TextBox 17"/>
          <p:cNvSpPr txBox="1"/>
          <p:nvPr/>
        </p:nvSpPr>
        <p:spPr>
          <a:xfrm>
            <a:off x="7086600" y="2926080"/>
            <a:ext cx="4297680" cy="292608"/>
          </a:xfrm>
          <a:prstGeom prst="rect">
            <a:avLst/>
          </a:prstGeom>
          <a:noFill/>
        </p:spPr>
        <p:txBody>
          <a:bodyPr wrap="square" anchor="t" lIns="25400" rIns="25400" tIns="25400" bIns="25400">
            <a:spAutoFit/>
          </a:bodyPr>
          <a:lstStyle/>
          <a:p>
            <a:pPr algn="l">
              <a:lnSpc>
                <a:spcPct val="100000"/>
              </a:lnSpc>
              <a:spcAft>
                <a:spcPts val="400"/>
              </a:spcAft>
            </a:pPr>
            <a:r>
              <a:rPr sz="1250" b="1" i="0">
                <a:solidFill>
                  <a:srgbClr val="37474F"/>
                </a:solidFill>
                <a:latin typeface="Calibri"/>
              </a:rPr>
              <a:t>Conseil local energie (Savoie)</a:t>
            </a:r>
          </a:p>
        </p:txBody>
      </p:sp>
      <p:sp>
        <p:nvSpPr>
          <p:cNvPr id="19" name="TextBox 18"/>
          <p:cNvSpPr txBox="1"/>
          <p:nvPr/>
        </p:nvSpPr>
        <p:spPr>
          <a:xfrm>
            <a:off x="7086600" y="3182112"/>
            <a:ext cx="4297680" cy="274320"/>
          </a:xfrm>
          <a:prstGeom prst="rect">
            <a:avLst/>
          </a:prstGeom>
          <a:noFill/>
        </p:spPr>
        <p:txBody>
          <a:bodyPr wrap="none">
            <a:spAutoFit/>
          </a:bodyPr>
          <a:lstStyle/>
          <a:p>
            <a:r>
              <a:rPr sz="1150">
                <a:solidFill>
                  <a:srgbClr val="1565C0"/>
                </a:solidFill>
                <a:latin typeface="Calibri"/>
                <a:hlinkClick r:id="rId3"/>
              </a:rPr>
              <a:t>asder.asso.fr</a:t>
            </a:r>
          </a:p>
        </p:txBody>
      </p:sp>
      <p:sp>
        <p:nvSpPr>
          <p:cNvPr id="20" name="TextBox 19"/>
          <p:cNvSpPr txBox="1"/>
          <p:nvPr/>
        </p:nvSpPr>
        <p:spPr>
          <a:xfrm>
            <a:off x="7086600" y="3611880"/>
            <a:ext cx="4297680" cy="292608"/>
          </a:xfrm>
          <a:prstGeom prst="rect">
            <a:avLst/>
          </a:prstGeom>
          <a:noFill/>
        </p:spPr>
        <p:txBody>
          <a:bodyPr wrap="square" anchor="t" lIns="25400" rIns="25400" tIns="25400" bIns="25400">
            <a:spAutoFit/>
          </a:bodyPr>
          <a:lstStyle/>
          <a:p>
            <a:pPr algn="l">
              <a:lnSpc>
                <a:spcPct val="100000"/>
              </a:lnSpc>
              <a:spcAft>
                <a:spcPts val="400"/>
              </a:spcAft>
            </a:pPr>
            <a:r>
              <a:rPr sz="1250" b="1" i="0">
                <a:solidFill>
                  <a:srgbClr val="37474F"/>
                </a:solidFill>
                <a:latin typeface="Calibri"/>
              </a:rPr>
              <a:t>Reglementation (CCH, arretes DPE)</a:t>
            </a:r>
          </a:p>
        </p:txBody>
      </p:sp>
      <p:sp>
        <p:nvSpPr>
          <p:cNvPr id="21" name="TextBox 20"/>
          <p:cNvSpPr txBox="1"/>
          <p:nvPr/>
        </p:nvSpPr>
        <p:spPr>
          <a:xfrm>
            <a:off x="7086600" y="3867912"/>
            <a:ext cx="4297680" cy="274320"/>
          </a:xfrm>
          <a:prstGeom prst="rect">
            <a:avLst/>
          </a:prstGeom>
          <a:noFill/>
        </p:spPr>
        <p:txBody>
          <a:bodyPr wrap="none">
            <a:spAutoFit/>
          </a:bodyPr>
          <a:lstStyle/>
          <a:p>
            <a:r>
              <a:rPr sz="1150">
                <a:solidFill>
                  <a:srgbClr val="1565C0"/>
                </a:solidFill>
                <a:latin typeface="Calibri"/>
                <a:hlinkClick r:id="rId4"/>
              </a:rPr>
              <a:t>legifrance.gouv.fr</a:t>
            </a:r>
          </a:p>
        </p:txBody>
      </p:sp>
      <p:sp>
        <p:nvSpPr>
          <p:cNvPr id="22" name="TextBox 21"/>
          <p:cNvSpPr txBox="1"/>
          <p:nvPr/>
        </p:nvSpPr>
        <p:spPr>
          <a:xfrm>
            <a:off x="7086600" y="4297680"/>
            <a:ext cx="4297680" cy="292608"/>
          </a:xfrm>
          <a:prstGeom prst="rect">
            <a:avLst/>
          </a:prstGeom>
          <a:noFill/>
        </p:spPr>
        <p:txBody>
          <a:bodyPr wrap="square" anchor="t" lIns="25400" rIns="25400" tIns="25400" bIns="25400">
            <a:spAutoFit/>
          </a:bodyPr>
          <a:lstStyle/>
          <a:p>
            <a:pPr algn="l">
              <a:lnSpc>
                <a:spcPct val="100000"/>
              </a:lnSpc>
              <a:spcAft>
                <a:spcPts val="400"/>
              </a:spcAft>
            </a:pPr>
            <a:r>
              <a:rPr sz="1250" b="1" i="0">
                <a:solidFill>
                  <a:srgbClr val="37474F"/>
                </a:solidFill>
                <a:latin typeface="Calibri"/>
              </a:rPr>
              <a:t>Donnees produits</a:t>
            </a:r>
          </a:p>
        </p:txBody>
      </p:sp>
      <p:sp>
        <p:nvSpPr>
          <p:cNvPr id="23" name="TextBox 22"/>
          <p:cNvSpPr txBox="1"/>
          <p:nvPr/>
        </p:nvSpPr>
        <p:spPr>
          <a:xfrm>
            <a:off x="7086600" y="4553712"/>
            <a:ext cx="4297680" cy="274320"/>
          </a:xfrm>
          <a:prstGeom prst="rect">
            <a:avLst/>
          </a:prstGeom>
          <a:noFill/>
        </p:spPr>
        <p:txBody>
          <a:bodyPr wrap="none">
            <a:spAutoFit/>
          </a:bodyPr>
          <a:lstStyle/>
          <a:p>
            <a:r>
              <a:rPr sz="1150">
                <a:solidFill>
                  <a:srgbClr val="1565C0"/>
                </a:solidFill>
                <a:latin typeface="Calibri"/>
                <a:hlinkClick r:id="rId5"/>
              </a:rPr>
              <a:t>documentations techniques fabricants</a:t>
            </a:r>
          </a:p>
        </p:txBody>
      </p:sp>
      <p:sp>
        <p:nvSpPr>
          <p:cNvPr id="24" name="TextBox 23"/>
          <p:cNvSpPr txBox="1"/>
          <p:nvPr/>
        </p:nvSpPr>
        <p:spPr>
          <a:xfrm>
            <a:off x="7086600" y="4983480"/>
            <a:ext cx="4297680" cy="292608"/>
          </a:xfrm>
          <a:prstGeom prst="rect">
            <a:avLst/>
          </a:prstGeom>
          <a:noFill/>
        </p:spPr>
        <p:txBody>
          <a:bodyPr wrap="square" anchor="t" lIns="25400" rIns="25400" tIns="25400" bIns="25400">
            <a:spAutoFit/>
          </a:bodyPr>
          <a:lstStyle/>
          <a:p>
            <a:pPr algn="l">
              <a:lnSpc>
                <a:spcPct val="100000"/>
              </a:lnSpc>
              <a:spcAft>
                <a:spcPts val="400"/>
              </a:spcAft>
            </a:pPr>
            <a:r>
              <a:rPr sz="1250" b="1" i="0">
                <a:solidFill>
                  <a:srgbClr val="37474F"/>
                </a:solidFill>
                <a:latin typeface="Calibri"/>
              </a:rPr>
              <a:t>Reference energie / climat</a:t>
            </a:r>
          </a:p>
        </p:txBody>
      </p:sp>
      <p:sp>
        <p:nvSpPr>
          <p:cNvPr id="25" name="TextBox 24"/>
          <p:cNvSpPr txBox="1"/>
          <p:nvPr/>
        </p:nvSpPr>
        <p:spPr>
          <a:xfrm>
            <a:off x="7086600" y="5239512"/>
            <a:ext cx="4297680" cy="274320"/>
          </a:xfrm>
          <a:prstGeom prst="rect">
            <a:avLst/>
          </a:prstGeom>
          <a:noFill/>
        </p:spPr>
        <p:txBody>
          <a:bodyPr wrap="none">
            <a:spAutoFit/>
          </a:bodyPr>
          <a:lstStyle/>
          <a:p>
            <a:r>
              <a:rPr sz="1150">
                <a:solidFill>
                  <a:srgbClr val="1565C0"/>
                </a:solidFill>
                <a:latin typeface="Calibri"/>
                <a:hlinkClick r:id="rId6"/>
              </a:rPr>
              <a:t>ademe.fr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